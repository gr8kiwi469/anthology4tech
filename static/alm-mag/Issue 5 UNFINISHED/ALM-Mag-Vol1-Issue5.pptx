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3"/>
  </p:notesMasterIdLst>
  <p:sldIdLst>
    <p:sldId id="441" r:id="rId2"/>
    <p:sldId id="591" r:id="rId3"/>
    <p:sldId id="592" r:id="rId4"/>
    <p:sldId id="700" r:id="rId5"/>
    <p:sldId id="789" r:id="rId6"/>
    <p:sldId id="792" r:id="rId7"/>
    <p:sldId id="773" r:id="rId8"/>
    <p:sldId id="774" r:id="rId9"/>
    <p:sldId id="691" r:id="rId10"/>
    <p:sldId id="719" r:id="rId11"/>
    <p:sldId id="722" r:id="rId12"/>
    <p:sldId id="695" r:id="rId13"/>
    <p:sldId id="711" r:id="rId14"/>
    <p:sldId id="790" r:id="rId15"/>
    <p:sldId id="791" r:id="rId16"/>
    <p:sldId id="727" r:id="rId17"/>
    <p:sldId id="734" r:id="rId18"/>
    <p:sldId id="514" r:id="rId19"/>
    <p:sldId id="776" r:id="rId20"/>
    <p:sldId id="693" r:id="rId21"/>
    <p:sldId id="533" r:id="rId22"/>
    <p:sldId id="534" r:id="rId23"/>
    <p:sldId id="690" r:id="rId24"/>
    <p:sldId id="646" r:id="rId25"/>
    <p:sldId id="648" r:id="rId26"/>
    <p:sldId id="649" r:id="rId27"/>
    <p:sldId id="656" r:id="rId28"/>
    <p:sldId id="657" r:id="rId29"/>
    <p:sldId id="672" r:id="rId30"/>
    <p:sldId id="673" r:id="rId31"/>
    <p:sldId id="674" r:id="rId32"/>
    <p:sldId id="675" r:id="rId33"/>
    <p:sldId id="676" r:id="rId34"/>
    <p:sldId id="677" r:id="rId35"/>
    <p:sldId id="680" r:id="rId36"/>
    <p:sldId id="681" r:id="rId37"/>
    <p:sldId id="682" r:id="rId38"/>
    <p:sldId id="683" r:id="rId39"/>
    <p:sldId id="685" r:id="rId40"/>
    <p:sldId id="787" r:id="rId41"/>
    <p:sldId id="788" r:id="rId42"/>
    <p:sldId id="779" r:id="rId43"/>
    <p:sldId id="780" r:id="rId44"/>
    <p:sldId id="781" r:id="rId45"/>
    <p:sldId id="782" r:id="rId46"/>
    <p:sldId id="783" r:id="rId47"/>
    <p:sldId id="784" r:id="rId48"/>
    <p:sldId id="785" r:id="rId49"/>
    <p:sldId id="786" r:id="rId50"/>
    <p:sldId id="686" r:id="rId51"/>
    <p:sldId id="687" r:id="rId52"/>
    <p:sldId id="689" r:id="rId53"/>
    <p:sldId id="594" r:id="rId54"/>
    <p:sldId id="595" r:id="rId55"/>
    <p:sldId id="598" r:id="rId56"/>
    <p:sldId id="599" r:id="rId57"/>
    <p:sldId id="600" r:id="rId58"/>
    <p:sldId id="601" r:id="rId59"/>
    <p:sldId id="602" r:id="rId60"/>
    <p:sldId id="615" r:id="rId61"/>
    <p:sldId id="616" r:id="rId62"/>
    <p:sldId id="620" r:id="rId63"/>
    <p:sldId id="622" r:id="rId64"/>
    <p:sldId id="631" r:id="rId65"/>
    <p:sldId id="632" r:id="rId66"/>
    <p:sldId id="634" r:id="rId67"/>
    <p:sldId id="635" r:id="rId68"/>
    <p:sldId id="777" r:id="rId69"/>
    <p:sldId id="778" r:id="rId70"/>
    <p:sldId id="636" r:id="rId71"/>
    <p:sldId id="642" r:id="rId72"/>
    <p:sldId id="644" r:id="rId73"/>
    <p:sldId id="645" r:id="rId74"/>
    <p:sldId id="535" r:id="rId75"/>
    <p:sldId id="468" r:id="rId76"/>
    <p:sldId id="575" r:id="rId77"/>
    <p:sldId id="465" r:id="rId78"/>
    <p:sldId id="475" r:id="rId79"/>
    <p:sldId id="485" r:id="rId80"/>
    <p:sldId id="491" r:id="rId81"/>
    <p:sldId id="496" r:id="rId82"/>
    <p:sldId id="508" r:id="rId83"/>
    <p:sldId id="576" r:id="rId84"/>
    <p:sldId id="537" r:id="rId85"/>
    <p:sldId id="543" r:id="rId86"/>
    <p:sldId id="583" r:id="rId87"/>
    <p:sldId id="571" r:id="rId88"/>
    <p:sldId id="572" r:id="rId89"/>
    <p:sldId id="573" r:id="rId90"/>
    <p:sldId id="574" r:id="rId91"/>
    <p:sldId id="545" r:id="rId92"/>
    <p:sldId id="546" r:id="rId93"/>
    <p:sldId id="507" r:id="rId94"/>
    <p:sldId id="745" r:id="rId95"/>
    <p:sldId id="518" r:id="rId96"/>
    <p:sldId id="519" r:id="rId97"/>
    <p:sldId id="520" r:id="rId98"/>
    <p:sldId id="521" r:id="rId99"/>
    <p:sldId id="522" r:id="rId100"/>
    <p:sldId id="523" r:id="rId101"/>
    <p:sldId id="524" r:id="rId102"/>
    <p:sldId id="525" r:id="rId103"/>
    <p:sldId id="526" r:id="rId104"/>
    <p:sldId id="527" r:id="rId105"/>
    <p:sldId id="528" r:id="rId106"/>
    <p:sldId id="529" r:id="rId107"/>
    <p:sldId id="539" r:id="rId108"/>
    <p:sldId id="540" r:id="rId109"/>
    <p:sldId id="541" r:id="rId110"/>
    <p:sldId id="542" r:id="rId111"/>
    <p:sldId id="544" r:id="rId112"/>
  </p:sldIdLst>
  <p:sldSz cx="7553325" cy="1007745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3174">
          <p15:clr>
            <a:srgbClr val="A4A3A4"/>
          </p15:clr>
        </p15:guide>
        <p15:guide id="2" pos="23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AB00"/>
    <a:srgbClr val="68217A"/>
    <a:srgbClr val="639C14"/>
    <a:srgbClr val="3DAE61"/>
    <a:srgbClr val="8E3B00"/>
    <a:srgbClr val="55A6CF"/>
    <a:srgbClr val="3FCDFF"/>
    <a:srgbClr val="EA0000"/>
    <a:srgbClr val="85D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1143" autoAdjust="0"/>
    <p:restoredTop sz="94561" autoAdjust="0"/>
  </p:normalViewPr>
  <p:slideViewPr>
    <p:cSldViewPr>
      <p:cViewPr varScale="1">
        <p:scale>
          <a:sx n="56" d="100"/>
          <a:sy n="56" d="100"/>
        </p:scale>
        <p:origin x="-2386" y="-91"/>
      </p:cViewPr>
      <p:guideLst>
        <p:guide orient="horz" pos="3174"/>
        <p:guide pos="2379"/>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ALM Roadblocks</a:t>
            </a:r>
          </a:p>
        </c:rich>
      </c:tx>
      <c:layout/>
      <c:overlay val="0"/>
      <c:spPr>
        <a:noFill/>
        <a:ln>
          <a:noFill/>
        </a:ln>
        <a:effectLst/>
      </c:spPr>
    </c:title>
    <c:autoTitleDeleted val="0"/>
    <c:plotArea>
      <c:layout/>
      <c:barChart>
        <c:barDir val="bar"/>
        <c:grouping val="clustered"/>
        <c:varyColors val="0"/>
        <c:ser>
          <c:idx val="0"/>
          <c:order val="0"/>
          <c:spPr>
            <a:solidFill>
              <a:schemeClr val="accent1"/>
            </a:solidFill>
            <a:ln>
              <a:noFill/>
            </a:ln>
            <a:effectLst/>
          </c:spPr>
          <c:invertIfNegative val="0"/>
          <c:cat>
            <c:strRef>
              <c:f>Sheet1!$A$1:$A$5</c:f>
              <c:strCache>
                <c:ptCount val="5"/>
                <c:pt idx="0">
                  <c:v>Complex integration process</c:v>
                </c:pt>
                <c:pt idx="1">
                  <c:v>Overall cost of the tools</c:v>
                </c:pt>
                <c:pt idx="2">
                  <c:v>Magnitude of the effort</c:v>
                </c:pt>
                <c:pt idx="3">
                  <c:v>Lack of cross lifecycle transparency</c:v>
                </c:pt>
                <c:pt idx="4">
                  <c:v>Redundant features</c:v>
                </c:pt>
              </c:strCache>
            </c:strRef>
          </c:cat>
          <c:val>
            <c:numRef>
              <c:f>Sheet1!$B$1:$B$5</c:f>
              <c:numCache>
                <c:formatCode>0.00%</c:formatCode>
                <c:ptCount val="5"/>
                <c:pt idx="0">
                  <c:v>0.64600000000000002</c:v>
                </c:pt>
                <c:pt idx="1">
                  <c:v>0.63200000000000001</c:v>
                </c:pt>
                <c:pt idx="2">
                  <c:v>0.53200000000000003</c:v>
                </c:pt>
                <c:pt idx="3">
                  <c:v>0.38600000000000001</c:v>
                </c:pt>
                <c:pt idx="4">
                  <c:v>0.32100000000000001</c:v>
                </c:pt>
              </c:numCache>
            </c:numRef>
          </c:val>
        </c:ser>
        <c:dLbls>
          <c:showLegendKey val="0"/>
          <c:showVal val="0"/>
          <c:showCatName val="0"/>
          <c:showSerName val="0"/>
          <c:showPercent val="0"/>
          <c:showBubbleSize val="0"/>
        </c:dLbls>
        <c:gapWidth val="182"/>
        <c:axId val="157635328"/>
        <c:axId val="157636864"/>
      </c:barChart>
      <c:catAx>
        <c:axId val="1576353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57636864"/>
        <c:crosses val="autoZero"/>
        <c:auto val="1"/>
        <c:lblAlgn val="ctr"/>
        <c:lblOffset val="100"/>
        <c:noMultiLvlLbl val="0"/>
      </c:catAx>
      <c:valAx>
        <c:axId val="157636864"/>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635328"/>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4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1BDD7F8-4529-4AC8-97E9-BB5CF65B9035}" type="datetimeFigureOut">
              <a:rPr lang="en-US"/>
              <a:pPr>
                <a:defRPr/>
              </a:pPr>
              <a:t>8/3/2013</a:t>
            </a:fld>
            <a:endParaRPr lang="en-US" dirty="0"/>
          </a:p>
        </p:txBody>
      </p:sp>
      <p:sp>
        <p:nvSpPr>
          <p:cNvPr id="4" name="Slide Image Placeholder 3"/>
          <p:cNvSpPr>
            <a:spLocks noGrp="1" noRot="1" noChangeAspect="1"/>
          </p:cNvSpPr>
          <p:nvPr>
            <p:ph type="sldImg" idx="2"/>
          </p:nvPr>
        </p:nvSpPr>
        <p:spPr>
          <a:xfrm>
            <a:off x="2144713" y="685800"/>
            <a:ext cx="2568575"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53260743-DCC6-4DBF-A23E-E6CBB2B90DAF}" type="slidenum">
              <a:rPr lang="en-US"/>
              <a:pPr>
                <a:defRPr/>
              </a:pPr>
              <a:t>‹#›</a:t>
            </a:fld>
            <a:endParaRPr lang="en-US" dirty="0"/>
          </a:p>
        </p:txBody>
      </p:sp>
    </p:spTree>
    <p:extLst>
      <p:ext uri="{BB962C8B-B14F-4D97-AF65-F5344CB8AC3E}">
        <p14:creationId xmlns:p14="http://schemas.microsoft.com/office/powerpoint/2010/main" val="6337100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2144713" y="685800"/>
            <a:ext cx="2568575"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417D743-B1ED-4DDC-A645-2525CFB8C42A}" type="slidenum">
              <a:rPr lang="en-US" smtClean="0"/>
              <a:pPr eaLnBrk="1" hangingPunct="1"/>
              <a:t>1</a:t>
            </a:fld>
            <a:endParaRPr lang="en-US" dirty="0" smtClean="0"/>
          </a:p>
        </p:txBody>
      </p:sp>
    </p:spTree>
    <p:extLst>
      <p:ext uri="{BB962C8B-B14F-4D97-AF65-F5344CB8AC3E}">
        <p14:creationId xmlns:p14="http://schemas.microsoft.com/office/powerpoint/2010/main" val="3770531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2144713" y="685800"/>
            <a:ext cx="2568575"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417D743-B1ED-4DDC-A645-2525CFB8C42A}" type="slidenum">
              <a:rPr lang="en-US" smtClean="0"/>
              <a:pPr eaLnBrk="1" hangingPunct="1"/>
              <a:t>19</a:t>
            </a:fld>
            <a:endParaRPr lang="en-US" dirty="0" smtClean="0"/>
          </a:p>
        </p:txBody>
      </p:sp>
    </p:spTree>
    <p:extLst>
      <p:ext uri="{BB962C8B-B14F-4D97-AF65-F5344CB8AC3E}">
        <p14:creationId xmlns:p14="http://schemas.microsoft.com/office/powerpoint/2010/main" val="2566321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3260743-DCC6-4DBF-A23E-E6CBB2B90DAF}" type="slidenum">
              <a:rPr lang="en-US" smtClean="0"/>
              <a:pPr>
                <a:defRPr/>
              </a:pPr>
              <a:t>33</a:t>
            </a:fld>
            <a:endParaRPr lang="en-US" dirty="0"/>
          </a:p>
        </p:txBody>
      </p:sp>
    </p:spTree>
    <p:extLst>
      <p:ext uri="{BB962C8B-B14F-4D97-AF65-F5344CB8AC3E}">
        <p14:creationId xmlns:p14="http://schemas.microsoft.com/office/powerpoint/2010/main" val="1970633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3260743-DCC6-4DBF-A23E-E6CBB2B90DAF}" type="slidenum">
              <a:rPr lang="en-US" smtClean="0"/>
              <a:pPr>
                <a:defRPr/>
              </a:pPr>
              <a:t>51</a:t>
            </a:fld>
            <a:endParaRPr lang="en-US" dirty="0"/>
          </a:p>
        </p:txBody>
      </p:sp>
    </p:spTree>
    <p:extLst>
      <p:ext uri="{BB962C8B-B14F-4D97-AF65-F5344CB8AC3E}">
        <p14:creationId xmlns:p14="http://schemas.microsoft.com/office/powerpoint/2010/main" val="615411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4713" y="685800"/>
            <a:ext cx="256857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3260743-DCC6-4DBF-A23E-E6CBB2B90DAF}" type="slidenum">
              <a:rPr lang="en-US" smtClean="0"/>
              <a:pPr>
                <a:defRPr/>
              </a:pPr>
              <a:t>111</a:t>
            </a:fld>
            <a:endParaRPr lang="en-US" dirty="0"/>
          </a:p>
        </p:txBody>
      </p:sp>
    </p:spTree>
    <p:extLst>
      <p:ext uri="{BB962C8B-B14F-4D97-AF65-F5344CB8AC3E}">
        <p14:creationId xmlns:p14="http://schemas.microsoft.com/office/powerpoint/2010/main" val="1970633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500" y="3130544"/>
            <a:ext cx="6420326" cy="2160120"/>
          </a:xfrm>
        </p:spPr>
        <p:txBody>
          <a:bodyPr/>
          <a:lstStyle/>
          <a:p>
            <a:r>
              <a:rPr lang="en-US" smtClean="0"/>
              <a:t>Click to edit Master title style</a:t>
            </a:r>
            <a:endParaRPr lang="en-PH"/>
          </a:p>
        </p:txBody>
      </p:sp>
      <p:sp>
        <p:nvSpPr>
          <p:cNvPr id="3" name="Subtitle 2"/>
          <p:cNvSpPr>
            <a:spLocks noGrp="1"/>
          </p:cNvSpPr>
          <p:nvPr>
            <p:ph type="subTitle" idx="1"/>
          </p:nvPr>
        </p:nvSpPr>
        <p:spPr>
          <a:xfrm>
            <a:off x="1132999" y="5710554"/>
            <a:ext cx="5287328" cy="257534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lvl1pPr>
              <a:defRPr/>
            </a:lvl1pPr>
          </a:lstStyle>
          <a:p>
            <a:pPr>
              <a:defRPr/>
            </a:pPr>
            <a:fld id="{6DB4786F-AA3D-455E-83A3-27AD68466550}" type="datetime1">
              <a:rPr lang="en-PH" smtClean="0"/>
              <a:t>8/3/2013</a:t>
            </a:fld>
            <a:endParaRPr lang="en-PH" dirty="0"/>
          </a:p>
        </p:txBody>
      </p:sp>
      <p:sp>
        <p:nvSpPr>
          <p:cNvPr id="5" name="Footer Placeholder 4"/>
          <p:cNvSpPr>
            <a:spLocks noGrp="1"/>
          </p:cNvSpPr>
          <p:nvPr>
            <p:ph type="ftr" sz="quarter" idx="11"/>
          </p:nvPr>
        </p:nvSpPr>
        <p:spPr/>
        <p:txBody>
          <a:bodyPr/>
          <a:lstStyle>
            <a:lvl1pPr>
              <a:defRPr/>
            </a:lvl1pPr>
          </a:lstStyle>
          <a:p>
            <a:pPr>
              <a:defRPr/>
            </a:pPr>
            <a:endParaRPr lang="en-PH" dirty="0"/>
          </a:p>
        </p:txBody>
      </p:sp>
      <p:sp>
        <p:nvSpPr>
          <p:cNvPr id="6" name="Slide Number Placeholder 5"/>
          <p:cNvSpPr>
            <a:spLocks noGrp="1"/>
          </p:cNvSpPr>
          <p:nvPr>
            <p:ph type="sldNum" sz="quarter" idx="12"/>
          </p:nvPr>
        </p:nvSpPr>
        <p:spPr/>
        <p:txBody>
          <a:bodyPr/>
          <a:lstStyle>
            <a:lvl1pPr>
              <a:defRPr/>
            </a:lvl1pPr>
          </a:lstStyle>
          <a:p>
            <a:pPr>
              <a:defRPr/>
            </a:pPr>
            <a:fld id="{26617F10-B47D-4834-BA4F-364036EA2420}" type="slidenum">
              <a:rPr lang="en-PH"/>
              <a:pPr>
                <a:defRPr/>
              </a:pPr>
              <a:t>‹#›</a:t>
            </a:fld>
            <a:endParaRPr lang="en-PH" dirty="0"/>
          </a:p>
        </p:txBody>
      </p:sp>
    </p:spTree>
    <p:extLst>
      <p:ext uri="{BB962C8B-B14F-4D97-AF65-F5344CB8AC3E}">
        <p14:creationId xmlns:p14="http://schemas.microsoft.com/office/powerpoint/2010/main" val="3268790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lvl1pPr>
              <a:defRPr/>
            </a:lvl1pPr>
          </a:lstStyle>
          <a:p>
            <a:pPr>
              <a:defRPr/>
            </a:pPr>
            <a:fld id="{D0704F54-B020-4F3D-8BB9-78BC34646019}" type="datetime1">
              <a:rPr lang="en-PH" smtClean="0"/>
              <a:t>8/3/2013</a:t>
            </a:fld>
            <a:endParaRPr lang="en-PH" dirty="0"/>
          </a:p>
        </p:txBody>
      </p:sp>
      <p:sp>
        <p:nvSpPr>
          <p:cNvPr id="5" name="Footer Placeholder 4"/>
          <p:cNvSpPr>
            <a:spLocks noGrp="1"/>
          </p:cNvSpPr>
          <p:nvPr>
            <p:ph type="ftr" sz="quarter" idx="11"/>
          </p:nvPr>
        </p:nvSpPr>
        <p:spPr/>
        <p:txBody>
          <a:bodyPr/>
          <a:lstStyle>
            <a:lvl1pPr>
              <a:defRPr/>
            </a:lvl1pPr>
          </a:lstStyle>
          <a:p>
            <a:pPr>
              <a:defRPr/>
            </a:pPr>
            <a:endParaRPr lang="en-PH" dirty="0"/>
          </a:p>
        </p:txBody>
      </p:sp>
      <p:sp>
        <p:nvSpPr>
          <p:cNvPr id="6" name="Slide Number Placeholder 5"/>
          <p:cNvSpPr>
            <a:spLocks noGrp="1"/>
          </p:cNvSpPr>
          <p:nvPr>
            <p:ph type="sldNum" sz="quarter" idx="12"/>
          </p:nvPr>
        </p:nvSpPr>
        <p:spPr/>
        <p:txBody>
          <a:bodyPr/>
          <a:lstStyle>
            <a:lvl1pPr>
              <a:defRPr/>
            </a:lvl1pPr>
          </a:lstStyle>
          <a:p>
            <a:pPr>
              <a:defRPr/>
            </a:pPr>
            <a:fld id="{EA30B413-8FC0-44D3-9979-403CCACD0588}" type="slidenum">
              <a:rPr lang="en-PH"/>
              <a:pPr>
                <a:defRPr/>
              </a:pPr>
              <a:t>‹#›</a:t>
            </a:fld>
            <a:endParaRPr lang="en-PH" dirty="0"/>
          </a:p>
        </p:txBody>
      </p:sp>
    </p:spTree>
    <p:extLst>
      <p:ext uri="{BB962C8B-B14F-4D97-AF65-F5344CB8AC3E}">
        <p14:creationId xmlns:p14="http://schemas.microsoft.com/office/powerpoint/2010/main" val="266895423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96661" y="6475696"/>
            <a:ext cx="6420326" cy="2001495"/>
          </a:xfrm>
        </p:spPr>
        <p:txBody>
          <a:bodyPr anchor="t"/>
          <a:lstStyle>
            <a:lvl1pPr algn="l">
              <a:defRPr sz="4000" b="1" cap="all"/>
            </a:lvl1pPr>
          </a:lstStyle>
          <a:p>
            <a:r>
              <a:rPr lang="en-US" smtClean="0"/>
              <a:t>Click to edit Master title style</a:t>
            </a:r>
            <a:endParaRPr lang="en-PH"/>
          </a:p>
        </p:txBody>
      </p:sp>
      <p:sp>
        <p:nvSpPr>
          <p:cNvPr id="3" name="Text Placeholder 2"/>
          <p:cNvSpPr>
            <a:spLocks noGrp="1"/>
          </p:cNvSpPr>
          <p:nvPr>
            <p:ph type="body" idx="1"/>
          </p:nvPr>
        </p:nvSpPr>
        <p:spPr>
          <a:xfrm>
            <a:off x="596661" y="4271259"/>
            <a:ext cx="6420326" cy="22044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0144D9B-4152-4E31-AF6C-DBC1A92470FC}" type="datetime1">
              <a:rPr lang="en-PH" smtClean="0"/>
              <a:t>8/3/2013</a:t>
            </a:fld>
            <a:endParaRPr lang="en-PH" dirty="0"/>
          </a:p>
        </p:txBody>
      </p:sp>
      <p:sp>
        <p:nvSpPr>
          <p:cNvPr id="5" name="Footer Placeholder 4"/>
          <p:cNvSpPr>
            <a:spLocks noGrp="1"/>
          </p:cNvSpPr>
          <p:nvPr>
            <p:ph type="ftr" sz="quarter" idx="11"/>
          </p:nvPr>
        </p:nvSpPr>
        <p:spPr/>
        <p:txBody>
          <a:bodyPr/>
          <a:lstStyle>
            <a:lvl1pPr>
              <a:defRPr/>
            </a:lvl1pPr>
          </a:lstStyle>
          <a:p>
            <a:pPr>
              <a:defRPr/>
            </a:pPr>
            <a:endParaRPr lang="en-PH" dirty="0"/>
          </a:p>
        </p:txBody>
      </p:sp>
      <p:sp>
        <p:nvSpPr>
          <p:cNvPr id="6" name="Slide Number Placeholder 5"/>
          <p:cNvSpPr>
            <a:spLocks noGrp="1"/>
          </p:cNvSpPr>
          <p:nvPr>
            <p:ph type="sldNum" sz="quarter" idx="12"/>
          </p:nvPr>
        </p:nvSpPr>
        <p:spPr/>
        <p:txBody>
          <a:bodyPr/>
          <a:lstStyle>
            <a:lvl1pPr>
              <a:defRPr/>
            </a:lvl1pPr>
          </a:lstStyle>
          <a:p>
            <a:pPr>
              <a:defRPr/>
            </a:pPr>
            <a:fld id="{209050EA-431B-47B2-9991-CFC237CF0894}" type="slidenum">
              <a:rPr lang="en-PH"/>
              <a:pPr>
                <a:defRPr/>
              </a:pPr>
              <a:t>‹#›</a:t>
            </a:fld>
            <a:endParaRPr lang="en-PH" dirty="0"/>
          </a:p>
        </p:txBody>
      </p:sp>
    </p:spTree>
    <p:extLst>
      <p:ext uri="{BB962C8B-B14F-4D97-AF65-F5344CB8AC3E}">
        <p14:creationId xmlns:p14="http://schemas.microsoft.com/office/powerpoint/2010/main" val="16822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312102" y="3454797"/>
            <a:ext cx="2744637" cy="97741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3182629" y="3454797"/>
            <a:ext cx="2744637" cy="97741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3"/>
          <p:cNvSpPr>
            <a:spLocks noGrp="1"/>
          </p:cNvSpPr>
          <p:nvPr>
            <p:ph type="dt" sz="half" idx="10"/>
          </p:nvPr>
        </p:nvSpPr>
        <p:spPr/>
        <p:txBody>
          <a:bodyPr/>
          <a:lstStyle>
            <a:lvl1pPr>
              <a:defRPr/>
            </a:lvl1pPr>
          </a:lstStyle>
          <a:p>
            <a:pPr>
              <a:defRPr/>
            </a:pPr>
            <a:fld id="{DB77CEBA-18A4-4551-9CFB-AB37AF5E8A8C}" type="datetime1">
              <a:rPr lang="en-PH" smtClean="0"/>
              <a:t>8/3/2013</a:t>
            </a:fld>
            <a:endParaRPr lang="en-PH" dirty="0"/>
          </a:p>
        </p:txBody>
      </p:sp>
      <p:sp>
        <p:nvSpPr>
          <p:cNvPr id="6" name="Footer Placeholder 4"/>
          <p:cNvSpPr>
            <a:spLocks noGrp="1"/>
          </p:cNvSpPr>
          <p:nvPr>
            <p:ph type="ftr" sz="quarter" idx="11"/>
          </p:nvPr>
        </p:nvSpPr>
        <p:spPr/>
        <p:txBody>
          <a:bodyPr/>
          <a:lstStyle>
            <a:lvl1pPr>
              <a:defRPr/>
            </a:lvl1pPr>
          </a:lstStyle>
          <a:p>
            <a:pPr>
              <a:defRPr/>
            </a:pPr>
            <a:endParaRPr lang="en-PH" dirty="0"/>
          </a:p>
        </p:txBody>
      </p:sp>
      <p:sp>
        <p:nvSpPr>
          <p:cNvPr id="7" name="Slide Number Placeholder 5"/>
          <p:cNvSpPr>
            <a:spLocks noGrp="1"/>
          </p:cNvSpPr>
          <p:nvPr>
            <p:ph type="sldNum" sz="quarter" idx="12"/>
          </p:nvPr>
        </p:nvSpPr>
        <p:spPr/>
        <p:txBody>
          <a:bodyPr/>
          <a:lstStyle>
            <a:lvl1pPr>
              <a:defRPr/>
            </a:lvl1pPr>
          </a:lstStyle>
          <a:p>
            <a:pPr>
              <a:defRPr/>
            </a:pPr>
            <a:fld id="{D582D9A7-537A-439D-BBE2-C65FAEEEA7F1}" type="slidenum">
              <a:rPr lang="en-PH"/>
              <a:pPr>
                <a:defRPr/>
              </a:pPr>
              <a:t>‹#›</a:t>
            </a:fld>
            <a:endParaRPr lang="en-PH" dirty="0"/>
          </a:p>
        </p:txBody>
      </p:sp>
    </p:spTree>
    <p:extLst>
      <p:ext uri="{BB962C8B-B14F-4D97-AF65-F5344CB8AC3E}">
        <p14:creationId xmlns:p14="http://schemas.microsoft.com/office/powerpoint/2010/main" val="102214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77668" y="403565"/>
            <a:ext cx="6797993" cy="1679576"/>
          </a:xfrm>
        </p:spPr>
        <p:txBody>
          <a:bodyPr/>
          <a:lstStyle>
            <a:lvl1pPr>
              <a:defRPr/>
            </a:lvl1pPr>
          </a:lstStyle>
          <a:p>
            <a:r>
              <a:rPr lang="en-US" smtClean="0"/>
              <a:t>Click to edit Master title style</a:t>
            </a:r>
            <a:endParaRPr lang="en-PH"/>
          </a:p>
        </p:txBody>
      </p:sp>
      <p:sp>
        <p:nvSpPr>
          <p:cNvPr id="3" name="Text Placeholder 2"/>
          <p:cNvSpPr>
            <a:spLocks noGrp="1"/>
          </p:cNvSpPr>
          <p:nvPr>
            <p:ph type="body" idx="1"/>
          </p:nvPr>
        </p:nvSpPr>
        <p:spPr>
          <a:xfrm>
            <a:off x="377666" y="2255765"/>
            <a:ext cx="3337364" cy="94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77666" y="3195858"/>
            <a:ext cx="3337364" cy="58061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3836985" y="2255765"/>
            <a:ext cx="3338675" cy="94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36985" y="3195858"/>
            <a:ext cx="3338675" cy="58061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3"/>
          <p:cNvSpPr>
            <a:spLocks noGrp="1"/>
          </p:cNvSpPr>
          <p:nvPr>
            <p:ph type="dt" sz="half" idx="10"/>
          </p:nvPr>
        </p:nvSpPr>
        <p:spPr/>
        <p:txBody>
          <a:bodyPr/>
          <a:lstStyle>
            <a:lvl1pPr>
              <a:defRPr/>
            </a:lvl1pPr>
          </a:lstStyle>
          <a:p>
            <a:pPr>
              <a:defRPr/>
            </a:pPr>
            <a:fld id="{8C6C7363-1894-4278-B86C-1CDDDB875E81}" type="datetime1">
              <a:rPr lang="en-PH" smtClean="0"/>
              <a:t>8/3/2013</a:t>
            </a:fld>
            <a:endParaRPr lang="en-PH" dirty="0"/>
          </a:p>
        </p:txBody>
      </p:sp>
      <p:sp>
        <p:nvSpPr>
          <p:cNvPr id="8" name="Footer Placeholder 4"/>
          <p:cNvSpPr>
            <a:spLocks noGrp="1"/>
          </p:cNvSpPr>
          <p:nvPr>
            <p:ph type="ftr" sz="quarter" idx="11"/>
          </p:nvPr>
        </p:nvSpPr>
        <p:spPr/>
        <p:txBody>
          <a:bodyPr/>
          <a:lstStyle>
            <a:lvl1pPr>
              <a:defRPr/>
            </a:lvl1pPr>
          </a:lstStyle>
          <a:p>
            <a:pPr>
              <a:defRPr/>
            </a:pPr>
            <a:endParaRPr lang="en-PH" dirty="0"/>
          </a:p>
        </p:txBody>
      </p:sp>
      <p:sp>
        <p:nvSpPr>
          <p:cNvPr id="9" name="Slide Number Placeholder 5"/>
          <p:cNvSpPr>
            <a:spLocks noGrp="1"/>
          </p:cNvSpPr>
          <p:nvPr>
            <p:ph type="sldNum" sz="quarter" idx="12"/>
          </p:nvPr>
        </p:nvSpPr>
        <p:spPr/>
        <p:txBody>
          <a:bodyPr/>
          <a:lstStyle>
            <a:lvl1pPr>
              <a:defRPr/>
            </a:lvl1pPr>
          </a:lstStyle>
          <a:p>
            <a:pPr>
              <a:defRPr/>
            </a:pPr>
            <a:fld id="{E81C336D-BB64-4156-8D61-FCCF1BC9795D}" type="slidenum">
              <a:rPr lang="en-PH"/>
              <a:pPr>
                <a:defRPr/>
              </a:pPr>
              <a:t>‹#›</a:t>
            </a:fld>
            <a:endParaRPr lang="en-PH" dirty="0"/>
          </a:p>
        </p:txBody>
      </p:sp>
    </p:spTree>
    <p:extLst>
      <p:ext uri="{BB962C8B-B14F-4D97-AF65-F5344CB8AC3E}">
        <p14:creationId xmlns:p14="http://schemas.microsoft.com/office/powerpoint/2010/main" val="4160695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3"/>
          <p:cNvSpPr>
            <a:spLocks noGrp="1"/>
          </p:cNvSpPr>
          <p:nvPr>
            <p:ph type="dt" sz="half" idx="10"/>
          </p:nvPr>
        </p:nvSpPr>
        <p:spPr/>
        <p:txBody>
          <a:bodyPr/>
          <a:lstStyle>
            <a:lvl1pPr>
              <a:defRPr/>
            </a:lvl1pPr>
          </a:lstStyle>
          <a:p>
            <a:pPr>
              <a:defRPr/>
            </a:pPr>
            <a:fld id="{B267C5A8-42BC-4E9A-B7E3-E7188D3E0F5E}" type="datetime1">
              <a:rPr lang="en-PH" smtClean="0"/>
              <a:t>8/3/2013</a:t>
            </a:fld>
            <a:endParaRPr lang="en-PH" dirty="0"/>
          </a:p>
        </p:txBody>
      </p:sp>
      <p:sp>
        <p:nvSpPr>
          <p:cNvPr id="4" name="Footer Placeholder 4"/>
          <p:cNvSpPr>
            <a:spLocks noGrp="1"/>
          </p:cNvSpPr>
          <p:nvPr>
            <p:ph type="ftr" sz="quarter" idx="11"/>
          </p:nvPr>
        </p:nvSpPr>
        <p:spPr/>
        <p:txBody>
          <a:bodyPr/>
          <a:lstStyle>
            <a:lvl1pPr>
              <a:defRPr/>
            </a:lvl1pPr>
          </a:lstStyle>
          <a:p>
            <a:pPr>
              <a:defRPr/>
            </a:pPr>
            <a:endParaRPr lang="en-PH" dirty="0"/>
          </a:p>
        </p:txBody>
      </p:sp>
      <p:sp>
        <p:nvSpPr>
          <p:cNvPr id="5" name="Slide Number Placeholder 5"/>
          <p:cNvSpPr>
            <a:spLocks noGrp="1"/>
          </p:cNvSpPr>
          <p:nvPr>
            <p:ph type="sldNum" sz="quarter" idx="12"/>
          </p:nvPr>
        </p:nvSpPr>
        <p:spPr/>
        <p:txBody>
          <a:bodyPr/>
          <a:lstStyle>
            <a:lvl1pPr>
              <a:defRPr/>
            </a:lvl1pPr>
          </a:lstStyle>
          <a:p>
            <a:pPr>
              <a:defRPr/>
            </a:pPr>
            <a:fld id="{8C207BE3-7301-411E-8434-C2E44F6A05FF}" type="slidenum">
              <a:rPr lang="en-PH"/>
              <a:pPr>
                <a:defRPr/>
              </a:pPr>
              <a:t>‹#›</a:t>
            </a:fld>
            <a:endParaRPr lang="en-PH" dirty="0"/>
          </a:p>
        </p:txBody>
      </p:sp>
    </p:spTree>
    <p:extLst>
      <p:ext uri="{BB962C8B-B14F-4D97-AF65-F5344CB8AC3E}">
        <p14:creationId xmlns:p14="http://schemas.microsoft.com/office/powerpoint/2010/main" val="1002603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6926BC-DC9E-447E-BC1D-4FFC0DE2855F}" type="datetime1">
              <a:rPr lang="en-PH" smtClean="0"/>
              <a:t>8/3/2013</a:t>
            </a:fld>
            <a:endParaRPr lang="en-PH" dirty="0"/>
          </a:p>
        </p:txBody>
      </p:sp>
      <p:sp>
        <p:nvSpPr>
          <p:cNvPr id="3" name="Footer Placeholder 4"/>
          <p:cNvSpPr>
            <a:spLocks noGrp="1"/>
          </p:cNvSpPr>
          <p:nvPr>
            <p:ph type="ftr" sz="quarter" idx="11"/>
          </p:nvPr>
        </p:nvSpPr>
        <p:spPr/>
        <p:txBody>
          <a:bodyPr/>
          <a:lstStyle>
            <a:lvl1pPr>
              <a:defRPr/>
            </a:lvl1pPr>
          </a:lstStyle>
          <a:p>
            <a:pPr>
              <a:defRPr/>
            </a:pPr>
            <a:endParaRPr lang="en-PH" dirty="0"/>
          </a:p>
        </p:txBody>
      </p:sp>
      <p:sp>
        <p:nvSpPr>
          <p:cNvPr id="4" name="Slide Number Placeholder 5"/>
          <p:cNvSpPr>
            <a:spLocks noGrp="1"/>
          </p:cNvSpPr>
          <p:nvPr>
            <p:ph type="sldNum" sz="quarter" idx="12"/>
          </p:nvPr>
        </p:nvSpPr>
        <p:spPr/>
        <p:txBody>
          <a:bodyPr/>
          <a:lstStyle>
            <a:lvl1pPr>
              <a:defRPr/>
            </a:lvl1pPr>
          </a:lstStyle>
          <a:p>
            <a:pPr>
              <a:defRPr/>
            </a:pPr>
            <a:fld id="{6236B068-2432-4E3B-A026-377791B47204}" type="slidenum">
              <a:rPr lang="en-PH"/>
              <a:pPr>
                <a:defRPr/>
              </a:pPr>
              <a:t>‹#›</a:t>
            </a:fld>
            <a:endParaRPr lang="en-PH" dirty="0"/>
          </a:p>
        </p:txBody>
      </p:sp>
    </p:spTree>
    <p:extLst>
      <p:ext uri="{BB962C8B-B14F-4D97-AF65-F5344CB8AC3E}">
        <p14:creationId xmlns:p14="http://schemas.microsoft.com/office/powerpoint/2010/main" val="722404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77667" y="401232"/>
            <a:ext cx="2484992" cy="1707568"/>
          </a:xfrm>
        </p:spPr>
        <p:txBody>
          <a:bodyPr anchor="b"/>
          <a:lstStyle>
            <a:lvl1pPr algn="l">
              <a:defRPr sz="2000" b="1"/>
            </a:lvl1pPr>
          </a:lstStyle>
          <a:p>
            <a:r>
              <a:rPr lang="en-US" smtClean="0"/>
              <a:t>Click to edit Master title style</a:t>
            </a:r>
            <a:endParaRPr lang="en-PH"/>
          </a:p>
        </p:txBody>
      </p:sp>
      <p:sp>
        <p:nvSpPr>
          <p:cNvPr id="3" name="Content Placeholder 2"/>
          <p:cNvSpPr>
            <a:spLocks noGrp="1"/>
          </p:cNvSpPr>
          <p:nvPr>
            <p:ph idx="1"/>
          </p:nvPr>
        </p:nvSpPr>
        <p:spPr>
          <a:xfrm>
            <a:off x="2953141" y="401235"/>
            <a:ext cx="4222518" cy="86008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377667" y="2108802"/>
            <a:ext cx="2484992" cy="68932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DAECD2E-3E73-4778-A57A-5FEB66ACA7D2}" type="datetime1">
              <a:rPr lang="en-PH" smtClean="0"/>
              <a:t>8/3/2013</a:t>
            </a:fld>
            <a:endParaRPr lang="en-PH" dirty="0"/>
          </a:p>
        </p:txBody>
      </p:sp>
      <p:sp>
        <p:nvSpPr>
          <p:cNvPr id="6" name="Footer Placeholder 4"/>
          <p:cNvSpPr>
            <a:spLocks noGrp="1"/>
          </p:cNvSpPr>
          <p:nvPr>
            <p:ph type="ftr" sz="quarter" idx="11"/>
          </p:nvPr>
        </p:nvSpPr>
        <p:spPr/>
        <p:txBody>
          <a:bodyPr/>
          <a:lstStyle>
            <a:lvl1pPr>
              <a:defRPr/>
            </a:lvl1pPr>
          </a:lstStyle>
          <a:p>
            <a:pPr>
              <a:defRPr/>
            </a:pPr>
            <a:endParaRPr lang="en-PH" dirty="0"/>
          </a:p>
        </p:txBody>
      </p:sp>
      <p:sp>
        <p:nvSpPr>
          <p:cNvPr id="7" name="Slide Number Placeholder 5"/>
          <p:cNvSpPr>
            <a:spLocks noGrp="1"/>
          </p:cNvSpPr>
          <p:nvPr>
            <p:ph type="sldNum" sz="quarter" idx="12"/>
          </p:nvPr>
        </p:nvSpPr>
        <p:spPr/>
        <p:txBody>
          <a:bodyPr/>
          <a:lstStyle>
            <a:lvl1pPr>
              <a:defRPr/>
            </a:lvl1pPr>
          </a:lstStyle>
          <a:p>
            <a:pPr>
              <a:defRPr/>
            </a:pPr>
            <a:fld id="{A75417D3-3380-4FD6-8846-03C7C882C512}" type="slidenum">
              <a:rPr lang="en-PH"/>
              <a:pPr>
                <a:defRPr/>
              </a:pPr>
              <a:t>‹#›</a:t>
            </a:fld>
            <a:endParaRPr lang="en-PH" dirty="0"/>
          </a:p>
        </p:txBody>
      </p:sp>
    </p:spTree>
    <p:extLst>
      <p:ext uri="{BB962C8B-B14F-4D97-AF65-F5344CB8AC3E}">
        <p14:creationId xmlns:p14="http://schemas.microsoft.com/office/powerpoint/2010/main" val="2434291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0506" y="7054215"/>
            <a:ext cx="4531995" cy="832790"/>
          </a:xfrm>
        </p:spPr>
        <p:txBody>
          <a:bodyPr anchor="b"/>
          <a:lstStyle>
            <a:lvl1pPr algn="l">
              <a:defRPr sz="2000" b="1"/>
            </a:lvl1pPr>
          </a:lstStyle>
          <a:p>
            <a:r>
              <a:rPr lang="en-US" smtClean="0"/>
              <a:t>Click to edit Master title style</a:t>
            </a:r>
            <a:endParaRPr lang="en-PH"/>
          </a:p>
        </p:txBody>
      </p:sp>
      <p:sp>
        <p:nvSpPr>
          <p:cNvPr id="3" name="Picture Placeholder 2"/>
          <p:cNvSpPr>
            <a:spLocks noGrp="1"/>
          </p:cNvSpPr>
          <p:nvPr>
            <p:ph type="pic" idx="1"/>
          </p:nvPr>
        </p:nvSpPr>
        <p:spPr>
          <a:xfrm>
            <a:off x="1480506" y="900440"/>
            <a:ext cx="4531995" cy="604647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PH" noProof="0" dirty="0" smtClean="0"/>
          </a:p>
        </p:txBody>
      </p:sp>
      <p:sp>
        <p:nvSpPr>
          <p:cNvPr id="4" name="Text Placeholder 3"/>
          <p:cNvSpPr>
            <a:spLocks noGrp="1"/>
          </p:cNvSpPr>
          <p:nvPr>
            <p:ph type="body" sz="half" idx="2"/>
          </p:nvPr>
        </p:nvSpPr>
        <p:spPr>
          <a:xfrm>
            <a:off x="1480506" y="7887004"/>
            <a:ext cx="4531995" cy="11827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1E984B2-872D-4AA3-92D4-0302A267614F}" type="datetime1">
              <a:rPr lang="en-PH" smtClean="0"/>
              <a:t>8/3/2013</a:t>
            </a:fld>
            <a:endParaRPr lang="en-PH" dirty="0"/>
          </a:p>
        </p:txBody>
      </p:sp>
      <p:sp>
        <p:nvSpPr>
          <p:cNvPr id="6" name="Footer Placeholder 4"/>
          <p:cNvSpPr>
            <a:spLocks noGrp="1"/>
          </p:cNvSpPr>
          <p:nvPr>
            <p:ph type="ftr" sz="quarter" idx="11"/>
          </p:nvPr>
        </p:nvSpPr>
        <p:spPr/>
        <p:txBody>
          <a:bodyPr/>
          <a:lstStyle>
            <a:lvl1pPr>
              <a:defRPr/>
            </a:lvl1pPr>
          </a:lstStyle>
          <a:p>
            <a:pPr>
              <a:defRPr/>
            </a:pPr>
            <a:endParaRPr lang="en-PH" dirty="0"/>
          </a:p>
        </p:txBody>
      </p:sp>
      <p:sp>
        <p:nvSpPr>
          <p:cNvPr id="7" name="Slide Number Placeholder 5"/>
          <p:cNvSpPr>
            <a:spLocks noGrp="1"/>
          </p:cNvSpPr>
          <p:nvPr>
            <p:ph type="sldNum" sz="quarter" idx="12"/>
          </p:nvPr>
        </p:nvSpPr>
        <p:spPr/>
        <p:txBody>
          <a:bodyPr/>
          <a:lstStyle>
            <a:lvl1pPr>
              <a:defRPr/>
            </a:lvl1pPr>
          </a:lstStyle>
          <a:p>
            <a:pPr>
              <a:defRPr/>
            </a:pPr>
            <a:fld id="{1E4FB4D0-6452-48C0-8149-784086141ECA}" type="slidenum">
              <a:rPr lang="en-PH"/>
              <a:pPr>
                <a:defRPr/>
              </a:pPr>
              <a:t>‹#›</a:t>
            </a:fld>
            <a:endParaRPr lang="en-PH" dirty="0"/>
          </a:p>
        </p:txBody>
      </p:sp>
    </p:spTree>
    <p:extLst>
      <p:ext uri="{BB962C8B-B14F-4D97-AF65-F5344CB8AC3E}">
        <p14:creationId xmlns:p14="http://schemas.microsoft.com/office/powerpoint/2010/main" val="342685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lvl1pPr>
              <a:defRPr/>
            </a:lvl1pPr>
          </a:lstStyle>
          <a:p>
            <a:pPr>
              <a:defRPr/>
            </a:pPr>
            <a:fld id="{A63D5F66-F57F-4B76-B3D3-56F7F136619C}" type="datetime1">
              <a:rPr lang="en-PH" smtClean="0"/>
              <a:t>8/3/2013</a:t>
            </a:fld>
            <a:endParaRPr lang="en-PH" dirty="0"/>
          </a:p>
        </p:txBody>
      </p:sp>
      <p:sp>
        <p:nvSpPr>
          <p:cNvPr id="5" name="Footer Placeholder 4"/>
          <p:cNvSpPr>
            <a:spLocks noGrp="1"/>
          </p:cNvSpPr>
          <p:nvPr>
            <p:ph type="ftr" sz="quarter" idx="11"/>
          </p:nvPr>
        </p:nvSpPr>
        <p:spPr/>
        <p:txBody>
          <a:bodyPr/>
          <a:lstStyle>
            <a:lvl1pPr>
              <a:defRPr/>
            </a:lvl1pPr>
          </a:lstStyle>
          <a:p>
            <a:pPr>
              <a:defRPr/>
            </a:pPr>
            <a:endParaRPr lang="en-PH" dirty="0"/>
          </a:p>
        </p:txBody>
      </p:sp>
      <p:sp>
        <p:nvSpPr>
          <p:cNvPr id="6" name="Slide Number Placeholder 5"/>
          <p:cNvSpPr>
            <a:spLocks noGrp="1"/>
          </p:cNvSpPr>
          <p:nvPr>
            <p:ph type="sldNum" sz="quarter" idx="12"/>
          </p:nvPr>
        </p:nvSpPr>
        <p:spPr/>
        <p:txBody>
          <a:bodyPr/>
          <a:lstStyle>
            <a:lvl1pPr>
              <a:defRPr/>
            </a:lvl1pPr>
          </a:lstStyle>
          <a:p>
            <a:pPr>
              <a:defRPr/>
            </a:pPr>
            <a:fld id="{C3FD392B-0ED2-450E-8E40-2FD5285AF8C8}" type="slidenum">
              <a:rPr lang="en-PH"/>
              <a:pPr>
                <a:defRPr/>
              </a:pPr>
              <a:t>‹#›</a:t>
            </a:fld>
            <a:endParaRPr lang="en-PH" dirty="0"/>
          </a:p>
        </p:txBody>
      </p:sp>
    </p:spTree>
    <p:extLst>
      <p:ext uri="{BB962C8B-B14F-4D97-AF65-F5344CB8AC3E}">
        <p14:creationId xmlns:p14="http://schemas.microsoft.com/office/powerpoint/2010/main" val="2317149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524129" y="592518"/>
            <a:ext cx="1403135" cy="12636470"/>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312100" y="592518"/>
            <a:ext cx="4086139" cy="1263647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lvl1pPr>
              <a:defRPr/>
            </a:lvl1pPr>
          </a:lstStyle>
          <a:p>
            <a:pPr>
              <a:defRPr/>
            </a:pPr>
            <a:fld id="{E6DB3D2F-2DDE-4EC6-9752-F22817B1BE41}" type="datetime1">
              <a:rPr lang="en-PH" smtClean="0"/>
              <a:t>8/3/2013</a:t>
            </a:fld>
            <a:endParaRPr lang="en-PH" dirty="0"/>
          </a:p>
        </p:txBody>
      </p:sp>
      <p:sp>
        <p:nvSpPr>
          <p:cNvPr id="5" name="Footer Placeholder 4"/>
          <p:cNvSpPr>
            <a:spLocks noGrp="1"/>
          </p:cNvSpPr>
          <p:nvPr>
            <p:ph type="ftr" sz="quarter" idx="11"/>
          </p:nvPr>
        </p:nvSpPr>
        <p:spPr/>
        <p:txBody>
          <a:bodyPr/>
          <a:lstStyle>
            <a:lvl1pPr>
              <a:defRPr/>
            </a:lvl1pPr>
          </a:lstStyle>
          <a:p>
            <a:pPr>
              <a:defRPr/>
            </a:pPr>
            <a:endParaRPr lang="en-PH" dirty="0"/>
          </a:p>
        </p:txBody>
      </p:sp>
      <p:sp>
        <p:nvSpPr>
          <p:cNvPr id="6" name="Slide Number Placeholder 5"/>
          <p:cNvSpPr>
            <a:spLocks noGrp="1"/>
          </p:cNvSpPr>
          <p:nvPr>
            <p:ph type="sldNum" sz="quarter" idx="12"/>
          </p:nvPr>
        </p:nvSpPr>
        <p:spPr/>
        <p:txBody>
          <a:bodyPr/>
          <a:lstStyle>
            <a:lvl1pPr>
              <a:defRPr/>
            </a:lvl1pPr>
          </a:lstStyle>
          <a:p>
            <a:pPr>
              <a:defRPr/>
            </a:pPr>
            <a:fld id="{71705ABF-5BDA-4D42-A2EA-8D7E8FE073F4}" type="slidenum">
              <a:rPr lang="en-PH"/>
              <a:pPr>
                <a:defRPr/>
              </a:pPr>
              <a:t>‹#›</a:t>
            </a:fld>
            <a:endParaRPr lang="en-PH" dirty="0"/>
          </a:p>
        </p:txBody>
      </p:sp>
    </p:spTree>
    <p:extLst>
      <p:ext uri="{BB962C8B-B14F-4D97-AF65-F5344CB8AC3E}">
        <p14:creationId xmlns:p14="http://schemas.microsoft.com/office/powerpoint/2010/main" val="133411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77826" y="403225"/>
            <a:ext cx="6797675" cy="167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PH" smtClean="0"/>
          </a:p>
        </p:txBody>
      </p:sp>
      <p:sp>
        <p:nvSpPr>
          <p:cNvPr id="1027" name="Text Placeholder 2"/>
          <p:cNvSpPr>
            <a:spLocks noGrp="1"/>
          </p:cNvSpPr>
          <p:nvPr>
            <p:ph type="body" idx="1"/>
          </p:nvPr>
        </p:nvSpPr>
        <p:spPr bwMode="auto">
          <a:xfrm>
            <a:off x="377826" y="2351089"/>
            <a:ext cx="6797675"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smtClean="0"/>
          </a:p>
        </p:txBody>
      </p:sp>
      <p:sp>
        <p:nvSpPr>
          <p:cNvPr id="4" name="Date Placeholder 3"/>
          <p:cNvSpPr>
            <a:spLocks noGrp="1"/>
          </p:cNvSpPr>
          <p:nvPr>
            <p:ph type="dt" sz="half" idx="2"/>
          </p:nvPr>
        </p:nvSpPr>
        <p:spPr>
          <a:xfrm>
            <a:off x="377826" y="9340850"/>
            <a:ext cx="1762125" cy="53657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5CD51807-FB60-4E2C-84F4-9F7A8AF93B70}" type="datetime1">
              <a:rPr lang="en-PH" smtClean="0"/>
              <a:t>8/3/2013</a:t>
            </a:fld>
            <a:endParaRPr lang="en-PH" dirty="0"/>
          </a:p>
        </p:txBody>
      </p:sp>
      <p:sp>
        <p:nvSpPr>
          <p:cNvPr id="5" name="Footer Placeholder 4"/>
          <p:cNvSpPr>
            <a:spLocks noGrp="1"/>
          </p:cNvSpPr>
          <p:nvPr>
            <p:ph type="ftr" sz="quarter" idx="3"/>
          </p:nvPr>
        </p:nvSpPr>
        <p:spPr>
          <a:xfrm>
            <a:off x="2581276" y="9340850"/>
            <a:ext cx="2390775" cy="53657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PH" dirty="0"/>
          </a:p>
        </p:txBody>
      </p:sp>
      <p:sp>
        <p:nvSpPr>
          <p:cNvPr id="6" name="Slide Number Placeholder 5"/>
          <p:cNvSpPr>
            <a:spLocks noGrp="1"/>
          </p:cNvSpPr>
          <p:nvPr>
            <p:ph type="sldNum" sz="quarter" idx="4"/>
          </p:nvPr>
        </p:nvSpPr>
        <p:spPr>
          <a:xfrm>
            <a:off x="5413376" y="9340850"/>
            <a:ext cx="1762125" cy="53657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EC9CA5FA-33B5-4642-A874-F2FA4A17EE64}" type="slidenum">
              <a:rPr lang="en-PH"/>
              <a:pPr>
                <a:defRPr/>
              </a:pPr>
              <a:t>‹#›</a:t>
            </a:fld>
            <a:endParaRPr lang="en-PH"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almmag.com/" TargetMode="External"/></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22.xml"/><Relationship Id="rId7"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76.xml"/><Relationship Id="rId11" Type="http://schemas.openxmlformats.org/officeDocument/2006/relationships/image" Target="../media/image4.png"/><Relationship Id="rId5" Type="http://schemas.openxmlformats.org/officeDocument/2006/relationships/slide" Target="slide21.xml"/><Relationship Id="rId10" Type="http://schemas.openxmlformats.org/officeDocument/2006/relationships/image" Target="../media/image3.png"/><Relationship Id="rId4" Type="http://schemas.openxmlformats.org/officeDocument/2006/relationships/slide" Target="slide3.xml"/><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9.xml"/><Relationship Id="rId7" Type="http://schemas.openxmlformats.org/officeDocument/2006/relationships/slide" Target="slide37.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slide" Target="slide11.xml"/><Relationship Id="rId4" Type="http://schemas.openxmlformats.org/officeDocument/2006/relationships/slide" Target="slide25.xml"/><Relationship Id="rId9" Type="http://schemas.openxmlformats.org/officeDocument/2006/relationships/slide" Target="slide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member.almmag.com/goto/foundingmember" TargetMode="External"/><Relationship Id="rId1" Type="http://schemas.openxmlformats.org/officeDocument/2006/relationships/slideLayout" Target="../slideLayouts/slideLayout2.xml"/><Relationship Id="rId5" Type="http://schemas.openxmlformats.org/officeDocument/2006/relationships/hyperlink" Target="mailto:support@almmag.com"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8" Type="http://schemas.openxmlformats.org/officeDocument/2006/relationships/hyperlink" Target="http://www.amazon.com/Scaling-Software-Agility-Practices-Enterprises/dp/0321458192/ref=sr_1_1?s=books&amp;ie=UTF8&amp;qid=1361386452&amp;sr=1-1&amp;keywords=Scaling+Software+Agility" TargetMode="External"/><Relationship Id="rId3" Type="http://schemas.openxmlformats.org/officeDocument/2006/relationships/hyperlink" Target="http://scaledagileframework.com/" TargetMode="External"/><Relationship Id="rId7" Type="http://schemas.openxmlformats.org/officeDocument/2006/relationships/hyperlink" Target="http://www.amazon.com/Agile-Software-Requirements-Enterprise-Development/dp/0321635841/ref=ntt_at_ep_dpi_3"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tp://deanleffingwell.com/" TargetMode="External"/><Relationship Id="rId5" Type="http://schemas.openxmlformats.org/officeDocument/2006/relationships/hyperlink" Target="http://www.yakyma.com/"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www.microsoft.com/visualstudio/eng/2013-downloads" TargetMode="Externa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www.microsoft.com/visualstudio/eng/2013-preview" TargetMode="External"/><Relationship Id="rId7"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hyperlink" Target="http://www.microsoft.com/visualstudio/eng/2013-downloads" TargetMode="External"/><Relationship Id="rId5" Type="http://schemas.openxmlformats.org/officeDocument/2006/relationships/hyperlink" Target="http://blogs.msdn.com/b/somasegar/archive/2013/06/26/visual-studio-2013-preview.aspx" TargetMode="External"/><Relationship Id="rId4" Type="http://schemas.openxmlformats.org/officeDocument/2006/relationships/hyperlink" Target="http://blogs.msdn.com/b/bharry/archive/2013/06/03/visual-studio-2013.aspx"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nwcadence.com/" TargetMode="External"/><Relationship Id="rId7" Type="http://schemas.openxmlformats.org/officeDocument/2006/relationships/slide" Target="slide2.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s3.amazonaws.com/amag-vol01-issue04/4-Lab+Manager+Demo-with+Cover-7mins.mp4" TargetMode="Externa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hyperlink" Target="http://examcr.am/XI4CGL" TargetMode="External"/><Relationship Id="rId7"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www.enhancealm.com.au/" TargetMode="External"/><Relationship Id="rId5" Type="http://schemas.openxmlformats.org/officeDocument/2006/relationships/hyperlink" Target="http://examcr.am/TyAYs3" TargetMode="External"/><Relationship Id="rId4" Type="http://schemas.openxmlformats.org/officeDocument/2006/relationships/hyperlink" Target="http://myalmblog.com/2013/02/27/microsofts-alm-certificationpart-1-of-3/"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examcr.am/alm-2012" TargetMode="External"/><Relationship Id="rId3" Type="http://schemas.openxmlformats.org/officeDocument/2006/relationships/hyperlink" Target="http://www.enhancealm.com.au/" TargetMode="External"/><Relationship Id="rId7" Type="http://schemas.openxmlformats.org/officeDocument/2006/relationships/hyperlink" Target="http://examcr.am/tfs-2012" TargetMode="External"/><Relationship Id="rId2" Type="http://schemas.openxmlformats.org/officeDocument/2006/relationships/hyperlink" Target="http://myalmblog.com/" TargetMode="External"/><Relationship Id="rId1" Type="http://schemas.openxmlformats.org/officeDocument/2006/relationships/slideLayout" Target="../slideLayouts/slideLayout2.xml"/><Relationship Id="rId6" Type="http://schemas.openxmlformats.org/officeDocument/2006/relationships/hyperlink" Target="http://examcr.am/TestingBook" TargetMode="External"/><Relationship Id="rId11" Type="http://schemas.openxmlformats.org/officeDocument/2006/relationships/image" Target="../media/image18.png"/><Relationship Id="rId5" Type="http://schemas.openxmlformats.org/officeDocument/2006/relationships/hyperlink" Target="http://msdn.microsoft.com/en-us/library/jj159345.aspx" TargetMode="External"/><Relationship Id="rId10" Type="http://schemas.openxmlformats.org/officeDocument/2006/relationships/image" Target="../media/image17.png"/><Relationship Id="rId4" Type="http://schemas.openxmlformats.org/officeDocument/2006/relationships/hyperlink" Target="http://www.quicklearn.com/" TargetMode="External"/><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hyperlink" Target="https://mvp.support.microsoft.com/profile/Martin.Hinshelwood" TargetMode="External"/><Relationship Id="rId7" Type="http://schemas.openxmlformats.org/officeDocument/2006/relationships/image" Target="../media/image20.png"/><Relationship Id="rId2" Type="http://schemas.openxmlformats.org/officeDocument/2006/relationships/hyperlink" Target="http://nwcadence.com/" TargetMode="External"/><Relationship Id="rId1" Type="http://schemas.openxmlformats.org/officeDocument/2006/relationships/slideLayout" Target="../slideLayouts/slideLayout2.xml"/><Relationship Id="rId6" Type="http://schemas.openxmlformats.org/officeDocument/2006/relationships/hyperlink" Target="http://blog.hinshelwood.com/" TargetMode="External"/><Relationship Id="rId5" Type="http://schemas.openxmlformats.org/officeDocument/2006/relationships/hyperlink" Target="http://courses.scrum.org/about/martin-hinshelwood" TargetMode="External"/><Relationship Id="rId4" Type="http://schemas.openxmlformats.org/officeDocument/2006/relationships/hyperlink" Target="http://blogs.msdn.com/b/willy-peter_schaub/archive/2010/07/08/introducing-the-visual-studio-alm-rangers-martin-hinshelwood.aspx"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http://go.xebialabs.com/rs/xebialabs/images/Andrew_Phillips.jp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www.xebialabs.com/" TargetMode="External"/><Relationship Id="rId1" Type="http://schemas.openxmlformats.org/officeDocument/2006/relationships/slideLayout" Target="../slideLayouts/slideLayout2.xml"/><Relationship Id="rId5" Type="http://schemas.openxmlformats.org/officeDocument/2006/relationships/hyperlink" Target="http://tinyurl.com/ah4t32z" TargetMode="External"/><Relationship Id="rId4" Type="http://schemas.openxmlformats.org/officeDocument/2006/relationships/hyperlink" Target="http://blog.xebialabs.com/author/aphillip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microsoft.com/visualstudio/11/en-us" TargetMode="External"/><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hyperlink" Target="http://marvelalm.com/" TargetMode="External"/><Relationship Id="rId4" Type="http://schemas.openxmlformats.org/officeDocument/2006/relationships/hyperlink" Target="http://msdn.microsoft.com/en-us/library/fda2bad5(v=vs.110)"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marvelalm.com/" TargetMode="External"/><Relationship Id="rId7" Type="http://schemas.openxmlformats.org/officeDocument/2006/relationships/hyperlink" Target="http://mohamedradwan.files.wordpress.com/2012/11/rollback-3.png" TargetMode="External"/><Relationship Id="rId2" Type="http://schemas.openxmlformats.org/officeDocument/2006/relationships/hyperlink" Target="http://mohamedradwan.wordpress.com/" TargetMode="Externa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hyperlink" Target="http://mohamedradwan.files.wordpress.com/2012/11/team-project-settings.png" TargetMode="External"/><Relationship Id="rId4" Type="http://schemas.openxmlformats.org/officeDocument/2006/relationships/hyperlink" Target="https://sites.google.com/site/tfsegyptusergroup/"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www.almmag.com/" TargetMode="Externa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www.member.almmag.com/likes/Subscriber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www.almmag.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tinyurl.com/c63kh8y" TargetMode="Externa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hyperlink" Target="http://businesscraftsmanship.com/" TargetMode="External"/></Relationships>
</file>

<file path=ppt/slides/_rels/slide21.xml.rels><?xml version="1.0" encoding="UTF-8" standalone="yes"?>
<Relationships xmlns="http://schemas.openxmlformats.org/package/2006/relationships"><Relationship Id="rId3" Type="http://schemas.openxmlformats.org/officeDocument/2006/relationships/slide" Target="slide92.xml"/><Relationship Id="rId7" Type="http://schemas.openxmlformats.org/officeDocument/2006/relationships/slide" Target="slide77.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2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hyperlink" Target="mailto:support@almmag.com"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www.gartner.com/" TargetMode="External"/><Relationship Id="rId7" Type="http://schemas.openxmlformats.org/officeDocument/2006/relationships/image" Target="../media/image31.png"/><Relationship Id="rId2" Type="http://schemas.openxmlformats.org/officeDocument/2006/relationships/hyperlink" Target="http://www.gartner.com/technology/reprints.do?id=1-1ASCXON&amp;ct=120606&amp;st=sb" TargetMode="Externa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slide" Target="slide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8" Type="http://schemas.openxmlformats.org/officeDocument/2006/relationships/hyperlink" Target="http://www.member.almmag.com/content.php?page=issue-2013-01" TargetMode="External"/><Relationship Id="rId3" Type="http://schemas.openxmlformats.org/officeDocument/2006/relationships/image" Target="../media/image12.jpeg"/><Relationship Id="rId7" Type="http://schemas.openxmlformats.org/officeDocument/2006/relationships/slide" Target="slide2.xml"/><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s3.amazonaws.com/amag-issue-1/A+Lap+Around+Visual+Studio+2012.mp4" TargetMode="Externa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hyperlink" Target="http://bit.ly/Qp0j5O"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http://www.ineta.org/" TargetMode="External"/><Relationship Id="rId5" Type="http://schemas.openxmlformats.org/officeDocument/2006/relationships/hyperlink" Target="http://msdn.microsoft.com/en-us/practices" TargetMode="Externa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hyperlink" Target="http://bit.ly/Qp0j5O" TargetMode="Externa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8" Type="http://schemas.openxmlformats.org/officeDocument/2006/relationships/hyperlink" Target="http://blogs.msdn.com/b/willy-peter_schaub/archive/2010/07/08/introducing-the-visual-studio-alm-rangers-martin-hinshelwood.aspx" TargetMode="External"/><Relationship Id="rId3" Type="http://schemas.openxmlformats.org/officeDocument/2006/relationships/image" Target="../media/image7.jpeg"/><Relationship Id="rId7" Type="http://schemas.openxmlformats.org/officeDocument/2006/relationships/hyperlink" Target="https://mvp.support.microsoft.com/profile/Martin.Hinshelwood" TargetMode="External"/><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6" Type="http://schemas.openxmlformats.org/officeDocument/2006/relationships/hyperlink" Target="http://nwcadence.com/" TargetMode="External"/><Relationship Id="rId5" Type="http://schemas.openxmlformats.org/officeDocument/2006/relationships/slide" Target="slide2.xml"/><Relationship Id="rId10" Type="http://schemas.openxmlformats.org/officeDocument/2006/relationships/hyperlink" Target="http://blog.hinshelwood.com/" TargetMode="External"/><Relationship Id="rId4" Type="http://schemas.openxmlformats.org/officeDocument/2006/relationships/image" Target="../media/image35.png"/><Relationship Id="rId9" Type="http://schemas.openxmlformats.org/officeDocument/2006/relationships/hyperlink" Target="http://courses.scrum.org/about/martin-hinshelwood"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hyperlink" Target="http://www.edevtech.com/team-foundation-server.html" TargetMode="Externa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hyperlink" Target="http://www.edevtech.com/ALMRegistration.aspx" TargetMode="Externa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hyperlink" Target="http://integrumtech.com/2012/10/episode-83-agile-manifesto-with-james-grenning-2/" TargetMode="External"/><Relationship Id="rId7" Type="http://schemas.openxmlformats.org/officeDocument/2006/relationships/image" Target="../media/image39.png"/><Relationship Id="rId12" Type="http://schemas.openxmlformats.org/officeDocument/2006/relationships/slide" Target="slide2.xml"/><Relationship Id="rId2" Type="http://schemas.openxmlformats.org/officeDocument/2006/relationships/hyperlink" Target="http://integrumtech.com/" TargetMode="External"/><Relationship Id="rId1" Type="http://schemas.openxmlformats.org/officeDocument/2006/relationships/slideLayout" Target="../slideLayouts/slideLayout2.xml"/><Relationship Id="rId6" Type="http://schemas.openxmlformats.org/officeDocument/2006/relationships/hyperlink" Target="https://s3.amazonaws.com/amag-issue-1/InterviewsWithAgileEvangelists-Episode-83-JamesGrenning.mp3" TargetMode="External"/><Relationship Id="rId11" Type="http://schemas.openxmlformats.org/officeDocument/2006/relationships/hyperlink" Target="http://asu.edu/" TargetMode="External"/><Relationship Id="rId5" Type="http://schemas.openxmlformats.org/officeDocument/2006/relationships/hyperlink" Target="http://integrumtech.com/category/agile-weekly-podcast/" TargetMode="External"/><Relationship Id="rId10" Type="http://schemas.openxmlformats.org/officeDocument/2006/relationships/hyperlink" Target="http://gangplankhq.com/" TargetMode="External"/><Relationship Id="rId4" Type="http://schemas.openxmlformats.org/officeDocument/2006/relationships/hyperlink" Target="http://www.member.almmag.com/content.php?page=issue-2013-01" TargetMode="External"/><Relationship Id="rId9" Type="http://schemas.openxmlformats.org/officeDocument/2006/relationships/hyperlink" Target="http://derekneighbors.com/"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visualstudio.imaginet.com/" TargetMode="External"/><Relationship Id="rId7" Type="http://schemas.openxmlformats.org/officeDocument/2006/relationships/slide" Target="slide2.xml"/><Relationship Id="rId2" Type="http://schemas.openxmlformats.org/officeDocument/2006/relationships/hyperlink" Target="http://www.microsoft.com/Surface/en-US/accessories/more-accessories" TargetMode="External"/><Relationship Id="rId1" Type="http://schemas.openxmlformats.org/officeDocument/2006/relationships/slideLayout" Target="../slideLayouts/slideLayout2.xml"/><Relationship Id="rId6" Type="http://schemas.openxmlformats.org/officeDocument/2006/relationships/hyperlink" Target="http://www.improvingsoftwarequality.com/" TargetMode="External"/><Relationship Id="rId5" Type="http://schemas.openxmlformats.org/officeDocument/2006/relationships/image" Target="../media/image42.jpeg"/><Relationship Id="rId4" Type="http://schemas.openxmlformats.org/officeDocument/2006/relationships/image" Target="../media/image41.jpeg"/></Relationships>
</file>

<file path=ppt/slides/_rels/slide32.xml.rels><?xml version="1.0" encoding="UTF-8" standalone="yes"?>
<Relationships xmlns="http://schemas.openxmlformats.org/package/2006/relationships"><Relationship Id="rId3" Type="http://schemas.openxmlformats.org/officeDocument/2006/relationships/hyperlink" Target="http://www.edevtech.com/" TargetMode="External"/><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8" Type="http://schemas.openxmlformats.org/officeDocument/2006/relationships/hyperlink" Target="http://www.modernrequirements.com/" TargetMode="External"/><Relationship Id="rId3" Type="http://schemas.openxmlformats.org/officeDocument/2006/relationships/image" Target="../media/image45.png"/><Relationship Id="rId7" Type="http://schemas.openxmlformats.org/officeDocument/2006/relationships/hyperlink" Target="http://www.edevtech.com/team-foundation-server.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www.edevtech.com/" TargetMode="External"/><Relationship Id="rId5" Type="http://schemas.openxmlformats.org/officeDocument/2006/relationships/hyperlink" Target="http://www.linkedin.com/profile/view?id=369836&amp;locale=en_US&amp;trk=tyah" TargetMode="External"/><Relationship Id="rId4" Type="http://schemas.openxmlformats.org/officeDocument/2006/relationships/image" Target="../media/image46.png"/><Relationship Id="rId9" Type="http://schemas.openxmlformats.org/officeDocument/2006/relationships/slide" Target="slide2.xml"/></Relationships>
</file>

<file path=ppt/slides/_rels/slide34.xml.rels><?xml version="1.0" encoding="UTF-8" standalone="yes"?>
<Relationships xmlns="http://schemas.openxmlformats.org/package/2006/relationships"><Relationship Id="rId3" Type="http://schemas.openxmlformats.org/officeDocument/2006/relationships/hyperlink" Target="http://m3.licdn.com/media/p/1/000/0c8/3b2/0ded568.jpg" TargetMode="External"/><Relationship Id="rId2" Type="http://schemas.openxmlformats.org/officeDocument/2006/relationships/hyperlink" Target="http://www.slideshare.net/aroratarun/leveraging-azure-for-performance-testing" TargetMode="Externa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8" Type="http://schemas.openxmlformats.org/officeDocument/2006/relationships/hyperlink" Target="http://twitter.com/arora_tarun" TargetMode="External"/><Relationship Id="rId3" Type="http://schemas.openxmlformats.org/officeDocument/2006/relationships/hyperlink" Target="https://s3.amazonaws.com/amag-issue-1/Harnessing+the+cloud+for+Performance+Testing+-+Community+Presentation.mp4" TargetMode="External"/><Relationship Id="rId7" Type="http://schemas.openxmlformats.org/officeDocument/2006/relationships/hyperlink" Target="http://geekswithblogs.net/TarunArora" TargetMode="External"/><Relationship Id="rId2" Type="http://schemas.openxmlformats.org/officeDocument/2006/relationships/hyperlink" Target="http://geekswithblogs.net/TarunArora/contact.aspx" TargetMode="External"/><Relationship Id="rId1" Type="http://schemas.openxmlformats.org/officeDocument/2006/relationships/slideLayout" Target="../slideLayouts/slideLayout2.xml"/><Relationship Id="rId6" Type="http://schemas.openxmlformats.org/officeDocument/2006/relationships/hyperlink" Target="http://www.avanade.com/" TargetMode="External"/><Relationship Id="rId5" Type="http://schemas.openxmlformats.org/officeDocument/2006/relationships/hyperlink" Target="http://www.linkedin.com/in/tarunaroraonline" TargetMode="External"/><Relationship Id="rId10" Type="http://schemas.openxmlformats.org/officeDocument/2006/relationships/hyperlink" Target="http://www.member.almmag.com/content.php?page=issue-2013-01" TargetMode="External"/><Relationship Id="rId4" Type="http://schemas.openxmlformats.org/officeDocument/2006/relationships/image" Target="../media/image13.png"/><Relationship Id="rId9" Type="http://schemas.openxmlformats.org/officeDocument/2006/relationships/slide" Target="slide2.xml"/></Relationships>
</file>

<file path=ppt/slides/_rels/slide3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hyperlink" Target="http://www.edevtech.com/team-foundation-server.html" TargetMode="External"/><Relationship Id="rId7"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50.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52.jpeg"/><Relationship Id="rId7"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hyperlink" Target="http://www.edevtech.com/team-foundation-server.html" TargetMode="External"/><Relationship Id="rId5" Type="http://schemas.openxmlformats.org/officeDocument/2006/relationships/image" Target="../media/image54.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agileanarchy.tumblr.com/post/20205763427/context-switching-interactive-game" TargetMode="Externa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tinyurl.com/c63kh8y" TargetMode="Externa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hyperlink" Target="http://businesscraftsmanship.com/"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www.netobjectives.com/" TargetMode="External"/><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1.xml.rels><?xml version="1.0" encoding="UTF-8" standalone="yes"?>
<Relationships xmlns="http://schemas.openxmlformats.org/package/2006/relationships"><Relationship Id="rId3" Type="http://schemas.openxmlformats.org/officeDocument/2006/relationships/hyperlink" Target="http://www.netobjectives.com/net-objectives-and-scaled-agile-framework" TargetMode="External"/><Relationship Id="rId2" Type="http://schemas.openxmlformats.org/officeDocument/2006/relationships/hyperlink" Target="http://www.netobjectives.com/" TargetMode="External"/><Relationship Id="rId1" Type="http://schemas.openxmlformats.org/officeDocument/2006/relationships/slideLayout" Target="../slideLayouts/slideLayout2.xml"/><Relationship Id="rId4" Type="http://schemas.openxmlformats.org/officeDocument/2006/relationships/hyperlink" Target="http://www.netobjectives.com/resources/books"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www.gartner.com/technology/reprints.do?id=1-1ASCXON&amp;ct=120606&amp;st=sb" TargetMode="External"/><Relationship Id="rId7"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hyperlink" Target="http://www.neudesic.com/" TargetMode="External"/><Relationship Id="rId5" Type="http://schemas.openxmlformats.org/officeDocument/2006/relationships/hyperlink" Target="http://landing.rallydev.com/forrester?utm_source=rally_mktg&amp;utm_medium=ppc&amp;utm_content=Q412ForresterV1a&amp;utm_campaign=Forrester&amp;gclid=CLKAkL6PxrYCFYU5QgodakkA0Q" TargetMode="External"/><Relationship Id="rId4" Type="http://schemas.openxmlformats.org/officeDocument/2006/relationships/hyperlink" Target="https://www14.software.ibm.com/webapp/iwm/web/signup.do?source=swg-rtl-sd-ekit&amp;S_PKG=500016656"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www.clearmindsoftware.com/post/www.seapine.com" TargetMode="External"/><Relationship Id="rId7" Type="http://schemas.openxmlformats.org/officeDocument/2006/relationships/image" Target="../media/image27.png"/><Relationship Id="rId2" Type="http://schemas.openxmlformats.org/officeDocument/2006/relationships/hyperlink" Target="http://en.wikipedia.org/wiki/DevOps" TargetMode="External"/><Relationship Id="rId1" Type="http://schemas.openxmlformats.org/officeDocument/2006/relationships/slideLayout" Target="../slideLayouts/slideLayout2.xml"/><Relationship Id="rId6" Type="http://schemas.openxmlformats.org/officeDocument/2006/relationships/hyperlink" Target="http://tinyurl.com/c63kh8y" TargetMode="External"/><Relationship Id="rId5" Type="http://schemas.openxmlformats.org/officeDocument/2006/relationships/hyperlink" Target="http://www.neudesic.com/" TargetMode="External"/><Relationship Id="rId4" Type="http://schemas.openxmlformats.org/officeDocument/2006/relationships/hyperlink" Target="http://www.tasktop.com/"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www.eclipsecon.org/2013/almconnect" TargetMode="External"/><Relationship Id="rId7" Type="http://schemas.openxmlformats.org/officeDocument/2006/relationships/chart" Target="../charts/chart1.xml"/><Relationship Id="rId2" Type="http://schemas.openxmlformats.org/officeDocument/2006/relationships/hyperlink" Target="http://www.tasktop.com/" TargetMode="Externa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hyperlink" Target="http://bit.ly/Qp0j5O" TargetMode="Externa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hyperlink" Target="http://msdn.microsoft.com/en-us/practices" TargetMode="External"/><Relationship Id="rId2" Type="http://schemas.openxmlformats.org/officeDocument/2006/relationships/hyperlink" Target="http://bit.ly/Qp0j5O" TargetMode="External"/><Relationship Id="rId1" Type="http://schemas.openxmlformats.org/officeDocument/2006/relationships/slideLayout" Target="../slideLayouts/slideLayout2.xml"/><Relationship Id="rId4" Type="http://schemas.openxmlformats.org/officeDocument/2006/relationships/hyperlink" Target="http://www.ineta.org/"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visualstudio.imaginet.com/" TargetMode="External"/><Relationship Id="rId2" Type="http://schemas.openxmlformats.org/officeDocument/2006/relationships/hyperlink" Target="http://blogs.msdn.com/b/granth/archive/2010/07/12/administrative-report-pack-for-team-foundation-server-2010.aspx" TargetMode="Externa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slide" Target="slide2.xml"/><Relationship Id="rId4" Type="http://schemas.openxmlformats.org/officeDocument/2006/relationships/image" Target="../media/image42.jpeg"/></Relationships>
</file>

<file path=ppt/slides/_rels/slide47.xml.rels><?xml version="1.0" encoding="UTF-8" standalone="yes"?>
<Relationships xmlns="http://schemas.openxmlformats.org/package/2006/relationships"><Relationship Id="rId3" Type="http://schemas.openxmlformats.org/officeDocument/2006/relationships/hyperlink" Target="http://visualstudio.imaginet.com/" TargetMode="External"/><Relationship Id="rId2" Type="http://schemas.openxmlformats.org/officeDocument/2006/relationships/hyperlink" Target="http://www.improvingsoftwarequality.com/" TargetMode="Externa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hyperlink" Target="http://blogs.tieto.com/leanit/2013/01/24/removing-tension-between-customer-and-supplier/" TargetMode="External"/><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hyperlink" Target="http://www.tieto.com/"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www.linkedin.com/in/turecek" TargetMode="External"/><Relationship Id="rId2" Type="http://schemas.openxmlformats.org/officeDocument/2006/relationships/hyperlink" Target="http://en.wikipedia.org/wiki/Black_swan_theory" TargetMode="External"/><Relationship Id="rId1" Type="http://schemas.openxmlformats.org/officeDocument/2006/relationships/slideLayout" Target="../slideLayouts/slideLayout2.xml"/><Relationship Id="rId5" Type="http://schemas.openxmlformats.org/officeDocument/2006/relationships/hyperlink" Target="http://blogs.tieto.com/leanit/author/tomasturecek/" TargetMode="External"/><Relationship Id="rId4" Type="http://schemas.openxmlformats.org/officeDocument/2006/relationships/hyperlink" Target="http://www.tieto.com/"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www.almmag.com/" TargetMode="External"/><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hyperlink" Target="http://www.member.almmag.com/likes/Subscribers"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www.michaelvizdos.com/" TargetMode="External"/><Relationship Id="rId7"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4.jpeg"/><Relationship Id="rId5" Type="http://schemas.openxmlformats.org/officeDocument/2006/relationships/image" Target="../media/image63.png"/><Relationship Id="rId4" Type="http://schemas.openxmlformats.org/officeDocument/2006/relationships/hyperlink" Target="http://implementingscrum.com/"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implementingscrum.com/" TargetMode="External"/><Relationship Id="rId2" Type="http://schemas.openxmlformats.org/officeDocument/2006/relationships/hyperlink" Target="http://www.implementingscrum.com/courses/" TargetMode="Externa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member.almmag.com/goto/foundingmember" TargetMode="External"/><Relationship Id="rId1" Type="http://schemas.openxmlformats.org/officeDocument/2006/relationships/slideLayout" Target="../slideLayouts/slideLayout2.xml"/><Relationship Id="rId5" Type="http://schemas.openxmlformats.org/officeDocument/2006/relationships/hyperlink" Target="mailto:support@almmag.com" TargetMode="External"/><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hyperlink" Target="http://blogs.forrester.com/application_development/2010/01/forrester-databyte-developer-scm-tool-adoption-and-use.html" TargetMode="Externa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hyperlink" Target="http://www.tasktop.com/" TargetMode="External"/><Relationship Id="rId5" Type="http://schemas.openxmlformats.org/officeDocument/2006/relationships/hyperlink" Target="http://agilemanifesto.org/" TargetMode="External"/><Relationship Id="rId4" Type="http://schemas.openxmlformats.org/officeDocument/2006/relationships/hyperlink" Target="http://online.wsj.com/article/SB10001424053111903480904576512250915629460.html"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www.amazon.com/Head-First-Object-Oriented-Analysis-Design/dp/0596008678/ref=sr_1_1?s=books&amp;ie=UTF8&amp;qid=1360689629&amp;sr=1-1&amp;keywords=Head+First+Object-Oriented+Analysis+and+Design" TargetMode="External"/><Relationship Id="rId2" Type="http://schemas.openxmlformats.org/officeDocument/2006/relationships/hyperlink" Target="http://www.tasktop.com/" TargetMode="External"/><Relationship Id="rId1" Type="http://schemas.openxmlformats.org/officeDocument/2006/relationships/slideLayout" Target="../slideLayouts/slideLayout2.xml"/><Relationship Id="rId5" Type="http://schemas.openxmlformats.org/officeDocument/2006/relationships/hyperlink" Target="https://twitter.com/DavidJWest" TargetMode="External"/><Relationship Id="rId4" Type="http://schemas.openxmlformats.org/officeDocument/2006/relationships/hyperlink" Target="https://twitter.com/tasktop" TargetMode="External"/></Relationships>
</file>

<file path=ppt/slides/_rels/slide56.xml.rels><?xml version="1.0" encoding="UTF-8" standalone="yes"?>
<Relationships xmlns="http://schemas.openxmlformats.org/package/2006/relationships"><Relationship Id="rId8" Type="http://schemas.openxmlformats.org/officeDocument/2006/relationships/hyperlink" Target="http://www.amazon.com/Professional-Development-Microsoft%C2%AE-Studio%C2%AE-ebook/dp/B00ANCH0R6/ref=sr_1_1_title_1_kin?s=books&amp;ie=UTF8&amp;qid=1360444521&amp;sr=1-1&amp;keywords=Professional+Scrum+Development+with+Microsoft%C2%AE+Visual+Studio%C2%AE+2012" TargetMode="External"/><Relationship Id="rId3" Type="http://schemas.openxmlformats.org/officeDocument/2006/relationships/image" Target="../media/image67.jpeg"/><Relationship Id="rId7" Type="http://schemas.openxmlformats.org/officeDocument/2006/relationships/hyperlink" Target="http://shop.oreilly.com/product/0790145320902.do" TargetMode="External"/><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8.gif"/><Relationship Id="rId5" Type="http://schemas.openxmlformats.org/officeDocument/2006/relationships/hyperlink" Target="http://blog.accentient.com/" TargetMode="External"/><Relationship Id="rId10" Type="http://schemas.openxmlformats.org/officeDocument/2006/relationships/image" Target="../media/image13.png"/><Relationship Id="rId4" Type="http://schemas.openxmlformats.org/officeDocument/2006/relationships/hyperlink" Target="http://www.accentient.com/" TargetMode="External"/><Relationship Id="rId9" Type="http://schemas.openxmlformats.org/officeDocument/2006/relationships/hyperlink" Target="https://s3.amazonaws.com/amag-vol01-issue02/Hundhausen-Professional+Scrum+Development+with+Visual+Studio+2012.mp4"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galorath.com.lumle7.netwood.net/wp/software-project-failure-costs-billions-better-estimation-planning-can-help.php" TargetMode="External"/><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hyperlink" Target="https://s3.amazonaws.com/amag-issue-1/A+Lap+Around+Visual+Studio+2012.mp4" TargetMode="External"/><Relationship Id="rId4" Type="http://schemas.openxmlformats.org/officeDocument/2006/relationships/hyperlink" Target="http://www.nwcadence.com/"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4" Type="http://schemas.openxmlformats.org/officeDocument/2006/relationships/hyperlink" Target="http://www.myspace.com/"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www.neudesic.com/" TargetMode="External"/><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8" Type="http://schemas.openxmlformats.org/officeDocument/2006/relationships/hyperlink" Target="http://derekneighbors.com/" TargetMode="External"/><Relationship Id="rId3" Type="http://schemas.openxmlformats.org/officeDocument/2006/relationships/hyperlink" Target="http://integrumtech.com/category/agile-weekly-podcast/" TargetMode="External"/><Relationship Id="rId7" Type="http://schemas.openxmlformats.org/officeDocument/2006/relationships/image" Target="../media/image40.png"/><Relationship Id="rId2" Type="http://schemas.openxmlformats.org/officeDocument/2006/relationships/hyperlink" Target="http://integrumtech.com/" TargetMode="Externa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hyperlink" Target="http://www.neudesic.com/" TargetMode="External"/><Relationship Id="rId5" Type="http://schemas.openxmlformats.org/officeDocument/2006/relationships/hyperlink" Target="https://s3.amazonaws.com/amag-vol01-issue02/IntegrumAgileWeeklyPodcast-episode_95.mp3" TargetMode="External"/><Relationship Id="rId10" Type="http://schemas.openxmlformats.org/officeDocument/2006/relationships/hyperlink" Target="http://asu.edu/" TargetMode="External"/><Relationship Id="rId4" Type="http://schemas.openxmlformats.org/officeDocument/2006/relationships/hyperlink" Target="http://integrumtech.com/2012/10/episode-83-agile-manifesto-with-james-grenning-2/" TargetMode="External"/><Relationship Id="rId9" Type="http://schemas.openxmlformats.org/officeDocument/2006/relationships/hyperlink" Target="http://gangplankhq.com/"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hyperlink" Target="http://csrc.nist.gov/publications/nistpubs/800-145/SP800-145.pdf" TargetMode="External"/><Relationship Id="rId1" Type="http://schemas.openxmlformats.org/officeDocument/2006/relationships/slideLayout" Target="../slideLayouts/slideLayout2.xml"/><Relationship Id="rId6" Type="http://schemas.openxmlformats.org/officeDocument/2006/relationships/hyperlink" Target="http://blog.noliosoft.com/" TargetMode="External"/><Relationship Id="rId5" Type="http://schemas.openxmlformats.org/officeDocument/2006/relationships/hyperlink" Target="http://www.noliosoft.com/" TargetMode="External"/><Relationship Id="rId4" Type="http://schemas.openxmlformats.org/officeDocument/2006/relationships/hyperlink" Target="http://il.linkedin.com/in/jacobukelson"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hyperlink" Target="http://m.c.lnkd.licdn.com/media/p/4/000/16e/0ae/174a331.jpg" TargetMode="External"/><Relationship Id="rId1" Type="http://schemas.openxmlformats.org/officeDocument/2006/relationships/slideLayout" Target="../slideLayouts/slideLayout2.xml"/><Relationship Id="rId5" Type="http://schemas.openxmlformats.org/officeDocument/2006/relationships/hyperlink" Target="http://www.virtualtrainer.co/tara" TargetMode="External"/><Relationship Id="rId4" Type="http://schemas.openxmlformats.org/officeDocument/2006/relationships/hyperlink" Target="http://projectcommunityonline.com/good-communications-between-developers-and-projectbusiness-analysts.html"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courses.scrum.org/about/martin-hinshelwood" TargetMode="External"/><Relationship Id="rId3" Type="http://schemas.openxmlformats.org/officeDocument/2006/relationships/image" Target="../media/image7.jpeg"/><Relationship Id="rId7" Type="http://schemas.openxmlformats.org/officeDocument/2006/relationships/hyperlink" Target="http://blogs.msdn.com/b/willy-peter_schaub/archive/2010/07/08/introducing-the-visual-studio-alm-rangers-martin-hinshelwood.aspx" TargetMode="External"/><Relationship Id="rId2" Type="http://schemas.openxmlformats.org/officeDocument/2006/relationships/hyperlink" Target="http://www.nwcadence.com/" TargetMode="External"/><Relationship Id="rId1" Type="http://schemas.openxmlformats.org/officeDocument/2006/relationships/slideLayout" Target="../slideLayouts/slideLayout2.xml"/><Relationship Id="rId6" Type="http://schemas.openxmlformats.org/officeDocument/2006/relationships/hyperlink" Target="https://mvp.support.microsoft.com/profile/Martin.Hinshelwood" TargetMode="External"/><Relationship Id="rId5" Type="http://schemas.openxmlformats.org/officeDocument/2006/relationships/hyperlink" Target="http://nwcadence.com/" TargetMode="External"/><Relationship Id="rId4" Type="http://schemas.openxmlformats.org/officeDocument/2006/relationships/image" Target="../media/image73.png"/><Relationship Id="rId9" Type="http://schemas.openxmlformats.org/officeDocument/2006/relationships/hyperlink" Target="http://blog.hinshelwood.com/"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www.unicom.co.uk/product_detail.asp?prdid=1947" TargetMode="External"/><Relationship Id="rId13" Type="http://schemas.openxmlformats.org/officeDocument/2006/relationships/hyperlink" Target="http://www.unicom.co.uk/callme.asp" TargetMode="External"/><Relationship Id="rId3" Type="http://schemas.openxmlformats.org/officeDocument/2006/relationships/image" Target="../media/image75.png"/><Relationship Id="rId7" Type="http://schemas.openxmlformats.org/officeDocument/2006/relationships/hyperlink" Target="http://www.devopssummit.com/training.php" TargetMode="External"/><Relationship Id="rId12" Type="http://schemas.openxmlformats.org/officeDocument/2006/relationships/hyperlink" Target="mailto:info@unicom.co.uk" TargetMode="External"/><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hyperlink" Target="https://vault2.secured-url.com/unicom/Registration/Registration.asp?prdid=1870" TargetMode="External"/><Relationship Id="rId11" Type="http://schemas.openxmlformats.org/officeDocument/2006/relationships/hyperlink" Target="https://twitter.com/UNICOMSeminars" TargetMode="External"/><Relationship Id="rId5" Type="http://schemas.openxmlformats.org/officeDocument/2006/relationships/hyperlink" Target="http://www.unicom.co.uk/product_detail.asp?prdid=1870" TargetMode="External"/><Relationship Id="rId15" Type="http://schemas.openxmlformats.org/officeDocument/2006/relationships/hyperlink" Target="http://www.unicom.co.uk/product_detail.asp?prdid=1946" TargetMode="External"/><Relationship Id="rId10" Type="http://schemas.openxmlformats.org/officeDocument/2006/relationships/hyperlink" Target="http://www.linkedin.com/company/124479?trk=tyah" TargetMode="External"/><Relationship Id="rId4" Type="http://schemas.openxmlformats.org/officeDocument/2006/relationships/hyperlink" Target="http://www.unicom.co.uk/" TargetMode="External"/><Relationship Id="rId9" Type="http://schemas.openxmlformats.org/officeDocument/2006/relationships/hyperlink" Target="https://www.facebook.com/unicom.seminars" TargetMode="External"/><Relationship Id="rId14" Type="http://schemas.openxmlformats.org/officeDocument/2006/relationships/hyperlink" Target="http://www.unicom.co.uk/product_detail.asp?prdid=1871"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http://go.xebialabs.com/rs/xebialabs/images/Andrew_Phillips.jpg"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www.xebialabs.com/" TargetMode="External"/><Relationship Id="rId1" Type="http://schemas.openxmlformats.org/officeDocument/2006/relationships/slideLayout" Target="../slideLayouts/slideLayout2.xml"/><Relationship Id="rId5" Type="http://schemas.openxmlformats.org/officeDocument/2006/relationships/hyperlink" Target="http://tinyurl.com/ah4t32z" TargetMode="External"/><Relationship Id="rId4" Type="http://schemas.openxmlformats.org/officeDocument/2006/relationships/hyperlink" Target="http://blog.xebialabs.com/author/aphillips/"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hyperlink" Target="http://www.edevtech.com/team-foundation-server.html" TargetMode="External"/><Relationship Id="rId5" Type="http://schemas.openxmlformats.org/officeDocument/2006/relationships/hyperlink" Target="http://www.edevtech.com/ALMRegistration.aspx" TargetMode="External"/><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3" Type="http://schemas.openxmlformats.org/officeDocument/2006/relationships/hyperlink" Target="http://blogs.tieto.com/leanit/2013/01/24/removing-tension-between-customer-and-supplier/" TargetMode="External"/><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hyperlink" Target="http://www.tieto.com/"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www.linkedin.com/in/turecek" TargetMode="External"/><Relationship Id="rId2" Type="http://schemas.openxmlformats.org/officeDocument/2006/relationships/hyperlink" Target="http://en.wikipedia.org/wiki/Black_swan_theory" TargetMode="External"/><Relationship Id="rId1" Type="http://schemas.openxmlformats.org/officeDocument/2006/relationships/slideLayout" Target="../slideLayouts/slideLayout2.xml"/><Relationship Id="rId5" Type="http://schemas.openxmlformats.org/officeDocument/2006/relationships/hyperlink" Target="http://blogs.tieto.com/leanit/author/tomasturecek/" TargetMode="External"/><Relationship Id="rId4" Type="http://schemas.openxmlformats.org/officeDocument/2006/relationships/hyperlink" Target="http://www.tieto.com/"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hyperlink" Target="http://m.c.lnkd.licdn.com/media/p/1/000/193/0dc/06acc80.jpg" TargetMode="External"/><Relationship Id="rId1" Type="http://schemas.openxmlformats.org/officeDocument/2006/relationships/slideLayout" Target="../slideLayouts/slideLayout2.xml"/><Relationship Id="rId5" Type="http://schemas.openxmlformats.org/officeDocument/2006/relationships/hyperlink" Target="http://blogs.urbancode.com/" TargetMode="External"/><Relationship Id="rId4" Type="http://schemas.openxmlformats.org/officeDocument/2006/relationships/hyperlink" Target="http://www.urbancode.com/"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www.kms-technology.com/" TargetMode="External"/><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www.almmag.com/" TargetMode="Externa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www.member.almmag.com/likes/Subscribers"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hyperlink" Target="http://www.implementingscrum.com/alm" TargetMode="External"/><Relationship Id="rId1" Type="http://schemas.openxmlformats.org/officeDocument/2006/relationships/slideLayout" Target="../slideLayouts/slideLayout2.xml"/><Relationship Id="rId6" Type="http://schemas.openxmlformats.org/officeDocument/2006/relationships/hyperlink" Target="http://www.implementingscrum.com/courses/" TargetMode="External"/><Relationship Id="rId5" Type="http://schemas.openxmlformats.org/officeDocument/2006/relationships/image" Target="../media/image64.jpeg"/><Relationship Id="rId4" Type="http://schemas.openxmlformats.org/officeDocument/2006/relationships/hyperlink" Target="http://implementingscrum.com/"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mailto:support@almmag.com" TargetMode="External"/></Relationships>
</file>

<file path=ppt/slides/_rels/slide75.xml.rels><?xml version="1.0" encoding="UTF-8" standalone="yes"?>
<Relationships xmlns="http://schemas.openxmlformats.org/package/2006/relationships"><Relationship Id="rId8" Type="http://schemas.openxmlformats.org/officeDocument/2006/relationships/hyperlink" Target="http://www.amazon.com/Scaling-Software-Agility-Practices-Enterprises/dp/0321458192/ref=sr_1_1?s=books&amp;ie=UTF8&amp;qid=1361386452&amp;sr=1-1&amp;keywords=Scaling+Software+Agility" TargetMode="External"/><Relationship Id="rId3" Type="http://schemas.openxmlformats.org/officeDocument/2006/relationships/hyperlink" Target="http://scaledagileframework.com/" TargetMode="External"/><Relationship Id="rId7" Type="http://schemas.openxmlformats.org/officeDocument/2006/relationships/hyperlink" Target="http://www.amazon.com/Agile-Software-Requirements-Enterprise-Development/dp/0321635841/ref=ntt_at_ep_dpi_3"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tp://deanleffingwell.com/" TargetMode="External"/><Relationship Id="rId5" Type="http://schemas.openxmlformats.org/officeDocument/2006/relationships/hyperlink" Target="http://www.yakyma.com/" TargetMode="External"/><Relationship Id="rId4" Type="http://schemas.openxmlformats.org/officeDocument/2006/relationships/image" Target="../media/image9.png"/></Relationships>
</file>

<file path=ppt/slides/_rels/slide76.xml.rels><?xml version="1.0" encoding="UTF-8" standalone="yes"?>
<Relationships xmlns="http://schemas.openxmlformats.org/package/2006/relationships"><Relationship Id="rId8" Type="http://schemas.openxmlformats.org/officeDocument/2006/relationships/hyperlink" Target="http://www.member.almmag.com/content.php?page=issue-2013-01" TargetMode="External"/><Relationship Id="rId3" Type="http://schemas.openxmlformats.org/officeDocument/2006/relationships/hyperlink" Target="http://www.nwcadence.com/" TargetMode="External"/><Relationship Id="rId7" Type="http://schemas.openxmlformats.org/officeDocument/2006/relationships/image" Target="../media/image13.png"/><Relationship Id="rId2" Type="http://schemas.openxmlformats.org/officeDocument/2006/relationships/image" Target="../media/image79.jpeg"/><Relationship Id="rId1" Type="http://schemas.openxmlformats.org/officeDocument/2006/relationships/slideLayout" Target="../slideLayouts/slideLayout2.xml"/><Relationship Id="rId6" Type="http://schemas.openxmlformats.org/officeDocument/2006/relationships/hyperlink" Target="https://s3.amazonaws.com/amag-vol01-issue03/NWC+Presents+-+Deliver+Early,+Often,+and+Exceptionally+with+Visual+Studio+Premium.mp4" TargetMode="External"/><Relationship Id="rId5" Type="http://schemas.openxmlformats.org/officeDocument/2006/relationships/hyperlink" Target="blog.bsktcase.com" TargetMode="External"/><Relationship Id="rId4" Type="http://schemas.openxmlformats.org/officeDocument/2006/relationships/image" Target="../media/image12.jpeg"/></Relationships>
</file>

<file path=ppt/slides/_rels/slide77.xml.rels><?xml version="1.0" encoding="UTF-8" standalone="yes"?>
<Relationships xmlns="http://schemas.openxmlformats.org/package/2006/relationships"><Relationship Id="rId3" Type="http://schemas.openxmlformats.org/officeDocument/2006/relationships/hyperlink" Target="http://www.microsoft.com/visualstudio/eng/products/visual-studio-team-foundation-server-2012" TargetMode="External"/><Relationship Id="rId7" Type="http://schemas.openxmlformats.org/officeDocument/2006/relationships/hyperlink" Target="http://blogs.msdn.com/b/bharry/" TargetMode="External"/><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hyperlink" Target="https://s3.amazonaws.com/amag-vol01-issue03/001_A_033_Brian+Harry+Interview.mp3" TargetMode="External"/><Relationship Id="rId4" Type="http://schemas.openxmlformats.org/officeDocument/2006/relationships/hyperlink" Target="http://www.member.almmag.com/content.php?page=issue-2013-01"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www.enhancealm.com.au/" TargetMode="Externa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www.quicklearn.com/" TargetMode="External"/><Relationship Id="rId5" Type="http://schemas.openxmlformats.org/officeDocument/2006/relationships/hyperlink" Target="http://myalmblog.com/" TargetMode="External"/><Relationship Id="rId4" Type="http://schemas.openxmlformats.org/officeDocument/2006/relationships/image" Target="../media/image15.png"/></Relationships>
</file>

<file path=ppt/slides/_rels/slide79.xml.rels><?xml version="1.0" encoding="UTF-8" standalone="yes"?>
<Relationships xmlns="http://schemas.openxmlformats.org/package/2006/relationships"><Relationship Id="rId8" Type="http://schemas.openxmlformats.org/officeDocument/2006/relationships/hyperlink" Target="https://sites.google.com/site/tfsegyptusergroup/" TargetMode="External"/><Relationship Id="rId3" Type="http://schemas.openxmlformats.org/officeDocument/2006/relationships/hyperlink" Target="http://marvelalm.com/" TargetMode="External"/><Relationship Id="rId7" Type="http://schemas.openxmlformats.org/officeDocument/2006/relationships/hyperlink" Target="http://mohamedradwan.wordpress.com/" TargetMode="Externa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hyperlink" Target="http://www.member.almmag.com/content.php?page=issue-2013-01" TargetMode="External"/><Relationship Id="rId5" Type="http://schemas.openxmlformats.org/officeDocument/2006/relationships/image" Target="../media/image13.png"/><Relationship Id="rId4" Type="http://schemas.openxmlformats.org/officeDocument/2006/relationships/hyperlink" Target="https://s3.amazonaws.com/amag-vol01-issue03/TF.exe+Fast+Overview.mp4" TargetMode="External"/></Relationships>
</file>

<file path=ppt/slides/_rels/slide80.xml.rels><?xml version="1.0" encoding="UTF-8" standalone="yes"?>
<Relationships xmlns="http://schemas.openxmlformats.org/package/2006/relationships"><Relationship Id="rId3" Type="http://schemas.openxmlformats.org/officeDocument/2006/relationships/hyperlink" Target="http://www.power-story.com/" TargetMode="External"/><Relationship Id="rId2" Type="http://schemas.openxmlformats.org/officeDocument/2006/relationships/image" Target="../media/image81.jpeg"/><Relationship Id="rId1" Type="http://schemas.openxmlformats.org/officeDocument/2006/relationships/slideLayout" Target="../slideLayouts/slideLayout2.xml"/><Relationship Id="rId5" Type="http://schemas.openxmlformats.org/officeDocument/2006/relationships/hyperlink" Target="http://blog.power-story.com/" TargetMode="External"/><Relationship Id="rId4" Type="http://schemas.openxmlformats.org/officeDocument/2006/relationships/image" Target="../media/image82.png"/></Relationships>
</file>

<file path=ppt/slides/_rels/slide81.xml.rels><?xml version="1.0" encoding="UTF-8" standalone="yes"?>
<Relationships xmlns="http://schemas.openxmlformats.org/package/2006/relationships"><Relationship Id="rId3" Type="http://schemas.openxmlformats.org/officeDocument/2006/relationships/hyperlink" Target="http://www.xebialabs.com/" TargetMode="External"/><Relationship Id="rId2" Type="http://schemas.openxmlformats.org/officeDocument/2006/relationships/image" Target="http://go.xebialabs.com/rs/xebialabs/images/Andrew_Phillips.jpg" TargetMode="External"/><Relationship Id="rId1" Type="http://schemas.openxmlformats.org/officeDocument/2006/relationships/slideLayout" Target="../slideLayouts/slideLayout2.xml"/><Relationship Id="rId5" Type="http://schemas.openxmlformats.org/officeDocument/2006/relationships/hyperlink" Target="http://tinyurl.com/ah4t32z" TargetMode="External"/><Relationship Id="rId4" Type="http://schemas.openxmlformats.org/officeDocument/2006/relationships/hyperlink" Target="http://blog.xebialabs.com/author/aphillips/" TargetMode="External"/></Relationships>
</file>

<file path=ppt/slides/_rels/slide82.xml.rels><?xml version="1.0" encoding="UTF-8" standalone="yes"?>
<Relationships xmlns="http://schemas.openxmlformats.org/package/2006/relationships"><Relationship Id="rId8" Type="http://schemas.openxmlformats.org/officeDocument/2006/relationships/hyperlink" Target="http://www.linkedin.com/in/tarunaroraonline" TargetMode="External"/><Relationship Id="rId3" Type="http://schemas.openxmlformats.org/officeDocument/2006/relationships/image" Target="../media/image47.png"/><Relationship Id="rId7" Type="http://schemas.openxmlformats.org/officeDocument/2006/relationships/hyperlink" Target="http://www.avanade.com/" TargetMode="External"/><Relationship Id="rId2" Type="http://schemas.openxmlformats.org/officeDocument/2006/relationships/hyperlink" Target="http://m3.licdn.com/media/p/1/000/0c8/3b2/0ded568.jpg" TargetMode="Externa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hyperlink" Target="https://skydrive.live.com/" TargetMode="External"/><Relationship Id="rId10" Type="http://schemas.openxmlformats.org/officeDocument/2006/relationships/hyperlink" Target="http://twitter.com/arora_tarun" TargetMode="External"/><Relationship Id="rId4" Type="http://schemas.openxmlformats.org/officeDocument/2006/relationships/hyperlink" Target="http://www.microsoft.com/en-us/download/details.aspx?id=24659" TargetMode="External"/><Relationship Id="rId9" Type="http://schemas.openxmlformats.org/officeDocument/2006/relationships/hyperlink" Target="http://geekswithblogs.net/TarunArora" TargetMode="External"/></Relationships>
</file>

<file path=ppt/slides/_rels/slide83.xml.rels><?xml version="1.0" encoding="UTF-8" standalone="yes"?>
<Relationships xmlns="http://schemas.openxmlformats.org/package/2006/relationships"><Relationship Id="rId8" Type="http://schemas.openxmlformats.org/officeDocument/2006/relationships/hyperlink" Target="http://www.amazon.com/gp/product/1617290084/ref=as_li_ss_tl?ie=UTF8&amp;tag=noopnl-20&amp;linkCode=as2&amp;camp=217145&amp;creative=399373&amp;creativeASIN=1617290084" TargetMode="External"/><Relationship Id="rId13" Type="http://schemas.openxmlformats.org/officeDocument/2006/relationships/hyperlink" Target="http://www.amazon.com/gp/product/0321554159/ref=as_li_ss_tl?ie=UTF8&amp;tag=noopnl-20&amp;linkCode=as2&amp;camp=1789&amp;creative=390957&amp;creativeASIN=0321554159" TargetMode="External"/><Relationship Id="rId18" Type="http://schemas.openxmlformats.org/officeDocument/2006/relationships/hyperlink" Target="http://www.jurgenappelo.com/speaking/" TargetMode="External"/><Relationship Id="rId3" Type="http://schemas.openxmlformats.org/officeDocument/2006/relationships/hyperlink" Target="http://www.jurgenappelo.com/" TargetMode="External"/><Relationship Id="rId21" Type="http://schemas.openxmlformats.org/officeDocument/2006/relationships/hyperlink" Target="http://www.management30.com/how-to-change-the-world/" TargetMode="External"/><Relationship Id="rId7" Type="http://schemas.openxmlformats.org/officeDocument/2006/relationships/hyperlink" Target="http://www.amazon.com/gp/product/0307887898/ref=as_li_ss_tl?ie=UTF8&amp;camp=1789&amp;creative=390957&amp;creativeASIN=0307887898&amp;linkCode=as2&amp;tag=noopnl-20" TargetMode="External"/><Relationship Id="rId12" Type="http://schemas.openxmlformats.org/officeDocument/2006/relationships/hyperlink" Target="http://www.amazon.com/gp/product/0131479415?ie=UTF8&amp;tag=noopnl-20&amp;linkCode=as2&amp;camp=1789&amp;creative=390957&amp;creativeASIN=0131479415" TargetMode="External"/><Relationship Id="rId17" Type="http://schemas.openxmlformats.org/officeDocument/2006/relationships/hyperlink" Target="http://www.management30.com/book/" TargetMode="External"/><Relationship Id="rId2" Type="http://schemas.openxmlformats.org/officeDocument/2006/relationships/image" Target="../media/image84.png"/><Relationship Id="rId16" Type="http://schemas.openxmlformats.org/officeDocument/2006/relationships/hyperlink" Target="http://stoosnetwork.org/" TargetMode="External"/><Relationship Id="rId20" Type="http://schemas.openxmlformats.org/officeDocument/2006/relationships/hyperlink" Target="http://www.noop.nl/" TargetMode="External"/><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hyperlink" Target="http://www.amazon.com/gp/product/1934356581/ref=as_li_ss_tl?ie=UTF8&amp;tag=noopnl-20&amp;linkCode=as2&amp;camp=217145&amp;creative=399369&amp;creativeASIN=1934356581" TargetMode="External"/><Relationship Id="rId5" Type="http://schemas.openxmlformats.org/officeDocument/2006/relationships/hyperlink" Target="http://nooperation.typepad.com/.a/6a00e54ff8b9c188340167694dc704970b-popup" TargetMode="External"/><Relationship Id="rId15" Type="http://schemas.openxmlformats.org/officeDocument/2006/relationships/hyperlink" Target="http://alenetwork.eu/" TargetMode="External"/><Relationship Id="rId10" Type="http://schemas.openxmlformats.org/officeDocument/2006/relationships/hyperlink" Target="http://www.amazon.com/gp/product/1933988274?ie=UTF8&amp;tag=noopnl-20&amp;linkCode=as2&amp;camp=1789&amp;creative=390957&amp;creativeASIN=1933988274" TargetMode="External"/><Relationship Id="rId19" Type="http://schemas.openxmlformats.org/officeDocument/2006/relationships/hyperlink" Target="http://www.management30.com/course-introduction/" TargetMode="External"/><Relationship Id="rId4" Type="http://schemas.openxmlformats.org/officeDocument/2006/relationships/hyperlink" Target="http://www.noop.nl/2011/08/top-100-agile-books-edition-2011.html" TargetMode="External"/><Relationship Id="rId9" Type="http://schemas.openxmlformats.org/officeDocument/2006/relationships/hyperlink" Target="http://www.amazon.com/gp/product/0321579364?ie=UTF8&amp;tag=noopnl-20&amp;linkCode=as2&amp;camp=1789&amp;creative=390957&amp;creativeASIN=0321579364" TargetMode="External"/><Relationship Id="rId14" Type="http://schemas.openxmlformats.org/officeDocument/2006/relationships/hyperlink" Target="http://www.amazon.com/gp/product/0135974445?ie=UTF8&amp;tag=noopnl-20&amp;linkCode=as2&amp;camp=1789&amp;creative=390957&amp;creativeASIN=0135974445" TargetMode="External"/></Relationships>
</file>

<file path=ppt/slides/_rels/slide84.xml.rels><?xml version="1.0" encoding="UTF-8" standalone="yes"?>
<Relationships xmlns="http://schemas.openxmlformats.org/package/2006/relationships"><Relationship Id="rId2" Type="http://schemas.openxmlformats.org/officeDocument/2006/relationships/hyperlink" Target="http://bit.ly/Qp0j5O"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hyperlink" Target="http://integrumtech.com/2012/10/episode-83-agile-manifesto-with-james-grenning-2/" TargetMode="External"/><Relationship Id="rId7" Type="http://schemas.openxmlformats.org/officeDocument/2006/relationships/image" Target="../media/image39.png"/><Relationship Id="rId2" Type="http://schemas.openxmlformats.org/officeDocument/2006/relationships/hyperlink" Target="http://integrumtech.com/" TargetMode="External"/><Relationship Id="rId1" Type="http://schemas.openxmlformats.org/officeDocument/2006/relationships/slideLayout" Target="../slideLayouts/slideLayout2.xml"/><Relationship Id="rId6" Type="http://schemas.openxmlformats.org/officeDocument/2006/relationships/hyperlink" Target="https://s3.amazonaws.com/amag-issue-1/InterviewsWithAgileEvangelists-Episode-83-JamesGrenning.mp3" TargetMode="External"/><Relationship Id="rId11" Type="http://schemas.openxmlformats.org/officeDocument/2006/relationships/hyperlink" Target="http://asu.edu/" TargetMode="External"/><Relationship Id="rId5" Type="http://schemas.openxmlformats.org/officeDocument/2006/relationships/hyperlink" Target="http://integrumtech.com/category/agile-weekly-podcast/" TargetMode="External"/><Relationship Id="rId10" Type="http://schemas.openxmlformats.org/officeDocument/2006/relationships/hyperlink" Target="http://gangplankhq.com/" TargetMode="External"/><Relationship Id="rId4" Type="http://schemas.openxmlformats.org/officeDocument/2006/relationships/hyperlink" Target="http://www.member.almmag.com/content.php?page=issue-2013-01" TargetMode="External"/><Relationship Id="rId9" Type="http://schemas.openxmlformats.org/officeDocument/2006/relationships/hyperlink" Target="http://derekneighbors.com/"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www.nwcadence.com/" TargetMode="External"/><Relationship Id="rId7" Type="http://schemas.openxmlformats.org/officeDocument/2006/relationships/hyperlink" Target="http://www.member.almmag.com/content.php?page=issue-2013-01" TargetMode="External"/><Relationship Id="rId2" Type="http://schemas.openxmlformats.org/officeDocument/2006/relationships/image" Target="../media/image7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s3.amazonaws.com/amag-issue-1/A+Lap+Around+Visual+Studio+2012.mp4" TargetMode="External"/><Relationship Id="rId4" Type="http://schemas.openxmlformats.org/officeDocument/2006/relationships/image" Target="../media/image12.jpeg"/></Relationships>
</file>

<file path=ppt/slides/_rels/slide87.xml.rels><?xml version="1.0" encoding="UTF-8" standalone="yes"?>
<Relationships xmlns="http://schemas.openxmlformats.org/package/2006/relationships"><Relationship Id="rId8" Type="http://schemas.openxmlformats.org/officeDocument/2006/relationships/hyperlink" Target="http://www.microsoft.com/" TargetMode="External"/><Relationship Id="rId3" Type="http://schemas.openxmlformats.org/officeDocument/2006/relationships/image" Target="../media/image86.png"/><Relationship Id="rId7" Type="http://schemas.openxmlformats.org/officeDocument/2006/relationships/hyperlink" Target="http://msdn.microsoft.com/en-us/vstudio/ff637362.aspx" TargetMode="External"/><Relationship Id="rId2" Type="http://schemas.openxmlformats.org/officeDocument/2006/relationships/hyperlink" Target="http://m4.licdn.com/media/p/1/000/0f1/35c/332b207.jpg" TargetMode="External"/><Relationship Id="rId1" Type="http://schemas.openxmlformats.org/officeDocument/2006/relationships/slideLayout" Target="../slideLayouts/slideLayout2.xml"/><Relationship Id="rId6" Type="http://schemas.openxmlformats.org/officeDocument/2006/relationships/hyperlink" Target="http://blogs.msdn.com/b/bharry/archive/2011/08/02/version-control-model-enhancements-in-tfs-11.aspx" TargetMode="External"/><Relationship Id="rId5" Type="http://schemas.openxmlformats.org/officeDocument/2006/relationships/hyperlink" Target="http://blogs.msdn.com/b/buckh/archive/2012/06/03/after-upgrading-updating-licensing-and-enabling-async-checkout-for-server-workspaces.aspx" TargetMode="External"/><Relationship Id="rId4" Type="http://schemas.openxmlformats.org/officeDocument/2006/relationships/hyperlink" Target="http://tfspreview.com/" TargetMode="External"/></Relationships>
</file>

<file path=ppt/slides/_rels/slide88.xml.rels><?xml version="1.0" encoding="UTF-8" standalone="yes"?>
<Relationships xmlns="http://schemas.openxmlformats.org/package/2006/relationships"><Relationship Id="rId8" Type="http://schemas.openxmlformats.org/officeDocument/2006/relationships/hyperlink" Target="http://blogs.msdn.com/b/bharry/archive/2012/05/31/a-community-for-storyboard-shapes.aspx" TargetMode="External"/><Relationship Id="rId3" Type="http://schemas.openxmlformats.org/officeDocument/2006/relationships/hyperlink" Target="http://blogs.msdn.com/b/jasonz/archive/2012/05/29/my-favorite-features-managing-projects-with-the-backlog-sprint-planning-and-taskboard-features-in-team-foundation-server-11.aspx" TargetMode="External"/><Relationship Id="rId7" Type="http://schemas.openxmlformats.org/officeDocument/2006/relationships/hyperlink" Target="http://blogs.msdn.com/b/jasonz/archive/2012/05/24/my-favorite-features-creating-storyboards-with-powerpoint.aspx" TargetMode="External"/><Relationship Id="rId2" Type="http://schemas.openxmlformats.org/officeDocument/2006/relationships/hyperlink" Target="http://blogs.msdn.com/b/bharry/archive/2011/09/19/the-new-team-explorer-in-tfs-11.aspx" TargetMode="External"/><Relationship Id="rId1" Type="http://schemas.openxmlformats.org/officeDocument/2006/relationships/slideLayout" Target="../slideLayouts/slideLayout2.xml"/><Relationship Id="rId6" Type="http://schemas.openxmlformats.org/officeDocument/2006/relationships/hyperlink" Target="http://blogs.msdn.com/b/visualstudioalm/archive/2012/03/12/getting-started-with-exploratory-testing.aspx" TargetMode="External"/><Relationship Id="rId5" Type="http://schemas.openxmlformats.org/officeDocument/2006/relationships/hyperlink" Target="http://blogs.msdn.com/b/visualstudioalm/archive/2012/03/12/using-microsoft-visual-studio-11-beta-feedback-client-tool-with-windows-8-metro-style-applications.aspx" TargetMode="External"/><Relationship Id="rId4" Type="http://schemas.openxmlformats.org/officeDocument/2006/relationships/hyperlink" Target="http://blogs.msdn.com/b/buckh/archive/2012/06/03/after-upgrading-updating-licensing-and-enabling-async-checkout-for-server-workspaces.aspx" TargetMode="External"/><Relationship Id="rId9" Type="http://schemas.openxmlformats.org/officeDocument/2006/relationships/hyperlink" Target="http://blogs.msdn.com/b/jasonz/archive/2012/05/22/my-favorite-features-unit-testing-enhancements-in-visual-studio-11.aspx"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hyperlink" Target="http://blogs.msdn.com/3609/ProfileUrlRedirect.ashx" TargetMode="External"/><Relationship Id="rId3" Type="http://schemas.openxmlformats.org/officeDocument/2006/relationships/hyperlink" Target="http://blogs.msdn.com/b/bharry/archive/2012/02/23/coming-soon-tfs-express.aspx" TargetMode="External"/><Relationship Id="rId7" Type="http://schemas.openxmlformats.org/officeDocument/2006/relationships/hyperlink" Target="http://blogs.msdn.com/b/buckh" TargetMode="External"/><Relationship Id="rId12" Type="http://schemas.openxmlformats.org/officeDocument/2006/relationships/image" Target="../media/image89.jpeg"/><Relationship Id="rId2" Type="http://schemas.openxmlformats.org/officeDocument/2006/relationships/hyperlink" Target="http://www.microsoft.com/visualstudio/11/en-us/downloads#tfs-express" TargetMode="External"/><Relationship Id="rId1" Type="http://schemas.openxmlformats.org/officeDocument/2006/relationships/slideLayout" Target="../slideLayouts/slideLayout2.xml"/><Relationship Id="rId6" Type="http://schemas.openxmlformats.org/officeDocument/2006/relationships/hyperlink" Target="http://msdn.microsoft.com/library/bb386063(v=vs.110)" TargetMode="External"/><Relationship Id="rId11" Type="http://schemas.openxmlformats.org/officeDocument/2006/relationships/hyperlink" Target="http://twitter.com/tfsbuck" TargetMode="External"/><Relationship Id="rId5" Type="http://schemas.openxmlformats.org/officeDocument/2006/relationships/hyperlink" Target="http://go.microsoft.com/fwlink/?LinkId=243994" TargetMode="External"/><Relationship Id="rId10" Type="http://schemas.openxmlformats.org/officeDocument/2006/relationships/hyperlink" Target="http://www.microsoft.com/" TargetMode="External"/><Relationship Id="rId4" Type="http://schemas.openxmlformats.org/officeDocument/2006/relationships/hyperlink" Target="http://www.microsoft.com/visualstudio/11/en-us/lifecycle" TargetMode="External"/><Relationship Id="rId9" Type="http://schemas.openxmlformats.org/officeDocument/2006/relationships/hyperlink" Target="http://msdn.microsoft.com/en-us/vstudio/ff637362.aspx" TargetMode="External"/></Relationships>
</file>

<file path=ppt/slides/_rels/slide9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tinyurl.com/c63kh8y" TargetMode="External"/><Relationship Id="rId1" Type="http://schemas.openxmlformats.org/officeDocument/2006/relationships/slideLayout" Target="../slideLayouts/slideLayout2.xml"/><Relationship Id="rId4" Type="http://schemas.openxmlformats.org/officeDocument/2006/relationships/hyperlink" Target="http://businesscraftsmanship.com/" TargetMode="External"/></Relationships>
</file>

<file path=ppt/slides/_rels/slide9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hyperlink" Target="http://www.xebialabs.com/" TargetMode="External"/><Relationship Id="rId1" Type="http://schemas.openxmlformats.org/officeDocument/2006/relationships/slideLayout" Target="../slideLayouts/slideLayout2.xml"/><Relationship Id="rId5" Type="http://schemas.openxmlformats.org/officeDocument/2006/relationships/hyperlink" Target="http://tinyurl.com/ah4t32z" TargetMode="External"/><Relationship Id="rId4" Type="http://schemas.openxmlformats.org/officeDocument/2006/relationships/hyperlink" Target="http://blog.xebialabs.com/author/aphillips/" TargetMode="External"/></Relationships>
</file>

<file path=ppt/slides/_rels/slide94.xml.rels><?xml version="1.0" encoding="UTF-8" standalone="yes"?>
<Relationships xmlns="http://schemas.openxmlformats.org/package/2006/relationships"><Relationship Id="rId3" Type="http://schemas.openxmlformats.org/officeDocument/2006/relationships/hyperlink" Target="http://www.tieto.com/" TargetMode="External"/><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hyperlink" Target="http://blogs.tieto.com/leanit/author/tomasturecek/" TargetMode="External"/><Relationship Id="rId4" Type="http://schemas.openxmlformats.org/officeDocument/2006/relationships/hyperlink" Target="http://www.linkedin.com/in/turecek"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msdn.microsoft.com/en-us/library/jj159336.aspx"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msdn.microsoft.com/en-us/library/jj159336.aspx" TargetMode="External"/><Relationship Id="rId2" Type="http://schemas.openxmlformats.org/officeDocument/2006/relationships/hyperlink" Target="http://msdn.microsoft.com/en-us/library/jj159345.aspx"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8" Type="http://schemas.openxmlformats.org/officeDocument/2006/relationships/hyperlink" Target="http://www.modernrequirements.com/" TargetMode="External"/><Relationship Id="rId3" Type="http://schemas.openxmlformats.org/officeDocument/2006/relationships/image" Target="../media/image45.png"/><Relationship Id="rId7" Type="http://schemas.openxmlformats.org/officeDocument/2006/relationships/hyperlink" Target="http://www.edevtech.com/team-foundation-serv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www.edevtech.com/" TargetMode="External"/><Relationship Id="rId5" Type="http://schemas.openxmlformats.org/officeDocument/2006/relationships/hyperlink" Target="http://www.linkedin.com/profile/view?id=369836&amp;locale=en_US&amp;trk=tyah" TargetMode="Externa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00" r="-39000"/>
          </a:stretch>
        </a:blipFill>
        <a:effectLst/>
      </p:bgPr>
    </p:bg>
    <p:spTree>
      <p:nvGrpSpPr>
        <p:cNvPr id="1" name=""/>
        <p:cNvGrpSpPr/>
        <p:nvPr/>
      </p:nvGrpSpPr>
      <p:grpSpPr>
        <a:xfrm>
          <a:off x="0" y="0"/>
          <a:ext cx="0" cy="0"/>
          <a:chOff x="0" y="0"/>
          <a:chExt cx="0" cy="0"/>
        </a:xfrm>
      </p:grpSpPr>
      <p:sp>
        <p:nvSpPr>
          <p:cNvPr id="42" name="Rectangle 41"/>
          <p:cNvSpPr/>
          <p:nvPr/>
        </p:nvSpPr>
        <p:spPr>
          <a:xfrm>
            <a:off x="5529263" y="6969125"/>
            <a:ext cx="1877219" cy="2765424"/>
          </a:xfrm>
          <a:prstGeom prst="rect">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52" name="AutoShape 3"/>
          <p:cNvSpPr>
            <a:spLocks/>
          </p:cNvSpPr>
          <p:nvPr/>
        </p:nvSpPr>
        <p:spPr bwMode="auto">
          <a:xfrm>
            <a:off x="5513388" y="4429126"/>
            <a:ext cx="1877219" cy="2366962"/>
          </a:xfrm>
          <a:prstGeom prst="roundRect">
            <a:avLst>
              <a:gd name="adj" fmla="val 11676"/>
            </a:avLst>
          </a:prstGeom>
          <a:gradFill flip="none" rotWithShape="1">
            <a:gsLst>
              <a:gs pos="0">
                <a:srgbClr val="0091CE">
                  <a:shade val="30000"/>
                  <a:satMod val="115000"/>
                </a:srgbClr>
              </a:gs>
              <a:gs pos="50000">
                <a:srgbClr val="0091CE">
                  <a:shade val="67500"/>
                  <a:satMod val="115000"/>
                </a:srgbClr>
              </a:gs>
              <a:gs pos="100000">
                <a:srgbClr val="0091CE">
                  <a:shade val="100000"/>
                  <a:satMod val="115000"/>
                </a:srgbClr>
              </a:gs>
            </a:gsLst>
            <a:path path="circle">
              <a:fillToRect l="50000" t="50000" r="50000" b="50000"/>
            </a:path>
            <a:tileRect/>
          </a:gradFill>
          <a:ln w="25400">
            <a:solidFill>
              <a:schemeClr val="tx1">
                <a:alpha val="0"/>
              </a:schemeClr>
            </a:solidFill>
            <a:miter lim="800000"/>
            <a:headEnd/>
            <a:tailEnd/>
          </a:ln>
        </p:spPr>
        <p:txBody>
          <a:bodyPr lIns="0" tIns="0" rIns="0" bIns="0"/>
          <a:lstStyle/>
          <a:p>
            <a:endParaRPr lang="en-PH" dirty="0">
              <a:latin typeface="Calibri" pitchFamily="34" charset="0"/>
            </a:endParaRPr>
          </a:p>
        </p:txBody>
      </p:sp>
      <p:sp>
        <p:nvSpPr>
          <p:cNvPr id="2054" name="Rectangle 7"/>
          <p:cNvSpPr>
            <a:spLocks/>
          </p:cNvSpPr>
          <p:nvPr/>
        </p:nvSpPr>
        <p:spPr bwMode="auto">
          <a:xfrm>
            <a:off x="5861843" y="5114926"/>
            <a:ext cx="1528763" cy="679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endParaRPr lang="en-US" sz="3900" dirty="0" smtClean="0">
              <a:latin typeface="Impact" charset="0"/>
              <a:sym typeface="Impact" charset="0"/>
            </a:endParaRPr>
          </a:p>
          <a:p>
            <a:pPr>
              <a:lnSpc>
                <a:spcPct val="70000"/>
              </a:lnSpc>
            </a:pPr>
            <a:r>
              <a:rPr lang="en-US" sz="3900" dirty="0" smtClean="0">
                <a:latin typeface="Impact" charset="0"/>
                <a:sym typeface="Impact" charset="0"/>
              </a:rPr>
              <a:t>BONUS</a:t>
            </a:r>
            <a:endParaRPr lang="en-US" sz="3900" dirty="0">
              <a:latin typeface="Impact" charset="0"/>
              <a:sym typeface="Impact" charset="0"/>
            </a:endParaRPr>
          </a:p>
        </p:txBody>
      </p:sp>
      <p:sp>
        <p:nvSpPr>
          <p:cNvPr id="2055" name="Rectangle 8"/>
          <p:cNvSpPr>
            <a:spLocks/>
          </p:cNvSpPr>
          <p:nvPr/>
        </p:nvSpPr>
        <p:spPr bwMode="auto">
          <a:xfrm>
            <a:off x="5986463" y="6053137"/>
            <a:ext cx="149304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900" b="1" i="1" dirty="0">
                <a:solidFill>
                  <a:srgbClr val="FFFFFF"/>
                </a:solidFill>
                <a:latin typeface="Helvetica Neue" charset="0"/>
                <a:sym typeface="Helvetica Neue" charset="0"/>
              </a:rPr>
              <a:t>Video</a:t>
            </a:r>
          </a:p>
        </p:txBody>
      </p:sp>
      <p:sp>
        <p:nvSpPr>
          <p:cNvPr id="2059" name="Rectangle 13"/>
          <p:cNvSpPr>
            <a:spLocks/>
          </p:cNvSpPr>
          <p:nvPr/>
        </p:nvSpPr>
        <p:spPr bwMode="auto">
          <a:xfrm>
            <a:off x="5834062" y="7081838"/>
            <a:ext cx="1600200" cy="268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eaLnBrk="1" hangingPunct="1"/>
            <a:r>
              <a:rPr lang="en-US" sz="4000" b="1" i="1" dirty="0" smtClean="0">
                <a:solidFill>
                  <a:schemeClr val="bg1"/>
                </a:solidFill>
              </a:rPr>
              <a:t>TFS -</a:t>
            </a:r>
            <a:r>
              <a:rPr lang="en-US" sz="3200" b="1" i="1" dirty="0" smtClean="0">
                <a:solidFill>
                  <a:schemeClr val="bg1"/>
                </a:solidFill>
              </a:rPr>
              <a:t>  Beyond Source Control</a:t>
            </a:r>
            <a:endParaRPr lang="en-US" sz="3200" b="1" i="1" dirty="0">
              <a:solidFill>
                <a:schemeClr val="bg1"/>
              </a:solidFill>
            </a:endParaRPr>
          </a:p>
        </p:txBody>
      </p:sp>
      <p:grpSp>
        <p:nvGrpSpPr>
          <p:cNvPr id="12" name="Group 11"/>
          <p:cNvGrpSpPr/>
          <p:nvPr/>
        </p:nvGrpSpPr>
        <p:grpSpPr>
          <a:xfrm>
            <a:off x="301626" y="2600326"/>
            <a:ext cx="5059363" cy="1003935"/>
            <a:chOff x="301625" y="2739390"/>
            <a:chExt cx="5059363" cy="1003935"/>
          </a:xfrm>
        </p:grpSpPr>
        <p:sp>
          <p:nvSpPr>
            <p:cNvPr id="23" name="Rectangle 22"/>
            <p:cNvSpPr/>
            <p:nvPr/>
          </p:nvSpPr>
          <p:spPr>
            <a:xfrm>
              <a:off x="301625" y="2739390"/>
              <a:ext cx="5059363" cy="9652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1" name="Rectangle 4"/>
            <p:cNvSpPr>
              <a:spLocks/>
            </p:cNvSpPr>
            <p:nvPr/>
          </p:nvSpPr>
          <p:spPr bwMode="auto">
            <a:xfrm>
              <a:off x="454025" y="2778125"/>
              <a:ext cx="489267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spcBef>
                  <a:spcPts val="0"/>
                </a:spcBef>
              </a:pPr>
              <a:r>
                <a:rPr lang="en-US" sz="3200" b="1" dirty="0">
                  <a:solidFill>
                    <a:srgbClr val="FFFFFF"/>
                  </a:solidFill>
                  <a:latin typeface="Helvetica Neue" charset="0"/>
                  <a:sym typeface="Helvetica Neue" charset="0"/>
                </a:rPr>
                <a:t>TFS </a:t>
              </a:r>
              <a:r>
                <a:rPr lang="en-US" sz="3200" b="1" dirty="0" smtClean="0">
                  <a:solidFill>
                    <a:srgbClr val="FFFFFF"/>
                  </a:solidFill>
                  <a:latin typeface="Helvetica Neue" charset="0"/>
                  <a:sym typeface="Helvetica Neue" charset="0"/>
                </a:rPr>
                <a:t>Migrations</a:t>
              </a:r>
              <a:r>
                <a:rPr lang="en-US" sz="4400" b="1" dirty="0">
                  <a:solidFill>
                    <a:srgbClr val="FFFFFF"/>
                  </a:solidFill>
                  <a:latin typeface="Helvetica Neue" charset="0"/>
                  <a:sym typeface="Helvetica Neue" charset="0"/>
                </a:rPr>
                <a:t/>
              </a:r>
              <a:br>
                <a:rPr lang="en-US" sz="4400" b="1" dirty="0">
                  <a:solidFill>
                    <a:srgbClr val="FFFFFF"/>
                  </a:solidFill>
                  <a:latin typeface="Helvetica Neue" charset="0"/>
                  <a:sym typeface="Helvetica Neue" charset="0"/>
                </a:rPr>
              </a:br>
              <a:r>
                <a:rPr lang="en-US" sz="2400" b="1" dirty="0">
                  <a:solidFill>
                    <a:srgbClr val="FFFFFF"/>
                  </a:solidFill>
                  <a:latin typeface="Helvetica Neue" charset="0"/>
                  <a:sym typeface="Helvetica Neue" charset="0"/>
                </a:rPr>
                <a:t>2008 &amp; 2010 to </a:t>
              </a:r>
              <a:r>
                <a:rPr lang="en-US" sz="2400" b="1" dirty="0" smtClean="0">
                  <a:solidFill>
                    <a:srgbClr val="FFFFFF"/>
                  </a:solidFill>
                  <a:latin typeface="Helvetica Neue" charset="0"/>
                  <a:sym typeface="Helvetica Neue" charset="0"/>
                </a:rPr>
                <a:t>2012</a:t>
              </a:r>
              <a:endParaRPr lang="en-US" sz="2400" b="1" dirty="0">
                <a:solidFill>
                  <a:srgbClr val="FFFFFF"/>
                </a:solidFill>
                <a:latin typeface="Helvetica Neue" charset="0"/>
                <a:sym typeface="Helvetica Neue" charset="0"/>
              </a:endParaRPr>
            </a:p>
          </p:txBody>
        </p:sp>
      </p:grpSp>
      <p:grpSp>
        <p:nvGrpSpPr>
          <p:cNvPr id="14" name="Group 13"/>
          <p:cNvGrpSpPr/>
          <p:nvPr/>
        </p:nvGrpSpPr>
        <p:grpSpPr>
          <a:xfrm>
            <a:off x="301625" y="4894900"/>
            <a:ext cx="5062538" cy="744537"/>
            <a:chOff x="301625" y="5033963"/>
            <a:chExt cx="5062538" cy="744537"/>
          </a:xfrm>
        </p:grpSpPr>
        <p:sp>
          <p:nvSpPr>
            <p:cNvPr id="27" name="Rectangle 26"/>
            <p:cNvSpPr/>
            <p:nvPr/>
          </p:nvSpPr>
          <p:spPr>
            <a:xfrm>
              <a:off x="301625" y="5033963"/>
              <a:ext cx="5059363" cy="744537"/>
            </a:xfrm>
            <a:prstGeom prst="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5" name="Rectangle 4"/>
            <p:cNvSpPr>
              <a:spLocks/>
            </p:cNvSpPr>
            <p:nvPr/>
          </p:nvSpPr>
          <p:spPr bwMode="auto">
            <a:xfrm>
              <a:off x="471488" y="5059362"/>
              <a:ext cx="48926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solidFill>
                    <a:srgbClr val="FFFFFF"/>
                  </a:solidFill>
                  <a:latin typeface="Helvetica Neue" charset="0"/>
                  <a:sym typeface="Helvetica Neue" charset="0"/>
                </a:rPr>
                <a:t>ALM Consulting </a:t>
              </a:r>
              <a:r>
                <a:rPr lang="en-US" sz="3200" b="1" dirty="0" smtClean="0">
                  <a:solidFill>
                    <a:srgbClr val="FFFFFF"/>
                  </a:solidFill>
                  <a:latin typeface="Helvetica Neue" charset="0"/>
                  <a:sym typeface="Helvetica Neue" charset="0"/>
                </a:rPr>
                <a:t>Update</a:t>
              </a:r>
              <a:endParaRPr lang="en-US" sz="2400" b="1" dirty="0">
                <a:solidFill>
                  <a:srgbClr val="FFFFFF"/>
                </a:solidFill>
                <a:latin typeface="Helvetica Neue" charset="0"/>
                <a:sym typeface="Helvetica Neue" charset="0"/>
              </a:endParaRPr>
            </a:p>
          </p:txBody>
        </p:sp>
      </p:grpSp>
      <p:grpSp>
        <p:nvGrpSpPr>
          <p:cNvPr id="16" name="Group 15"/>
          <p:cNvGrpSpPr/>
          <p:nvPr/>
        </p:nvGrpSpPr>
        <p:grpSpPr>
          <a:xfrm>
            <a:off x="301626" y="6867196"/>
            <a:ext cx="5611813" cy="1184940"/>
            <a:chOff x="301625" y="6867193"/>
            <a:chExt cx="5611813" cy="1184939"/>
          </a:xfrm>
        </p:grpSpPr>
        <p:sp>
          <p:nvSpPr>
            <p:cNvPr id="2058" name="Rectangle 12"/>
            <p:cNvSpPr>
              <a:spLocks/>
            </p:cNvSpPr>
            <p:nvPr/>
          </p:nvSpPr>
          <p:spPr bwMode="auto">
            <a:xfrm>
              <a:off x="5529263" y="6867193"/>
              <a:ext cx="384175" cy="118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r>
                <a:rPr lang="en-US" sz="7700" b="1" dirty="0">
                  <a:solidFill>
                    <a:schemeClr val="bg1"/>
                  </a:solidFill>
                  <a:latin typeface="Helvetica Neue" charset="0"/>
                  <a:sym typeface="Helvetica Neue" charset="0"/>
                </a:rPr>
                <a:t>*</a:t>
              </a:r>
            </a:p>
          </p:txBody>
        </p:sp>
        <p:sp>
          <p:nvSpPr>
            <p:cNvPr id="28" name="Rectangle 27"/>
            <p:cNvSpPr/>
            <p:nvPr/>
          </p:nvSpPr>
          <p:spPr>
            <a:xfrm>
              <a:off x="301625" y="6943725"/>
              <a:ext cx="5048023" cy="762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7" name="Rectangle 4"/>
            <p:cNvSpPr>
              <a:spLocks/>
            </p:cNvSpPr>
            <p:nvPr/>
          </p:nvSpPr>
          <p:spPr bwMode="auto">
            <a:xfrm>
              <a:off x="517525" y="6969125"/>
              <a:ext cx="4892676"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solidFill>
                    <a:srgbClr val="FFFFFF"/>
                  </a:solidFill>
                  <a:latin typeface="Helvetica Neue" charset="0"/>
                  <a:sym typeface="Helvetica Neue" charset="0"/>
                </a:rPr>
                <a:t>Industry </a:t>
              </a:r>
              <a:r>
                <a:rPr lang="en-US" sz="3200" b="1" dirty="0" smtClean="0">
                  <a:solidFill>
                    <a:srgbClr val="FFFFFF"/>
                  </a:solidFill>
                  <a:latin typeface="Helvetica Neue" charset="0"/>
                  <a:sym typeface="Helvetica Neue" charset="0"/>
                </a:rPr>
                <a:t>Surveys</a:t>
              </a:r>
              <a:endParaRPr lang="en-US" sz="2400" b="1" dirty="0">
                <a:solidFill>
                  <a:srgbClr val="FFFFFF"/>
                </a:solidFill>
                <a:latin typeface="Helvetica Neue" charset="0"/>
                <a:sym typeface="Helvetica Neue" charset="0"/>
              </a:endParaRPr>
            </a:p>
          </p:txBody>
        </p:sp>
      </p:grpSp>
      <p:grpSp>
        <p:nvGrpSpPr>
          <p:cNvPr id="11" name="Group 10"/>
          <p:cNvGrpSpPr/>
          <p:nvPr/>
        </p:nvGrpSpPr>
        <p:grpSpPr>
          <a:xfrm>
            <a:off x="5529266" y="2600325"/>
            <a:ext cx="1904998" cy="1695965"/>
            <a:chOff x="347662" y="2143125"/>
            <a:chExt cx="5059363" cy="711200"/>
          </a:xfrm>
        </p:grpSpPr>
        <p:sp>
          <p:nvSpPr>
            <p:cNvPr id="32" name="Rectangle 31"/>
            <p:cNvSpPr/>
            <p:nvPr/>
          </p:nvSpPr>
          <p:spPr>
            <a:xfrm>
              <a:off x="347662" y="2143125"/>
              <a:ext cx="5059363" cy="711200"/>
            </a:xfrm>
            <a:prstGeom prst="rect">
              <a:avLst/>
            </a:prstGeom>
            <a:gradFill flip="none" rotWithShape="1">
              <a:gsLst>
                <a:gs pos="0">
                  <a:srgbClr val="FEAB00">
                    <a:shade val="30000"/>
                    <a:satMod val="115000"/>
                  </a:srgbClr>
                </a:gs>
                <a:gs pos="50000">
                  <a:srgbClr val="FEAB00">
                    <a:shade val="67500"/>
                    <a:satMod val="115000"/>
                  </a:srgbClr>
                </a:gs>
                <a:gs pos="100000">
                  <a:srgbClr val="FEAB0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33" name="Rectangle 4"/>
            <p:cNvSpPr>
              <a:spLocks/>
            </p:cNvSpPr>
            <p:nvPr/>
          </p:nvSpPr>
          <p:spPr bwMode="auto">
            <a:xfrm>
              <a:off x="484185" y="2244090"/>
              <a:ext cx="4892675" cy="48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a:r>
                <a:rPr lang="en-US" sz="3200" b="1" dirty="0" smtClean="0">
                  <a:solidFill>
                    <a:srgbClr val="FFFFFF"/>
                  </a:solidFill>
                  <a:latin typeface="Helvetica Neue" charset="0"/>
                  <a:sym typeface="Helvetica Neue" charset="0"/>
                </a:rPr>
                <a:t>Event Wrap Up </a:t>
              </a:r>
            </a:p>
            <a:p>
              <a:pPr algn="ctr"/>
              <a:r>
                <a:rPr lang="en-US" sz="3200" b="1" dirty="0" smtClean="0">
                  <a:solidFill>
                    <a:srgbClr val="FFFFFF"/>
                  </a:solidFill>
                  <a:latin typeface="Helvetica Neue" charset="0"/>
                  <a:sym typeface="Helvetica Neue" charset="0"/>
                </a:rPr>
                <a:t>&amp; Review</a:t>
              </a:r>
              <a:endParaRPr lang="en-US" sz="3200" b="1" dirty="0">
                <a:solidFill>
                  <a:srgbClr val="FFFFFF"/>
                </a:solidFill>
                <a:latin typeface="Helvetica Neue" charset="0"/>
                <a:sym typeface="Helvetica Neue" charset="0"/>
              </a:endParaRPr>
            </a:p>
          </p:txBody>
        </p:sp>
      </p:grpSp>
      <p:grpSp>
        <p:nvGrpSpPr>
          <p:cNvPr id="13" name="Group 12"/>
          <p:cNvGrpSpPr/>
          <p:nvPr/>
        </p:nvGrpSpPr>
        <p:grpSpPr>
          <a:xfrm>
            <a:off x="301626" y="3756661"/>
            <a:ext cx="5075237" cy="965200"/>
            <a:chOff x="301625" y="3895725"/>
            <a:chExt cx="5075237" cy="965200"/>
          </a:xfrm>
        </p:grpSpPr>
        <p:sp>
          <p:nvSpPr>
            <p:cNvPr id="34" name="Rectangle 33"/>
            <p:cNvSpPr/>
            <p:nvPr/>
          </p:nvSpPr>
          <p:spPr>
            <a:xfrm>
              <a:off x="301625" y="3895725"/>
              <a:ext cx="5059363" cy="9652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35" name="Rectangle 4"/>
            <p:cNvSpPr>
              <a:spLocks/>
            </p:cNvSpPr>
            <p:nvPr/>
          </p:nvSpPr>
          <p:spPr bwMode="auto">
            <a:xfrm>
              <a:off x="484187" y="3921125"/>
              <a:ext cx="48926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spcBef>
                  <a:spcPts val="600"/>
                </a:spcBef>
              </a:pPr>
              <a:r>
                <a:rPr lang="en-US" sz="3200" b="1" dirty="0" smtClean="0">
                  <a:solidFill>
                    <a:srgbClr val="FFFFFF"/>
                  </a:solidFill>
                  <a:latin typeface="Helvetica Neue" charset="0"/>
                  <a:sym typeface="Helvetica Neue" charset="0"/>
                </a:rPr>
                <a:t>Audio Podcasts</a:t>
              </a:r>
              <a:r>
                <a:rPr lang="en-US" sz="3900" b="1" dirty="0">
                  <a:solidFill>
                    <a:srgbClr val="FFFFFF"/>
                  </a:solidFill>
                  <a:latin typeface="Helvetica Neue" charset="0"/>
                  <a:sym typeface="Helvetica Neue" charset="0"/>
                </a:rPr>
                <a:t/>
              </a:r>
              <a:br>
                <a:rPr lang="en-US" sz="3900" b="1" dirty="0">
                  <a:solidFill>
                    <a:srgbClr val="FFFFFF"/>
                  </a:solidFill>
                  <a:latin typeface="Helvetica Neue" charset="0"/>
                  <a:sym typeface="Helvetica Neue" charset="0"/>
                </a:rPr>
              </a:br>
              <a:r>
                <a:rPr lang="en-US" sz="2000" b="1" dirty="0" smtClean="0">
                  <a:solidFill>
                    <a:srgbClr val="FFFFFF"/>
                  </a:solidFill>
                  <a:latin typeface="Helvetica Neue" charset="0"/>
                  <a:sym typeface="Helvetica Neue" charset="0"/>
                </a:rPr>
                <a:t>Technology &amp; Process with the Experts</a:t>
              </a:r>
              <a:endParaRPr lang="en-US" sz="2000" b="1" dirty="0">
                <a:solidFill>
                  <a:srgbClr val="FFFFFF"/>
                </a:solidFill>
                <a:latin typeface="Helvetica Neue" charset="0"/>
                <a:sym typeface="Helvetica Neue" charset="0"/>
              </a:endParaRPr>
            </a:p>
          </p:txBody>
        </p:sp>
      </p:grpSp>
      <p:grpSp>
        <p:nvGrpSpPr>
          <p:cNvPr id="20" name="Group 19"/>
          <p:cNvGrpSpPr/>
          <p:nvPr/>
        </p:nvGrpSpPr>
        <p:grpSpPr>
          <a:xfrm>
            <a:off x="301625" y="7878625"/>
            <a:ext cx="5081586" cy="1079420"/>
            <a:chOff x="301625" y="7878624"/>
            <a:chExt cx="5081586" cy="1079420"/>
          </a:xfrm>
        </p:grpSpPr>
        <p:sp>
          <p:nvSpPr>
            <p:cNvPr id="37" name="TextBox 1"/>
            <p:cNvSpPr txBox="1">
              <a:spLocks noChangeArrowheads="1"/>
            </p:cNvSpPr>
            <p:nvPr/>
          </p:nvSpPr>
          <p:spPr bwMode="auto">
            <a:xfrm>
              <a:off x="301625" y="7878624"/>
              <a:ext cx="5065714" cy="1015663"/>
            </a:xfrm>
            <a:prstGeom prst="rect">
              <a:avLst/>
            </a:prstGeom>
            <a:gradFill flip="none" rotWithShape="1">
              <a:gsLst>
                <a:gs pos="0">
                  <a:srgbClr val="375F01"/>
                </a:gs>
                <a:gs pos="50000">
                  <a:srgbClr val="538B06"/>
                </a:gs>
                <a:gs pos="100000">
                  <a:srgbClr val="65A60A"/>
                </a:gs>
              </a:gsLst>
              <a:path path="circle">
                <a:fillToRect l="50000" t="50000" r="50000" b="50000"/>
              </a:path>
              <a:tileRect/>
            </a:gradFill>
            <a:ln w="9525">
              <a:solidFill>
                <a:srgbClr val="000000"/>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sz="6000" dirty="0"/>
            </a:p>
          </p:txBody>
        </p:sp>
        <p:sp>
          <p:nvSpPr>
            <p:cNvPr id="43" name="Rectangle 4"/>
            <p:cNvSpPr>
              <a:spLocks/>
            </p:cNvSpPr>
            <p:nvPr/>
          </p:nvSpPr>
          <p:spPr bwMode="auto">
            <a:xfrm>
              <a:off x="490536" y="7938949"/>
              <a:ext cx="4892675" cy="101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80000"/>
                </a:lnSpc>
                <a:spcBef>
                  <a:spcPts val="0"/>
                </a:spcBef>
              </a:pPr>
              <a:r>
                <a:rPr lang="en-US" sz="3600" b="1" dirty="0">
                  <a:solidFill>
                    <a:srgbClr val="FFFFFF"/>
                  </a:solidFill>
                  <a:latin typeface="Helvetica Neue" charset="0"/>
                  <a:sym typeface="Helvetica Neue" charset="0"/>
                </a:rPr>
                <a:t>Interviews with Industry Leaders</a:t>
              </a:r>
            </a:p>
          </p:txBody>
        </p:sp>
      </p:grpSp>
      <p:sp>
        <p:nvSpPr>
          <p:cNvPr id="44" name="Rectangle 8"/>
          <p:cNvSpPr>
            <a:spLocks/>
          </p:cNvSpPr>
          <p:nvPr/>
        </p:nvSpPr>
        <p:spPr bwMode="auto">
          <a:xfrm>
            <a:off x="5654676" y="4529136"/>
            <a:ext cx="208438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900" b="1" i="1" dirty="0" smtClean="0">
                <a:solidFill>
                  <a:srgbClr val="FFFFFF"/>
                </a:solidFill>
                <a:latin typeface="Helvetica Neue" charset="0"/>
                <a:sym typeface="Helvetica Neue" charset="0"/>
              </a:rPr>
              <a:t>More</a:t>
            </a:r>
            <a:endParaRPr lang="en-US" sz="3900" b="1" i="1" dirty="0">
              <a:solidFill>
                <a:srgbClr val="FFFFFF"/>
              </a:solidFill>
              <a:latin typeface="Helvetica Neue" charset="0"/>
              <a:sym typeface="Helvetica Neue" charset="0"/>
            </a:endParaRPr>
          </a:p>
        </p:txBody>
      </p:sp>
      <p:grpSp>
        <p:nvGrpSpPr>
          <p:cNvPr id="15" name="Group 14"/>
          <p:cNvGrpSpPr/>
          <p:nvPr/>
        </p:nvGrpSpPr>
        <p:grpSpPr>
          <a:xfrm>
            <a:off x="301626" y="5890260"/>
            <a:ext cx="5075237" cy="990600"/>
            <a:chOff x="301625" y="5953125"/>
            <a:chExt cx="5075237" cy="990600"/>
          </a:xfrm>
        </p:grpSpPr>
        <p:sp>
          <p:nvSpPr>
            <p:cNvPr id="19" name="Rectangle 18"/>
            <p:cNvSpPr/>
            <p:nvPr/>
          </p:nvSpPr>
          <p:spPr>
            <a:xfrm>
              <a:off x="301625" y="5953126"/>
              <a:ext cx="5059362" cy="815974"/>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 name="Rectangle 50"/>
            <p:cNvSpPr/>
            <p:nvPr/>
          </p:nvSpPr>
          <p:spPr>
            <a:xfrm>
              <a:off x="314324" y="5953125"/>
              <a:ext cx="5059363" cy="8159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52" name="Rectangle 4"/>
            <p:cNvSpPr>
              <a:spLocks/>
            </p:cNvSpPr>
            <p:nvPr/>
          </p:nvSpPr>
          <p:spPr bwMode="auto">
            <a:xfrm>
              <a:off x="484187" y="5978525"/>
              <a:ext cx="489267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latin typeface="Helvetica Neue" charset="0"/>
                  <a:sym typeface="Helvetica Neue" charset="0"/>
                </a:rPr>
                <a:t>Industry </a:t>
              </a:r>
              <a:r>
                <a:rPr lang="en-US" sz="3200" b="1" dirty="0" smtClean="0">
                  <a:latin typeface="Helvetica Neue" charset="0"/>
                  <a:sym typeface="Helvetica Neue" charset="0"/>
                </a:rPr>
                <a:t>Case Studies</a:t>
              </a:r>
              <a:endParaRPr lang="en-US" sz="2400" b="1" dirty="0">
                <a:latin typeface="Helvetica Neue" charset="0"/>
                <a:sym typeface="Helvetica Neue" charset="0"/>
              </a:endParaRPr>
            </a:p>
          </p:txBody>
        </p:sp>
      </p:grpSp>
      <p:grpSp>
        <p:nvGrpSpPr>
          <p:cNvPr id="21" name="Group 20"/>
          <p:cNvGrpSpPr/>
          <p:nvPr/>
        </p:nvGrpSpPr>
        <p:grpSpPr>
          <a:xfrm>
            <a:off x="301626" y="8995460"/>
            <a:ext cx="5075237" cy="889000"/>
            <a:chOff x="301625" y="8995459"/>
            <a:chExt cx="5075237" cy="889000"/>
          </a:xfrm>
        </p:grpSpPr>
        <p:sp>
          <p:nvSpPr>
            <p:cNvPr id="38" name="TextBox 37"/>
            <p:cNvSpPr txBox="1"/>
            <p:nvPr/>
          </p:nvSpPr>
          <p:spPr>
            <a:xfrm>
              <a:off x="301625" y="9116794"/>
              <a:ext cx="5062539"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wrap="square">
              <a:spAutoFit/>
            </a:bodyPr>
            <a:lstStyle/>
            <a:p>
              <a:pPr>
                <a:defRPr/>
              </a:pPr>
              <a:endParaRPr lang="en-US" sz="3600" b="1" dirty="0">
                <a:solidFill>
                  <a:schemeClr val="bg1"/>
                </a:solidFill>
                <a:latin typeface="Helvetica Neue"/>
              </a:endParaRPr>
            </a:p>
          </p:txBody>
        </p:sp>
        <p:sp>
          <p:nvSpPr>
            <p:cNvPr id="54" name="Rectangle 4"/>
            <p:cNvSpPr>
              <a:spLocks/>
            </p:cNvSpPr>
            <p:nvPr/>
          </p:nvSpPr>
          <p:spPr bwMode="auto">
            <a:xfrm>
              <a:off x="484186" y="8995459"/>
              <a:ext cx="4892676"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defRPr/>
              </a:pPr>
              <a:r>
                <a:rPr lang="en-US" sz="3200" b="1" dirty="0">
                  <a:solidFill>
                    <a:schemeClr val="bg1"/>
                  </a:solidFill>
                  <a:latin typeface="Helvetica Neue"/>
                </a:rPr>
                <a:t>Best NEW Features</a:t>
              </a:r>
            </a:p>
          </p:txBody>
        </p:sp>
      </p:grpSp>
      <p:sp>
        <p:nvSpPr>
          <p:cNvPr id="39" name="Rounded Rectangle 38">
            <a:hlinkClick r:id="" action="ppaction://noaction"/>
          </p:cNvPr>
          <p:cNvSpPr/>
          <p:nvPr/>
        </p:nvSpPr>
        <p:spPr>
          <a:xfrm>
            <a:off x="3052761" y="9686925"/>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40" name="Rectangle 2"/>
          <p:cNvSpPr>
            <a:spLocks/>
          </p:cNvSpPr>
          <p:nvPr/>
        </p:nvSpPr>
        <p:spPr bwMode="auto">
          <a:xfrm rot="5400000">
            <a:off x="-4902992" y="4902994"/>
            <a:ext cx="10077450" cy="271463"/>
          </a:xfrm>
          <a:prstGeom prst="rect">
            <a:avLst/>
          </a:prstGeom>
          <a:noFill/>
          <a:ln w="25400" cap="flat">
            <a:noFill/>
            <a:miter lim="800000"/>
            <a:headEnd type="none" w="med" len="med"/>
            <a:tailEnd type="none" w="med" len="med"/>
          </a:ln>
        </p:spPr>
        <p:txBody>
          <a:bodyPr lIns="0" tIns="0" rIns="0" bIns="0" anchor="ctr"/>
          <a:lstStyle/>
          <a:p>
            <a:pPr fontAlgn="auto">
              <a:spcBef>
                <a:spcPts val="0"/>
              </a:spcBef>
              <a:spcAft>
                <a:spcPts val="0"/>
              </a:spcAft>
              <a:defRPr/>
            </a:pPr>
            <a:r>
              <a:rPr lang="en-US" sz="1300" spc="-150" dirty="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rPr>
              <a:t>         ALM  Mag  - Vol.. 1, Issue </a:t>
            </a:r>
            <a:r>
              <a:rPr lang="en-US" sz="1300" spc="-150" dirty="0" smtClean="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rPr>
              <a:t>2  February 2013</a:t>
            </a:r>
            <a:endParaRPr lang="en-US" sz="1300" spc="-150" dirty="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endParaRPr>
          </a:p>
        </p:txBody>
      </p:sp>
      <p:sp>
        <p:nvSpPr>
          <p:cNvPr id="41" name="Rectangle 11">
            <a:hlinkClick r:id="rId4"/>
          </p:cNvPr>
          <p:cNvSpPr>
            <a:spLocks/>
          </p:cNvSpPr>
          <p:nvPr/>
        </p:nvSpPr>
        <p:spPr bwMode="auto">
          <a:xfrm>
            <a:off x="415456" y="20539"/>
            <a:ext cx="6942606"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14000" i="1" dirty="0" smtClean="0">
                <a:solidFill>
                  <a:srgbClr val="FEAB00"/>
                </a:solidFill>
                <a:latin typeface="Impact" charset="0"/>
                <a:sym typeface="Impact" charset="0"/>
              </a:rPr>
              <a:t>ALM</a:t>
            </a:r>
            <a:r>
              <a:rPr lang="en-US" sz="14000" dirty="0" smtClean="0">
                <a:solidFill>
                  <a:srgbClr val="639C14"/>
                </a:solidFill>
                <a:latin typeface="Brush Script MT" pitchFamily="66" charset="0"/>
                <a:sym typeface="Impact" charset="0"/>
              </a:rPr>
              <a:t>Mag</a:t>
            </a:r>
            <a:r>
              <a:rPr lang="en-US" sz="6000" dirty="0" smtClean="0">
                <a:solidFill>
                  <a:srgbClr val="639C14"/>
                </a:solidFill>
                <a:latin typeface="Brush Script MT" pitchFamily="66" charset="0"/>
                <a:sym typeface="Impact" charset="0"/>
              </a:rPr>
              <a:t>.com</a:t>
            </a:r>
            <a:endParaRPr lang="en-US" sz="6000" dirty="0">
              <a:solidFill>
                <a:srgbClr val="639C14"/>
              </a:solidFill>
              <a:latin typeface="Brush Script MT" pitchFamily="66" charset="0"/>
              <a:sym typeface="Impact" charset="0"/>
            </a:endParaRPr>
          </a:p>
        </p:txBody>
      </p:sp>
      <p:sp>
        <p:nvSpPr>
          <p:cNvPr id="45" name="Rectangle 14"/>
          <p:cNvSpPr>
            <a:spLocks/>
          </p:cNvSpPr>
          <p:nvPr/>
        </p:nvSpPr>
        <p:spPr bwMode="auto">
          <a:xfrm>
            <a:off x="368300" y="1838325"/>
            <a:ext cx="6116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r>
              <a:rPr lang="en-US" sz="1500" b="1" i="1" dirty="0" smtClean="0">
                <a:solidFill>
                  <a:schemeClr val="bg1"/>
                </a:solidFill>
                <a:latin typeface="Helvetica Neue" charset="0"/>
                <a:sym typeface="Helvetica Neue" charset="0"/>
              </a:rPr>
              <a:t>Empowering Rapid Delivery of Quality Software</a:t>
            </a:r>
            <a:endParaRPr lang="en-US" sz="1500" b="1" i="1" dirty="0">
              <a:solidFill>
                <a:schemeClr val="bg1"/>
              </a:solidFill>
              <a:latin typeface="Helvetica Neue" charset="0"/>
              <a:sym typeface="Helvetica Neue" charset="0"/>
            </a:endParaRPr>
          </a:p>
        </p:txBody>
      </p:sp>
      <p:sp>
        <p:nvSpPr>
          <p:cNvPr id="46" name="Rectangle 14"/>
          <p:cNvSpPr>
            <a:spLocks/>
          </p:cNvSpPr>
          <p:nvPr/>
        </p:nvSpPr>
        <p:spPr bwMode="auto">
          <a:xfrm>
            <a:off x="1033462" y="2098774"/>
            <a:ext cx="6373019" cy="34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2400" dirty="0">
                <a:solidFill>
                  <a:schemeClr val="bg1"/>
                </a:solidFill>
                <a:latin typeface="Helvetica Neue" charset="0"/>
                <a:sym typeface="Helvetica Neue" charset="0"/>
              </a:rPr>
              <a:t>abstract-aqua-wave--backgrounds-wallpapers</a:t>
            </a:r>
          </a:p>
        </p:txBody>
      </p:sp>
    </p:spTree>
    <p:extLst>
      <p:ext uri="{BB962C8B-B14F-4D97-AF65-F5344CB8AC3E}">
        <p14:creationId xmlns:p14="http://schemas.microsoft.com/office/powerpoint/2010/main" val="9965140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35"/>
          <p:cNvSpPr/>
          <p:nvPr/>
        </p:nvSpPr>
        <p:spPr>
          <a:xfrm>
            <a:off x="6519862" y="2331481"/>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sp>
        <p:nvSpPr>
          <p:cNvPr id="7" name="TextBox 6"/>
          <p:cNvSpPr txBox="1"/>
          <p:nvPr/>
        </p:nvSpPr>
        <p:spPr>
          <a:xfrm>
            <a:off x="119064" y="695325"/>
            <a:ext cx="3170612" cy="707886"/>
          </a:xfrm>
          <a:prstGeom prst="rect">
            <a:avLst/>
          </a:prstGeom>
          <a:noFill/>
        </p:spPr>
        <p:txBody>
          <a:bodyPr wrap="none">
            <a:spAutoFit/>
          </a:bodyPr>
          <a:lstStyle/>
          <a:p>
            <a:pPr fontAlgn="auto">
              <a:spcBef>
                <a:spcPts val="0"/>
              </a:spcBef>
              <a:spcAft>
                <a:spcPts val="0"/>
              </a:spcAft>
              <a:defRPr/>
            </a:pPr>
            <a:r>
              <a:rPr lang="en-PH" sz="4000" b="1" spc="-150" dirty="0" smtClean="0">
                <a:solidFill>
                  <a:schemeClr val="bg1">
                    <a:lumMod val="50000"/>
                  </a:schemeClr>
                </a:solidFill>
                <a:latin typeface="Arial Rounded MT Bold" pitchFamily="34" charset="0"/>
                <a:cs typeface="Arial" pitchFamily="34" charset="0"/>
              </a:rPr>
              <a:t>Newsflash !!!</a:t>
            </a:r>
            <a:endParaRPr lang="en-PH" sz="4000" b="1" spc="-150" dirty="0">
              <a:solidFill>
                <a:schemeClr val="bg1">
                  <a:lumMod val="50000"/>
                </a:schemeClr>
              </a:solidFill>
              <a:latin typeface="Arial Rounded MT Bold" pitchFamily="34" charset="0"/>
              <a:cs typeface="Arial" pitchFamily="34" charset="0"/>
            </a:endParaRPr>
          </a:p>
        </p:txBody>
      </p:sp>
      <p:cxnSp>
        <p:nvCxnSpPr>
          <p:cNvPr id="17" name="Straight Connector 16"/>
          <p:cNvCxnSpPr/>
          <p:nvPr/>
        </p:nvCxnSpPr>
        <p:spPr>
          <a:xfrm>
            <a:off x="271463" y="5154835"/>
            <a:ext cx="6858000" cy="0"/>
          </a:xfrm>
          <a:prstGeom prst="line">
            <a:avLst/>
          </a:prstGeom>
          <a:ln w="44450" cap="rnd" cmpd="sng">
            <a:solidFill>
              <a:schemeClr val="bg1">
                <a:lumMod val="50000"/>
              </a:schemeClr>
            </a:solidFill>
            <a:prstDash val="dash"/>
            <a:miter lim="800000"/>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95263" y="4559301"/>
            <a:ext cx="2202654" cy="707886"/>
          </a:xfrm>
          <a:prstGeom prst="rect">
            <a:avLst/>
          </a:prstGeom>
          <a:noFill/>
        </p:spPr>
        <p:txBody>
          <a:bodyPr wrap="none">
            <a:spAutoFit/>
          </a:bodyPr>
          <a:lstStyle/>
          <a:p>
            <a:pPr fontAlgn="auto">
              <a:spcBef>
                <a:spcPts val="0"/>
              </a:spcBef>
              <a:spcAft>
                <a:spcPts val="0"/>
              </a:spcAft>
              <a:defRPr/>
            </a:pPr>
            <a:r>
              <a:rPr lang="en-PH" sz="4000" b="1" spc="-150" dirty="0" smtClean="0">
                <a:solidFill>
                  <a:schemeClr val="bg1">
                    <a:lumMod val="50000"/>
                  </a:schemeClr>
                </a:solidFill>
                <a:latin typeface="Arial Rounded MT Bold" pitchFamily="34" charset="0"/>
                <a:cs typeface="Arial" pitchFamily="34" charset="0"/>
              </a:rPr>
              <a:t>Features</a:t>
            </a:r>
            <a:endParaRPr lang="en-PH" sz="4000" b="1" spc="-150" dirty="0">
              <a:solidFill>
                <a:schemeClr val="bg1">
                  <a:lumMod val="50000"/>
                </a:schemeClr>
              </a:solidFill>
              <a:latin typeface="Arial Rounded MT Bold" pitchFamily="34" charset="0"/>
              <a:cs typeface="Arial" pitchFamily="34" charset="0"/>
            </a:endParaRPr>
          </a:p>
        </p:txBody>
      </p:sp>
      <p:pic>
        <p:nvPicPr>
          <p:cNvPr id="4124"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2444195"/>
            <a:ext cx="4429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 name="Oval 30"/>
          <p:cNvSpPr/>
          <p:nvPr/>
        </p:nvSpPr>
        <p:spPr>
          <a:xfrm>
            <a:off x="6519863" y="6791324"/>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32"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69040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8" name="Oval 47"/>
          <p:cNvSpPr/>
          <p:nvPr/>
        </p:nvSpPr>
        <p:spPr>
          <a:xfrm>
            <a:off x="6519863" y="80105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0"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81232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4" name="TextBox 37">
            <a:hlinkClick r:id="rId3" action="ppaction://hlinksldjump"/>
          </p:cNvPr>
          <p:cNvSpPr txBox="1">
            <a:spLocks noChangeArrowheads="1"/>
          </p:cNvSpPr>
          <p:nvPr/>
        </p:nvSpPr>
        <p:spPr bwMode="auto">
          <a:xfrm>
            <a:off x="1323975" y="5495924"/>
            <a:ext cx="22956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1600" b="1" i="1" dirty="0" smtClean="0"/>
              <a:t>Welcome to ALM Mag</a:t>
            </a:r>
            <a:endParaRPr lang="en-PH" sz="1600" b="1" i="1" dirty="0"/>
          </a:p>
        </p:txBody>
      </p:sp>
      <p:sp>
        <p:nvSpPr>
          <p:cNvPr id="56" name="TextBox 55"/>
          <p:cNvSpPr txBox="1"/>
          <p:nvPr/>
        </p:nvSpPr>
        <p:spPr>
          <a:xfrm>
            <a:off x="1323975" y="5772151"/>
            <a:ext cx="1462088" cy="276999"/>
          </a:xfrm>
          <a:prstGeom prst="rect">
            <a:avLst/>
          </a:prstGeom>
          <a:noFill/>
        </p:spPr>
        <p:txBody>
          <a:bodyPr wrap="square">
            <a:spAutoFit/>
          </a:bodyPr>
          <a:lstStyle/>
          <a:p>
            <a:pPr fontAlgn="auto">
              <a:spcBef>
                <a:spcPts val="0"/>
              </a:spcBef>
              <a:spcAft>
                <a:spcPts val="0"/>
              </a:spcAft>
              <a:defRPr/>
            </a:pPr>
            <a:r>
              <a:rPr lang="en-PH" sz="1200" dirty="0" smtClean="0">
                <a:latin typeface="Arial" pitchFamily="34" charset="0"/>
                <a:cs typeface="Arial" pitchFamily="34" charset="0"/>
              </a:rPr>
              <a:t>Editor’s Welcome</a:t>
            </a:r>
            <a:endParaRPr lang="en-PH" sz="1200" dirty="0">
              <a:latin typeface="Arial" pitchFamily="34" charset="0"/>
              <a:cs typeface="Arial" pitchFamily="34" charset="0"/>
            </a:endParaRPr>
          </a:p>
        </p:txBody>
      </p:sp>
      <p:sp>
        <p:nvSpPr>
          <p:cNvPr id="59" name="Oval 58"/>
          <p:cNvSpPr/>
          <p:nvPr/>
        </p:nvSpPr>
        <p:spPr>
          <a:xfrm>
            <a:off x="6519863" y="55721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60"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56848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65" name="Straight Connector 6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Rounded Rectangle 65"/>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Table Of Contents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a:t>
            </a:fld>
            <a:endParaRPr lang="en-PH" dirty="0"/>
          </a:p>
        </p:txBody>
      </p:sp>
      <p:sp>
        <p:nvSpPr>
          <p:cNvPr id="3" name="TextBox 2"/>
          <p:cNvSpPr txBox="1"/>
          <p:nvPr/>
        </p:nvSpPr>
        <p:spPr>
          <a:xfrm>
            <a:off x="881062" y="5572126"/>
            <a:ext cx="441146" cy="369332"/>
          </a:xfrm>
          <a:prstGeom prst="rect">
            <a:avLst/>
          </a:prstGeom>
          <a:noFill/>
        </p:spPr>
        <p:txBody>
          <a:bodyPr wrap="none" rtlCol="0">
            <a:spAutoFit/>
          </a:bodyPr>
          <a:lstStyle/>
          <a:p>
            <a:r>
              <a:rPr lang="en-US" b="1" dirty="0" smtClean="0">
                <a:solidFill>
                  <a:srgbClr val="FF0000"/>
                </a:solidFill>
              </a:rPr>
              <a:t>04</a:t>
            </a:r>
            <a:endParaRPr lang="en-US" b="1" dirty="0">
              <a:solidFill>
                <a:srgbClr val="FF0000"/>
              </a:solidFill>
            </a:endParaRPr>
          </a:p>
        </p:txBody>
      </p:sp>
      <p:sp>
        <p:nvSpPr>
          <p:cNvPr id="67" name="TextBox 66"/>
          <p:cNvSpPr txBox="1"/>
          <p:nvPr/>
        </p:nvSpPr>
        <p:spPr>
          <a:xfrm>
            <a:off x="881062" y="6715126"/>
            <a:ext cx="441146" cy="369332"/>
          </a:xfrm>
          <a:prstGeom prst="rect">
            <a:avLst/>
          </a:prstGeom>
          <a:noFill/>
        </p:spPr>
        <p:txBody>
          <a:bodyPr wrap="none" rtlCol="0">
            <a:spAutoFit/>
          </a:bodyPr>
          <a:lstStyle/>
          <a:p>
            <a:r>
              <a:rPr lang="en-US" b="1" dirty="0" smtClean="0">
                <a:solidFill>
                  <a:srgbClr val="FF0000"/>
                </a:solidFill>
              </a:rPr>
              <a:t>05</a:t>
            </a:r>
            <a:endParaRPr lang="en-US" b="1" dirty="0">
              <a:solidFill>
                <a:srgbClr val="FF0000"/>
              </a:solidFill>
            </a:endParaRPr>
          </a:p>
        </p:txBody>
      </p:sp>
      <p:sp>
        <p:nvSpPr>
          <p:cNvPr id="68" name="TextBox 67"/>
          <p:cNvSpPr txBox="1"/>
          <p:nvPr/>
        </p:nvSpPr>
        <p:spPr>
          <a:xfrm>
            <a:off x="881062" y="8035350"/>
            <a:ext cx="441146" cy="369332"/>
          </a:xfrm>
          <a:prstGeom prst="rect">
            <a:avLst/>
          </a:prstGeom>
          <a:noFill/>
        </p:spPr>
        <p:txBody>
          <a:bodyPr wrap="none" rtlCol="0">
            <a:spAutoFit/>
          </a:bodyPr>
          <a:lstStyle/>
          <a:p>
            <a:r>
              <a:rPr lang="en-US" b="1" dirty="0" smtClean="0">
                <a:solidFill>
                  <a:srgbClr val="FF0000"/>
                </a:solidFill>
              </a:rPr>
              <a:t>14</a:t>
            </a:r>
            <a:endParaRPr lang="en-US" b="1" dirty="0">
              <a:solidFill>
                <a:srgbClr val="FF0000"/>
              </a:solidFill>
            </a:endParaRPr>
          </a:p>
        </p:txBody>
      </p:sp>
      <p:sp>
        <p:nvSpPr>
          <p:cNvPr id="71" name="TextBox 70"/>
          <p:cNvSpPr txBox="1"/>
          <p:nvPr/>
        </p:nvSpPr>
        <p:spPr>
          <a:xfrm>
            <a:off x="6519862" y="2992993"/>
            <a:ext cx="441146" cy="369332"/>
          </a:xfrm>
          <a:prstGeom prst="rect">
            <a:avLst/>
          </a:prstGeom>
          <a:noFill/>
        </p:spPr>
        <p:txBody>
          <a:bodyPr wrap="none" rtlCol="0">
            <a:spAutoFit/>
          </a:bodyPr>
          <a:lstStyle/>
          <a:p>
            <a:r>
              <a:rPr lang="en-US" b="1" dirty="0" smtClean="0">
                <a:solidFill>
                  <a:srgbClr val="FF0000"/>
                </a:solidFill>
              </a:rPr>
              <a:t>12</a:t>
            </a:r>
            <a:endParaRPr lang="en-US" b="1" dirty="0">
              <a:solidFill>
                <a:srgbClr val="FF0000"/>
              </a:solidFill>
            </a:endParaRPr>
          </a:p>
        </p:txBody>
      </p:sp>
      <p:sp>
        <p:nvSpPr>
          <p:cNvPr id="4" name="Rectangle 3">
            <a:hlinkClick r:id="rId4" action="ppaction://hlinksldjump"/>
          </p:cNvPr>
          <p:cNvSpPr/>
          <p:nvPr/>
        </p:nvSpPr>
        <p:spPr>
          <a:xfrm>
            <a:off x="804862" y="5419726"/>
            <a:ext cx="6248400" cy="8382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hlinkClick r:id="rId5" action="ppaction://hlinksldjump"/>
          </p:cNvPr>
          <p:cNvSpPr txBox="1">
            <a:spLocks noChangeArrowheads="1"/>
          </p:cNvSpPr>
          <p:nvPr/>
        </p:nvSpPr>
        <p:spPr bwMode="auto">
          <a:xfrm>
            <a:off x="1338262" y="6562725"/>
            <a:ext cx="5119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Lean Software Development in a Nutshell</a:t>
            </a:r>
          </a:p>
        </p:txBody>
      </p:sp>
      <p:sp>
        <p:nvSpPr>
          <p:cNvPr id="55" name="TextBox 54"/>
          <p:cNvSpPr txBox="1"/>
          <p:nvPr/>
        </p:nvSpPr>
        <p:spPr>
          <a:xfrm>
            <a:off x="1368234" y="6915345"/>
            <a:ext cx="4846828" cy="461665"/>
          </a:xfrm>
          <a:prstGeom prst="rect">
            <a:avLst/>
          </a:prstGeom>
          <a:noFill/>
        </p:spPr>
        <p:txBody>
          <a:bodyPr wrap="square">
            <a:spAutoFit/>
          </a:bodyPr>
          <a:lstStyle/>
          <a:p>
            <a:pPr fontAlgn="auto">
              <a:spcBef>
                <a:spcPts val="0"/>
              </a:spcBef>
              <a:spcAft>
                <a:spcPts val="0"/>
              </a:spcAft>
              <a:defRPr/>
            </a:pPr>
            <a:r>
              <a:rPr lang="en-US" sz="1200" dirty="0" smtClean="0"/>
              <a:t>Examines the realities of software development and concisely explains the Lean approach to addressing those realities</a:t>
            </a:r>
            <a:endParaRPr lang="en-PH" sz="1200" dirty="0">
              <a:latin typeface="Arial" pitchFamily="34" charset="0"/>
              <a:cs typeface="Arial" pitchFamily="34" charset="0"/>
            </a:endParaRPr>
          </a:p>
        </p:txBody>
      </p:sp>
      <p:sp>
        <p:nvSpPr>
          <p:cNvPr id="57" name="TextBox 56"/>
          <p:cNvSpPr txBox="1"/>
          <p:nvPr/>
        </p:nvSpPr>
        <p:spPr>
          <a:xfrm>
            <a:off x="1368234" y="7372545"/>
            <a:ext cx="4008628" cy="276999"/>
          </a:xfrm>
          <a:prstGeom prst="rect">
            <a:avLst/>
          </a:prstGeom>
          <a:noFill/>
        </p:spPr>
        <p:txBody>
          <a:bodyPr wrap="square">
            <a:spAutoFit/>
          </a:bodyPr>
          <a:lstStyle/>
          <a:p>
            <a:pPr fontAlgn="auto">
              <a:spcBef>
                <a:spcPts val="0"/>
              </a:spcBef>
              <a:spcAft>
                <a:spcPts val="0"/>
              </a:spcAft>
              <a:defRPr/>
            </a:pPr>
            <a:r>
              <a:rPr lang="en-PH" sz="1200" i="1" dirty="0">
                <a:latin typeface="Arial" pitchFamily="34" charset="0"/>
                <a:cs typeface="Arial" pitchFamily="34" charset="0"/>
              </a:rPr>
              <a:t>by </a:t>
            </a:r>
            <a:r>
              <a:rPr lang="en-US" sz="1200" i="1" dirty="0" smtClean="0">
                <a:latin typeface="Arial" pitchFamily="34" charset="0"/>
                <a:cs typeface="Arial" pitchFamily="34" charset="0"/>
              </a:rPr>
              <a:t>Al Shalloway</a:t>
            </a:r>
            <a:endParaRPr lang="en-US" sz="1200" i="1" dirty="0">
              <a:latin typeface="Arial" pitchFamily="34" charset="0"/>
              <a:cs typeface="Arial" pitchFamily="34" charset="0"/>
            </a:endParaRPr>
          </a:p>
        </p:txBody>
      </p:sp>
      <p:sp>
        <p:nvSpPr>
          <p:cNvPr id="63" name="TextBox 66"/>
          <p:cNvSpPr txBox="1">
            <a:spLocks noChangeArrowheads="1"/>
          </p:cNvSpPr>
          <p:nvPr/>
        </p:nvSpPr>
        <p:spPr bwMode="auto">
          <a:xfrm>
            <a:off x="1323974" y="7934325"/>
            <a:ext cx="50434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smtClean="0"/>
              <a:t>Lab Manager Demo</a:t>
            </a:r>
            <a:endParaRPr lang="en-US" sz="1600" b="1" i="1" dirty="0"/>
          </a:p>
        </p:txBody>
      </p:sp>
      <p:sp>
        <p:nvSpPr>
          <p:cNvPr id="64" name="TextBox 63"/>
          <p:cNvSpPr txBox="1"/>
          <p:nvPr/>
        </p:nvSpPr>
        <p:spPr>
          <a:xfrm>
            <a:off x="1322208" y="8239125"/>
            <a:ext cx="5032116" cy="461665"/>
          </a:xfrm>
          <a:prstGeom prst="rect">
            <a:avLst/>
          </a:prstGeom>
          <a:noFill/>
        </p:spPr>
        <p:txBody>
          <a:bodyPr wrap="square">
            <a:spAutoFit/>
          </a:bodyPr>
          <a:lstStyle/>
          <a:p>
            <a:pPr fontAlgn="auto">
              <a:spcBef>
                <a:spcPts val="0"/>
              </a:spcBef>
              <a:spcAft>
                <a:spcPts val="0"/>
              </a:spcAft>
              <a:defRPr/>
            </a:pPr>
            <a:r>
              <a:rPr lang="en-US" sz="1200" dirty="0" smtClean="0"/>
              <a:t>A speedy demo of Lab Manager with SCVMM and the basics of the Lab Manager Build Template</a:t>
            </a:r>
            <a:endParaRPr lang="en-US" sz="1200" dirty="0"/>
          </a:p>
        </p:txBody>
      </p:sp>
      <p:sp>
        <p:nvSpPr>
          <p:cNvPr id="70" name="TextBox 69"/>
          <p:cNvSpPr txBox="1"/>
          <p:nvPr/>
        </p:nvSpPr>
        <p:spPr>
          <a:xfrm>
            <a:off x="1338262" y="8696325"/>
            <a:ext cx="3067983" cy="276999"/>
          </a:xfrm>
          <a:prstGeom prst="rect">
            <a:avLst/>
          </a:prstGeom>
          <a:noFill/>
        </p:spPr>
        <p:txBody>
          <a:bodyPr wrap="squar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t>
            </a:r>
            <a:r>
              <a:rPr lang="en-US" sz="1200" i="1" dirty="0" smtClean="0">
                <a:latin typeface="Helvetica" pitchFamily="34" charset="0"/>
                <a:cs typeface="Helvetica" pitchFamily="34" charset="0"/>
              </a:rPr>
              <a:t>Steven Borg</a:t>
            </a:r>
            <a:endParaRPr lang="en-US" sz="1200" i="1" dirty="0">
              <a:latin typeface="Helvetica" pitchFamily="34" charset="0"/>
              <a:cs typeface="Helvetica" pitchFamily="34" charset="0"/>
            </a:endParaRPr>
          </a:p>
        </p:txBody>
      </p:sp>
      <p:sp>
        <p:nvSpPr>
          <p:cNvPr id="33" name="Rectangle 32">
            <a:hlinkClick r:id="rId6" action="ppaction://hlinksldjump"/>
          </p:cNvPr>
          <p:cNvSpPr/>
          <p:nvPr/>
        </p:nvSpPr>
        <p:spPr>
          <a:xfrm>
            <a:off x="330201" y="1457326"/>
            <a:ext cx="6875461" cy="2667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hlinkClick r:id="rId7" action="ppaction://hlinksldjump"/>
          </p:cNvPr>
          <p:cNvSpPr/>
          <p:nvPr/>
        </p:nvSpPr>
        <p:spPr>
          <a:xfrm>
            <a:off x="804862" y="6562724"/>
            <a:ext cx="6248400" cy="108681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hlinkClick r:id="rId8" action="ppaction://hlinksldjump"/>
          </p:cNvPr>
          <p:cNvSpPr/>
          <p:nvPr/>
        </p:nvSpPr>
        <p:spPr>
          <a:xfrm>
            <a:off x="804862" y="7934325"/>
            <a:ext cx="6248400" cy="114300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1" name="Picture 3">
            <a:hlinkClick r:id="rId9" action="ppaction://hlinksldjump"/>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806" y="1457325"/>
            <a:ext cx="5932992"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6729" y="1457325"/>
            <a:ext cx="1865443" cy="1535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5076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3" name="TextBox 73"/>
          <p:cNvSpPr txBox="1">
            <a:spLocks noChangeArrowheads="1"/>
          </p:cNvSpPr>
          <p:nvPr/>
        </p:nvSpPr>
        <p:spPr bwMode="auto">
          <a:xfrm>
            <a:off x="1323976" y="3328571"/>
            <a:ext cx="4141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AU" sz="1600" b="1" i="1" dirty="0"/>
              <a:t>Microsoft ALM Certification  – Part </a:t>
            </a:r>
            <a:r>
              <a:rPr lang="en-AU" sz="1600" b="1" i="1" dirty="0" smtClean="0"/>
              <a:t>2 </a:t>
            </a:r>
            <a:r>
              <a:rPr lang="en-AU" sz="1600" b="1" i="1" dirty="0"/>
              <a:t>of 3</a:t>
            </a:r>
            <a:endParaRPr lang="en-US" sz="1600" b="1" i="1" dirty="0"/>
          </a:p>
        </p:txBody>
      </p:sp>
      <p:sp>
        <p:nvSpPr>
          <p:cNvPr id="75" name="TextBox 74"/>
          <p:cNvSpPr txBox="1"/>
          <p:nvPr/>
        </p:nvSpPr>
        <p:spPr>
          <a:xfrm>
            <a:off x="1322208" y="3662660"/>
            <a:ext cx="5045253" cy="461665"/>
          </a:xfrm>
          <a:prstGeom prst="rect">
            <a:avLst/>
          </a:prstGeom>
          <a:noFill/>
        </p:spPr>
        <p:txBody>
          <a:bodyPr wrap="square">
            <a:spAutoFit/>
          </a:bodyPr>
          <a:lstStyle/>
          <a:p>
            <a:pPr fontAlgn="auto">
              <a:spcBef>
                <a:spcPts val="0"/>
              </a:spcBef>
              <a:spcAft>
                <a:spcPts val="0"/>
              </a:spcAft>
              <a:defRPr/>
            </a:pPr>
            <a:r>
              <a:rPr lang="en-AU" sz="1200" dirty="0" smtClean="0"/>
              <a:t>Part 2 on </a:t>
            </a:r>
            <a:r>
              <a:rPr lang="en-AU" sz="1200" dirty="0"/>
              <a:t>Microsoft’s new ALM </a:t>
            </a:r>
            <a:r>
              <a:rPr lang="en-AU" sz="1200" dirty="0" smtClean="0"/>
              <a:t>certification focusing on </a:t>
            </a:r>
          </a:p>
          <a:p>
            <a:pPr fontAlgn="auto">
              <a:spcBef>
                <a:spcPts val="0"/>
              </a:spcBef>
              <a:spcAft>
                <a:spcPts val="0"/>
              </a:spcAft>
              <a:defRPr/>
            </a:pPr>
            <a:r>
              <a:rPr lang="en-US" sz="1200" b="1" dirty="0" smtClean="0"/>
              <a:t>Exam </a:t>
            </a:r>
            <a:r>
              <a:rPr lang="en-US" sz="1200" b="1" dirty="0"/>
              <a:t>70-497: Software Testing with Visual Studio </a:t>
            </a:r>
            <a:r>
              <a:rPr lang="en-US" sz="1200" b="1" dirty="0" smtClean="0"/>
              <a:t>2012</a:t>
            </a:r>
            <a:endParaRPr lang="en-US" sz="1200" b="1" dirty="0"/>
          </a:p>
        </p:txBody>
      </p:sp>
      <p:sp>
        <p:nvSpPr>
          <p:cNvPr id="76" name="TextBox 75"/>
          <p:cNvSpPr txBox="1"/>
          <p:nvPr/>
        </p:nvSpPr>
        <p:spPr>
          <a:xfrm>
            <a:off x="1323974" y="4075926"/>
            <a:ext cx="1447832"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t>
            </a:r>
            <a:r>
              <a:rPr lang="en-US" sz="1200" i="1" dirty="0">
                <a:latin typeface="Helvetica" pitchFamily="34" charset="0"/>
                <a:cs typeface="Helvetica" pitchFamily="34" charset="0"/>
              </a:rPr>
              <a:t>Anthony Borton</a:t>
            </a:r>
          </a:p>
        </p:txBody>
      </p:sp>
      <p:sp>
        <p:nvSpPr>
          <p:cNvPr id="5147" name="TextBox 80"/>
          <p:cNvSpPr txBox="1">
            <a:spLocks noChangeArrowheads="1"/>
          </p:cNvSpPr>
          <p:nvPr/>
        </p:nvSpPr>
        <p:spPr bwMode="auto">
          <a:xfrm>
            <a:off x="1323976" y="4581525"/>
            <a:ext cx="36968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Release Management with </a:t>
            </a:r>
            <a:r>
              <a:rPr lang="en-US" sz="1600" b="1" i="1" dirty="0" smtClean="0"/>
              <a:t>TFS 2012</a:t>
            </a:r>
            <a:endParaRPr lang="en-US" sz="1600" b="1" i="1" dirty="0"/>
          </a:p>
        </p:txBody>
      </p:sp>
      <p:sp>
        <p:nvSpPr>
          <p:cNvPr id="82" name="TextBox 81"/>
          <p:cNvSpPr txBox="1"/>
          <p:nvPr/>
        </p:nvSpPr>
        <p:spPr>
          <a:xfrm>
            <a:off x="1323975" y="4886325"/>
            <a:ext cx="5043486" cy="461665"/>
          </a:xfrm>
          <a:prstGeom prst="rect">
            <a:avLst/>
          </a:prstGeom>
          <a:noFill/>
        </p:spPr>
        <p:txBody>
          <a:bodyPr wrap="square">
            <a:spAutoFit/>
          </a:bodyPr>
          <a:lstStyle/>
          <a:p>
            <a:r>
              <a:rPr lang="en-US" sz="1200" dirty="0" smtClean="0"/>
              <a:t>There are many features in TFS 2012 that support </a:t>
            </a:r>
            <a:r>
              <a:rPr lang="en-US" sz="1200" dirty="0"/>
              <a:t>creating a release management strategy</a:t>
            </a:r>
          </a:p>
        </p:txBody>
      </p:sp>
      <p:sp>
        <p:nvSpPr>
          <p:cNvPr id="83" name="TextBox 82"/>
          <p:cNvSpPr txBox="1"/>
          <p:nvPr/>
        </p:nvSpPr>
        <p:spPr>
          <a:xfrm>
            <a:off x="1323975" y="5299591"/>
            <a:ext cx="1734770"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by </a:t>
            </a:r>
            <a:r>
              <a:rPr lang="en-US" sz="1200" i="1" dirty="0" smtClean="0">
                <a:latin typeface="Helvetica" charset="0"/>
                <a:cs typeface="Helvetica" charset="0"/>
                <a:sym typeface="Helvetica" charset="0"/>
              </a:rPr>
              <a:t>Martin Hinshelwood</a:t>
            </a:r>
            <a:endParaRPr lang="en-US" sz="1200" i="1" dirty="0">
              <a:latin typeface="Helvetica" charset="0"/>
              <a:cs typeface="Helvetica" charset="0"/>
              <a:sym typeface="Helvetica" charset="0"/>
            </a:endParaRPr>
          </a:p>
        </p:txBody>
      </p:sp>
      <p:sp>
        <p:nvSpPr>
          <p:cNvPr id="89" name="Oval 88"/>
          <p:cNvSpPr/>
          <p:nvPr/>
        </p:nvSpPr>
        <p:spPr>
          <a:xfrm>
            <a:off x="6519863" y="34385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151"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35512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1" name="Oval 90"/>
          <p:cNvSpPr/>
          <p:nvPr/>
        </p:nvSpPr>
        <p:spPr>
          <a:xfrm>
            <a:off x="6519863" y="46855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153"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47982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3" name="TextBox 37"/>
          <p:cNvSpPr txBox="1">
            <a:spLocks noChangeArrowheads="1"/>
          </p:cNvSpPr>
          <p:nvPr/>
        </p:nvSpPr>
        <p:spPr bwMode="auto">
          <a:xfrm>
            <a:off x="1323975" y="5843171"/>
            <a:ext cx="49331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1600" b="1" i="1" dirty="0" smtClean="0"/>
              <a:t>TFS </a:t>
            </a:r>
            <a:r>
              <a:rPr lang="en-US" sz="1600" b="1" i="1" dirty="0"/>
              <a:t>Admin Reports </a:t>
            </a:r>
            <a:r>
              <a:rPr lang="en-US" sz="1600" b="1" i="1" dirty="0" smtClean="0"/>
              <a:t>delivered </a:t>
            </a:r>
            <a:r>
              <a:rPr lang="en-US" sz="1600" b="1" i="1" dirty="0"/>
              <a:t>to your inbox </a:t>
            </a:r>
            <a:r>
              <a:rPr lang="en-US" sz="1600" b="1" i="1" dirty="0" smtClean="0"/>
              <a:t>daily</a:t>
            </a:r>
            <a:endParaRPr lang="en-US" sz="1600" b="1" i="1" dirty="0"/>
          </a:p>
        </p:txBody>
      </p:sp>
      <p:sp>
        <p:nvSpPr>
          <p:cNvPr id="54" name="TextBox 53"/>
          <p:cNvSpPr txBox="1"/>
          <p:nvPr/>
        </p:nvSpPr>
        <p:spPr>
          <a:xfrm>
            <a:off x="1323975" y="6177260"/>
            <a:ext cx="5043486" cy="276999"/>
          </a:xfrm>
          <a:prstGeom prst="rect">
            <a:avLst/>
          </a:prstGeom>
          <a:noFill/>
        </p:spPr>
        <p:txBody>
          <a:bodyPr wrap="square">
            <a:spAutoFit/>
          </a:bodyPr>
          <a:lstStyle/>
          <a:p>
            <a:pPr fontAlgn="auto">
              <a:spcBef>
                <a:spcPts val="0"/>
              </a:spcBef>
              <a:spcAft>
                <a:spcPts val="0"/>
              </a:spcAft>
              <a:defRPr/>
            </a:pPr>
            <a:r>
              <a:rPr lang="en-US" sz="1200" dirty="0"/>
              <a:t>TFS </a:t>
            </a:r>
            <a:r>
              <a:rPr lang="en-US" sz="1200" dirty="0" smtClean="0"/>
              <a:t>Admin Reports emailed daily notify and alert on cube status</a:t>
            </a:r>
            <a:endParaRPr lang="en-PH" sz="1200" dirty="0"/>
          </a:p>
        </p:txBody>
      </p:sp>
      <p:sp>
        <p:nvSpPr>
          <p:cNvPr id="55" name="TextBox 54"/>
          <p:cNvSpPr txBox="1"/>
          <p:nvPr/>
        </p:nvSpPr>
        <p:spPr>
          <a:xfrm>
            <a:off x="1323976" y="6486525"/>
            <a:ext cx="1219308"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by </a:t>
            </a:r>
            <a:r>
              <a:rPr lang="en-PH" sz="1200" i="1" dirty="0" smtClean="0">
                <a:latin typeface="Arial" pitchFamily="34" charset="0"/>
                <a:cs typeface="Arial" pitchFamily="34" charset="0"/>
              </a:rPr>
              <a:t>Anna </a:t>
            </a:r>
            <a:r>
              <a:rPr lang="en-US" sz="1200" i="1" dirty="0" smtClean="0"/>
              <a:t>Russo</a:t>
            </a:r>
            <a:endParaRPr lang="en-PH" sz="1200" i="1" dirty="0">
              <a:latin typeface="Arial" pitchFamily="34" charset="0"/>
              <a:cs typeface="Arial" pitchFamily="34" charset="0"/>
            </a:endParaRPr>
          </a:p>
        </p:txBody>
      </p:sp>
      <p:sp>
        <p:nvSpPr>
          <p:cNvPr id="56" name="TextBox 45"/>
          <p:cNvSpPr txBox="1">
            <a:spLocks noChangeArrowheads="1"/>
          </p:cNvSpPr>
          <p:nvPr/>
        </p:nvSpPr>
        <p:spPr bwMode="auto">
          <a:xfrm>
            <a:off x="1323976" y="7109400"/>
            <a:ext cx="43026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1600" b="1" i="1" dirty="0" smtClean="0"/>
              <a:t>What’s </a:t>
            </a:r>
            <a:r>
              <a:rPr lang="en-US" sz="1600" b="1" i="1" dirty="0"/>
              <a:t>New in TFS 2012? </a:t>
            </a:r>
            <a:r>
              <a:rPr lang="en-US" sz="1600" b="1" i="1" dirty="0" smtClean="0"/>
              <a:t>– </a:t>
            </a:r>
            <a:r>
              <a:rPr lang="en-US" sz="1600" b="1" i="1" dirty="0"/>
              <a:t>Team Explorer</a:t>
            </a:r>
          </a:p>
        </p:txBody>
      </p:sp>
      <p:sp>
        <p:nvSpPr>
          <p:cNvPr id="57" name="TextBox 56"/>
          <p:cNvSpPr txBox="1"/>
          <p:nvPr/>
        </p:nvSpPr>
        <p:spPr>
          <a:xfrm>
            <a:off x="1328029" y="7414202"/>
            <a:ext cx="5191833" cy="276999"/>
          </a:xfrm>
          <a:prstGeom prst="rect">
            <a:avLst/>
          </a:prstGeom>
          <a:noFill/>
        </p:spPr>
        <p:txBody>
          <a:bodyPr wrap="square">
            <a:spAutoFit/>
          </a:bodyPr>
          <a:lstStyle/>
          <a:p>
            <a:pPr fontAlgn="auto">
              <a:spcBef>
                <a:spcPts val="0"/>
              </a:spcBef>
              <a:spcAft>
                <a:spcPts val="0"/>
              </a:spcAft>
              <a:defRPr/>
            </a:pPr>
            <a:r>
              <a:rPr lang="en-US" sz="1200" dirty="0"/>
              <a:t>New to TFS 2012… </a:t>
            </a:r>
            <a:r>
              <a:rPr lang="en-US" sz="1200" dirty="0" smtClean="0"/>
              <a:t>this </a:t>
            </a:r>
            <a:r>
              <a:rPr lang="en-US" sz="1200" dirty="0"/>
              <a:t>article focuses </a:t>
            </a:r>
            <a:r>
              <a:rPr lang="en-US" sz="1200" dirty="0" smtClean="0"/>
              <a:t>on new </a:t>
            </a:r>
            <a:r>
              <a:rPr lang="en-US" sz="1200" dirty="0"/>
              <a:t>features in Team Explorer</a:t>
            </a:r>
            <a:endParaRPr lang="en-PH" sz="1200" dirty="0"/>
          </a:p>
        </p:txBody>
      </p:sp>
      <p:sp>
        <p:nvSpPr>
          <p:cNvPr id="59" name="TextBox 58"/>
          <p:cNvSpPr txBox="1"/>
          <p:nvPr/>
        </p:nvSpPr>
        <p:spPr>
          <a:xfrm>
            <a:off x="1322208" y="7670601"/>
            <a:ext cx="2322275" cy="276999"/>
          </a:xfrm>
          <a:prstGeom prst="rect">
            <a:avLst/>
          </a:prstGeom>
          <a:noFill/>
        </p:spPr>
        <p:txBody>
          <a:bodyPr wrap="square">
            <a:spAutoFit/>
          </a:bodyPr>
          <a:lstStyle/>
          <a:p>
            <a:pPr fontAlgn="auto">
              <a:spcBef>
                <a:spcPts val="0"/>
              </a:spcBef>
              <a:spcAft>
                <a:spcPts val="0"/>
              </a:spcAft>
              <a:defRPr/>
            </a:pPr>
            <a:r>
              <a:rPr lang="en-PH" sz="1200" i="1" dirty="0" smtClean="0">
                <a:latin typeface="Arial" pitchFamily="34" charset="0"/>
                <a:cs typeface="Arial" pitchFamily="34" charset="0"/>
              </a:rPr>
              <a:t>by </a:t>
            </a:r>
            <a:r>
              <a:rPr lang="en-PH" sz="1200" i="1" dirty="0">
                <a:latin typeface="Arial" pitchFamily="34" charset="0"/>
                <a:cs typeface="Arial" pitchFamily="34" charset="0"/>
              </a:rPr>
              <a:t>Mohamed </a:t>
            </a:r>
            <a:r>
              <a:rPr lang="en-PH" sz="1200" i="1" dirty="0" err="1">
                <a:latin typeface="Arial" pitchFamily="34" charset="0"/>
                <a:cs typeface="Arial" pitchFamily="34" charset="0"/>
              </a:rPr>
              <a:t>Radwan</a:t>
            </a:r>
            <a:endParaRPr lang="en-PH" sz="1200" i="1" dirty="0">
              <a:latin typeface="Arial" pitchFamily="34" charset="0"/>
              <a:cs typeface="Arial" pitchFamily="34" charset="0"/>
            </a:endParaRPr>
          </a:p>
        </p:txBody>
      </p:sp>
      <p:sp>
        <p:nvSpPr>
          <p:cNvPr id="72" name="Oval 71"/>
          <p:cNvSpPr/>
          <p:nvPr/>
        </p:nvSpPr>
        <p:spPr>
          <a:xfrm>
            <a:off x="6519863" y="71723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73"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7285037"/>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4" name="Oval 73"/>
          <p:cNvSpPr/>
          <p:nvPr/>
        </p:nvSpPr>
        <p:spPr>
          <a:xfrm>
            <a:off x="6519863" y="59531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77"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60658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42" name="Straight Connector 41"/>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Table Of Contents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a:t>
            </a:fld>
            <a:endParaRPr lang="en-PH" dirty="0"/>
          </a:p>
        </p:txBody>
      </p:sp>
      <p:sp>
        <p:nvSpPr>
          <p:cNvPr id="44" name="TextBox 43"/>
          <p:cNvSpPr txBox="1"/>
          <p:nvPr/>
        </p:nvSpPr>
        <p:spPr>
          <a:xfrm>
            <a:off x="881062" y="3514726"/>
            <a:ext cx="441146" cy="369332"/>
          </a:xfrm>
          <a:prstGeom prst="rect">
            <a:avLst/>
          </a:prstGeom>
          <a:noFill/>
        </p:spPr>
        <p:txBody>
          <a:bodyPr wrap="none" rtlCol="0">
            <a:spAutoFit/>
          </a:bodyPr>
          <a:lstStyle/>
          <a:p>
            <a:r>
              <a:rPr lang="en-US" b="1" dirty="0" smtClean="0">
                <a:solidFill>
                  <a:srgbClr val="FF0000"/>
                </a:solidFill>
              </a:rPr>
              <a:t>25</a:t>
            </a:r>
            <a:endParaRPr lang="en-US" b="1" dirty="0">
              <a:solidFill>
                <a:srgbClr val="FF0000"/>
              </a:solidFill>
            </a:endParaRPr>
          </a:p>
        </p:txBody>
      </p:sp>
      <p:sp>
        <p:nvSpPr>
          <p:cNvPr id="45" name="TextBox 44"/>
          <p:cNvSpPr txBox="1"/>
          <p:nvPr/>
        </p:nvSpPr>
        <p:spPr>
          <a:xfrm>
            <a:off x="881062" y="7197269"/>
            <a:ext cx="441146" cy="369332"/>
          </a:xfrm>
          <a:prstGeom prst="rect">
            <a:avLst/>
          </a:prstGeom>
          <a:noFill/>
        </p:spPr>
        <p:txBody>
          <a:bodyPr wrap="none" rtlCol="0">
            <a:spAutoFit/>
          </a:bodyPr>
          <a:lstStyle/>
          <a:p>
            <a:r>
              <a:rPr lang="en-US" b="1" dirty="0" smtClean="0">
                <a:solidFill>
                  <a:srgbClr val="FF0000"/>
                </a:solidFill>
              </a:rPr>
              <a:t>37</a:t>
            </a:r>
            <a:endParaRPr lang="en-US" b="1" dirty="0">
              <a:solidFill>
                <a:srgbClr val="FF0000"/>
              </a:solidFill>
            </a:endParaRPr>
          </a:p>
        </p:txBody>
      </p:sp>
      <p:sp>
        <p:nvSpPr>
          <p:cNvPr id="46" name="TextBox 45"/>
          <p:cNvSpPr txBox="1"/>
          <p:nvPr/>
        </p:nvSpPr>
        <p:spPr>
          <a:xfrm>
            <a:off x="881062" y="4697195"/>
            <a:ext cx="441146" cy="369332"/>
          </a:xfrm>
          <a:prstGeom prst="rect">
            <a:avLst/>
          </a:prstGeom>
          <a:noFill/>
        </p:spPr>
        <p:txBody>
          <a:bodyPr wrap="none" rtlCol="0">
            <a:spAutoFit/>
          </a:bodyPr>
          <a:lstStyle/>
          <a:p>
            <a:r>
              <a:rPr lang="en-US" b="1" dirty="0" smtClean="0">
                <a:solidFill>
                  <a:srgbClr val="FF0000"/>
                </a:solidFill>
              </a:rPr>
              <a:t>29</a:t>
            </a:r>
            <a:endParaRPr lang="en-US" b="1" dirty="0">
              <a:solidFill>
                <a:srgbClr val="FF0000"/>
              </a:solidFill>
            </a:endParaRPr>
          </a:p>
        </p:txBody>
      </p:sp>
      <p:sp>
        <p:nvSpPr>
          <p:cNvPr id="49" name="TextBox 48"/>
          <p:cNvSpPr txBox="1"/>
          <p:nvPr/>
        </p:nvSpPr>
        <p:spPr>
          <a:xfrm>
            <a:off x="881062" y="5964793"/>
            <a:ext cx="441146" cy="369332"/>
          </a:xfrm>
          <a:prstGeom prst="rect">
            <a:avLst/>
          </a:prstGeom>
          <a:noFill/>
        </p:spPr>
        <p:txBody>
          <a:bodyPr wrap="none" rtlCol="0">
            <a:spAutoFit/>
          </a:bodyPr>
          <a:lstStyle/>
          <a:p>
            <a:r>
              <a:rPr lang="en-US" b="1" dirty="0" smtClean="0">
                <a:solidFill>
                  <a:srgbClr val="FF0000"/>
                </a:solidFill>
              </a:rPr>
              <a:t>35</a:t>
            </a:r>
            <a:endParaRPr lang="en-US" b="1" dirty="0">
              <a:solidFill>
                <a:srgbClr val="FF0000"/>
              </a:solidFill>
            </a:endParaRPr>
          </a:p>
        </p:txBody>
      </p:sp>
      <p:sp>
        <p:nvSpPr>
          <p:cNvPr id="52" name="Rounded Rectangle 5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58" name="TextBox 73"/>
          <p:cNvSpPr txBox="1">
            <a:spLocks noChangeArrowheads="1"/>
          </p:cNvSpPr>
          <p:nvPr/>
        </p:nvSpPr>
        <p:spPr bwMode="auto">
          <a:xfrm>
            <a:off x="1328029" y="2185571"/>
            <a:ext cx="20649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err="1"/>
              <a:t>EclipseCon</a:t>
            </a:r>
            <a:r>
              <a:rPr lang="en-US" sz="1600" b="1" i="1" dirty="0"/>
              <a:t> Review</a:t>
            </a:r>
          </a:p>
        </p:txBody>
      </p:sp>
      <p:sp>
        <p:nvSpPr>
          <p:cNvPr id="61" name="TextBox 60"/>
          <p:cNvSpPr txBox="1"/>
          <p:nvPr/>
        </p:nvSpPr>
        <p:spPr>
          <a:xfrm>
            <a:off x="1322208" y="2524125"/>
            <a:ext cx="5045254" cy="276999"/>
          </a:xfrm>
          <a:prstGeom prst="rect">
            <a:avLst/>
          </a:prstGeom>
          <a:noFill/>
        </p:spPr>
        <p:txBody>
          <a:bodyPr wrap="square">
            <a:spAutoFit/>
          </a:bodyPr>
          <a:lstStyle/>
          <a:p>
            <a:pPr fontAlgn="auto">
              <a:spcBef>
                <a:spcPts val="0"/>
              </a:spcBef>
              <a:spcAft>
                <a:spcPts val="0"/>
              </a:spcAft>
              <a:defRPr/>
            </a:pPr>
            <a:r>
              <a:rPr lang="en-US" sz="1200" dirty="0">
                <a:latin typeface="Helvetica" charset="0"/>
                <a:cs typeface="Helvetica" charset="0"/>
              </a:rPr>
              <a:t>A</a:t>
            </a:r>
            <a:r>
              <a:rPr lang="en-US" sz="1200" dirty="0" smtClean="0">
                <a:latin typeface="Helvetica" charset="0"/>
                <a:cs typeface="Helvetica" charset="0"/>
              </a:rPr>
              <a:t> review of several of the presentations at the March </a:t>
            </a:r>
            <a:r>
              <a:rPr lang="en-US" sz="1200" dirty="0" err="1" smtClean="0">
                <a:latin typeface="Helvetica" charset="0"/>
                <a:cs typeface="Helvetica" charset="0"/>
              </a:rPr>
              <a:t>EclipseCon</a:t>
            </a:r>
            <a:r>
              <a:rPr lang="en-US" sz="1200" dirty="0" smtClean="0">
                <a:latin typeface="Helvetica" charset="0"/>
                <a:cs typeface="Helvetica" charset="0"/>
              </a:rPr>
              <a:t> event</a:t>
            </a:r>
            <a:endParaRPr lang="en-PH" sz="1200" dirty="0">
              <a:latin typeface="Helvetica" charset="0"/>
              <a:cs typeface="Helvetica" charset="0"/>
            </a:endParaRPr>
          </a:p>
        </p:txBody>
      </p:sp>
      <p:sp>
        <p:nvSpPr>
          <p:cNvPr id="62" name="TextBox 61"/>
          <p:cNvSpPr txBox="1"/>
          <p:nvPr/>
        </p:nvSpPr>
        <p:spPr>
          <a:xfrm>
            <a:off x="1322208" y="2780526"/>
            <a:ext cx="1681279" cy="276999"/>
          </a:xfrm>
          <a:prstGeom prst="rect">
            <a:avLst/>
          </a:prstGeom>
          <a:noFill/>
        </p:spPr>
        <p:txBody>
          <a:bodyPr wrap="square">
            <a:spAutoFit/>
          </a:bodyPr>
          <a:lstStyle/>
          <a:p>
            <a:pPr fontAlgn="auto">
              <a:spcBef>
                <a:spcPts val="0"/>
              </a:spcBef>
              <a:spcAft>
                <a:spcPts val="0"/>
              </a:spcAft>
              <a:defRPr/>
            </a:pPr>
            <a:r>
              <a:rPr lang="en-PH" sz="1200" i="1" dirty="0" smtClean="0">
                <a:latin typeface="Arial" pitchFamily="34" charset="0"/>
                <a:cs typeface="Arial" pitchFamily="34" charset="0"/>
              </a:rPr>
              <a:t>By Keith Pleas</a:t>
            </a:r>
            <a:endParaRPr lang="en-PH" sz="1200" i="1" dirty="0">
              <a:latin typeface="Arial" pitchFamily="34" charset="0"/>
              <a:cs typeface="Arial" pitchFamily="34" charset="0"/>
            </a:endParaRPr>
          </a:p>
        </p:txBody>
      </p:sp>
      <p:sp>
        <p:nvSpPr>
          <p:cNvPr id="68" name="Oval 67"/>
          <p:cNvSpPr/>
          <p:nvPr/>
        </p:nvSpPr>
        <p:spPr>
          <a:xfrm>
            <a:off x="6519863" y="23233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69"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24360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 name="TextBox 83"/>
          <p:cNvSpPr txBox="1"/>
          <p:nvPr/>
        </p:nvSpPr>
        <p:spPr>
          <a:xfrm>
            <a:off x="881062" y="2271951"/>
            <a:ext cx="441146" cy="369332"/>
          </a:xfrm>
          <a:prstGeom prst="rect">
            <a:avLst/>
          </a:prstGeom>
          <a:noFill/>
        </p:spPr>
        <p:txBody>
          <a:bodyPr wrap="none" rtlCol="0">
            <a:spAutoFit/>
          </a:bodyPr>
          <a:lstStyle/>
          <a:p>
            <a:r>
              <a:rPr lang="en-US" b="1" dirty="0" smtClean="0">
                <a:solidFill>
                  <a:srgbClr val="FF0000"/>
                </a:solidFill>
              </a:rPr>
              <a:t>19</a:t>
            </a:r>
            <a:endParaRPr lang="en-US" b="1" dirty="0">
              <a:solidFill>
                <a:srgbClr val="FF0000"/>
              </a:solidFill>
            </a:endParaRPr>
          </a:p>
        </p:txBody>
      </p:sp>
      <p:sp>
        <p:nvSpPr>
          <p:cNvPr id="93" name="Oval 92"/>
          <p:cNvSpPr/>
          <p:nvPr/>
        </p:nvSpPr>
        <p:spPr>
          <a:xfrm>
            <a:off x="6519863" y="10001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94"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11128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5" name="TextBox 94"/>
          <p:cNvSpPr txBox="1"/>
          <p:nvPr/>
        </p:nvSpPr>
        <p:spPr>
          <a:xfrm>
            <a:off x="881062" y="1049775"/>
            <a:ext cx="441146" cy="369332"/>
          </a:xfrm>
          <a:prstGeom prst="rect">
            <a:avLst/>
          </a:prstGeom>
          <a:noFill/>
        </p:spPr>
        <p:txBody>
          <a:bodyPr wrap="none" rtlCol="0">
            <a:spAutoFit/>
          </a:bodyPr>
          <a:lstStyle/>
          <a:p>
            <a:r>
              <a:rPr lang="en-US" b="1" dirty="0" smtClean="0">
                <a:solidFill>
                  <a:srgbClr val="FF0000"/>
                </a:solidFill>
              </a:rPr>
              <a:t>15</a:t>
            </a:r>
            <a:endParaRPr lang="en-US" b="1" dirty="0">
              <a:solidFill>
                <a:srgbClr val="FF0000"/>
              </a:solidFill>
            </a:endParaRPr>
          </a:p>
        </p:txBody>
      </p:sp>
      <p:sp>
        <p:nvSpPr>
          <p:cNvPr id="97" name="TextBox 66"/>
          <p:cNvSpPr txBox="1">
            <a:spLocks noChangeArrowheads="1"/>
          </p:cNvSpPr>
          <p:nvPr/>
        </p:nvSpPr>
        <p:spPr bwMode="auto">
          <a:xfrm>
            <a:off x="1323974" y="847725"/>
            <a:ext cx="50434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1600" b="1" i="1" dirty="0"/>
              <a:t>ALM State of the Industry Reports:</a:t>
            </a:r>
          </a:p>
          <a:p>
            <a:r>
              <a:rPr lang="en-US" sz="1600" b="1" i="1"/>
              <a:t>W</a:t>
            </a:r>
            <a:r>
              <a:rPr lang="en-US" sz="1600" b="1" i="1" smtClean="0"/>
              <a:t>hich </a:t>
            </a:r>
            <a:r>
              <a:rPr lang="en-US" sz="1600" b="1" i="1" dirty="0"/>
              <a:t>O</a:t>
            </a:r>
            <a:r>
              <a:rPr lang="en-US" sz="1600" b="1" i="1" smtClean="0"/>
              <a:t>ne </a:t>
            </a:r>
            <a:r>
              <a:rPr lang="en-US" sz="1600" b="1" i="1" dirty="0"/>
              <a:t>is right?</a:t>
            </a:r>
          </a:p>
        </p:txBody>
      </p:sp>
      <p:sp>
        <p:nvSpPr>
          <p:cNvPr id="98" name="TextBox 97"/>
          <p:cNvSpPr txBox="1"/>
          <p:nvPr/>
        </p:nvSpPr>
        <p:spPr>
          <a:xfrm>
            <a:off x="1322207" y="1408926"/>
            <a:ext cx="5197655" cy="276999"/>
          </a:xfrm>
          <a:prstGeom prst="rect">
            <a:avLst/>
          </a:prstGeom>
          <a:noFill/>
        </p:spPr>
        <p:txBody>
          <a:bodyPr wrap="square">
            <a:spAutoFit/>
          </a:bodyPr>
          <a:lstStyle/>
          <a:p>
            <a:pPr fontAlgn="auto">
              <a:spcBef>
                <a:spcPts val="0"/>
              </a:spcBef>
              <a:spcAft>
                <a:spcPts val="0"/>
              </a:spcAft>
              <a:defRPr/>
            </a:pPr>
            <a:r>
              <a:rPr lang="en-AU" sz="1200" dirty="0" smtClean="0"/>
              <a:t>A look at the latest Gartner and Forrester reports focusing on ALM toolsets</a:t>
            </a:r>
            <a:endParaRPr lang="en-PH" sz="1200" dirty="0"/>
          </a:p>
        </p:txBody>
      </p:sp>
      <p:sp>
        <p:nvSpPr>
          <p:cNvPr id="99" name="TextBox 98"/>
          <p:cNvSpPr txBox="1"/>
          <p:nvPr/>
        </p:nvSpPr>
        <p:spPr>
          <a:xfrm>
            <a:off x="1322208" y="1637526"/>
            <a:ext cx="3084037" cy="276999"/>
          </a:xfrm>
          <a:prstGeom prst="rect">
            <a:avLst/>
          </a:prstGeom>
          <a:noFill/>
        </p:spPr>
        <p:txBody>
          <a:bodyPr wrap="square">
            <a:spAutoFit/>
          </a:bodyPr>
          <a:lstStyle/>
          <a:p>
            <a:pPr fontAlgn="auto">
              <a:spcBef>
                <a:spcPts val="0"/>
              </a:spcBef>
              <a:spcAft>
                <a:spcPts val="0"/>
              </a:spcAft>
              <a:defRPr/>
            </a:pPr>
            <a:r>
              <a:rPr lang="en-PH" sz="1200" i="1" dirty="0">
                <a:latin typeface="Arial" pitchFamily="34" charset="0"/>
                <a:cs typeface="Arial" pitchFamily="34" charset="0"/>
              </a:rPr>
              <a:t>by </a:t>
            </a:r>
            <a:r>
              <a:rPr lang="en-US" sz="1200" i="1" dirty="0"/>
              <a:t>Clementino de Mendonca</a:t>
            </a:r>
            <a:endParaRPr lang="en-PH" sz="1200" i="1" dirty="0">
              <a:latin typeface="Arial" pitchFamily="34" charset="0"/>
              <a:cs typeface="Arial" pitchFamily="34" charset="0"/>
            </a:endParaRPr>
          </a:p>
        </p:txBody>
      </p:sp>
      <p:sp>
        <p:nvSpPr>
          <p:cNvPr id="78" name="Rectangle 77">
            <a:hlinkClick r:id="rId3" action="ppaction://hlinksldjump"/>
          </p:cNvPr>
          <p:cNvSpPr/>
          <p:nvPr/>
        </p:nvSpPr>
        <p:spPr>
          <a:xfrm>
            <a:off x="881062" y="875327"/>
            <a:ext cx="6248400" cy="10668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hlinkClick r:id="rId4" action="ppaction://hlinksldjump"/>
          </p:cNvPr>
          <p:cNvSpPr/>
          <p:nvPr/>
        </p:nvSpPr>
        <p:spPr>
          <a:xfrm>
            <a:off x="881062" y="3328571"/>
            <a:ext cx="6248400" cy="102435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hlinkClick r:id="rId5" action="ppaction://hlinksldjump"/>
          </p:cNvPr>
          <p:cNvSpPr/>
          <p:nvPr/>
        </p:nvSpPr>
        <p:spPr>
          <a:xfrm>
            <a:off x="881062" y="4532926"/>
            <a:ext cx="6248400" cy="10800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hlinkClick r:id="rId6" action="ppaction://hlinksldjump"/>
          </p:cNvPr>
          <p:cNvSpPr/>
          <p:nvPr/>
        </p:nvSpPr>
        <p:spPr>
          <a:xfrm>
            <a:off x="881062" y="5800725"/>
            <a:ext cx="6248400" cy="102435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hlinkClick r:id="rId7" action="ppaction://hlinksldjump"/>
          </p:cNvPr>
          <p:cNvSpPr/>
          <p:nvPr/>
        </p:nvSpPr>
        <p:spPr>
          <a:xfrm>
            <a:off x="881062" y="7019925"/>
            <a:ext cx="6248400" cy="10038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hlinkClick r:id="rId8" action="ppaction://hlinksldjump"/>
          </p:cNvPr>
          <p:cNvSpPr/>
          <p:nvPr/>
        </p:nvSpPr>
        <p:spPr>
          <a:xfrm>
            <a:off x="881062" y="2143125"/>
            <a:ext cx="6248400" cy="9630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6519863" y="83153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1"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84280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0" name="TextBox 59"/>
          <p:cNvSpPr txBox="1"/>
          <p:nvPr/>
        </p:nvSpPr>
        <p:spPr>
          <a:xfrm>
            <a:off x="881062" y="8364975"/>
            <a:ext cx="441146" cy="369332"/>
          </a:xfrm>
          <a:prstGeom prst="rect">
            <a:avLst/>
          </a:prstGeom>
          <a:noFill/>
        </p:spPr>
        <p:txBody>
          <a:bodyPr wrap="none" rtlCol="0">
            <a:spAutoFit/>
          </a:bodyPr>
          <a:lstStyle/>
          <a:p>
            <a:r>
              <a:rPr lang="en-US" b="1" dirty="0" smtClean="0">
                <a:solidFill>
                  <a:srgbClr val="FF0000"/>
                </a:solidFill>
              </a:rPr>
              <a:t>44</a:t>
            </a:r>
            <a:endParaRPr lang="en-US" b="1" dirty="0">
              <a:solidFill>
                <a:srgbClr val="FF0000"/>
              </a:solidFill>
            </a:endParaRPr>
          </a:p>
        </p:txBody>
      </p:sp>
      <p:sp>
        <p:nvSpPr>
          <p:cNvPr id="63" name="TextBox 66"/>
          <p:cNvSpPr txBox="1">
            <a:spLocks noChangeArrowheads="1"/>
          </p:cNvSpPr>
          <p:nvPr/>
        </p:nvSpPr>
        <p:spPr bwMode="auto">
          <a:xfrm>
            <a:off x="1323974" y="8162925"/>
            <a:ext cx="50434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1600" b="1" i="1" dirty="0" smtClean="0"/>
              <a:t>Countering </a:t>
            </a:r>
            <a:r>
              <a:rPr lang="en-US" sz="1600" b="1" i="1" dirty="0"/>
              <a:t>6 typical arguments </a:t>
            </a:r>
            <a:r>
              <a:rPr lang="en-US" sz="1600" b="1" i="1" dirty="0" smtClean="0"/>
              <a:t>against the  </a:t>
            </a:r>
            <a:r>
              <a:rPr lang="en-US" sz="1600" b="1" i="1" dirty="0"/>
              <a:t>Agile/Lean approach</a:t>
            </a:r>
            <a:r>
              <a:rPr lang="en-AU" sz="1600" b="1" i="1" dirty="0"/>
              <a:t> </a:t>
            </a:r>
            <a:endParaRPr lang="en-US" sz="1600" b="1" i="1" dirty="0"/>
          </a:p>
        </p:txBody>
      </p:sp>
      <p:sp>
        <p:nvSpPr>
          <p:cNvPr id="64" name="TextBox 63"/>
          <p:cNvSpPr txBox="1"/>
          <p:nvPr/>
        </p:nvSpPr>
        <p:spPr>
          <a:xfrm>
            <a:off x="1322207" y="8724126"/>
            <a:ext cx="5426256" cy="276999"/>
          </a:xfrm>
          <a:prstGeom prst="rect">
            <a:avLst/>
          </a:prstGeom>
          <a:noFill/>
        </p:spPr>
        <p:txBody>
          <a:bodyPr wrap="square">
            <a:spAutoFit/>
          </a:bodyPr>
          <a:lstStyle/>
          <a:p>
            <a:pPr fontAlgn="auto">
              <a:spcBef>
                <a:spcPts val="0"/>
              </a:spcBef>
              <a:spcAft>
                <a:spcPts val="0"/>
              </a:spcAft>
              <a:defRPr/>
            </a:pPr>
            <a:r>
              <a:rPr lang="en-AU" sz="1200" dirty="0"/>
              <a:t>The </a:t>
            </a:r>
            <a:r>
              <a:rPr lang="en-US" sz="1200" dirty="0"/>
              <a:t>arguments against and mitigating rationale </a:t>
            </a:r>
            <a:r>
              <a:rPr lang="en-US" sz="1200" dirty="0" smtClean="0"/>
              <a:t>for an </a:t>
            </a:r>
            <a:r>
              <a:rPr lang="en-US" sz="1200" dirty="0"/>
              <a:t>Agile/Lean approach</a:t>
            </a:r>
            <a:r>
              <a:rPr lang="en-AU" sz="1200" dirty="0"/>
              <a:t> </a:t>
            </a:r>
            <a:endParaRPr lang="en-PH" sz="1200" dirty="0"/>
          </a:p>
        </p:txBody>
      </p:sp>
      <p:sp>
        <p:nvSpPr>
          <p:cNvPr id="65" name="TextBox 64"/>
          <p:cNvSpPr txBox="1"/>
          <p:nvPr/>
        </p:nvSpPr>
        <p:spPr>
          <a:xfrm>
            <a:off x="1322208" y="8952726"/>
            <a:ext cx="3084037" cy="276999"/>
          </a:xfrm>
          <a:prstGeom prst="rect">
            <a:avLst/>
          </a:prstGeom>
          <a:noFill/>
        </p:spPr>
        <p:txBody>
          <a:bodyPr wrap="square">
            <a:spAutoFit/>
          </a:bodyPr>
          <a:lstStyle/>
          <a:p>
            <a:r>
              <a:rPr lang="en-PH" sz="1200" i="1" dirty="0">
                <a:latin typeface="Arial" pitchFamily="34" charset="0"/>
                <a:cs typeface="Arial" pitchFamily="34" charset="0"/>
              </a:rPr>
              <a:t>by </a:t>
            </a:r>
            <a:r>
              <a:rPr lang="en-GB" sz="1200" i="1" dirty="0" err="1"/>
              <a:t>Tomáš</a:t>
            </a:r>
            <a:r>
              <a:rPr lang="en-GB" sz="1200" i="1" dirty="0"/>
              <a:t> </a:t>
            </a:r>
            <a:r>
              <a:rPr lang="en-GB" sz="1200" i="1" dirty="0" err="1"/>
              <a:t>Tureček</a:t>
            </a:r>
            <a:endParaRPr lang="en-GB" sz="1200" i="1" dirty="0"/>
          </a:p>
        </p:txBody>
      </p:sp>
      <p:sp>
        <p:nvSpPr>
          <p:cNvPr id="66" name="Rectangle 65">
            <a:hlinkClick r:id="rId9" action="ppaction://hlinksldjump"/>
          </p:cNvPr>
          <p:cNvSpPr/>
          <p:nvPr/>
        </p:nvSpPr>
        <p:spPr>
          <a:xfrm>
            <a:off x="881062" y="8190527"/>
            <a:ext cx="6248400" cy="10668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13562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4"/>
          <p:cNvSpPr>
            <a:spLocks/>
          </p:cNvSpPr>
          <p:nvPr/>
        </p:nvSpPr>
        <p:spPr bwMode="auto">
          <a:xfrm>
            <a:off x="2024063" y="1000125"/>
            <a:ext cx="838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9600" b="1" dirty="0" smtClean="0">
                <a:latin typeface="Helvetica Neue Bold Condensed" charset="0"/>
                <a:sym typeface="Helvetica Neue Bold Condensed" charset="0"/>
              </a:rPr>
              <a:t>T</a:t>
            </a:r>
            <a:endParaRPr lang="en-US" sz="9600" b="1" dirty="0">
              <a:latin typeface="Helvetica Neue Bold Condensed" charset="0"/>
              <a:sym typeface="Helvetica Neue Bold Condensed" charset="0"/>
            </a:endParaRPr>
          </a:p>
        </p:txBody>
      </p:sp>
      <p:sp>
        <p:nvSpPr>
          <p:cNvPr id="15" name="Rectangle 2"/>
          <p:cNvSpPr>
            <a:spLocks/>
          </p:cNvSpPr>
          <p:nvPr/>
        </p:nvSpPr>
        <p:spPr bwMode="auto">
          <a:xfrm>
            <a:off x="2024063" y="8010525"/>
            <a:ext cx="5181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defRPr/>
            </a:pPr>
            <a:r>
              <a:rPr lang="en-US" sz="1200" dirty="0" smtClean="0"/>
              <a:t>Enjoy!... and Warmest </a:t>
            </a:r>
            <a:r>
              <a:rPr lang="en-US" sz="1200" dirty="0"/>
              <a:t>Regards,</a:t>
            </a:r>
          </a:p>
          <a:p>
            <a:pPr>
              <a:defRPr/>
            </a:pPr>
            <a:r>
              <a:rPr lang="en-US" sz="1200" dirty="0"/>
              <a:t>Keith </a:t>
            </a:r>
            <a:r>
              <a:rPr lang="en-US" sz="1200" dirty="0" smtClean="0"/>
              <a:t>Denham</a:t>
            </a:r>
          </a:p>
          <a:p>
            <a:pPr>
              <a:defRPr/>
            </a:pPr>
            <a:endParaRPr lang="en-US" sz="1200" dirty="0"/>
          </a:p>
          <a:p>
            <a:pPr>
              <a:defRPr/>
            </a:pPr>
            <a:endParaRPr lang="en-US" sz="1200" dirty="0" smtClean="0"/>
          </a:p>
          <a:p>
            <a:pPr>
              <a:defRPr/>
            </a:pPr>
            <a:r>
              <a:rPr lang="en-US" sz="1100" i="1" dirty="0" smtClean="0"/>
              <a:t>P.S. Don’t forget, this is an interactive magazine, tap on the audios and videos and tap on the highlighted links to see additional related content. </a:t>
            </a:r>
          </a:p>
          <a:p>
            <a:pPr>
              <a:defRPr/>
            </a:pPr>
            <a:r>
              <a:rPr lang="en-US" sz="1100" i="1" dirty="0" smtClean="0"/>
              <a:t>Tap on the Index Page Button at the foot of any page to return to the Index.</a:t>
            </a:r>
            <a:endParaRPr lang="en-US" sz="1100" i="1" dirty="0"/>
          </a:p>
        </p:txBody>
      </p:sp>
      <p:sp>
        <p:nvSpPr>
          <p:cNvPr id="6146" name="TextBox 3"/>
          <p:cNvSpPr txBox="1">
            <a:spLocks noChangeArrowheads="1"/>
          </p:cNvSpPr>
          <p:nvPr/>
        </p:nvSpPr>
        <p:spPr bwMode="auto">
          <a:xfrm>
            <a:off x="423862" y="619125"/>
            <a:ext cx="20996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Welcome</a:t>
            </a:r>
          </a:p>
        </p:txBody>
      </p:sp>
      <p:cxnSp>
        <p:nvCxnSpPr>
          <p:cNvPr id="58" name="Straight Connector 57"/>
          <p:cNvCxnSpPr/>
          <p:nvPr/>
        </p:nvCxnSpPr>
        <p:spPr>
          <a:xfrm>
            <a:off x="271462" y="542925"/>
            <a:ext cx="7003732"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0244" name="Rectangle 2"/>
          <p:cNvSpPr>
            <a:spLocks/>
          </p:cNvSpPr>
          <p:nvPr/>
        </p:nvSpPr>
        <p:spPr bwMode="auto">
          <a:xfrm>
            <a:off x="2024063" y="2325053"/>
            <a:ext cx="5181600" cy="5456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smtClean="0"/>
              <a:t>Al Shalloway examines.</a:t>
            </a:r>
          </a:p>
          <a:p>
            <a:pPr algn="just">
              <a:defRPr/>
            </a:pPr>
            <a:endParaRPr lang="en-US" sz="1200" dirty="0" smtClean="0"/>
          </a:p>
          <a:p>
            <a:pPr algn="just">
              <a:defRPr/>
            </a:pPr>
            <a:r>
              <a:rPr lang="en-US" sz="1200" dirty="0" smtClean="0"/>
              <a:t> presents another great Northwest </a:t>
            </a:r>
            <a:r>
              <a:rPr lang="en-US" sz="1200" dirty="0"/>
              <a:t>Cadence </a:t>
            </a:r>
            <a:r>
              <a:rPr lang="en-US" sz="1200" dirty="0" smtClean="0"/>
              <a:t>video demo of.</a:t>
            </a:r>
            <a:endParaRPr lang="en-US" sz="1200" dirty="0"/>
          </a:p>
          <a:p>
            <a:pPr algn="just">
              <a:defRPr/>
            </a:pPr>
            <a:endParaRPr lang="en-US" sz="1200" dirty="0" smtClean="0"/>
          </a:p>
          <a:p>
            <a:pPr algn="just">
              <a:defRPr/>
            </a:pPr>
            <a:r>
              <a:rPr lang="en-US" sz="1200" dirty="0" smtClean="0"/>
              <a:t>Clementino de Mendonca examines y.</a:t>
            </a:r>
            <a:endParaRPr lang="en-US" sz="1200" dirty="0"/>
          </a:p>
          <a:p>
            <a:pPr algn="just">
              <a:defRPr/>
            </a:pPr>
            <a:endParaRPr lang="en-US" sz="1200" dirty="0"/>
          </a:p>
          <a:p>
            <a:r>
              <a:rPr lang="en-US" sz="1200" dirty="0" smtClean="0"/>
              <a:t>Anthony </a:t>
            </a:r>
            <a:r>
              <a:rPr lang="en-US" sz="1200" dirty="0" err="1" smtClean="0"/>
              <a:t>Borton’s</a:t>
            </a:r>
            <a:r>
              <a:rPr lang="en-US" sz="1200" dirty="0" smtClean="0"/>
              <a:t> article is the second of a three part series outlining the new Microsoft MCSD ALM certification. Part 2 covers:</a:t>
            </a:r>
          </a:p>
          <a:p>
            <a:r>
              <a:rPr lang="en-US" sz="1200" dirty="0" smtClean="0"/>
              <a:t>Exam </a:t>
            </a:r>
            <a:r>
              <a:rPr lang="en-AU" sz="1200" dirty="0" smtClean="0"/>
              <a:t>70-497</a:t>
            </a:r>
            <a:r>
              <a:rPr lang="en-AU" sz="1200" dirty="0"/>
              <a:t>: </a:t>
            </a:r>
            <a:r>
              <a:rPr lang="en-US" sz="1200" dirty="0"/>
              <a:t>Software Testing with Visual Studio </a:t>
            </a:r>
            <a:r>
              <a:rPr lang="en-US" sz="1200" dirty="0" smtClean="0"/>
              <a:t>2012. </a:t>
            </a:r>
          </a:p>
          <a:p>
            <a:r>
              <a:rPr lang="en-US" sz="1200" dirty="0" smtClean="0"/>
              <a:t>This </a:t>
            </a:r>
            <a:r>
              <a:rPr lang="en-US" sz="1200" dirty="0"/>
              <a:t>is Microsoft’s first exam focusing primarily on Microsoft Test Manager (MTM) 2012.</a:t>
            </a:r>
            <a:endParaRPr lang="en-US" sz="1200" dirty="0" smtClean="0"/>
          </a:p>
          <a:p>
            <a:pPr algn="just">
              <a:defRPr/>
            </a:pPr>
            <a:endParaRPr lang="en-US" sz="1200" dirty="0"/>
          </a:p>
          <a:p>
            <a:pPr algn="just">
              <a:defRPr/>
            </a:pPr>
            <a:r>
              <a:rPr lang="en-US" sz="1200" dirty="0" smtClean="0"/>
              <a:t>Martin Hinshelwood tells that to the contrary, TFS </a:t>
            </a:r>
            <a:r>
              <a:rPr lang="en-US" sz="1200" dirty="0"/>
              <a:t>2012 </a:t>
            </a:r>
            <a:r>
              <a:rPr lang="en-US" sz="1200" dirty="0" smtClean="0"/>
              <a:t>has </a:t>
            </a:r>
            <a:r>
              <a:rPr lang="en-US" sz="1200" dirty="0"/>
              <a:t>many features </a:t>
            </a:r>
            <a:r>
              <a:rPr lang="en-US" sz="1200" dirty="0" smtClean="0"/>
              <a:t>that </a:t>
            </a:r>
            <a:r>
              <a:rPr lang="en-US" sz="1200" dirty="0"/>
              <a:t>support creating a release management </a:t>
            </a:r>
            <a:r>
              <a:rPr lang="en-US" sz="1200" dirty="0" smtClean="0"/>
              <a:t>strategy.</a:t>
            </a:r>
            <a:endParaRPr lang="en-US" sz="1200" dirty="0"/>
          </a:p>
          <a:p>
            <a:pPr algn="just">
              <a:defRPr/>
            </a:pPr>
            <a:endParaRPr lang="en-US" sz="1200" dirty="0"/>
          </a:p>
          <a:p>
            <a:pPr algn="just">
              <a:defRPr/>
            </a:pPr>
            <a:r>
              <a:rPr lang="en-US" sz="1200" dirty="0" smtClean="0"/>
              <a:t>Mohamed </a:t>
            </a:r>
            <a:r>
              <a:rPr lang="en-US" sz="1200" dirty="0" err="1" smtClean="0"/>
              <a:t>Radwan</a:t>
            </a:r>
            <a:r>
              <a:rPr lang="en-US" sz="1200" dirty="0" smtClean="0"/>
              <a:t> presents the new and interesting TFS features available in Team Explorer.</a:t>
            </a:r>
          </a:p>
          <a:p>
            <a:pPr algn="just">
              <a:defRPr/>
            </a:pPr>
            <a:endParaRPr lang="en-US" sz="1200" dirty="0"/>
          </a:p>
          <a:p>
            <a:pPr algn="just">
              <a:defRPr/>
            </a:pPr>
            <a:endParaRPr lang="en-US" sz="1200" dirty="0"/>
          </a:p>
          <a:p>
            <a:pPr algn="just">
              <a:defRPr/>
            </a:pPr>
            <a:r>
              <a:rPr lang="en-US" sz="1200" dirty="0" smtClean="0"/>
              <a:t>Not yet a member? Take advantage of </a:t>
            </a:r>
            <a:r>
              <a:rPr lang="en-US" sz="1200" dirty="0"/>
              <a:t>our early bird </a:t>
            </a:r>
            <a:r>
              <a:rPr lang="en-US" sz="1200" dirty="0" smtClean="0"/>
              <a:t>Offer… click this link for more details.</a:t>
            </a:r>
            <a:r>
              <a:rPr lang="en-US" sz="1200" dirty="0"/>
              <a:t> </a:t>
            </a:r>
            <a:r>
              <a:rPr lang="en-US" sz="1200" dirty="0" smtClean="0"/>
              <a:t>      </a:t>
            </a:r>
            <a:r>
              <a:rPr lang="en-US" sz="1200" dirty="0" smtClean="0">
                <a:hlinkClick r:id="rId2"/>
              </a:rPr>
              <a:t>http</a:t>
            </a:r>
            <a:r>
              <a:rPr lang="en-US" sz="1200" dirty="0">
                <a:hlinkClick r:id="rId2"/>
              </a:rPr>
              <a:t>://</a:t>
            </a:r>
            <a:r>
              <a:rPr lang="en-US" sz="1200" dirty="0" smtClean="0">
                <a:hlinkClick r:id="rId2"/>
              </a:rPr>
              <a:t>www.member.almmag.com/goto/foundingmember</a:t>
            </a:r>
            <a:endParaRPr lang="en-US" sz="1200" dirty="0" smtClean="0"/>
          </a:p>
          <a:p>
            <a:pPr algn="just">
              <a:defRPr/>
            </a:pPr>
            <a:endParaRPr lang="en-US" sz="1200" dirty="0"/>
          </a:p>
        </p:txBody>
      </p:sp>
      <p:sp>
        <p:nvSpPr>
          <p:cNvPr id="6149" name="Rectangle 3"/>
          <p:cNvSpPr>
            <a:spLocks/>
          </p:cNvSpPr>
          <p:nvPr/>
        </p:nvSpPr>
        <p:spPr bwMode="auto">
          <a:xfrm>
            <a:off x="2862264" y="1304925"/>
            <a:ext cx="434340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i="1" dirty="0" smtClean="0"/>
              <a:t>his </a:t>
            </a:r>
            <a:r>
              <a:rPr lang="en-US" sz="1200" i="1" dirty="0"/>
              <a:t>issue </a:t>
            </a:r>
            <a:r>
              <a:rPr lang="en-US" sz="1200" i="1" dirty="0" smtClean="0"/>
              <a:t>coincides with the 5</a:t>
            </a:r>
            <a:r>
              <a:rPr lang="en-US" sz="1200" i="1" baseline="30000" dirty="0" smtClean="0"/>
              <a:t>th</a:t>
            </a:r>
            <a:r>
              <a:rPr lang="en-US" sz="1200" i="1" dirty="0" smtClean="0"/>
              <a:t> named version  of Team Foundation Server, TFS 2013. This version brings exciting new features and functionality to play that many have been waiting for, particularly those wanting an easy tie from the executive planning level into the development tier.</a:t>
            </a:r>
            <a:endParaRPr lang="en-US" sz="1200" i="1" dirty="0"/>
          </a:p>
        </p:txBody>
      </p:sp>
      <p:sp>
        <p:nvSpPr>
          <p:cNvPr id="6151" name="Rectangle 5"/>
          <p:cNvSpPr>
            <a:spLocks/>
          </p:cNvSpPr>
          <p:nvPr/>
        </p:nvSpPr>
        <p:spPr bwMode="auto">
          <a:xfrm>
            <a:off x="195263" y="2843213"/>
            <a:ext cx="1679576"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Denham</a:t>
            </a:r>
          </a:p>
          <a:p>
            <a:pPr algn="r"/>
            <a:r>
              <a:rPr lang="en-US" sz="1100" i="1" dirty="0" smtClean="0">
                <a:solidFill>
                  <a:srgbClr val="4D4D4D"/>
                </a:solidFill>
                <a:latin typeface="Helvetica" charset="0"/>
                <a:cs typeface="Helvetica" charset="0"/>
                <a:sym typeface="Helvetica" charset="0"/>
              </a:rPr>
              <a:t>Publisher</a:t>
            </a:r>
          </a:p>
          <a:p>
            <a:pPr algn="r"/>
            <a:endParaRPr lang="en-US" sz="1100" i="1" dirty="0" smtClean="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rPr>
              <a:t>Treasure Cove Publishing</a:t>
            </a:r>
          </a:p>
          <a:p>
            <a:pPr algn="r"/>
            <a:r>
              <a:rPr lang="en-US" sz="1100" i="1" dirty="0" smtClean="0">
                <a:solidFill>
                  <a:srgbClr val="4D4D4D"/>
                </a:solidFill>
                <a:latin typeface="Helvetica" charset="0"/>
                <a:cs typeface="Helvetica" charset="0"/>
                <a:sym typeface="Helvetica" charset="0"/>
              </a:rPr>
              <a:t>Volume 1 – Issue 4</a:t>
            </a:r>
          </a:p>
          <a:p>
            <a:pPr algn="r"/>
            <a:r>
              <a:rPr lang="en-US" sz="1100" i="1" dirty="0" smtClean="0">
                <a:solidFill>
                  <a:srgbClr val="4D4D4D"/>
                </a:solidFill>
                <a:latin typeface="Helvetica" charset="0"/>
                <a:cs typeface="Helvetica" charset="0"/>
                <a:sym typeface="Helvetica" charset="0"/>
              </a:rPr>
              <a:t>May/June 2013 </a:t>
            </a:r>
          </a:p>
        </p:txBody>
      </p:sp>
      <p:pic>
        <p:nvPicPr>
          <p:cNvPr id="6152" name="Picture 4" descr="E:\Pictures\ALM Mag - Contributors\KD-Headshot-Sq-145x14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95400"/>
            <a:ext cx="13811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91039" y="8505825"/>
            <a:ext cx="1768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p:cNvSpPr>
            <a:spLocks/>
          </p:cNvSpPr>
          <p:nvPr/>
        </p:nvSpPr>
        <p:spPr bwMode="auto">
          <a:xfrm>
            <a:off x="195262" y="4014788"/>
            <a:ext cx="1686243" cy="54435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endParaRPr lang="en-US" sz="4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ADVISORY BOARD:</a:t>
            </a:r>
          </a:p>
          <a:p>
            <a:pPr algn="ctr"/>
            <a:r>
              <a:rPr lang="en-US" sz="1100" i="1" dirty="0" smtClean="0">
                <a:solidFill>
                  <a:srgbClr val="4D4D4D"/>
                </a:solidFill>
                <a:latin typeface="Helvetica" charset="0"/>
                <a:cs typeface="Helvetica" charset="0"/>
                <a:sym typeface="Helvetica" charset="0"/>
              </a:rPr>
              <a:t>Sam Guckenheimer</a:t>
            </a:r>
          </a:p>
          <a:p>
            <a:pPr algn="ctr"/>
            <a:r>
              <a:rPr lang="en-US" sz="1000" i="1" dirty="0">
                <a:solidFill>
                  <a:srgbClr val="4D4D4D"/>
                </a:solidFill>
                <a:latin typeface="Helvetica" charset="0"/>
                <a:cs typeface="Helvetica" charset="0"/>
              </a:rPr>
              <a:t>Group Product Planner for Visual </a:t>
            </a:r>
            <a:r>
              <a:rPr lang="en-US" sz="1000" i="1" dirty="0" smtClean="0">
                <a:solidFill>
                  <a:srgbClr val="4D4D4D"/>
                </a:solidFill>
                <a:latin typeface="Helvetica" charset="0"/>
                <a:cs typeface="Helvetica" charset="0"/>
              </a:rPr>
              <a:t>Studio &amp; Author</a:t>
            </a:r>
            <a:endParaRPr lang="en-US" sz="1000" i="1" dirty="0">
              <a:solidFill>
                <a:srgbClr val="4D4D4D"/>
              </a:solidFill>
              <a:latin typeface="Helvetica" charset="0"/>
              <a:cs typeface="Helvetica" charset="0"/>
              <a:sym typeface="Helvetica" charset="0"/>
            </a:endParaRPr>
          </a:p>
          <a:p>
            <a:pPr algn="ctr"/>
            <a:r>
              <a:rPr lang="en-US" sz="1000" i="1" dirty="0" smtClean="0">
                <a:solidFill>
                  <a:srgbClr val="4D4D4D"/>
                </a:solidFill>
                <a:latin typeface="Helvetica" charset="0"/>
                <a:cs typeface="Helvetica" charset="0"/>
                <a:sym typeface="Helvetica" charset="0"/>
              </a:rPr>
              <a:t>- Microsoft</a:t>
            </a:r>
          </a:p>
          <a:p>
            <a:pPr algn="ctr"/>
            <a:endParaRPr lang="en-US" sz="400" i="1" dirty="0" smtClean="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Keith Pleas</a:t>
            </a:r>
          </a:p>
          <a:p>
            <a:pPr algn="ctr"/>
            <a:r>
              <a:rPr lang="en-US" sz="1000" i="1" dirty="0">
                <a:solidFill>
                  <a:srgbClr val="4D4D4D"/>
                </a:solidFill>
                <a:latin typeface="Helvetica" charset="0"/>
                <a:cs typeface="Helvetica" charset="0"/>
              </a:rPr>
              <a:t>Organizer &amp; Conference Chair - ALM Summit</a:t>
            </a:r>
            <a:endParaRPr lang="en-US" sz="1000" i="1" dirty="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EDITORIAL REVIEW:</a:t>
            </a:r>
          </a:p>
          <a:p>
            <a:pPr algn="ctr"/>
            <a:r>
              <a:rPr lang="en-US" sz="1100" i="1" dirty="0" smtClean="0">
                <a:solidFill>
                  <a:srgbClr val="4D4D4D"/>
                </a:solidFill>
                <a:latin typeface="Helvetica" charset="0"/>
                <a:cs typeface="Helvetica" charset="0"/>
                <a:sym typeface="Helvetica" charset="0"/>
              </a:rPr>
              <a:t>Anthony Borton</a:t>
            </a:r>
          </a:p>
          <a:p>
            <a:pPr algn="ctr"/>
            <a:r>
              <a:rPr lang="en-US" sz="1000" i="1" dirty="0" smtClean="0">
                <a:solidFill>
                  <a:srgbClr val="4D4D4D"/>
                </a:solidFill>
                <a:latin typeface="Helvetica" charset="0"/>
                <a:cs typeface="Helvetica" charset="0"/>
                <a:sym typeface="Helvetica" charset="0"/>
              </a:rPr>
              <a:t>ALM Ranger</a:t>
            </a:r>
          </a:p>
          <a:p>
            <a:pPr algn="ctr"/>
            <a:r>
              <a:rPr lang="en-US" sz="1000" i="1" dirty="0">
                <a:solidFill>
                  <a:srgbClr val="4D4D4D"/>
                </a:solidFill>
                <a:latin typeface="Helvetica" charset="0"/>
                <a:cs typeface="Helvetica" charset="0"/>
              </a:rPr>
              <a:t>ALM Trainer &amp; Consultant</a:t>
            </a:r>
          </a:p>
          <a:p>
            <a:pPr algn="ctr"/>
            <a:r>
              <a:rPr lang="en-US" sz="1000" i="1" dirty="0">
                <a:solidFill>
                  <a:srgbClr val="4D4D4D"/>
                </a:solidFill>
                <a:latin typeface="Helvetica" charset="0"/>
                <a:cs typeface="Helvetica" charset="0"/>
              </a:rPr>
              <a:t> - Enhance ALM Pty, Ltd.</a:t>
            </a: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Mike Vizdos</a:t>
            </a:r>
          </a:p>
          <a:p>
            <a:pPr algn="ctr"/>
            <a:r>
              <a:rPr lang="en-US" sz="1000" i="1" dirty="0">
                <a:solidFill>
                  <a:srgbClr val="4D4D4D"/>
                </a:solidFill>
                <a:latin typeface="Helvetica" charset="0"/>
                <a:cs typeface="Helvetica" charset="0"/>
              </a:rPr>
              <a:t>Agile </a:t>
            </a:r>
            <a:r>
              <a:rPr lang="en-US" sz="1000" i="1" dirty="0" smtClean="0">
                <a:solidFill>
                  <a:srgbClr val="4D4D4D"/>
                </a:solidFill>
                <a:latin typeface="Helvetica" charset="0"/>
                <a:cs typeface="Helvetica" charset="0"/>
              </a:rPr>
              <a:t>Coach</a:t>
            </a:r>
          </a:p>
          <a:p>
            <a:pPr algn="ctr"/>
            <a:r>
              <a:rPr lang="en-US" sz="1000" i="1" dirty="0" smtClean="0">
                <a:solidFill>
                  <a:srgbClr val="4D4D4D"/>
                </a:solidFill>
                <a:latin typeface="Helvetica" charset="0"/>
                <a:cs typeface="Helvetica" charset="0"/>
              </a:rPr>
              <a:t>Certified Scrum Trainer</a:t>
            </a:r>
            <a:endParaRPr lang="en-US" sz="1000" i="1" dirty="0">
              <a:solidFill>
                <a:srgbClr val="4D4D4D"/>
              </a:solidFill>
              <a:latin typeface="Helvetica" charset="0"/>
              <a:cs typeface="Helvetica" charset="0"/>
              <a:sym typeface="Helvetica" charset="0"/>
            </a:endParaRP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Clementino de Mendonca</a:t>
            </a:r>
          </a:p>
          <a:p>
            <a:pPr algn="ctr"/>
            <a:r>
              <a:rPr lang="en-US" sz="1000" i="1" dirty="0" smtClean="0">
                <a:solidFill>
                  <a:srgbClr val="4D4D4D"/>
                </a:solidFill>
                <a:latin typeface="Helvetica" charset="0"/>
                <a:cs typeface="Helvetica" charset="0"/>
                <a:sym typeface="Helvetica" charset="0"/>
              </a:rPr>
              <a:t>National ALM Architect</a:t>
            </a:r>
          </a:p>
          <a:p>
            <a:pPr algn="ctr"/>
            <a:r>
              <a:rPr lang="en-US" sz="1000" i="1" dirty="0" smtClean="0">
                <a:solidFill>
                  <a:srgbClr val="4D4D4D"/>
                </a:solidFill>
                <a:latin typeface="Helvetica" charset="0"/>
                <a:cs typeface="Helvetica" charset="0"/>
                <a:sym typeface="Helvetica" charset="0"/>
              </a:rPr>
              <a:t>- Neudesic</a:t>
            </a: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Subscriptions:</a:t>
            </a:r>
          </a:p>
          <a:p>
            <a:pPr algn="ctr"/>
            <a:r>
              <a:rPr lang="en-US" sz="1100" i="1" dirty="0" smtClean="0">
                <a:solidFill>
                  <a:srgbClr val="4D4D4D"/>
                </a:solidFill>
                <a:latin typeface="Helvetica" charset="0"/>
                <a:cs typeface="Helvetica" charset="0"/>
                <a:sym typeface="Helvetica" charset="0"/>
              </a:rPr>
              <a:t>almmag.com/subscribe</a:t>
            </a:r>
          </a:p>
          <a:p>
            <a:pPr algn="ctr"/>
            <a:endParaRPr lang="en-US" sz="4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Email Address Changes:</a:t>
            </a:r>
          </a:p>
          <a:p>
            <a:pPr algn="ctr"/>
            <a:r>
              <a:rPr lang="en-US" sz="1100" i="1" dirty="0" smtClean="0">
                <a:solidFill>
                  <a:srgbClr val="4D4D4D"/>
                </a:solidFill>
                <a:latin typeface="Helvetica" charset="0"/>
                <a:cs typeface="Helvetica" charset="0"/>
                <a:sym typeface="Helvetica" charset="0"/>
                <a:hlinkClick r:id="rId5"/>
              </a:rPr>
              <a:t>support@almmag.com</a:t>
            </a: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Mission Statement:</a:t>
            </a:r>
          </a:p>
          <a:p>
            <a:pPr algn="ctr"/>
            <a:r>
              <a:rPr lang="en-US" sz="1100" i="1" dirty="0" smtClean="0">
                <a:solidFill>
                  <a:srgbClr val="4D4D4D"/>
                </a:solidFill>
                <a:latin typeface="Helvetica" charset="0"/>
                <a:cs typeface="Helvetica" charset="0"/>
                <a:sym typeface="Helvetica" charset="0"/>
              </a:rPr>
              <a:t>“Our mission is to promote,  support and empower rapid delivery of quality software.” </a:t>
            </a:r>
            <a:endParaRPr lang="en-US" sz="1100" i="1" dirty="0">
              <a:solidFill>
                <a:srgbClr val="4D4D4D"/>
              </a:solidFill>
              <a:latin typeface="Helvetica" charset="0"/>
              <a:cs typeface="Helvetica" charset="0"/>
              <a:sym typeface="Helvetica" charset="0"/>
            </a:endParaRPr>
          </a:p>
        </p:txBody>
      </p:sp>
      <p:sp>
        <p:nvSpPr>
          <p:cNvPr id="2" name="Rounded Rectangle 1"/>
          <p:cNvSpPr/>
          <p:nvPr/>
        </p:nvSpPr>
        <p:spPr>
          <a:xfrm>
            <a:off x="271462" y="1619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Editor’s Note </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4</a:t>
            </a:fld>
            <a:endParaRPr lang="en-PH" dirty="0"/>
          </a:p>
        </p:txBody>
      </p:sp>
      <p:sp>
        <p:nvSpPr>
          <p:cNvPr id="16" name="Rounded Rectangle 15">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8020267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14375"/>
            <a:ext cx="29674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Scott Ambler</a:t>
            </a:r>
            <a:endParaRPr lang="en-US" sz="3600" b="1" dirty="0">
              <a:latin typeface="Palatino Linotype" pitchFamily="18" charset="0"/>
            </a:endParaRPr>
          </a:p>
        </p:txBody>
      </p:sp>
      <p:sp>
        <p:nvSpPr>
          <p:cNvPr id="12292" name="Rectangle 2"/>
          <p:cNvSpPr>
            <a:spLocks/>
          </p:cNvSpPr>
          <p:nvPr/>
        </p:nvSpPr>
        <p:spPr bwMode="auto">
          <a:xfrm>
            <a:off x="2173288" y="3133725"/>
            <a:ext cx="495617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i="1" dirty="0"/>
              <a:t>A professional Development Team is supposed to create potentially </a:t>
            </a:r>
            <a:r>
              <a:rPr lang="en-US" sz="1200" i="1" dirty="0" smtClean="0"/>
              <a:t>shippable</a:t>
            </a:r>
            <a:endParaRPr lang="en-US" sz="1200" dirty="0"/>
          </a:p>
        </p:txBody>
      </p:sp>
      <p:sp>
        <p:nvSpPr>
          <p:cNvPr id="12293" name="Rectangle 3"/>
          <p:cNvSpPr>
            <a:spLocks/>
          </p:cNvSpPr>
          <p:nvPr/>
        </p:nvSpPr>
        <p:spPr bwMode="auto">
          <a:xfrm>
            <a:off x="3471862" y="1936750"/>
            <a:ext cx="3657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hile</a:t>
            </a:r>
            <a:endParaRPr lang="en-US" sz="1200" dirty="0"/>
          </a:p>
        </p:txBody>
      </p:sp>
      <p:sp>
        <p:nvSpPr>
          <p:cNvPr id="12294" name="Rectangle 4"/>
          <p:cNvSpPr>
            <a:spLocks/>
          </p:cNvSpPr>
          <p:nvPr/>
        </p:nvSpPr>
        <p:spPr bwMode="auto">
          <a:xfrm>
            <a:off x="2024063" y="1611313"/>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W</a:t>
            </a:r>
          </a:p>
        </p:txBody>
      </p:sp>
      <p:sp>
        <p:nvSpPr>
          <p:cNvPr id="12296" name="Rectangle 5"/>
          <p:cNvSpPr>
            <a:spLocks/>
          </p:cNvSpPr>
          <p:nvPr/>
        </p:nvSpPr>
        <p:spPr bwMode="auto">
          <a:xfrm>
            <a:off x="347663" y="35925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Martin </a:t>
            </a:r>
            <a:r>
              <a:rPr lang="en-US" sz="1100" i="1" dirty="0" smtClean="0">
                <a:solidFill>
                  <a:srgbClr val="4D4D4D"/>
                </a:solidFill>
                <a:latin typeface="Helvetica" charset="0"/>
                <a:cs typeface="Helvetica" charset="0"/>
                <a:sym typeface="Helvetica" charset="0"/>
              </a:rPr>
              <a:t>Hinshelwood</a:t>
            </a:r>
          </a:p>
          <a:p>
            <a:pPr algn="r"/>
            <a:r>
              <a:rPr lang="en-US" sz="1100" i="1" dirty="0">
                <a:solidFill>
                  <a:srgbClr val="4D4D4D"/>
                </a:solidFill>
                <a:latin typeface="Helvetica" charset="0"/>
                <a:cs typeface="Helvetica" charset="0"/>
              </a:rPr>
              <a:t>ALM Consultant</a:t>
            </a:r>
          </a:p>
          <a:p>
            <a:pPr algn="r"/>
            <a:r>
              <a:rPr lang="en-US" sz="1100" i="1" dirty="0">
                <a:latin typeface="Helvetica" pitchFamily="34" charset="0"/>
                <a:cs typeface="Helvetica" pitchFamily="34" charset="0"/>
                <a:hlinkClick r:id="rId2"/>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p:txBody>
      </p:sp>
      <p:pic>
        <p:nvPicPr>
          <p:cNvPr id="12297" name="Picture 9" descr="Martin Hinshelwo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1978025"/>
            <a:ext cx="1427162"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a:t>
            </a:fld>
            <a:endParaRPr lang="en-PH" dirty="0"/>
          </a:p>
        </p:txBody>
      </p:sp>
      <p:sp>
        <p:nvSpPr>
          <p:cNvPr id="15" name="Rounded Rectangle 14">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6" name="Rounded Rectangle 15"/>
          <p:cNvSpPr/>
          <p:nvPr/>
        </p:nvSpPr>
        <p:spPr>
          <a:xfrm>
            <a:off x="5300663" y="2023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14569862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1990725"/>
            <a:ext cx="1441452" cy="167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810996"/>
            <a:ext cx="7098335"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a:latin typeface="Palatino Linotype" pitchFamily="18" charset="0"/>
              </a:rPr>
              <a:t>The Principles of Agile Architecture</a:t>
            </a:r>
            <a:endParaRPr lang="en-US" sz="3200" dirty="0">
              <a:latin typeface="Palatino Linotype" pitchFamily="18" charset="0"/>
            </a:endParaRPr>
          </a:p>
        </p:txBody>
      </p:sp>
      <p:sp>
        <p:nvSpPr>
          <p:cNvPr id="12292" name="Rectangle 2"/>
          <p:cNvSpPr>
            <a:spLocks/>
          </p:cNvSpPr>
          <p:nvPr/>
        </p:nvSpPr>
        <p:spPr bwMode="auto">
          <a:xfrm>
            <a:off x="2176462" y="2676525"/>
            <a:ext cx="4956175"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a:t>Abstract</a:t>
            </a:r>
            <a:endParaRPr lang="en-US" sz="1400" dirty="0">
              <a:latin typeface="Arial" pitchFamily="34" charset="0"/>
              <a:cs typeface="Arial" pitchFamily="34" charset="0"/>
            </a:endParaRPr>
          </a:p>
          <a:p>
            <a:pPr algn="just"/>
            <a:r>
              <a:rPr lang="en-US" sz="1200" dirty="0"/>
              <a:t>Large enterprises undertake large software initiatives to be able to compete in the market. Indeed, they become increasingly dependent on software for their very business success. However the increasing complexity of the solutions they build, and their constant aging in the face of rapid technologic and business change, make the systems, and the enterprise that are beholding to them, less responsive over time. The systems become brittle, hard to maintain, and hard to evolve to meet the changing needs of the enterprise and the external marketplace. This jeopardizes future success, as the software legacy systems can no longer be quickly evolved to innovate—nor even minimally meet—the needs of the next generation of business opportunities</a:t>
            </a:r>
            <a:r>
              <a:rPr lang="en-US" sz="1200" dirty="0" smtClean="0"/>
              <a:t>.</a:t>
            </a:r>
          </a:p>
          <a:p>
            <a:pPr algn="just"/>
            <a:endParaRPr lang="en-US" sz="1200" dirty="0"/>
          </a:p>
          <a:p>
            <a:pPr algn="just"/>
            <a:r>
              <a:rPr lang="en-US" sz="1200" dirty="0"/>
              <a:t>The Scaled Agile Framework is designed to help enterprises address the current and future software solution challenges by providing a set of proven patterns enterprises can use to build new software assets and more rapidly evolve current systems. Core to </a:t>
            </a:r>
            <a:r>
              <a:rPr lang="en-US" sz="1200" dirty="0" err="1"/>
              <a:t>SAFe</a:t>
            </a:r>
            <a:r>
              <a:rPr lang="en-US" sz="1200" dirty="0"/>
              <a:t> is an understanding and emphasis on the critical importance that </a:t>
            </a:r>
            <a:r>
              <a:rPr lang="en-US" sz="1200" i="1" dirty="0"/>
              <a:t>software architecture</a:t>
            </a:r>
            <a:r>
              <a:rPr lang="en-US" sz="1200" dirty="0"/>
              <a:t> plays in helping to assure business success. In this article we reprise and revise a set of </a:t>
            </a:r>
            <a:r>
              <a:rPr lang="en-US" sz="1200" i="1" dirty="0"/>
              <a:t>seven principles of agile architecture</a:t>
            </a:r>
            <a:r>
              <a:rPr lang="en-US" sz="1200" dirty="0"/>
              <a:t> designed to help the enterprise reason about software design and software architecture, and balance the role that these two different elements play in building and revising enterprise class software systems</a:t>
            </a:r>
            <a:r>
              <a:rPr lang="en-US" sz="1200" dirty="0" smtClean="0"/>
              <a:t>.</a:t>
            </a:r>
          </a:p>
          <a:p>
            <a:pPr algn="just"/>
            <a:endParaRPr lang="en-US" sz="12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243262" y="1949450"/>
            <a:ext cx="3886202" cy="72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You’ve </a:t>
            </a:r>
            <a:r>
              <a:rPr lang="en-US" sz="1400" dirty="0"/>
              <a:t>got to think about big things while you’re doing small things, so that all the small things go in the right direction</a:t>
            </a:r>
            <a:r>
              <a:rPr lang="en-US" sz="1400" i="1" dirty="0" smtClean="0"/>
              <a:t>.” – Alvin Toffler</a:t>
            </a:r>
          </a:p>
        </p:txBody>
      </p:sp>
      <p:sp>
        <p:nvSpPr>
          <p:cNvPr id="12294" name="Rectangle 4"/>
          <p:cNvSpPr>
            <a:spLocks/>
          </p:cNvSpPr>
          <p:nvPr/>
        </p:nvSpPr>
        <p:spPr bwMode="auto">
          <a:xfrm>
            <a:off x="2024064" y="1623633"/>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857625"/>
            <a:ext cx="16033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b="1" i="1" dirty="0"/>
              <a:t>Alex Yakyma </a:t>
            </a:r>
            <a:r>
              <a:rPr lang="en-US" sz="1100" b="1" i="1" dirty="0" smtClean="0"/>
              <a:t>and </a:t>
            </a:r>
          </a:p>
          <a:p>
            <a:pPr algn="r"/>
            <a:r>
              <a:rPr lang="en-US" sz="1100" b="1" i="1" dirty="0" smtClean="0"/>
              <a:t>Dean Leffingwell</a:t>
            </a:r>
          </a:p>
          <a:p>
            <a:pPr algn="r"/>
            <a:r>
              <a:rPr lang="en-US" sz="1100" i="1" dirty="0">
                <a:latin typeface="Helvetica" pitchFamily="34" charset="0"/>
                <a:cs typeface="Helvetica" pitchFamily="34" charset="0"/>
                <a:hlinkClick r:id="rId3"/>
              </a:rPr>
              <a:t>Scaled Agile Framework</a:t>
            </a:r>
            <a:endParaRPr lang="en-US" sz="1100" i="1" dirty="0">
              <a:latin typeface="Helvetica" pitchFamily="34" charset="0"/>
              <a:cs typeface="Helvetica" pitchFamily="34" charset="0"/>
            </a:endParaRPr>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smtClean="0"/>
          </a:p>
          <a:p>
            <a:pPr algn="r"/>
            <a:endParaRPr lang="en-US" sz="1100" i="1" dirty="0" smtClean="0"/>
          </a:p>
          <a:p>
            <a:pPr algn="r"/>
            <a:endParaRPr lang="en-US" sz="1100" i="1" dirty="0" smtClean="0"/>
          </a:p>
          <a:p>
            <a:pPr algn="r"/>
            <a:endParaRPr lang="en-US" sz="1100" i="1" dirty="0" smtClean="0"/>
          </a:p>
          <a:p>
            <a:pPr algn="r"/>
            <a:r>
              <a:rPr lang="en-US" sz="1100" i="1" dirty="0" smtClean="0"/>
              <a:t>with </a:t>
            </a:r>
            <a:r>
              <a:rPr lang="en-US" sz="1100" i="1" dirty="0"/>
              <a:t>contributions from Ryan Martens and Mauricio </a:t>
            </a:r>
            <a:r>
              <a:rPr lang="en-US" sz="1100" i="1" dirty="0" smtClean="0"/>
              <a:t>Zamora</a:t>
            </a: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6</a:t>
            </a:fld>
            <a:endParaRPr lang="en-PH"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88" y="4568588"/>
            <a:ext cx="1441451" cy="161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ectangle 2"/>
          <p:cNvSpPr>
            <a:spLocks/>
          </p:cNvSpPr>
          <p:nvPr/>
        </p:nvSpPr>
        <p:spPr bwMode="auto">
          <a:xfrm>
            <a:off x="508170" y="7934325"/>
            <a:ext cx="6545092" cy="1524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5"/>
              </a:rPr>
              <a:t>Alex Yakyma</a:t>
            </a:r>
            <a:r>
              <a:rPr lang="en-US" sz="1000" i="1" dirty="0"/>
              <a:t> is an Associate Scaled Agile Framework methodologist and agile consultant, trainer and who has been applying and advancing agile practices for over a decade. Alex fluent in English, Russian, Java, C++, TDD and ATDD, works in developing and applying the framework for multinational clients in the US, Europe and Asia.</a:t>
            </a:r>
          </a:p>
          <a:p>
            <a:pPr algn="just"/>
            <a:endParaRPr lang="en-US" sz="1000" i="1" u="sng" dirty="0">
              <a:hlinkClick r:id="rId6"/>
            </a:endParaRPr>
          </a:p>
          <a:p>
            <a:pPr algn="just"/>
            <a:r>
              <a:rPr lang="en-US" sz="1000" i="1" u="sng" dirty="0" smtClean="0">
                <a:hlinkClick r:id="rId6"/>
              </a:rPr>
              <a:t>Dean </a:t>
            </a:r>
            <a:r>
              <a:rPr lang="en-US" sz="1000" i="1" u="sng" dirty="0">
                <a:hlinkClick r:id="rId6"/>
              </a:rPr>
              <a:t>Leffingwell</a:t>
            </a:r>
            <a:r>
              <a:rPr lang="en-US" sz="1000" i="1" dirty="0"/>
              <a:t>, software industry veteran and Lean Systems Society Fellow, is a renowned methodologist, author, coach, entrepreneur and executive, having founded numerous high tech companies. He most recent books are </a:t>
            </a:r>
            <a:r>
              <a:rPr lang="en-US" sz="1000" i="1" u="sng" dirty="0">
                <a:hlinkClick r:id="rId7"/>
              </a:rPr>
              <a:t>Agile Software Requirements</a:t>
            </a:r>
            <a:r>
              <a:rPr lang="en-US" sz="1000" i="1" dirty="0"/>
              <a:t> and </a:t>
            </a:r>
            <a:r>
              <a:rPr lang="en-US" sz="1000" i="1" u="sng" dirty="0">
                <a:hlinkClick r:id="rId8"/>
              </a:rPr>
              <a:t>Scaling Software Agility</a:t>
            </a:r>
            <a:r>
              <a:rPr lang="en-US" sz="1000" i="1" dirty="0"/>
              <a:t>. His current project is the </a:t>
            </a:r>
            <a:r>
              <a:rPr lang="en-US" sz="1000" i="1" u="sng" dirty="0">
                <a:hlinkClick r:id="rId3"/>
              </a:rPr>
              <a:t>ScaledAgileFramework.com</a:t>
            </a:r>
            <a:r>
              <a:rPr lang="en-US" sz="1000" i="1" dirty="0"/>
              <a:t>, which describes a comprehensive system for scaling Lean and Agile practices to the largest software enterprises.</a:t>
            </a:r>
          </a:p>
          <a:p>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1479436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7</a:t>
            </a:fld>
            <a:endParaRPr lang="en-PH" dirty="0"/>
          </a:p>
        </p:txBody>
      </p:sp>
      <p:sp>
        <p:nvSpPr>
          <p:cNvPr id="5" name="TextBox 3"/>
          <p:cNvSpPr txBox="1">
            <a:spLocks noChangeArrowheads="1"/>
          </p:cNvSpPr>
          <p:nvPr/>
        </p:nvSpPr>
        <p:spPr bwMode="auto">
          <a:xfrm>
            <a:off x="166689" y="810994"/>
            <a:ext cx="7115173" cy="64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r>
              <a:rPr lang="en-US" sz="3600" b="1" dirty="0" smtClean="0">
                <a:latin typeface="Palatino Linotype" pitchFamily="18" charset="0"/>
              </a:rPr>
              <a:t>Visual Studio 2013 Has Arrived</a:t>
            </a:r>
            <a:endParaRPr lang="en-US" sz="3600" b="1" dirty="0">
              <a:latin typeface="Palatino Linotype" pitchFamily="18" charset="0"/>
            </a:endParaRPr>
          </a:p>
        </p:txBody>
      </p:sp>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92088"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Announcement</a:t>
            </a:r>
            <a:endParaRPr lang="en-US" dirty="0"/>
          </a:p>
        </p:txBody>
      </p:sp>
      <p:sp>
        <p:nvSpPr>
          <p:cNvPr id="8" name="Rounded Rectangle 7">
            <a:hlinkClick r:id="rId2"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0" name="Rectangle 2"/>
          <p:cNvSpPr>
            <a:spLocks/>
          </p:cNvSpPr>
          <p:nvPr/>
        </p:nvSpPr>
        <p:spPr bwMode="auto">
          <a:xfrm>
            <a:off x="576262" y="2828925"/>
            <a:ext cx="6400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On June 26</a:t>
            </a:r>
            <a:r>
              <a:rPr lang="en-US" sz="1200" baseline="30000" dirty="0" smtClean="0"/>
              <a:t>th</a:t>
            </a:r>
            <a:r>
              <a:rPr lang="en-US" sz="1200" dirty="0" smtClean="0"/>
              <a:t> Steve Ballmer </a:t>
            </a:r>
            <a:r>
              <a:rPr lang="en-US" sz="1200" dirty="0"/>
              <a:t>announced the Visual Studio 2013 Go-Live preview at the Build </a:t>
            </a:r>
            <a:r>
              <a:rPr lang="en-US" sz="1200" dirty="0" smtClean="0"/>
              <a:t>summit. On top of the already feature rich quarterly releases this named version provides great new features and functionality we can all put to good use.</a:t>
            </a:r>
          </a:p>
          <a:p>
            <a:pPr algn="just"/>
            <a:endParaRPr lang="en-US" sz="1200" dirty="0" smtClean="0"/>
          </a:p>
          <a:p>
            <a:pPr algn="just"/>
            <a:r>
              <a:rPr lang="en-US" sz="1400" b="1" dirty="0"/>
              <a:t>Agile Portfolio Management</a:t>
            </a:r>
          </a:p>
          <a:p>
            <a:pPr algn="just"/>
            <a:r>
              <a:rPr lang="en-US" sz="1200" dirty="0" smtClean="0"/>
              <a:t>A major focus with this release that provides all levels of the Enterprise visibility into their view of the project with Backlogs that now start at the highest business initiative level and provide both upward and downward “view mobility“ through a reported 7 levels of hierarchy. This is part of a continuous effort to </a:t>
            </a:r>
            <a:r>
              <a:rPr lang="en-US" sz="1200" dirty="0"/>
              <a:t>build out </a:t>
            </a:r>
            <a:r>
              <a:rPr lang="en-US" sz="1200" dirty="0" smtClean="0"/>
              <a:t>enterprise </a:t>
            </a:r>
            <a:r>
              <a:rPr lang="en-US" sz="1200" dirty="0"/>
              <a:t>agile </a:t>
            </a:r>
            <a:r>
              <a:rPr lang="en-US" sz="1200" dirty="0" smtClean="0"/>
              <a:t>capabilities.</a:t>
            </a:r>
          </a:p>
          <a:p>
            <a:pPr algn="just"/>
            <a:endParaRPr lang="en-US" sz="1200" dirty="0" smtClean="0"/>
          </a:p>
          <a:p>
            <a:pPr algn="just"/>
            <a:r>
              <a:rPr lang="en-US" sz="1400" b="1" dirty="0"/>
              <a:t>Version Control</a:t>
            </a:r>
          </a:p>
          <a:p>
            <a:pPr algn="just"/>
            <a:r>
              <a:rPr lang="en-US" sz="1200" dirty="0"/>
              <a:t>There are </a:t>
            </a:r>
            <a:r>
              <a:rPr lang="en-US" sz="1200" dirty="0" smtClean="0"/>
              <a:t>too </a:t>
            </a:r>
            <a:r>
              <a:rPr lang="en-US" sz="1200" dirty="0"/>
              <a:t>many changes </a:t>
            </a:r>
            <a:r>
              <a:rPr lang="en-US" sz="1200" dirty="0" smtClean="0"/>
              <a:t>to cover in this space so we’ll focus on a </a:t>
            </a:r>
            <a:r>
              <a:rPr lang="en-US" sz="1200" dirty="0"/>
              <a:t>few of the top things</a:t>
            </a:r>
            <a:r>
              <a:rPr lang="en-US" sz="1200" dirty="0" smtClean="0"/>
              <a:t>.</a:t>
            </a:r>
          </a:p>
          <a:p>
            <a:pPr algn="just"/>
            <a:endParaRPr lang="en-US" sz="1200" dirty="0"/>
          </a:p>
          <a:p>
            <a:pPr algn="just"/>
            <a:r>
              <a:rPr lang="en-US" sz="1200" dirty="0" smtClean="0"/>
              <a:t>There is a new </a:t>
            </a:r>
            <a:r>
              <a:rPr lang="en-US" sz="1200" dirty="0"/>
              <a:t>visually appealing </a:t>
            </a:r>
            <a:r>
              <a:rPr lang="en-US" sz="1200" dirty="0" smtClean="0"/>
              <a:t>Team </a:t>
            </a:r>
            <a:r>
              <a:rPr lang="en-US" sz="1200" dirty="0"/>
              <a:t>Explorer home </a:t>
            </a:r>
            <a:r>
              <a:rPr lang="en-US" sz="1200" dirty="0" smtClean="0"/>
              <a:t>page that provides easy navigation to your </a:t>
            </a:r>
            <a:r>
              <a:rPr lang="en-US" sz="1200" dirty="0"/>
              <a:t>web based task </a:t>
            </a:r>
            <a:r>
              <a:rPr lang="en-US" sz="1200" dirty="0" smtClean="0"/>
              <a:t>board and the </a:t>
            </a:r>
            <a:r>
              <a:rPr lang="en-US" sz="1200" dirty="0"/>
              <a:t>list of solutions in your workspace</a:t>
            </a:r>
            <a:r>
              <a:rPr lang="en-US" sz="1200" dirty="0" smtClean="0"/>
              <a:t>.</a:t>
            </a:r>
          </a:p>
          <a:p>
            <a:pPr algn="just"/>
            <a:endParaRPr lang="en-US" sz="1200" dirty="0" smtClean="0"/>
          </a:p>
          <a:p>
            <a:pPr algn="just"/>
            <a:r>
              <a:rPr lang="en-US" sz="1200" dirty="0" smtClean="0"/>
              <a:t>To those who yearned for the pre-VS11 style Pending Changes window, Microsoft listened and introduced </a:t>
            </a:r>
            <a:r>
              <a:rPr lang="en-US" sz="1200" dirty="0"/>
              <a:t>“Pop-out Team Explorer pages</a:t>
            </a:r>
            <a:r>
              <a:rPr lang="en-US" sz="1200" dirty="0" smtClean="0"/>
              <a:t>” that with a simple click allow you to pop-out </a:t>
            </a:r>
            <a:r>
              <a:rPr lang="en-US" sz="1200" dirty="0"/>
              <a:t>the </a:t>
            </a:r>
            <a:r>
              <a:rPr lang="en-US" sz="1200" dirty="0" smtClean="0"/>
              <a:t>page and </a:t>
            </a:r>
            <a:r>
              <a:rPr lang="en-US" sz="1200" dirty="0"/>
              <a:t>dock the pending changes window anywhere you </a:t>
            </a:r>
            <a:r>
              <a:rPr lang="en-US" sz="1200" dirty="0" smtClean="0"/>
              <a:t>want. You </a:t>
            </a:r>
            <a:r>
              <a:rPr lang="en-US" sz="1200" dirty="0"/>
              <a:t>can </a:t>
            </a:r>
            <a:r>
              <a:rPr lang="en-US" sz="1200" dirty="0" smtClean="0"/>
              <a:t>also “pop </a:t>
            </a:r>
            <a:r>
              <a:rPr lang="en-US" sz="1200" dirty="0"/>
              <a:t>out” other pages too (like the build pages</a:t>
            </a:r>
            <a:r>
              <a:rPr lang="en-US" sz="1200" dirty="0" smtClean="0"/>
              <a:t>) with more planned to be added by RTM.</a:t>
            </a:r>
          </a:p>
          <a:p>
            <a:pPr algn="just"/>
            <a:endParaRPr lang="en-US" sz="1200" dirty="0"/>
          </a:p>
          <a:p>
            <a:pPr algn="just"/>
            <a:r>
              <a:rPr lang="en-US" sz="1200" dirty="0" smtClean="0"/>
              <a:t>The </a:t>
            </a:r>
            <a:r>
              <a:rPr lang="en-US" sz="1200" dirty="0" err="1" smtClean="0"/>
              <a:t>Git</a:t>
            </a:r>
            <a:r>
              <a:rPr lang="en-US" sz="1200" dirty="0" smtClean="0"/>
              <a:t> innovations you seen recently on </a:t>
            </a:r>
            <a:r>
              <a:rPr lang="en-US" sz="1200" dirty="0"/>
              <a:t>Team Foundation Service have been added </a:t>
            </a:r>
            <a:r>
              <a:rPr lang="en-US" sz="1200" dirty="0" smtClean="0"/>
              <a:t>and will </a:t>
            </a:r>
            <a:r>
              <a:rPr lang="en-US" sz="1200" dirty="0"/>
              <a:t>ship in </a:t>
            </a:r>
            <a:r>
              <a:rPr lang="en-US" sz="1200" dirty="0" smtClean="0"/>
              <a:t>the on </a:t>
            </a:r>
            <a:r>
              <a:rPr lang="en-US" sz="1200" dirty="0"/>
              <a:t>premises TFS in TFS </a:t>
            </a:r>
            <a:r>
              <a:rPr lang="en-US" sz="1200" dirty="0" smtClean="0"/>
              <a:t>2013.</a:t>
            </a:r>
          </a:p>
          <a:p>
            <a:pPr algn="just"/>
            <a:endParaRPr lang="en-US" sz="1200" dirty="0" smtClean="0"/>
          </a:p>
          <a:p>
            <a:pPr algn="just"/>
            <a:r>
              <a:rPr lang="en-US" sz="1400" b="1" dirty="0"/>
              <a:t>Coding</a:t>
            </a:r>
          </a:p>
          <a:p>
            <a:pPr algn="just"/>
            <a:r>
              <a:rPr lang="en-US" sz="1200" dirty="0" smtClean="0"/>
              <a:t>Coding joins Top Gun with </a:t>
            </a:r>
            <a:r>
              <a:rPr lang="en-US" sz="1200" dirty="0"/>
              <a:t>a new “heads up display” feature in Visual Studio that provides </a:t>
            </a:r>
            <a:r>
              <a:rPr lang="en-US" sz="1200" dirty="0" smtClean="0"/>
              <a:t>key </a:t>
            </a:r>
            <a:r>
              <a:rPr lang="en-US" sz="1200" dirty="0"/>
              <a:t>insights into your code as you are working. </a:t>
            </a:r>
            <a:r>
              <a:rPr lang="en-US" sz="1200" dirty="0" smtClean="0"/>
              <a:t>These “indicators</a:t>
            </a:r>
            <a:r>
              <a:rPr lang="en-US" sz="1200" dirty="0"/>
              <a:t>” </a:t>
            </a:r>
            <a:r>
              <a:rPr lang="en-US" sz="1200" dirty="0" smtClean="0"/>
              <a:t>help </a:t>
            </a:r>
            <a:r>
              <a:rPr lang="en-US" sz="1200" dirty="0"/>
              <a:t>you to learn more about your code </a:t>
            </a:r>
            <a:r>
              <a:rPr lang="en-US" sz="1200" dirty="0" smtClean="0"/>
              <a:t>and are but the first of many planned.</a:t>
            </a:r>
          </a:p>
          <a:p>
            <a:pPr algn="just"/>
            <a:endParaRPr lang="en-US" sz="1200" dirty="0"/>
          </a:p>
          <a:p>
            <a:pPr algn="just"/>
            <a:r>
              <a:rPr lang="en-US" sz="1200" dirty="0"/>
              <a:t>M</a:t>
            </a:r>
            <a:r>
              <a:rPr lang="en-US" sz="1200" dirty="0" smtClean="0"/>
              <a:t>emory </a:t>
            </a:r>
            <a:r>
              <a:rPr lang="en-US" sz="1200" dirty="0"/>
              <a:t>diagnostics </a:t>
            </a:r>
            <a:r>
              <a:rPr lang="en-US" sz="1200" dirty="0" smtClean="0"/>
              <a:t>and </a:t>
            </a:r>
            <a:r>
              <a:rPr lang="en-US" sz="1200" dirty="0"/>
              <a:t>memory “</a:t>
            </a:r>
            <a:r>
              <a:rPr lang="en-US" sz="1200" dirty="0" smtClean="0"/>
              <a:t>snapshots” enable you </a:t>
            </a:r>
            <a:r>
              <a:rPr lang="en-US" sz="1200" dirty="0"/>
              <a:t>to find memory leaks in production</a:t>
            </a:r>
            <a:r>
              <a:rPr lang="en-US" sz="1200" dirty="0" smtClean="0"/>
              <a:t>. Two </a:t>
            </a:r>
            <a:r>
              <a:rPr lang="en-US" sz="1200" dirty="0"/>
              <a:t>snapshots </a:t>
            </a:r>
            <a:r>
              <a:rPr lang="en-US" sz="1200" dirty="0" smtClean="0"/>
              <a:t>can be taken and compared </a:t>
            </a:r>
            <a:r>
              <a:rPr lang="en-US" sz="1200" dirty="0"/>
              <a:t>to see what objects changed.</a:t>
            </a:r>
            <a:endParaRPr lang="en-US" sz="1200" dirty="0" smtClean="0"/>
          </a:p>
        </p:txBody>
      </p:sp>
      <p:pic>
        <p:nvPicPr>
          <p:cNvPr id="3074" name="Picture 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62" y="1567142"/>
            <a:ext cx="6353173" cy="956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725318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8</a:t>
            </a:fld>
            <a:endParaRPr lang="en-PH" dirty="0"/>
          </a:p>
        </p:txBody>
      </p:sp>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ounded Rectangle 7">
            <a:hlinkClick r:id="rId2"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0" name="Rectangle 2"/>
          <p:cNvSpPr>
            <a:spLocks/>
          </p:cNvSpPr>
          <p:nvPr/>
        </p:nvSpPr>
        <p:spPr bwMode="auto">
          <a:xfrm>
            <a:off x="576262" y="847725"/>
            <a:ext cx="6400800" cy="754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smtClean="0"/>
              <a:t>Testing</a:t>
            </a:r>
            <a:endParaRPr lang="en-US" sz="1400" b="1" dirty="0"/>
          </a:p>
          <a:p>
            <a:pPr algn="just"/>
            <a:r>
              <a:rPr lang="en-US" sz="1200" dirty="0"/>
              <a:t>Visual Studio Testing </a:t>
            </a:r>
            <a:r>
              <a:rPr lang="en-US" sz="1200" dirty="0" smtClean="0"/>
              <a:t>capabilities continue to evolve and in VS/TFS </a:t>
            </a:r>
            <a:r>
              <a:rPr lang="en-US" sz="1200" dirty="0"/>
              <a:t>2013 </a:t>
            </a:r>
            <a:r>
              <a:rPr lang="en-US" sz="1200" dirty="0" smtClean="0"/>
              <a:t>are raised to a new level </a:t>
            </a:r>
            <a:r>
              <a:rPr lang="en-US" sz="1200" dirty="0"/>
              <a:t>with </a:t>
            </a:r>
            <a:r>
              <a:rPr lang="en-US" sz="1200" dirty="0" smtClean="0"/>
              <a:t>more new capabilities. Test </a:t>
            </a:r>
            <a:r>
              <a:rPr lang="en-US" sz="1200" dirty="0"/>
              <a:t>case management </a:t>
            </a:r>
            <a:r>
              <a:rPr lang="en-US" sz="1200" dirty="0" smtClean="0"/>
              <a:t>now allows </a:t>
            </a:r>
            <a:r>
              <a:rPr lang="en-US" sz="1200" dirty="0"/>
              <a:t>you to more fully manage your test </a:t>
            </a:r>
            <a:r>
              <a:rPr lang="en-US" sz="1200" dirty="0" smtClean="0"/>
              <a:t>plans. </a:t>
            </a:r>
            <a:r>
              <a:rPr lang="en-US" sz="1200" dirty="0"/>
              <a:t>You can now </a:t>
            </a:r>
            <a:r>
              <a:rPr lang="en-US" sz="1200" dirty="0" smtClean="0"/>
              <a:t>create/modify test plans, </a:t>
            </a:r>
            <a:r>
              <a:rPr lang="en-US" sz="1200" dirty="0"/>
              <a:t>suites and shared steps on the </a:t>
            </a:r>
            <a:r>
              <a:rPr lang="en-US" sz="1200" dirty="0" smtClean="0"/>
              <a:t>web </a:t>
            </a:r>
            <a:r>
              <a:rPr lang="en-US" sz="1200" dirty="0"/>
              <a:t>without having to switch to the Test Professional </a:t>
            </a:r>
            <a:r>
              <a:rPr lang="en-US" sz="1200" dirty="0" smtClean="0"/>
              <a:t>client.</a:t>
            </a:r>
          </a:p>
          <a:p>
            <a:pPr algn="just"/>
            <a:endParaRPr lang="en-US" sz="1200" dirty="0"/>
          </a:p>
          <a:p>
            <a:pPr algn="just"/>
            <a:r>
              <a:rPr lang="en-US" sz="1200" dirty="0"/>
              <a:t>With Cloud load testing you can now load test your apps without configuring any infrastructure. </a:t>
            </a:r>
            <a:r>
              <a:rPr lang="en-US" sz="1200" dirty="0" smtClean="0"/>
              <a:t>Use </a:t>
            </a:r>
            <a:r>
              <a:rPr lang="en-US" sz="1200" dirty="0"/>
              <a:t>Visual Studio Ultimate Edition to create a load test and point it at Team Foundation Service and say Go</a:t>
            </a:r>
            <a:r>
              <a:rPr lang="en-US" sz="1200" dirty="0" smtClean="0"/>
              <a:t>! The </a:t>
            </a:r>
            <a:r>
              <a:rPr lang="en-US" sz="1200" dirty="0"/>
              <a:t>number and size of runs </a:t>
            </a:r>
            <a:r>
              <a:rPr lang="en-US" sz="1200" dirty="0" smtClean="0"/>
              <a:t>available is limited until the service releases.</a:t>
            </a:r>
          </a:p>
          <a:p>
            <a:pPr algn="just"/>
            <a:endParaRPr lang="en-US" sz="1200" b="1" dirty="0"/>
          </a:p>
          <a:p>
            <a:pPr algn="just"/>
            <a:r>
              <a:rPr lang="en-US" sz="1400" b="1" dirty="0"/>
              <a:t>Release Management</a:t>
            </a:r>
          </a:p>
          <a:p>
            <a:pPr algn="just"/>
            <a:r>
              <a:rPr lang="en-US" sz="1200" dirty="0" smtClean="0"/>
              <a:t>Microsoft’s acquisition of  </a:t>
            </a:r>
            <a:r>
              <a:rPr lang="en-US" sz="1200" dirty="0" err="1" smtClean="0"/>
              <a:t>InRelease</a:t>
            </a:r>
            <a:r>
              <a:rPr lang="en-US" sz="1200" dirty="0" smtClean="0"/>
              <a:t>, a </a:t>
            </a:r>
            <a:r>
              <a:rPr lang="en-US" sz="1200" dirty="0"/>
              <a:t>great release management </a:t>
            </a:r>
            <a:r>
              <a:rPr lang="en-US" sz="1200" dirty="0" smtClean="0"/>
              <a:t>solution </a:t>
            </a:r>
            <a:r>
              <a:rPr lang="en-US" sz="1200" dirty="0"/>
              <a:t>that’s been natively built to work well with </a:t>
            </a:r>
            <a:r>
              <a:rPr lang="en-US" sz="1200" dirty="0" smtClean="0"/>
              <a:t>TFS, allows </a:t>
            </a:r>
            <a:r>
              <a:rPr lang="en-US" sz="1200" dirty="0"/>
              <a:t>you to manage all of your in-flight releases</a:t>
            </a:r>
            <a:r>
              <a:rPr lang="en-US" sz="1200" dirty="0" smtClean="0"/>
              <a:t>. </a:t>
            </a:r>
            <a:r>
              <a:rPr lang="en-US" sz="1200" dirty="0"/>
              <a:t>For each application </a:t>
            </a:r>
            <a:r>
              <a:rPr lang="en-US" sz="1200" dirty="0" smtClean="0"/>
              <a:t>and each </a:t>
            </a:r>
            <a:r>
              <a:rPr lang="en-US" sz="1200" dirty="0"/>
              <a:t>release you can define paths </a:t>
            </a:r>
            <a:r>
              <a:rPr lang="en-US" sz="1200" dirty="0" smtClean="0"/>
              <a:t>in </a:t>
            </a:r>
            <a:r>
              <a:rPr lang="en-US" sz="1200" dirty="0"/>
              <a:t>an automated deployment pipeline </a:t>
            </a:r>
            <a:r>
              <a:rPr lang="en-US" sz="1200" dirty="0" smtClean="0"/>
              <a:t>that </a:t>
            </a:r>
            <a:r>
              <a:rPr lang="en-US" sz="1200" dirty="0"/>
              <a:t>have stages, acceptance criteria, approvals </a:t>
            </a:r>
            <a:r>
              <a:rPr lang="en-US" sz="1200" dirty="0" smtClean="0"/>
              <a:t>etc. This functionality will </a:t>
            </a:r>
            <a:r>
              <a:rPr lang="en-US" sz="1200" dirty="0"/>
              <a:t>seamlessly integrate </a:t>
            </a:r>
            <a:r>
              <a:rPr lang="en-US" sz="1200" dirty="0" smtClean="0"/>
              <a:t>with </a:t>
            </a:r>
            <a:r>
              <a:rPr lang="en-US" sz="1200" dirty="0"/>
              <a:t>TFS and VS </a:t>
            </a:r>
            <a:r>
              <a:rPr lang="en-US" sz="1200" dirty="0" smtClean="0"/>
              <a:t>and is planned to evolve even </a:t>
            </a:r>
            <a:r>
              <a:rPr lang="en-US" sz="1200" dirty="0"/>
              <a:t>more o</a:t>
            </a:r>
            <a:r>
              <a:rPr lang="en-US" sz="1200" dirty="0" smtClean="0"/>
              <a:t>ver time.</a:t>
            </a:r>
          </a:p>
          <a:p>
            <a:pPr algn="just"/>
            <a:endParaRPr lang="en-US" sz="1200" dirty="0" smtClean="0"/>
          </a:p>
          <a:p>
            <a:pPr algn="just"/>
            <a:r>
              <a:rPr lang="en-US" sz="1400" b="1" dirty="0"/>
              <a:t>Team Collaboration</a:t>
            </a:r>
          </a:p>
          <a:p>
            <a:pPr algn="just"/>
            <a:r>
              <a:rPr lang="en-US" sz="1200" dirty="0" smtClean="0"/>
              <a:t>The </a:t>
            </a:r>
            <a:r>
              <a:rPr lang="en-US" sz="1200" dirty="0"/>
              <a:t>always “on” </a:t>
            </a:r>
            <a:r>
              <a:rPr lang="en-US" sz="1200" dirty="0" smtClean="0"/>
              <a:t>Team Rooms are durable </a:t>
            </a:r>
            <a:r>
              <a:rPr lang="en-US" sz="1200" dirty="0"/>
              <a:t>collaboration </a:t>
            </a:r>
            <a:r>
              <a:rPr lang="en-US" sz="1200" dirty="0" smtClean="0"/>
              <a:t>spaces </a:t>
            </a:r>
            <a:r>
              <a:rPr lang="en-US" sz="1200" dirty="0"/>
              <a:t>that “permanently” </a:t>
            </a:r>
            <a:r>
              <a:rPr lang="en-US" sz="1200" dirty="0" smtClean="0"/>
              <a:t>record </a:t>
            </a:r>
            <a:r>
              <a:rPr lang="en-US" sz="1200" dirty="0"/>
              <a:t>everything happening in your team. </a:t>
            </a:r>
            <a:r>
              <a:rPr lang="en-US" sz="1200" dirty="0" smtClean="0"/>
              <a:t>Notifications </a:t>
            </a:r>
            <a:r>
              <a:rPr lang="en-US" sz="1200" dirty="0"/>
              <a:t>– </a:t>
            </a:r>
            <a:r>
              <a:rPr lang="en-US" sz="1200" dirty="0" err="1"/>
              <a:t>checkins</a:t>
            </a:r>
            <a:r>
              <a:rPr lang="en-US" sz="1200" dirty="0"/>
              <a:t>, builds, code reviews, </a:t>
            </a:r>
            <a:r>
              <a:rPr lang="en-US" sz="1200" dirty="0" err="1"/>
              <a:t>etc</a:t>
            </a:r>
            <a:r>
              <a:rPr lang="en-US" sz="1200" dirty="0"/>
              <a:t> </a:t>
            </a:r>
            <a:r>
              <a:rPr lang="en-US" sz="1200" dirty="0" smtClean="0"/>
              <a:t>are all configurable and reside in the </a:t>
            </a:r>
            <a:r>
              <a:rPr lang="en-US" sz="1200" dirty="0"/>
              <a:t>Team Room </a:t>
            </a:r>
            <a:r>
              <a:rPr lang="en-US" sz="1200" dirty="0" smtClean="0"/>
              <a:t>as </a:t>
            </a:r>
            <a:r>
              <a:rPr lang="en-US" sz="1200" dirty="0"/>
              <a:t>a living record of the activity in the project. </a:t>
            </a:r>
            <a:r>
              <a:rPr lang="en-US" sz="1200" dirty="0" smtClean="0"/>
              <a:t>A </a:t>
            </a:r>
            <a:r>
              <a:rPr lang="en-US" sz="1200" dirty="0"/>
              <a:t>Team </a:t>
            </a:r>
            <a:r>
              <a:rPr lang="en-US" sz="1200" dirty="0" smtClean="0"/>
              <a:t>Room also serves as a conversation space </a:t>
            </a:r>
            <a:r>
              <a:rPr lang="en-US" sz="1200" dirty="0"/>
              <a:t>with the rest of your </a:t>
            </a:r>
            <a:r>
              <a:rPr lang="en-US" sz="1200" dirty="0" smtClean="0"/>
              <a:t>team.</a:t>
            </a:r>
          </a:p>
          <a:p>
            <a:pPr algn="just"/>
            <a:endParaRPr lang="en-US" sz="1200" b="1" dirty="0"/>
          </a:p>
          <a:p>
            <a:pPr algn="just"/>
            <a:r>
              <a:rPr lang="en-US" sz="1400" b="1" dirty="0"/>
              <a:t>Conclusion</a:t>
            </a:r>
          </a:p>
          <a:p>
            <a:pPr algn="just"/>
            <a:r>
              <a:rPr lang="en-US" sz="1200" dirty="0" smtClean="0"/>
              <a:t>This is but a few of the highlights of the new Visual Studio 2013. There are many more to cover in the issues ahead.</a:t>
            </a:r>
            <a:endParaRPr lang="en-US" sz="1200" dirty="0"/>
          </a:p>
          <a:p>
            <a:pPr algn="just"/>
            <a:endParaRPr lang="en-US" sz="1200" dirty="0" smtClean="0"/>
          </a:p>
          <a:p>
            <a:pPr algn="just"/>
            <a:r>
              <a:rPr lang="en-US" sz="1200" dirty="0" smtClean="0"/>
              <a:t>Click on the banner above to download your Visual Studio 2013 Preview.</a:t>
            </a:r>
          </a:p>
          <a:p>
            <a:pPr algn="just"/>
            <a:endParaRPr lang="en-US" sz="1200" dirty="0" smtClean="0"/>
          </a:p>
          <a:p>
            <a:pPr algn="just"/>
            <a:r>
              <a:rPr lang="en-US" sz="1200" dirty="0" smtClean="0"/>
              <a:t>NOTE! This </a:t>
            </a:r>
            <a:r>
              <a:rPr lang="en-US" sz="1200" dirty="0"/>
              <a:t>Preview is covered by a Go-Live </a:t>
            </a:r>
            <a:r>
              <a:rPr lang="en-US" sz="1200" dirty="0" smtClean="0"/>
              <a:t>license </a:t>
            </a:r>
            <a:r>
              <a:rPr lang="en-US" sz="1200" dirty="0"/>
              <a:t>and is fully supported for production </a:t>
            </a:r>
            <a:r>
              <a:rPr lang="en-US" sz="1200" dirty="0" smtClean="0"/>
              <a:t>use.</a:t>
            </a:r>
          </a:p>
          <a:p>
            <a:pPr algn="just"/>
            <a:endParaRPr lang="en-US" sz="1200" dirty="0"/>
          </a:p>
          <a:p>
            <a:pPr algn="just"/>
            <a:r>
              <a:rPr lang="en-US" sz="1200" dirty="0" smtClean="0"/>
              <a:t>Look for more information about VS 2013  in these pages in the coming issues.</a:t>
            </a:r>
          </a:p>
          <a:p>
            <a:pPr algn="just"/>
            <a:endParaRPr lang="en-US" sz="1200" dirty="0" smtClean="0"/>
          </a:p>
          <a:p>
            <a:pPr algn="just"/>
            <a:r>
              <a:rPr lang="en-US" sz="1200" dirty="0" smtClean="0"/>
              <a:t>The following are some more links to good information about VS 2013 Preview:</a:t>
            </a:r>
          </a:p>
          <a:p>
            <a:pPr algn="just"/>
            <a:r>
              <a:rPr lang="en-US" sz="1200" dirty="0"/>
              <a:t> </a:t>
            </a:r>
            <a:r>
              <a:rPr lang="en-US" sz="1200" dirty="0" smtClean="0"/>
              <a:t>      </a:t>
            </a:r>
            <a:r>
              <a:rPr lang="en-US" sz="1200" dirty="0" smtClean="0">
                <a:hlinkClick r:id="rId3"/>
              </a:rPr>
              <a:t>http</a:t>
            </a:r>
            <a:r>
              <a:rPr lang="en-US" sz="1200" dirty="0">
                <a:hlinkClick r:id="rId3"/>
              </a:rPr>
              <a:t>://</a:t>
            </a:r>
            <a:r>
              <a:rPr lang="en-US" sz="1200" dirty="0" smtClean="0">
                <a:hlinkClick r:id="rId3"/>
              </a:rPr>
              <a:t>www.microsoft.com/visualstudio/eng/2013-preview</a:t>
            </a:r>
            <a:endParaRPr lang="en-US" sz="1200" dirty="0" smtClean="0"/>
          </a:p>
          <a:p>
            <a:pPr algn="just"/>
            <a:r>
              <a:rPr lang="en-US" sz="1200" dirty="0"/>
              <a:t> </a:t>
            </a:r>
            <a:r>
              <a:rPr lang="en-US" sz="1200" dirty="0" smtClean="0"/>
              <a:t>      </a:t>
            </a:r>
            <a:r>
              <a:rPr lang="en-US" sz="1200" dirty="0" smtClean="0">
                <a:hlinkClick r:id="rId4"/>
              </a:rPr>
              <a:t>http</a:t>
            </a:r>
            <a:r>
              <a:rPr lang="en-US" sz="1200" dirty="0">
                <a:hlinkClick r:id="rId4"/>
              </a:rPr>
              <a:t>://</a:t>
            </a:r>
            <a:r>
              <a:rPr lang="en-US" sz="1200" dirty="0" smtClean="0">
                <a:hlinkClick r:id="rId4"/>
              </a:rPr>
              <a:t>blogs.msdn.com/b/bharry/archive/2013/06/03/visual-studio-2013.aspx</a:t>
            </a:r>
            <a:endParaRPr lang="en-US" sz="1200" dirty="0" smtClean="0"/>
          </a:p>
          <a:p>
            <a:pPr algn="just"/>
            <a:r>
              <a:rPr lang="en-US" sz="1200" dirty="0"/>
              <a:t> </a:t>
            </a:r>
            <a:r>
              <a:rPr lang="en-US" sz="1200" dirty="0" smtClean="0"/>
              <a:t>      </a:t>
            </a:r>
            <a:r>
              <a:rPr lang="en-US" sz="1200" dirty="0" smtClean="0">
                <a:hlinkClick r:id="rId5"/>
              </a:rPr>
              <a:t>http</a:t>
            </a:r>
            <a:r>
              <a:rPr lang="en-US" sz="1200" dirty="0">
                <a:hlinkClick r:id="rId5"/>
              </a:rPr>
              <a:t>://blogs.msdn.com/b/somasegar/archive/2013/06/26/visual-studio-2013-preview.aspx</a:t>
            </a:r>
            <a:endParaRPr lang="en-US" sz="1200" dirty="0"/>
          </a:p>
          <a:p>
            <a:endParaRPr lang="en-US" sz="1200" dirty="0"/>
          </a:p>
        </p:txBody>
      </p:sp>
      <p:pic>
        <p:nvPicPr>
          <p:cNvPr id="3074" name="Picture 2">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3889" y="8196542"/>
            <a:ext cx="6353173" cy="956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ounded Rectangle 8"/>
          <p:cNvSpPr/>
          <p:nvPr/>
        </p:nvSpPr>
        <p:spPr>
          <a:xfrm>
            <a:off x="5305994"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Announcement</a:t>
            </a:r>
            <a:endParaRPr lang="en-US" dirty="0"/>
          </a:p>
        </p:txBody>
      </p:sp>
    </p:spTree>
    <p:extLst>
      <p:ext uri="{BB962C8B-B14F-4D97-AF65-F5344CB8AC3E}">
        <p14:creationId xmlns:p14="http://schemas.microsoft.com/office/powerpoint/2010/main" val="27075437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even Borg (Mugsh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2" y="1609725"/>
            <a:ext cx="1368525" cy="1368525"/>
          </a:xfrm>
          <a:prstGeom prst="rect">
            <a:avLst/>
          </a:prstGeom>
          <a:noFill/>
          <a:extLst>
            <a:ext uri="{909E8E84-426E-40DD-AFC4-6F175D3DCCD1}">
              <a14:hiddenFill xmlns:a14="http://schemas.microsoft.com/office/drawing/2010/main">
                <a:solidFill>
                  <a:srgbClr val="FFFFFF"/>
                </a:solidFill>
              </a14:hiddenFill>
            </a:ext>
          </a:extLst>
        </p:spPr>
      </p:pic>
      <p:sp>
        <p:nvSpPr>
          <p:cNvPr id="12290" name="TextBox 3"/>
          <p:cNvSpPr txBox="1">
            <a:spLocks noChangeArrowheads="1"/>
          </p:cNvSpPr>
          <p:nvPr/>
        </p:nvSpPr>
        <p:spPr bwMode="auto">
          <a:xfrm>
            <a:off x="119063" y="810994"/>
            <a:ext cx="4362073" cy="64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b="1" dirty="0" smtClean="0">
                <a:latin typeface="Palatino Linotype" pitchFamily="18" charset="0"/>
              </a:rPr>
              <a:t>Lab </a:t>
            </a:r>
            <a:r>
              <a:rPr lang="en-US" sz="3600" b="1" dirty="0">
                <a:latin typeface="Palatino Linotype" pitchFamily="18" charset="0"/>
              </a:rPr>
              <a:t>Manager Demo</a:t>
            </a:r>
          </a:p>
        </p:txBody>
      </p:sp>
      <p:sp>
        <p:nvSpPr>
          <p:cNvPr id="12292" name="Rectangle 2"/>
          <p:cNvSpPr>
            <a:spLocks/>
          </p:cNvSpPr>
          <p:nvPr/>
        </p:nvSpPr>
        <p:spPr bwMode="auto">
          <a:xfrm>
            <a:off x="2173288" y="2767010"/>
            <a:ext cx="49561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In </a:t>
            </a:r>
            <a:r>
              <a:rPr lang="en-US" sz="1200" dirty="0"/>
              <a:t>this Lab Manager demo, Steven Borg will cover several components in Lab Center, how a minimal architecture is defined for a SCVMM implementation, and how to verify that all the pieces are working effectively together.  This speedy demo also includes a quick walk through the basics around the Lab Manager Build Template and how to use a Team Build to create a simple environment build test</a:t>
            </a:r>
            <a:r>
              <a:rPr lang="en-US" sz="1200" dirty="0" smtClean="0"/>
              <a:t>.</a:t>
            </a:r>
          </a:p>
          <a:p>
            <a:endParaRPr lang="en-US" sz="1200" dirty="0"/>
          </a:p>
          <a:p>
            <a:r>
              <a:rPr lang="en-US" sz="1200" b="1" dirty="0" smtClean="0">
                <a:latin typeface="Arial" pitchFamily="34" charset="0"/>
                <a:cs typeface="Arial" pitchFamily="34" charset="0"/>
              </a:rPr>
              <a:t>Recommended </a:t>
            </a:r>
            <a:r>
              <a:rPr lang="en-US" sz="1200" b="1" dirty="0">
                <a:latin typeface="Arial" pitchFamily="34" charset="0"/>
                <a:cs typeface="Arial" pitchFamily="34" charset="0"/>
              </a:rPr>
              <a:t>Audiences</a:t>
            </a:r>
            <a:endParaRPr lang="en-US" sz="1200" dirty="0">
              <a:latin typeface="Arial" pitchFamily="34" charset="0"/>
              <a:cs typeface="Arial" pitchFamily="34" charset="0"/>
            </a:endParaRPr>
          </a:p>
          <a:p>
            <a:r>
              <a:rPr lang="en-US" sz="1200" dirty="0">
                <a:latin typeface="Arial" pitchFamily="34" charset="0"/>
                <a:cs typeface="Arial" pitchFamily="34" charset="0"/>
              </a:rPr>
              <a:t>Business Decision Makers, Developers, Technical Decision Makers</a:t>
            </a:r>
          </a:p>
          <a:p>
            <a:endParaRPr lang="en-US" sz="1400" dirty="0"/>
          </a:p>
        </p:txBody>
      </p:sp>
      <p:sp>
        <p:nvSpPr>
          <p:cNvPr id="12293" name="Rectangle 3"/>
          <p:cNvSpPr>
            <a:spLocks/>
          </p:cNvSpPr>
          <p:nvPr/>
        </p:nvSpPr>
        <p:spPr bwMode="auto">
          <a:xfrm>
            <a:off x="2633662" y="1568448"/>
            <a:ext cx="4495802" cy="135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nterested</a:t>
            </a:r>
            <a:r>
              <a:rPr lang="en-US" sz="1200" dirty="0" smtClean="0"/>
              <a:t> </a:t>
            </a:r>
            <a:r>
              <a:rPr lang="en-US" sz="1200" dirty="0"/>
              <a:t>in using Lab Manager with SCVMM? Not sure how to test your installation? Check out the demo below!  Using Standard Environments is fairly straightforward, but </a:t>
            </a:r>
            <a:r>
              <a:rPr lang="en-US" sz="1200" dirty="0" smtClean="0"/>
              <a:t>many </a:t>
            </a:r>
            <a:r>
              <a:rPr lang="en-US" sz="1200" dirty="0"/>
              <a:t>people have challenges validating that they have a correct Lab Management infrastructure when using a System Center Virtual Machine Manager (SCVMM</a:t>
            </a:r>
            <a:r>
              <a:rPr lang="en-US" sz="1200" dirty="0" smtClean="0"/>
              <a:t>).</a:t>
            </a:r>
            <a:endParaRPr lang="en-US" sz="1200" dirty="0">
              <a:effectLst/>
            </a:endParaRPr>
          </a:p>
        </p:txBody>
      </p:sp>
      <p:sp>
        <p:nvSpPr>
          <p:cNvPr id="12294" name="Rectangle 4"/>
          <p:cNvSpPr>
            <a:spLocks/>
          </p:cNvSpPr>
          <p:nvPr/>
        </p:nvSpPr>
        <p:spPr bwMode="auto">
          <a:xfrm>
            <a:off x="2024064" y="1243010"/>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I</a:t>
            </a:r>
          </a:p>
        </p:txBody>
      </p:sp>
      <p:sp>
        <p:nvSpPr>
          <p:cNvPr id="12296" name="Rectangle 5"/>
          <p:cNvSpPr>
            <a:spLocks/>
          </p:cNvSpPr>
          <p:nvPr/>
        </p:nvSpPr>
        <p:spPr bwMode="auto">
          <a:xfrm>
            <a:off x="347663" y="3071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t>Steven </a:t>
            </a:r>
            <a:r>
              <a:rPr lang="en-US" sz="1100" i="1" dirty="0" smtClean="0"/>
              <a:t>Borg</a:t>
            </a:r>
          </a:p>
          <a:p>
            <a:pPr algn="r"/>
            <a:r>
              <a:rPr lang="en-US" sz="1100" i="1" dirty="0" smtClean="0">
                <a:latin typeface="Helvetica" pitchFamily="34" charset="0"/>
                <a:cs typeface="Helvetica" pitchFamily="34" charset="0"/>
              </a:rPr>
              <a:t>Co-Founder</a:t>
            </a:r>
          </a:p>
          <a:p>
            <a:pPr algn="r"/>
            <a:r>
              <a:rPr lang="en-US" sz="1100" i="1" dirty="0" smtClean="0">
                <a:latin typeface="Helvetica" pitchFamily="34" charset="0"/>
                <a:cs typeface="Helvetica" pitchFamily="34" charset="0"/>
              </a:rPr>
              <a:t>ALM </a:t>
            </a:r>
            <a:r>
              <a:rPr lang="en-US" sz="1100" i="1" dirty="0">
                <a:latin typeface="Helvetica" pitchFamily="34" charset="0"/>
                <a:cs typeface="Helvetica" pitchFamily="34" charset="0"/>
              </a:rPr>
              <a:t>Consultant</a:t>
            </a:r>
          </a:p>
          <a:p>
            <a:pPr algn="r"/>
            <a:r>
              <a:rPr lang="en-US" sz="1100" i="1" dirty="0">
                <a:latin typeface="Helvetica" pitchFamily="34" charset="0"/>
                <a:cs typeface="Helvetica" pitchFamily="34" charset="0"/>
                <a:hlinkClick r:id="rId3"/>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2" name="Rectangle 2"/>
          <p:cNvSpPr>
            <a:spLocks/>
          </p:cNvSpPr>
          <p:nvPr/>
        </p:nvSpPr>
        <p:spPr bwMode="auto">
          <a:xfrm>
            <a:off x="344489" y="8834914"/>
            <a:ext cx="6784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b="1" i="1" u="sng" dirty="0">
                <a:latin typeface="Arial" pitchFamily="34" charset="0"/>
                <a:cs typeface="Arial" pitchFamily="34" charset="0"/>
                <a:hlinkClick r:id="rId3"/>
              </a:rPr>
              <a:t>Northwest Cadence, Inc.</a:t>
            </a:r>
            <a:r>
              <a:rPr lang="en-US" sz="1000" i="1" dirty="0">
                <a:latin typeface="Arial" pitchFamily="34" charset="0"/>
                <a:cs typeface="Arial" pitchFamily="34" charset="0"/>
                <a:hlinkClick r:id="rId3"/>
              </a:rPr>
              <a:t> </a:t>
            </a:r>
            <a:r>
              <a:rPr lang="en-US" sz="1000" i="1" dirty="0" smtClean="0">
                <a:latin typeface="Arial" pitchFamily="34" charset="0"/>
                <a:cs typeface="Arial" pitchFamily="34" charset="0"/>
              </a:rPr>
              <a:t> </a:t>
            </a:r>
            <a:r>
              <a:rPr lang="en-US" sz="1000" i="1" dirty="0" smtClean="0"/>
              <a:t>provides </a:t>
            </a:r>
            <a:r>
              <a:rPr lang="en-US" sz="1000" i="1" dirty="0"/>
              <a:t>training and consulting services across the United States. The exclusive focus on Software Process and Microsoft ALM tools ensures clients benefit from deep technical expertise, sound process acumen, and hundreds of practical experiences on ALM projects.  They partner with software development teams to improve processes and business results.</a:t>
            </a:r>
            <a:endParaRPr lang="en-US" sz="1000" i="1" dirty="0">
              <a:latin typeface="Arial" pitchFamily="34" charset="0"/>
              <a:cs typeface="Arial" pitchFamily="34" charset="0"/>
            </a:endParaRPr>
          </a:p>
        </p:txBody>
      </p:sp>
      <p:pic>
        <p:nvPicPr>
          <p:cNvPr id="1026" name="Picture 2" descr="E:\My Documents\_Work Related\_ALM Mag\Admin\Contributors\NW Cadence\nwc_logo_tagline-250x80.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8172959"/>
            <a:ext cx="1752600" cy="560831"/>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p:cNvSpPr>
            <a:spLocks/>
          </p:cNvSpPr>
          <p:nvPr/>
        </p:nvSpPr>
        <p:spPr bwMode="auto">
          <a:xfrm>
            <a:off x="2147324" y="7629524"/>
            <a:ext cx="4973355" cy="110426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a:t>Steven Borg is Co-Founder and Strategist at </a:t>
            </a:r>
            <a:r>
              <a:rPr lang="en-US" sz="1000" i="1" dirty="0">
                <a:hlinkClick r:id="rId3"/>
              </a:rPr>
              <a:t>Northwest Cadence</a:t>
            </a:r>
            <a:r>
              <a:rPr lang="en-US" sz="1000" i="1" dirty="0"/>
              <a:t>. A Microsoft ALM MVP since 2005, Steven speaks regularly at software development and Visual Studio conferences, has authored Microsoft courseware and white papers on Team Foundation Server, Scrum and lean software development. Steven brings successful lean and agile adoption to companies currently using traditional project management techniques.</a:t>
            </a: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214478"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 Studio / TFS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9</a:t>
            </a:fld>
            <a:endParaRPr lang="en-PH" dirty="0"/>
          </a:p>
        </p:txBody>
      </p:sp>
      <p:pic>
        <p:nvPicPr>
          <p:cNvPr id="13" name="Picture 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7324" y="4505325"/>
            <a:ext cx="4956175" cy="2788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hlinkClick r:id="rId5"/>
          </p:cNvPr>
          <p:cNvSpPr txBox="1"/>
          <p:nvPr/>
        </p:nvSpPr>
        <p:spPr>
          <a:xfrm>
            <a:off x="2147324" y="4761726"/>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9" name="TextBox 18">
            <a:hlinkClick r:id="rId5"/>
          </p:cNvPr>
          <p:cNvSpPr txBox="1"/>
          <p:nvPr/>
        </p:nvSpPr>
        <p:spPr>
          <a:xfrm>
            <a:off x="2147323" y="6334125"/>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1" name="Rounded Rectangle 20">
            <a:hlinkClick r:id="rId7"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4713894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824417"/>
            <a:ext cx="1418012" cy="141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695325"/>
            <a:ext cx="7445744"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AU" sz="3200" b="1" dirty="0">
                <a:latin typeface="Palatino Linotype" pitchFamily="18" charset="0"/>
              </a:rPr>
              <a:t>Microsoft ALM Certification </a:t>
            </a:r>
            <a:endParaRPr lang="en-AU" sz="3200" b="1" dirty="0" smtClean="0">
              <a:latin typeface="Palatino Linotype" pitchFamily="18" charset="0"/>
            </a:endParaRPr>
          </a:p>
          <a:p>
            <a:r>
              <a:rPr lang="en-AU" sz="3200" b="1" dirty="0" smtClean="0">
                <a:latin typeface="Palatino Linotype" pitchFamily="18" charset="0"/>
              </a:rPr>
              <a:t>– </a:t>
            </a:r>
            <a:r>
              <a:rPr lang="en-AU" sz="3200" b="1" dirty="0">
                <a:latin typeface="Palatino Linotype" pitchFamily="18" charset="0"/>
              </a:rPr>
              <a:t>Part </a:t>
            </a:r>
            <a:r>
              <a:rPr lang="en-AU" sz="3200" b="1" dirty="0" smtClean="0">
                <a:latin typeface="Palatino Linotype" pitchFamily="18" charset="0"/>
              </a:rPr>
              <a:t>2 </a:t>
            </a:r>
            <a:r>
              <a:rPr lang="en-AU" sz="3200" b="1" dirty="0">
                <a:latin typeface="Palatino Linotype" pitchFamily="18" charset="0"/>
              </a:rPr>
              <a:t>of 3</a:t>
            </a:r>
            <a:endParaRPr lang="en-US" sz="3200" b="1" dirty="0">
              <a:latin typeface="Palatino Linotype" pitchFamily="18" charset="0"/>
            </a:endParaRPr>
          </a:p>
        </p:txBody>
      </p:sp>
      <p:sp>
        <p:nvSpPr>
          <p:cNvPr id="12292" name="Rectangle 2"/>
          <p:cNvSpPr>
            <a:spLocks/>
          </p:cNvSpPr>
          <p:nvPr/>
        </p:nvSpPr>
        <p:spPr bwMode="auto">
          <a:xfrm>
            <a:off x="2176462" y="3148011"/>
            <a:ext cx="4956175" cy="53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AU" sz="1200" b="1" dirty="0"/>
          </a:p>
          <a:p>
            <a:endParaRPr lang="en-AU" sz="1200" b="1" dirty="0" smtClean="0"/>
          </a:p>
          <a:p>
            <a:endParaRPr lang="en-AU" sz="1200" b="1" dirty="0" smtClean="0"/>
          </a:p>
          <a:p>
            <a:pPr algn="just"/>
            <a:r>
              <a:rPr lang="en-US" sz="1200" dirty="0" smtClean="0"/>
              <a:t>In </a:t>
            </a:r>
            <a:r>
              <a:rPr lang="en-US" sz="1200" dirty="0"/>
              <a:t>this article, we’ll move on to how to prepare for the </a:t>
            </a:r>
            <a:r>
              <a:rPr lang="en-US" sz="1200" dirty="0">
                <a:hlinkClick r:id="rId3"/>
              </a:rPr>
              <a:t>70-497</a:t>
            </a:r>
            <a:r>
              <a:rPr lang="en-US" sz="1200" dirty="0"/>
              <a:t> exam. NOTE: You do not need to complete the exams in a specific order. I’d suggest you start with the one you’re most confident on and then move through the remaining two.</a:t>
            </a:r>
          </a:p>
          <a:p>
            <a:pPr algn="just"/>
            <a:endParaRPr lang="en-US" sz="1200" dirty="0" smtClean="0"/>
          </a:p>
          <a:p>
            <a:r>
              <a:rPr lang="en-US" sz="1200" b="1" dirty="0"/>
              <a:t>Exam 70-497: Software Testing with Visual Studio 2012</a:t>
            </a:r>
          </a:p>
          <a:p>
            <a:pPr algn="just"/>
            <a:endParaRPr lang="en-US" sz="1200" dirty="0"/>
          </a:p>
          <a:p>
            <a:pPr algn="just"/>
            <a:r>
              <a:rPr lang="en-US" sz="1200" dirty="0"/>
              <a:t>This is Microsoft’s first exam focusing primarily on Microsoft Test Manager (MTM) 2012. While this is the second version of MTM, it is the first time there has been an exam for it</a:t>
            </a:r>
            <a:r>
              <a:rPr lang="en-US" sz="1200" dirty="0" smtClean="0"/>
              <a:t>.</a:t>
            </a:r>
          </a:p>
          <a:p>
            <a:pPr algn="just"/>
            <a:endParaRPr lang="en-US" sz="1200" dirty="0"/>
          </a:p>
          <a:p>
            <a:pPr algn="just"/>
            <a:r>
              <a:rPr lang="en-US" sz="1200" dirty="0"/>
              <a:t>You can find the specific details of the exam on Microsoft’s exam page for </a:t>
            </a:r>
            <a:r>
              <a:rPr lang="en-US" sz="1200" dirty="0">
                <a:hlinkClick r:id="rId3"/>
              </a:rPr>
              <a:t>70-497</a:t>
            </a:r>
            <a:r>
              <a:rPr lang="en-US" sz="1200" dirty="0" smtClean="0"/>
              <a:t>.</a:t>
            </a:r>
          </a:p>
          <a:p>
            <a:pPr algn="just"/>
            <a:endParaRPr lang="en-US" sz="1200" dirty="0"/>
          </a:p>
          <a:p>
            <a:pPr algn="just"/>
            <a:r>
              <a:rPr lang="en-US" sz="1200" dirty="0"/>
              <a:t>The audience identified for this exam on the exam page is “Developers”. I would question this based on the </a:t>
            </a:r>
            <a:r>
              <a:rPr lang="en-US" sz="1200" i="1" dirty="0"/>
              <a:t>skills being measured </a:t>
            </a:r>
            <a:r>
              <a:rPr lang="en-US" sz="1200" dirty="0"/>
              <a:t>section of the exam page</a:t>
            </a:r>
            <a:r>
              <a:rPr lang="en-US" sz="1200" i="1" dirty="0"/>
              <a:t>. </a:t>
            </a:r>
            <a:r>
              <a:rPr lang="en-US" sz="1200" dirty="0"/>
              <a:t>I suggest that this exam is more directed at full time manual testers more so than developers. </a:t>
            </a:r>
          </a:p>
          <a:p>
            <a:endParaRPr lang="en-US" sz="1200" dirty="0"/>
          </a:p>
          <a:p>
            <a:pPr lvl="0"/>
            <a:r>
              <a:rPr lang="en-US" sz="1200" b="1" dirty="0"/>
              <a:t>Exam Details</a:t>
            </a:r>
          </a:p>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548062" y="1783142"/>
            <a:ext cx="3581402"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elcome</a:t>
            </a:r>
            <a:r>
              <a:rPr lang="en-US" sz="1200" dirty="0" smtClean="0"/>
              <a:t> </a:t>
            </a:r>
            <a:r>
              <a:rPr lang="en-US" sz="1200" dirty="0"/>
              <a:t>to the second of my three part series on Microsoft’s new MCSD – Application Lifecycle Management certification. In the </a:t>
            </a:r>
            <a:r>
              <a:rPr lang="en-US" sz="1200" dirty="0">
                <a:hlinkClick r:id="rId4"/>
              </a:rPr>
              <a:t>first part</a:t>
            </a:r>
            <a:r>
              <a:rPr lang="en-US" sz="1200" dirty="0"/>
              <a:t> of this series I provided information about the certification as well as some guidance on how to prepare for the </a:t>
            </a:r>
            <a:r>
              <a:rPr lang="en-US" sz="1200" dirty="0">
                <a:hlinkClick r:id="rId5"/>
              </a:rPr>
              <a:t>70-496</a:t>
            </a:r>
            <a:r>
              <a:rPr lang="en-US" sz="1200" dirty="0"/>
              <a:t> </a:t>
            </a:r>
            <a:r>
              <a:rPr lang="en-US" sz="1200" dirty="0" smtClean="0"/>
              <a:t>exam.</a:t>
            </a:r>
            <a:endParaRPr lang="en-US" sz="1200" dirty="0"/>
          </a:p>
        </p:txBody>
      </p:sp>
      <p:sp>
        <p:nvSpPr>
          <p:cNvPr id="12294" name="Rectangle 4"/>
          <p:cNvSpPr>
            <a:spLocks/>
          </p:cNvSpPr>
          <p:nvPr/>
        </p:nvSpPr>
        <p:spPr bwMode="auto">
          <a:xfrm>
            <a:off x="2024063" y="1457325"/>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a:latin typeface="Helvetica Neue Bold Condensed" charset="0"/>
                <a:sym typeface="Helvetica Neue Bold Condensed" charset="0"/>
              </a:rPr>
              <a:t>W</a:t>
            </a:r>
          </a:p>
        </p:txBody>
      </p:sp>
      <p:sp>
        <p:nvSpPr>
          <p:cNvPr id="12296" name="Rectangle 5"/>
          <p:cNvSpPr>
            <a:spLocks/>
          </p:cNvSpPr>
          <p:nvPr/>
        </p:nvSpPr>
        <p:spPr bwMode="auto">
          <a:xfrm>
            <a:off x="271462" y="3438525"/>
            <a:ext cx="167957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Anthony Borton</a:t>
            </a:r>
          </a:p>
          <a:p>
            <a:pPr algn="r"/>
            <a:r>
              <a:rPr lang="en-AU" sz="1100" i="1" dirty="0"/>
              <a:t>ALM </a:t>
            </a:r>
            <a:r>
              <a:rPr lang="en-AU" sz="1100" i="1" dirty="0" smtClean="0"/>
              <a:t>Trainer &amp; Consultant </a:t>
            </a:r>
          </a:p>
          <a:p>
            <a:pPr algn="r"/>
            <a:r>
              <a:rPr lang="en-AU" sz="1100" i="1" dirty="0" smtClean="0">
                <a:hlinkClick r:id="rId6"/>
              </a:rPr>
              <a:t>Enhance </a:t>
            </a:r>
            <a:r>
              <a:rPr lang="en-AU" sz="1100" i="1" dirty="0">
                <a:hlinkClick r:id="rId6"/>
              </a:rPr>
              <a:t>ALM</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10</a:t>
            </a:fld>
            <a:endParaRPr lang="en-PH" dirty="0"/>
          </a:p>
        </p:txBody>
      </p:sp>
      <p:pic>
        <p:nvPicPr>
          <p:cNvPr id="14" name="Picture 13"/>
          <p:cNvPicPr/>
          <p:nvPr/>
        </p:nvPicPr>
        <p:blipFill>
          <a:blip r:embed="rId7">
            <a:extLst>
              <a:ext uri="{28A0092B-C50C-407E-A947-70E740481C1C}">
                <a14:useLocalDpi xmlns:a14="http://schemas.microsoft.com/office/drawing/2010/main" val="0"/>
              </a:ext>
            </a:extLst>
          </a:blip>
          <a:stretch>
            <a:fillRect/>
          </a:stretch>
        </p:blipFill>
        <p:spPr>
          <a:xfrm>
            <a:off x="3548062" y="2981325"/>
            <a:ext cx="3181350" cy="609600"/>
          </a:xfrm>
          <a:prstGeom prst="rect">
            <a:avLst/>
          </a:prstGeom>
        </p:spPr>
      </p:pic>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945717524"/>
              </p:ext>
            </p:extLst>
          </p:nvPr>
        </p:nvGraphicFramePr>
        <p:xfrm>
          <a:off x="2578493" y="7553325"/>
          <a:ext cx="4093769" cy="1706880"/>
        </p:xfrm>
        <a:graphic>
          <a:graphicData uri="http://schemas.openxmlformats.org/drawingml/2006/table">
            <a:tbl>
              <a:tblPr/>
              <a:tblGrid>
                <a:gridCol w="1086307"/>
                <a:gridCol w="3007462"/>
              </a:tblGrid>
              <a:tr h="0">
                <a:tc>
                  <a:txBody>
                    <a:bodyPr/>
                    <a:lstStyle/>
                    <a:p>
                      <a:pPr marL="0" marR="0" fontAlgn="t">
                        <a:spcBef>
                          <a:spcPts val="0"/>
                        </a:spcBef>
                        <a:spcAft>
                          <a:spcPts val="0"/>
                        </a:spcAft>
                      </a:pPr>
                      <a:r>
                        <a:rPr lang="en-US" sz="1200" dirty="0">
                          <a:solidFill>
                            <a:srgbClr val="333333"/>
                          </a:solidFill>
                          <a:effectLst/>
                          <a:latin typeface="Georgia"/>
                        </a:rPr>
                        <a:t>Exam code: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dirty="0">
                          <a:solidFill>
                            <a:srgbClr val="333333"/>
                          </a:solidFill>
                          <a:effectLst/>
                          <a:latin typeface="Georgia"/>
                        </a:rPr>
                        <a:t>70-497</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r>
                        <a:rPr lang="en-US" sz="1200" dirty="0">
                          <a:solidFill>
                            <a:srgbClr val="333333"/>
                          </a:solidFill>
                          <a:effectLst/>
                          <a:latin typeface="Georgia"/>
                        </a:rPr>
                        <a:t>Exam title: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a:solidFill>
                            <a:srgbClr val="333333"/>
                          </a:solidFill>
                          <a:effectLst/>
                          <a:latin typeface="Georgia"/>
                        </a:rPr>
                        <a:t>Software Testing with Visual Studio 2012</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r>
                        <a:rPr lang="en-US" sz="1200">
                          <a:solidFill>
                            <a:srgbClr val="333333"/>
                          </a:solidFill>
                          <a:effectLst/>
                          <a:latin typeface="Georgia"/>
                        </a:rPr>
                        <a:t>Release date: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a:solidFill>
                            <a:srgbClr val="333333"/>
                          </a:solidFill>
                          <a:effectLst/>
                          <a:latin typeface="Georgia"/>
                        </a:rPr>
                        <a:t>September 25th, 2012</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r>
                        <a:rPr lang="en-US" sz="1200">
                          <a:solidFill>
                            <a:srgbClr val="333333"/>
                          </a:solidFill>
                          <a:effectLst/>
                          <a:latin typeface="Georgia"/>
                        </a:rPr>
                        <a:t>Pass mark:</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a:solidFill>
                            <a:srgbClr val="333333"/>
                          </a:solidFill>
                          <a:effectLst/>
                          <a:latin typeface="Georgia"/>
                        </a:rPr>
                        <a:t>700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r>
                        <a:rPr lang="en-US" sz="1200">
                          <a:solidFill>
                            <a:srgbClr val="333333"/>
                          </a:solidFill>
                          <a:effectLst/>
                          <a:latin typeface="Georgia"/>
                        </a:rPr>
                        <a:t>Questions:</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a:solidFill>
                            <a:srgbClr val="333333"/>
                          </a:solidFill>
                          <a:effectLst/>
                          <a:latin typeface="Georgia"/>
                        </a:rPr>
                        <a:t>Approximately 45</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r>
                        <a:rPr lang="en-US" sz="1200" dirty="0">
                          <a:solidFill>
                            <a:srgbClr val="333333"/>
                          </a:solidFill>
                          <a:effectLst/>
                          <a:latin typeface="Georgia"/>
                        </a:rPr>
                        <a:t>Time: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dirty="0">
                          <a:solidFill>
                            <a:srgbClr val="333333"/>
                          </a:solidFill>
                          <a:effectLst/>
                          <a:latin typeface="Georgia"/>
                        </a:rPr>
                        <a:t>Approximately 145 minutes</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bl>
          </a:graphicData>
        </a:graphic>
      </p:graphicFrame>
      <p:sp>
        <p:nvSpPr>
          <p:cNvPr id="15" name="Rounded Rectangle 14"/>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Tree>
    <p:extLst>
      <p:ext uri="{BB962C8B-B14F-4D97-AF65-F5344CB8AC3E}">
        <p14:creationId xmlns:p14="http://schemas.microsoft.com/office/powerpoint/2010/main" val="141566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p:cNvSpPr>
          <p:nvPr/>
        </p:nvSpPr>
        <p:spPr bwMode="auto">
          <a:xfrm>
            <a:off x="576262" y="771525"/>
            <a:ext cx="6400800"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endParaRPr lang="en-US" sz="1200" dirty="0" smtClean="0">
              <a:solidFill>
                <a:srgbClr val="333333"/>
              </a:solidFill>
              <a:latin typeface="Georgia" pitchFamily="18" charset="0"/>
              <a:cs typeface="Arial" pitchFamily="34" charset="0"/>
            </a:endParaRPr>
          </a:p>
          <a:p>
            <a:pPr lvl="0"/>
            <a:endParaRPr lang="en-US" sz="1200" dirty="0">
              <a:solidFill>
                <a:srgbClr val="333333"/>
              </a:solidFill>
              <a:latin typeface="Georgia" pitchFamily="18" charset="0"/>
              <a:cs typeface="Arial" pitchFamily="34" charset="0"/>
            </a:endParaRPr>
          </a:p>
          <a:p>
            <a:pPr lvl="0" algn="just"/>
            <a:endParaRPr lang="en-US" sz="1200" dirty="0" smtClean="0"/>
          </a:p>
          <a:p>
            <a:pPr lvl="0" algn="just"/>
            <a:endParaRPr lang="en-US" sz="1200" dirty="0"/>
          </a:p>
          <a:p>
            <a:pPr lvl="0" algn="just"/>
            <a:endParaRPr lang="en-US" sz="1200" dirty="0" smtClean="0"/>
          </a:p>
          <a:p>
            <a:pPr lvl="0" algn="just"/>
            <a:endParaRPr lang="en-US" sz="1200" dirty="0"/>
          </a:p>
          <a:p>
            <a:pPr lvl="0" algn="just"/>
            <a:endParaRPr lang="en-US" sz="1200" dirty="0" smtClean="0"/>
          </a:p>
          <a:p>
            <a:pPr lvl="0" algn="just"/>
            <a:endParaRPr lang="en-US" sz="1200" dirty="0" smtClean="0"/>
          </a:p>
          <a:p>
            <a:pPr lvl="0" algn="just"/>
            <a:endParaRPr lang="en-US" sz="1200" dirty="0" smtClean="0"/>
          </a:p>
          <a:p>
            <a:pPr lvl="0" algn="just"/>
            <a:endParaRPr lang="en-US" sz="1200" dirty="0"/>
          </a:p>
          <a:p>
            <a:pPr lvl="0" algn="just"/>
            <a:r>
              <a:rPr lang="en-US" sz="1200" dirty="0" smtClean="0"/>
              <a:t>That </a:t>
            </a:r>
            <a:r>
              <a:rPr lang="en-US" sz="1200" dirty="0"/>
              <a:t>concludes part 2 of this series. In my final post in this series, I’ll provide guidance on exam 70-498: Delivering Continuous Value with Visual Studio 2012 Application Lifecycle Management.</a:t>
            </a:r>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11</a:t>
            </a:fld>
            <a:endParaRPr lang="en-PH" dirty="0"/>
          </a:p>
        </p:txBody>
      </p:sp>
      <p:sp>
        <p:nvSpPr>
          <p:cNvPr id="10" name="Rectangle 2"/>
          <p:cNvSpPr>
            <a:spLocks/>
          </p:cNvSpPr>
          <p:nvPr/>
        </p:nvSpPr>
        <p:spPr bwMode="auto">
          <a:xfrm>
            <a:off x="1033462" y="7934325"/>
            <a:ext cx="5486400"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AU" sz="1000" i="1" dirty="0">
                <a:hlinkClick r:id="rId2"/>
              </a:rPr>
              <a:t>Anthony Borton</a:t>
            </a:r>
            <a:r>
              <a:rPr lang="en-AU" sz="1000" i="1" dirty="0"/>
              <a:t> is an ALM trainer and consultant for </a:t>
            </a:r>
            <a:r>
              <a:rPr lang="en-AU" sz="1000" i="1" dirty="0">
                <a:hlinkClick r:id="rId3"/>
              </a:rPr>
              <a:t>Enhance ALM</a:t>
            </a:r>
            <a:r>
              <a:rPr lang="en-AU" sz="1000" i="1" dirty="0"/>
              <a:t>, an Australian based company specializing in helping organizations successfully adopt ALM best practices. He is the author of eight TFS 2012 training courses and delivers the most comprehensive range of TFS courses in the world today. You can find out more about these courses in the United States at </a:t>
            </a:r>
            <a:r>
              <a:rPr lang="en-AU" sz="1000" i="1" u="sng" dirty="0" smtClean="0">
                <a:hlinkClick r:id="rId4"/>
              </a:rPr>
              <a:t>www.quicklearn.com</a:t>
            </a:r>
            <a:r>
              <a:rPr lang="en-AU" sz="1000" i="1" u="sng" dirty="0" smtClean="0"/>
              <a:t>.</a:t>
            </a:r>
            <a:endParaRPr lang="en-US" sz="1000" i="1" dirty="0">
              <a:latin typeface="Arial" pitchFamily="34" charset="0"/>
              <a:cs typeface="Arial" pitchFamily="34"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1227207597"/>
              </p:ext>
            </p:extLst>
          </p:nvPr>
        </p:nvGraphicFramePr>
        <p:xfrm>
          <a:off x="453581" y="1304925"/>
          <a:ext cx="6569964" cy="4597400"/>
        </p:xfrm>
        <a:graphic>
          <a:graphicData uri="http://schemas.openxmlformats.org/drawingml/2006/table">
            <a:tbl>
              <a:tblPr/>
              <a:tblGrid>
                <a:gridCol w="1341881"/>
                <a:gridCol w="5228083"/>
              </a:tblGrid>
              <a:tr h="0">
                <a:tc>
                  <a:txBody>
                    <a:bodyPr/>
                    <a:lstStyle/>
                    <a:p>
                      <a:pPr marL="0" marR="0" fontAlgn="t">
                        <a:spcBef>
                          <a:spcPts val="0"/>
                        </a:spcBef>
                        <a:spcAft>
                          <a:spcPts val="0"/>
                        </a:spcAft>
                      </a:pPr>
                      <a:endParaRPr lang="en-US" dirty="0">
                        <a:effectLst/>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1800"/>
                        </a:spcAft>
                      </a:pPr>
                      <a:r>
                        <a:rPr lang="en-US" sz="1200" dirty="0" smtClean="0">
                          <a:solidFill>
                            <a:srgbClr val="333333"/>
                          </a:solidFill>
                          <a:effectLst/>
                          <a:latin typeface="Georgia"/>
                        </a:rPr>
                        <a:t>Testing for Continuous Delivery with Visual Studio 2012 </a:t>
                      </a:r>
                    </a:p>
                    <a:p>
                      <a:pPr marL="0" marR="0" fontAlgn="t">
                        <a:spcBef>
                          <a:spcPts val="0"/>
                        </a:spcBef>
                        <a:spcAft>
                          <a:spcPts val="1800"/>
                        </a:spcAft>
                      </a:pPr>
                      <a:r>
                        <a:rPr lang="en-US" sz="1200" dirty="0" smtClean="0">
                          <a:solidFill>
                            <a:srgbClr val="333333"/>
                          </a:solidFill>
                          <a:effectLst/>
                          <a:latin typeface="Georgia"/>
                        </a:rPr>
                        <a:t>(</a:t>
                      </a:r>
                      <a:r>
                        <a:rPr lang="en-US" sz="1200" dirty="0" smtClean="0">
                          <a:effectLst/>
                          <a:latin typeface="Georgia"/>
                          <a:hlinkClick r:id="rId5"/>
                        </a:rPr>
                        <a:t>Free eBook</a:t>
                      </a:r>
                      <a:r>
                        <a:rPr lang="en-US" sz="1200" dirty="0" smtClean="0">
                          <a:solidFill>
                            <a:srgbClr val="333333"/>
                          </a:solidFill>
                          <a:effectLst/>
                          <a:latin typeface="Georgia"/>
                        </a:rPr>
                        <a:t>) (</a:t>
                      </a:r>
                      <a:r>
                        <a:rPr lang="en-US" sz="1200" dirty="0" smtClean="0">
                          <a:effectLst/>
                          <a:latin typeface="Georgia"/>
                          <a:hlinkClick r:id="rId6"/>
                        </a:rPr>
                        <a:t>Physical book on Amazon</a:t>
                      </a:r>
                      <a:r>
                        <a:rPr lang="en-US" sz="1200" dirty="0" smtClean="0">
                          <a:solidFill>
                            <a:srgbClr val="333333"/>
                          </a:solidFill>
                          <a:effectLst/>
                          <a:latin typeface="Georgia"/>
                        </a:rPr>
                        <a:t>)</a:t>
                      </a:r>
                      <a:endParaRPr lang="en-US" sz="1200" dirty="0" smtClean="0">
                        <a:effectLst/>
                        <a:latin typeface="Georgia"/>
                      </a:endParaRPr>
                    </a:p>
                    <a:p>
                      <a:pPr marL="0" marR="0" fontAlgn="t">
                        <a:spcBef>
                          <a:spcPts val="0"/>
                        </a:spcBef>
                        <a:spcAft>
                          <a:spcPts val="1800"/>
                        </a:spcAft>
                      </a:pPr>
                      <a:r>
                        <a:rPr lang="en-US" sz="1200" dirty="0" smtClean="0">
                          <a:solidFill>
                            <a:srgbClr val="333333"/>
                          </a:solidFill>
                          <a:effectLst/>
                          <a:latin typeface="Georgia"/>
                        </a:rPr>
                        <a:t>Authors: Larry </a:t>
                      </a:r>
                      <a:r>
                        <a:rPr lang="en-US" sz="1200" dirty="0" err="1" smtClean="0">
                          <a:solidFill>
                            <a:srgbClr val="333333"/>
                          </a:solidFill>
                          <a:effectLst/>
                          <a:latin typeface="Georgia"/>
                        </a:rPr>
                        <a:t>Brader</a:t>
                      </a:r>
                      <a:r>
                        <a:rPr lang="en-US" sz="1200" dirty="0" smtClean="0">
                          <a:solidFill>
                            <a:srgbClr val="333333"/>
                          </a:solidFill>
                          <a:effectLst/>
                          <a:latin typeface="Georgia"/>
                        </a:rPr>
                        <a:t>, Howie Hilliker , Alan Cameron Wills</a:t>
                      </a:r>
                    </a:p>
                    <a:p>
                      <a:pPr marL="0" marR="0" fontAlgn="t">
                        <a:spcBef>
                          <a:spcPts val="0"/>
                        </a:spcBef>
                        <a:spcAft>
                          <a:spcPts val="0"/>
                        </a:spcAft>
                      </a:pPr>
                      <a:endParaRPr lang="en-US" sz="1200" dirty="0">
                        <a:solidFill>
                          <a:srgbClr val="333333"/>
                        </a:solidFill>
                        <a:effectLst/>
                        <a:latin typeface="Georgia"/>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1605280">
                <a:tc>
                  <a:txBody>
                    <a:bodyPr/>
                    <a:lstStyle/>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dirty="0">
                          <a:effectLst/>
                          <a:latin typeface="Georgia"/>
                          <a:hlinkClick r:id="rId7"/>
                        </a:rPr>
                        <a:t>Professional Team Foundation Server 2012</a:t>
                      </a:r>
                      <a:r>
                        <a:rPr lang="en-US" sz="1200" dirty="0">
                          <a:solidFill>
                            <a:srgbClr val="333333"/>
                          </a:solidFill>
                          <a:effectLst/>
                          <a:latin typeface="Georgia"/>
                        </a:rPr>
                        <a:t> </a:t>
                      </a:r>
                      <a:endParaRPr lang="en-US" dirty="0">
                        <a:effectLst/>
                      </a:endParaRPr>
                    </a:p>
                    <a:p>
                      <a:pPr marL="0" marR="0" fontAlgn="t">
                        <a:spcBef>
                          <a:spcPts val="0"/>
                        </a:spcBef>
                        <a:spcAft>
                          <a:spcPts val="0"/>
                        </a:spcAft>
                      </a:pPr>
                      <a:r>
                        <a:rPr lang="en-US" sz="1200" dirty="0">
                          <a:solidFill>
                            <a:srgbClr val="333333"/>
                          </a:solidFill>
                          <a:effectLst/>
                          <a:latin typeface="Georgia"/>
                        </a:rPr>
                        <a:t>Authors: Ed Blankenship, Martin Woodward, Grant Holliday and Brian Keller.</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r h="0">
                <a:tc>
                  <a:txBody>
                    <a:bodyPr/>
                    <a:lstStyle/>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p>
                      <a:pPr marL="0" marR="0" fontAlgn="t">
                        <a:spcBef>
                          <a:spcPts val="0"/>
                        </a:spcBef>
                        <a:spcAft>
                          <a:spcPts val="0"/>
                        </a:spcAft>
                      </a:pPr>
                      <a:endParaRPr lang="en-US" dirty="0" smtClean="0">
                        <a:effectLst/>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200" dirty="0">
                          <a:effectLst/>
                          <a:latin typeface="Georgia"/>
                          <a:hlinkClick r:id="rId8"/>
                        </a:rPr>
                        <a:t>Professional Application Lifecycle Management with Visual Studio 2012</a:t>
                      </a:r>
                      <a:endParaRPr lang="en-US" dirty="0">
                        <a:effectLst/>
                      </a:endParaRPr>
                    </a:p>
                    <a:p>
                      <a:pPr marL="0" marR="0" fontAlgn="t">
                        <a:spcBef>
                          <a:spcPts val="0"/>
                        </a:spcBef>
                        <a:spcAft>
                          <a:spcPts val="0"/>
                        </a:spcAft>
                      </a:pPr>
                      <a:r>
                        <a:rPr lang="en-US" sz="1200" dirty="0">
                          <a:solidFill>
                            <a:srgbClr val="333333"/>
                          </a:solidFill>
                          <a:effectLst/>
                          <a:latin typeface="Georgia"/>
                        </a:rPr>
                        <a:t>Authors: Mickey </a:t>
                      </a:r>
                      <a:r>
                        <a:rPr lang="en-US" sz="1200" dirty="0" err="1">
                          <a:solidFill>
                            <a:srgbClr val="333333"/>
                          </a:solidFill>
                          <a:effectLst/>
                          <a:latin typeface="Georgia"/>
                        </a:rPr>
                        <a:t>Gousset</a:t>
                      </a:r>
                      <a:r>
                        <a:rPr lang="en-US" sz="1200" dirty="0">
                          <a:solidFill>
                            <a:srgbClr val="333333"/>
                          </a:solidFill>
                          <a:effectLst/>
                          <a:latin typeface="Georgia"/>
                        </a:rPr>
                        <a:t>, Brian Keller and Martin Woodward.</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r>
            </a:tbl>
          </a:graphicData>
        </a:graphic>
      </p:graphicFrame>
      <p:pic>
        <p:nvPicPr>
          <p:cNvPr id="13" name="Picture 3" descr="ProTFS thumbnai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6262" y="2905125"/>
            <a:ext cx="1123950" cy="13906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ProALM thumbnai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6262" y="4505325"/>
            <a:ext cx="1123950" cy="139065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 descr="PandP_TestingEboo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262" y="1381125"/>
            <a:ext cx="1123950" cy="1381125"/>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le 14"/>
          <p:cNvSpPr/>
          <p:nvPr/>
        </p:nvSpPr>
        <p:spPr>
          <a:xfrm>
            <a:off x="195263" y="256490"/>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Tree>
    <p:extLst>
      <p:ext uri="{BB962C8B-B14F-4D97-AF65-F5344CB8AC3E}">
        <p14:creationId xmlns:p14="http://schemas.microsoft.com/office/powerpoint/2010/main" val="27522622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14375"/>
            <a:ext cx="63891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Release Management with </a:t>
            </a:r>
          </a:p>
          <a:p>
            <a:pPr eaLnBrk="1" hangingPunct="1"/>
            <a:r>
              <a:rPr lang="en-US" sz="3600" b="1" dirty="0">
                <a:latin typeface="Palatino Linotype" pitchFamily="18" charset="0"/>
              </a:rPr>
              <a:t>Team Foundation Server </a:t>
            </a:r>
            <a:r>
              <a:rPr lang="en-US" sz="3600" b="1" dirty="0" smtClean="0">
                <a:latin typeface="Palatino Linotype" pitchFamily="18" charset="0"/>
              </a:rPr>
              <a:t>2012</a:t>
            </a:r>
            <a:endParaRPr lang="en-US" sz="3600" b="1" dirty="0">
              <a:latin typeface="Palatino Linotype" pitchFamily="18" charset="0"/>
            </a:endParaRPr>
          </a:p>
        </p:txBody>
      </p:sp>
      <p:sp>
        <p:nvSpPr>
          <p:cNvPr id="12292" name="Rectangle 2"/>
          <p:cNvSpPr>
            <a:spLocks/>
          </p:cNvSpPr>
          <p:nvPr/>
        </p:nvSpPr>
        <p:spPr bwMode="auto">
          <a:xfrm>
            <a:off x="2173288" y="3133725"/>
            <a:ext cx="495617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i="1" dirty="0"/>
              <a:t>A professional Development Team is supposed to create potentially shippable quality output that has no further work required for delivery</a:t>
            </a:r>
            <a:r>
              <a:rPr lang="en-US" sz="1200" i="1" dirty="0" smtClean="0"/>
              <a:t>.</a:t>
            </a:r>
          </a:p>
          <a:p>
            <a:endParaRPr lang="en-US" sz="1200" dirty="0"/>
          </a:p>
          <a:p>
            <a:pPr algn="just"/>
            <a:r>
              <a:rPr lang="en-US" sz="1200" dirty="0"/>
              <a:t>There are many facets to release management and contrary to popular belief not a single one of them revolves around branching or code. There, I said it, its not about the code. Its about what you deploy. You may have a passing resemblance between code branching and your release process but they are two independent and only occasionally related processes. Intertwining them is where many </a:t>
            </a:r>
            <a:r>
              <a:rPr lang="en-US" sz="1200" dirty="0" smtClean="0"/>
              <a:t>organizations </a:t>
            </a:r>
            <a:r>
              <a:rPr lang="en-US" sz="1200" dirty="0"/>
              <a:t>start to see friction, it is however avoidable.</a:t>
            </a:r>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endParaRPr lang="en-US" sz="1200" dirty="0"/>
          </a:p>
          <a:p>
            <a:endParaRPr lang="en-US" sz="1200" dirty="0" smtClean="0"/>
          </a:p>
          <a:p>
            <a:endParaRPr lang="en-US" sz="1200" dirty="0"/>
          </a:p>
          <a:p>
            <a:r>
              <a:rPr lang="en-US" sz="1200" b="1" dirty="0"/>
              <a:t>Figure: Workflow and relationships in Team Foundation Server 2012</a:t>
            </a:r>
            <a:endParaRPr lang="en-US" sz="1200" dirty="0"/>
          </a:p>
          <a:p>
            <a:endParaRPr lang="en-US" sz="1200" dirty="0" smtClean="0"/>
          </a:p>
          <a:p>
            <a:pPr algn="just"/>
            <a:r>
              <a:rPr lang="en-US" sz="1200" dirty="0" smtClean="0"/>
              <a:t>Above </a:t>
            </a:r>
            <a:r>
              <a:rPr lang="en-US" sz="1200" dirty="0"/>
              <a:t>I have a rough workflow for working with Team Foundation Server 2012. In this model you would create a ‘build’ from source control and the output would be ‘dropped’ to a well known </a:t>
            </a:r>
            <a:r>
              <a:rPr lang="en-US" sz="1200" dirty="0" smtClean="0"/>
              <a:t>location.</a:t>
            </a:r>
            <a:endParaRPr lang="en-US" sz="1200" dirty="0"/>
          </a:p>
        </p:txBody>
      </p:sp>
      <p:sp>
        <p:nvSpPr>
          <p:cNvPr id="12293" name="Rectangle 3"/>
          <p:cNvSpPr>
            <a:spLocks/>
          </p:cNvSpPr>
          <p:nvPr/>
        </p:nvSpPr>
        <p:spPr bwMode="auto">
          <a:xfrm>
            <a:off x="3471862" y="1936750"/>
            <a:ext cx="3657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hile</a:t>
            </a:r>
            <a:r>
              <a:rPr lang="en-US" sz="1200" dirty="0" smtClean="0"/>
              <a:t> </a:t>
            </a:r>
            <a:r>
              <a:rPr lang="en-US" sz="1200" dirty="0"/>
              <a:t>on the surface it looks like TFS 2012 has little in the way of support for release management, you would be wrong. There are many features in Team Foundation Server, many of them added in TFS 2010 that can aid you in creating a release management strategy.</a:t>
            </a:r>
          </a:p>
        </p:txBody>
      </p:sp>
      <p:sp>
        <p:nvSpPr>
          <p:cNvPr id="12294" name="Rectangle 4"/>
          <p:cNvSpPr>
            <a:spLocks/>
          </p:cNvSpPr>
          <p:nvPr/>
        </p:nvSpPr>
        <p:spPr bwMode="auto">
          <a:xfrm>
            <a:off x="2024063" y="1611313"/>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W</a:t>
            </a:r>
          </a:p>
        </p:txBody>
      </p:sp>
      <p:sp>
        <p:nvSpPr>
          <p:cNvPr id="12296" name="Rectangle 5"/>
          <p:cNvSpPr>
            <a:spLocks/>
          </p:cNvSpPr>
          <p:nvPr/>
        </p:nvSpPr>
        <p:spPr bwMode="auto">
          <a:xfrm>
            <a:off x="347663" y="35925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Martin </a:t>
            </a:r>
            <a:r>
              <a:rPr lang="en-US" sz="1100" i="1" dirty="0" smtClean="0">
                <a:solidFill>
                  <a:srgbClr val="4D4D4D"/>
                </a:solidFill>
                <a:latin typeface="Helvetica" charset="0"/>
                <a:cs typeface="Helvetica" charset="0"/>
                <a:sym typeface="Helvetica" charset="0"/>
              </a:rPr>
              <a:t>Hinshelwood</a:t>
            </a:r>
          </a:p>
          <a:p>
            <a:pPr algn="r"/>
            <a:r>
              <a:rPr lang="en-US" sz="1100" i="1" dirty="0">
                <a:solidFill>
                  <a:srgbClr val="4D4D4D"/>
                </a:solidFill>
                <a:latin typeface="Helvetica" charset="0"/>
                <a:cs typeface="Helvetica" charset="0"/>
              </a:rPr>
              <a:t>ALM Consultant</a:t>
            </a:r>
          </a:p>
          <a:p>
            <a:pPr algn="r"/>
            <a:r>
              <a:rPr lang="en-US" sz="1100" i="1" dirty="0">
                <a:latin typeface="Helvetica" pitchFamily="34" charset="0"/>
                <a:cs typeface="Helvetica" pitchFamily="34" charset="0"/>
                <a:hlinkClick r:id="rId2"/>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p:txBody>
      </p:sp>
      <p:pic>
        <p:nvPicPr>
          <p:cNvPr id="12297" name="Picture 9" descr="Martin Hinshelwo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1978025"/>
            <a:ext cx="1427162"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12</a:t>
            </a:fld>
            <a:endParaRPr lang="en-PH" dirty="0"/>
          </a:p>
        </p:txBody>
      </p:sp>
      <p:sp>
        <p:nvSpPr>
          <p:cNvPr id="15" name="Rounded Rectangle 14">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pic>
        <p:nvPicPr>
          <p:cNvPr id="2050" name="Picture 2" descr="Workflow and relationships in Team Foundation Server 20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6462" y="5038725"/>
            <a:ext cx="5105401" cy="2980278"/>
          </a:xfrm>
          <a:prstGeom prst="rect">
            <a:avLst/>
          </a:prstGeom>
          <a:noFill/>
          <a:extLst>
            <a:ext uri="{909E8E84-426E-40DD-AFC4-6F175D3DCCD1}">
              <a14:hiddenFill xmlns:a14="http://schemas.microsoft.com/office/drawing/2010/main">
                <a:solidFill>
                  <a:srgbClr val="FFFFFF"/>
                </a:solidFill>
              </a14:hiddenFill>
            </a:ext>
          </a:extLst>
        </p:spPr>
      </p:pic>
      <p:sp>
        <p:nvSpPr>
          <p:cNvPr id="16" name="Rounded Rectangle 15"/>
          <p:cNvSpPr/>
          <p:nvPr/>
        </p:nvSpPr>
        <p:spPr>
          <a:xfrm>
            <a:off x="5300663" y="2023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15599976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13</a:t>
            </a:fld>
            <a:endParaRPr lang="en-PH" dirty="0"/>
          </a:p>
        </p:txBody>
      </p:sp>
      <p:sp>
        <p:nvSpPr>
          <p:cNvPr id="10" name="Rectangle 2"/>
          <p:cNvSpPr>
            <a:spLocks/>
          </p:cNvSpPr>
          <p:nvPr/>
        </p:nvSpPr>
        <p:spPr bwMode="auto">
          <a:xfrm>
            <a:off x="3894137" y="8086725"/>
            <a:ext cx="3150344" cy="1295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dirty="0" smtClean="0"/>
              <a:t>Martin </a:t>
            </a:r>
            <a:r>
              <a:rPr lang="en-GB" sz="1000" i="1" dirty="0"/>
              <a:t>is </a:t>
            </a:r>
            <a:r>
              <a:rPr lang="en-GB" sz="1000" i="1" dirty="0" smtClean="0"/>
              <a:t>an </a:t>
            </a:r>
            <a:r>
              <a:rPr lang="en-GB" sz="1000" i="1" dirty="0"/>
              <a:t>ALM Consultant at </a:t>
            </a:r>
            <a:r>
              <a:rPr lang="en-GB" sz="1000" i="1" u="sng" dirty="0">
                <a:hlinkClick r:id="rId2"/>
              </a:rPr>
              <a:t>Northwest Cadence</a:t>
            </a:r>
            <a:r>
              <a:rPr lang="en-GB" sz="1000" i="1" dirty="0"/>
              <a:t>, and </a:t>
            </a:r>
            <a:r>
              <a:rPr lang="en-GB" sz="1000" i="1" u="sng" dirty="0">
                <a:hlinkClick r:id="rId3"/>
              </a:rPr>
              <a:t>Visual Studio ALM MVP (2013)</a:t>
            </a:r>
            <a:r>
              <a:rPr lang="en-GB" sz="1000" i="1" dirty="0"/>
              <a:t>. He was named </a:t>
            </a:r>
            <a:r>
              <a:rPr lang="en-GB" sz="1000" i="1" u="sng" dirty="0">
                <a:hlinkClick r:id="rId3"/>
              </a:rPr>
              <a:t>ALM MVP of the year 2011</a:t>
            </a:r>
            <a:r>
              <a:rPr lang="en-GB" sz="1000" i="1" dirty="0"/>
              <a:t>, </a:t>
            </a:r>
            <a:r>
              <a:rPr lang="en-GB" sz="1000" i="1" u="sng" dirty="0">
                <a:hlinkClick r:id="rId4"/>
              </a:rPr>
              <a:t>ALM Ranger Champion for 2011</a:t>
            </a:r>
            <a:r>
              <a:rPr lang="en-GB" sz="1000" i="1" dirty="0"/>
              <a:t> and was one of the first </a:t>
            </a:r>
            <a:r>
              <a:rPr lang="en-GB" sz="1000" i="1" u="sng" dirty="0">
                <a:hlinkClick r:id="rId5"/>
              </a:rPr>
              <a:t>Professional Scrum Trainers</a:t>
            </a:r>
            <a:r>
              <a:rPr lang="en-GB" sz="1000" i="1" dirty="0"/>
              <a:t> with Scrum.org. </a:t>
            </a:r>
            <a:r>
              <a:rPr lang="en-GB" sz="1000" i="1" dirty="0" smtClean="0"/>
              <a:t>Martin </a:t>
            </a:r>
            <a:r>
              <a:rPr lang="en-GB" sz="1000" i="1" dirty="0"/>
              <a:t>regularly delivers consulting and training while writing for his </a:t>
            </a:r>
            <a:r>
              <a:rPr lang="en-GB" sz="1000" i="1" u="sng" dirty="0">
                <a:hlinkClick r:id="rId6"/>
              </a:rPr>
              <a:t>Visual Studio ALM blog</a:t>
            </a:r>
            <a:r>
              <a:rPr lang="en-GB" sz="1000" i="1" dirty="0"/>
              <a:t>, and is a sought-after speaker. </a:t>
            </a:r>
            <a:endParaRPr lang="en-US" sz="1000" i="1" dirty="0"/>
          </a:p>
          <a:p>
            <a:endParaRPr lang="en-US" sz="1000" i="1" dirty="0">
              <a:latin typeface="Arial" pitchFamily="34" charset="0"/>
              <a:cs typeface="Arial" pitchFamily="34" charset="0"/>
            </a:endParaRPr>
          </a:p>
        </p:txBody>
      </p:sp>
      <p:sp>
        <p:nvSpPr>
          <p:cNvPr id="11" name="Rectangle 2"/>
          <p:cNvSpPr>
            <a:spLocks/>
          </p:cNvSpPr>
          <p:nvPr/>
        </p:nvSpPr>
        <p:spPr bwMode="auto">
          <a:xfrm>
            <a:off x="423864" y="771526"/>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If </a:t>
            </a:r>
            <a:r>
              <a:rPr lang="en-US" sz="1200" dirty="0"/>
              <a:t>you are using </a:t>
            </a:r>
            <a:r>
              <a:rPr lang="en-US" sz="1200" dirty="0" err="1"/>
              <a:t>NuGet</a:t>
            </a:r>
            <a:r>
              <a:rPr lang="en-US" sz="1200" dirty="0"/>
              <a:t> packages you will even know what is deployed.</a:t>
            </a:r>
          </a:p>
          <a:p>
            <a:pPr algn="just"/>
            <a:endParaRPr lang="en-US" sz="1200" dirty="0"/>
          </a:p>
          <a:p>
            <a:pPr algn="just"/>
            <a:r>
              <a:rPr lang="en-US" sz="1400" b="1" dirty="0"/>
              <a:t>Conclusion</a:t>
            </a:r>
          </a:p>
          <a:p>
            <a:pPr algn="just"/>
            <a:r>
              <a:rPr lang="en-US" sz="1200" dirty="0"/>
              <a:t>There are lots of options for the automation of your application deployment. I can’t say this enough but:</a:t>
            </a:r>
          </a:p>
          <a:p>
            <a:endParaRPr lang="en-US" sz="1200" b="1" i="1" dirty="0"/>
          </a:p>
          <a:p>
            <a:r>
              <a:rPr lang="en-US" sz="1200" b="1" i="1" dirty="0"/>
              <a:t>A professional Development Team is supposed to create potentially shippable quality output that has no further work required for delivery.</a:t>
            </a:r>
          </a:p>
          <a:p>
            <a:pPr algn="just"/>
            <a:endParaRPr lang="en-US" sz="1200" dirty="0" smtClean="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400" b="1" dirty="0" smtClean="0"/>
          </a:p>
          <a:p>
            <a:pPr algn="just"/>
            <a:endParaRPr lang="en-US" sz="1200" dirty="0"/>
          </a:p>
          <a:p>
            <a:pPr algn="just"/>
            <a:r>
              <a:rPr lang="en-US" sz="1200" dirty="0"/>
              <a:t>If we fail any sort of stage gate that occurs after the engineering team has said that it is ‘done’ then we need to seriously look at why that happened and what we can put in place to make sure that it never happens again. That sort of attitude will improve the quality of your software and reduce the risk of delivery </a:t>
            </a:r>
            <a:r>
              <a:rPr lang="en-US" sz="1200" dirty="0" smtClean="0"/>
              <a:t>vastly.</a:t>
            </a:r>
          </a:p>
          <a:p>
            <a:pPr algn="just"/>
            <a:endParaRPr lang="en-US" sz="1200" dirty="0"/>
          </a:p>
          <a:p>
            <a:pPr algn="just"/>
            <a:r>
              <a:rPr lang="en-US" sz="1200" dirty="0"/>
              <a:t>This flow of building once and then repeated validation will help weed out those last quality</a:t>
            </a:r>
          </a:p>
        </p:txBody>
      </p:sp>
      <p:sp>
        <p:nvSpPr>
          <p:cNvPr id="12" name="Rectangle 1"/>
          <p:cNvSpPr>
            <a:spLocks/>
          </p:cNvSpPr>
          <p:nvPr/>
        </p:nvSpPr>
        <p:spPr bwMode="auto">
          <a:xfrm>
            <a:off x="3894137" y="771525"/>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issues </a:t>
            </a:r>
            <a:r>
              <a:rPr lang="en-US" sz="1200" dirty="0"/>
              <a:t>so that you don’t get many, if any, issues in production. Teams that follow models like this, when combined with good engineering practices, spend less time fighting fires and more time delivering real customer value. The goal would be to get from </a:t>
            </a:r>
            <a:r>
              <a:rPr lang="en-US" sz="1200" dirty="0" smtClean="0"/>
              <a:t>Check-In </a:t>
            </a:r>
            <a:r>
              <a:rPr lang="en-US" sz="1200" dirty="0"/>
              <a:t>to your Production Environment at least </a:t>
            </a:r>
            <a:r>
              <a:rPr lang="en-US" sz="1200" dirty="0" smtClean="0"/>
              <a:t>every </a:t>
            </a:r>
            <a:r>
              <a:rPr lang="en-US" sz="1200" dirty="0"/>
              <a:t>30 days.</a:t>
            </a:r>
            <a:r>
              <a:rPr lang="en-US" sz="1200" dirty="0" smtClean="0"/>
              <a:t> </a:t>
            </a:r>
            <a:endParaRPr lang="en-US" sz="1200" dirty="0"/>
          </a:p>
          <a:p>
            <a:pPr algn="just"/>
            <a:endParaRPr lang="en-US" sz="1200" dirty="0" smtClean="0"/>
          </a:p>
          <a:p>
            <a:r>
              <a:rPr lang="en-US" sz="1200" dirty="0"/>
              <a:t>That means that you need to be using the very best Processes, Practices and Tools to make it as slick as possible.</a:t>
            </a:r>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endParaRPr lang="en-US" sz="1200" dirty="0"/>
          </a:p>
          <a:p>
            <a:endParaRPr lang="en-US" sz="1200" dirty="0" smtClean="0"/>
          </a:p>
          <a:p>
            <a:endParaRPr lang="en-US" sz="1200" dirty="0"/>
          </a:p>
          <a:p>
            <a:endParaRPr lang="en-US" sz="1200" dirty="0"/>
          </a:p>
          <a:p>
            <a:endParaRPr lang="en-US" sz="1200" b="1" dirty="0" smtClean="0"/>
          </a:p>
          <a:p>
            <a:endParaRPr lang="en-US" sz="1200" b="1" dirty="0" smtClean="0"/>
          </a:p>
          <a:p>
            <a:r>
              <a:rPr lang="en-US" sz="1200" b="1" dirty="0" smtClean="0"/>
              <a:t>How </a:t>
            </a:r>
            <a:r>
              <a:rPr lang="en-US" sz="1200" b="1" dirty="0"/>
              <a:t>long is your release process? </a:t>
            </a:r>
          </a:p>
          <a:p>
            <a:endParaRPr lang="en-US" sz="1200" dirty="0"/>
          </a:p>
          <a:p>
            <a:r>
              <a:rPr lang="en-US" sz="1200" b="1" dirty="0"/>
              <a:t>How sure are you of your quality?</a:t>
            </a:r>
            <a:endParaRPr lang="en-US" sz="1200" dirty="0"/>
          </a:p>
          <a:p>
            <a:pPr algn="just"/>
            <a:endParaRPr lang="en-US" sz="1200" dirty="0"/>
          </a:p>
        </p:txBody>
      </p:sp>
      <p:pic>
        <p:nvPicPr>
          <p:cNvPr id="13" name="Picture 2" descr="Release Management Workflow in Team Foundation Server 20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6769" y="3112123"/>
            <a:ext cx="6087893" cy="354619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
          <p:cNvSpPr>
            <a:spLocks/>
          </p:cNvSpPr>
          <p:nvPr/>
        </p:nvSpPr>
        <p:spPr bwMode="auto">
          <a:xfrm>
            <a:off x="576261" y="6715125"/>
            <a:ext cx="6400801"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a:t>Figure: Release Management Workflow in Team Foundation Server 2012</a:t>
            </a:r>
          </a:p>
        </p:txBody>
      </p: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32882248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http://go.xebialabs.com/rs/xebialabs/images/Andrew_Phillips.jpg"/>
          <p:cNvPicPr/>
          <p:nvPr/>
        </p:nvPicPr>
        <p:blipFill>
          <a:blip r:link="rId2">
            <a:extLst>
              <a:ext uri="{28A0092B-C50C-407E-A947-70E740481C1C}">
                <a14:useLocalDpi xmlns:a14="http://schemas.microsoft.com/office/drawing/2010/main" val="0"/>
              </a:ext>
            </a:extLst>
          </a:blip>
          <a:srcRect/>
          <a:stretch>
            <a:fillRect/>
          </a:stretch>
        </p:blipFill>
        <p:spPr bwMode="auto">
          <a:xfrm>
            <a:off x="533805" y="1911493"/>
            <a:ext cx="1414057" cy="1371600"/>
          </a:xfrm>
          <a:prstGeom prst="rect">
            <a:avLst/>
          </a:prstGeom>
          <a:noFill/>
          <a:ln>
            <a:noFill/>
          </a:ln>
        </p:spPr>
      </p:pic>
      <p:sp>
        <p:nvSpPr>
          <p:cNvPr id="12290" name="TextBox 3"/>
          <p:cNvSpPr txBox="1">
            <a:spLocks noChangeArrowheads="1"/>
          </p:cNvSpPr>
          <p:nvPr/>
        </p:nvSpPr>
        <p:spPr bwMode="auto">
          <a:xfrm>
            <a:off x="195263" y="695327"/>
            <a:ext cx="726032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Continuous Delivery: Delivering </a:t>
            </a:r>
            <a:endParaRPr lang="en-US" sz="3600" b="1" dirty="0" smtClean="0">
              <a:latin typeface="Palatino Linotype" pitchFamily="18" charset="0"/>
            </a:endParaRPr>
          </a:p>
          <a:p>
            <a:pPr eaLnBrk="1" hangingPunct="1"/>
            <a:r>
              <a:rPr lang="en-US" sz="3600" b="1" dirty="0" smtClean="0">
                <a:latin typeface="Palatino Linotype" pitchFamily="18" charset="0"/>
              </a:rPr>
              <a:t>IT to </a:t>
            </a:r>
            <a:r>
              <a:rPr lang="en-US" sz="3600" b="1" dirty="0">
                <a:latin typeface="Palatino Linotype" pitchFamily="18" charset="0"/>
              </a:rPr>
              <a:t>the Always Up-to-date User</a:t>
            </a:r>
          </a:p>
        </p:txBody>
      </p:sp>
      <p:sp>
        <p:nvSpPr>
          <p:cNvPr id="12292" name="Rectangle 2"/>
          <p:cNvSpPr>
            <a:spLocks/>
          </p:cNvSpPr>
          <p:nvPr/>
        </p:nvSpPr>
        <p:spPr bwMode="auto">
          <a:xfrm>
            <a:off x="2173288" y="3134102"/>
            <a:ext cx="4956175" cy="5762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With today’s always-connected user, able to access your services all the time, everywhere, and to evaluate your competitors’ offerings with a few taps or clicks, the business of service delivery is never “done”. Your service is expected to be always available and continuously improving</a:t>
            </a:r>
            <a:r>
              <a:rPr lang="en-US" sz="1200" dirty="0" smtClean="0"/>
              <a:t>.</a:t>
            </a:r>
          </a:p>
          <a:p>
            <a:pPr algn="just"/>
            <a:endParaRPr lang="en-US" sz="1200" dirty="0"/>
          </a:p>
          <a:p>
            <a:pPr algn="just"/>
            <a:r>
              <a:rPr lang="en-US" sz="1200" dirty="0"/>
              <a:t>Businesses understand that they need to be “always-on”. This requires constant, consistent application and service delivery to ensure a </a:t>
            </a:r>
            <a:r>
              <a:rPr lang="en-US" sz="1200" dirty="0" smtClean="0"/>
              <a:t>positive, seamless</a:t>
            </a:r>
            <a:r>
              <a:rPr lang="en-US" sz="1200" dirty="0"/>
              <a:t>, rich customer experience</a:t>
            </a:r>
            <a:r>
              <a:rPr lang="en-US" sz="1200" dirty="0" smtClean="0"/>
              <a:t>.</a:t>
            </a:r>
          </a:p>
          <a:p>
            <a:pPr algn="just"/>
            <a:r>
              <a:rPr lang="en-US" sz="1200" dirty="0"/>
              <a:t/>
            </a:r>
            <a:br>
              <a:rPr lang="en-US" sz="1200" dirty="0"/>
            </a:br>
            <a:r>
              <a:rPr lang="en-US" sz="1200" dirty="0"/>
              <a:t>Certain software delivery and integration strategies are central to allowing your organization’s offering to be reliable and engaging, meeting and exceeding the high expectations of today’s audience that demands its content and applications be constantly available and instantly gratifying</a:t>
            </a:r>
            <a:r>
              <a:rPr lang="en-US" sz="1200" dirty="0" smtClean="0"/>
              <a:t>.</a:t>
            </a:r>
          </a:p>
          <a:p>
            <a:pPr algn="just"/>
            <a:endParaRPr lang="en-US" sz="1200" dirty="0"/>
          </a:p>
          <a:p>
            <a:pPr algn="just"/>
            <a:r>
              <a:rPr lang="en-US" sz="1200" dirty="0"/>
              <a:t>Expanding on from the widespread adoption of Agile development practices in the enterprise, the leading strategy to achieve this today is </a:t>
            </a:r>
            <a:r>
              <a:rPr lang="en-US" sz="1200" i="1" dirty="0"/>
              <a:t>Continuous Delivery</a:t>
            </a:r>
            <a:r>
              <a:rPr lang="en-US" sz="1200" dirty="0" smtClean="0"/>
              <a:t>.</a:t>
            </a:r>
          </a:p>
          <a:p>
            <a:pPr algn="just"/>
            <a:endParaRPr lang="en-US" sz="1200" dirty="0"/>
          </a:p>
          <a:p>
            <a:pPr algn="just"/>
            <a:r>
              <a:rPr lang="en-US" sz="1400" b="1" dirty="0"/>
              <a:t>Continuous vs. Traditional Manual </a:t>
            </a:r>
            <a:r>
              <a:rPr lang="en-US" sz="1400" b="1" dirty="0" smtClean="0"/>
              <a:t>Delivery</a:t>
            </a:r>
          </a:p>
          <a:p>
            <a:pPr algn="just"/>
            <a:r>
              <a:rPr lang="en-US" sz="1200" dirty="0" smtClean="0"/>
              <a:t>In </a:t>
            </a:r>
            <a:r>
              <a:rPr lang="en-US" sz="1200" dirty="0"/>
              <a:t>most organizations, the software delivery process today involves many manual or semi-automated steps, requiring a significant investment in terms of scripting and troubleshooting. Further, the delivery and release process followed varies widely across departments, applications and technologies, leading to error-prone, non-transferable activities and costs that increase in direct proportion to the release volume</a:t>
            </a:r>
            <a:r>
              <a:rPr lang="en-US" sz="1200" dirty="0" smtClean="0"/>
              <a:t>.</a:t>
            </a:r>
          </a:p>
          <a:p>
            <a:pPr algn="just"/>
            <a:endParaRPr lang="en-US" sz="1200" dirty="0"/>
          </a:p>
          <a:p>
            <a:pPr algn="just"/>
            <a:r>
              <a:rPr lang="en-US" sz="1200" dirty="0"/>
              <a:t>Continuous Delivery is a fundamental shift in the software development and delivery process, based on a simplified release management practice that unifies development, production testing, QA, testing and </a:t>
            </a:r>
            <a:r>
              <a:rPr lang="en-US" sz="1200" dirty="0" smtClean="0"/>
              <a:t>operations</a:t>
            </a:r>
            <a:endParaRPr lang="en-US" sz="1200" dirty="0"/>
          </a:p>
        </p:txBody>
      </p:sp>
      <p:sp>
        <p:nvSpPr>
          <p:cNvPr id="12293" name="Rectangle 3"/>
          <p:cNvSpPr>
            <a:spLocks/>
          </p:cNvSpPr>
          <p:nvPr/>
        </p:nvSpPr>
        <p:spPr bwMode="auto">
          <a:xfrm>
            <a:off x="3090863" y="1900615"/>
            <a:ext cx="4038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smtClean="0"/>
              <a:t>rying </a:t>
            </a:r>
            <a:r>
              <a:rPr lang="en-US" sz="1200" i="1" dirty="0"/>
              <a:t>to serve today’s always connected, always updated IT user with anything less than a fully automated application delivery process makes no sense.</a:t>
            </a:r>
            <a:r>
              <a:rPr lang="en-US" sz="1200" dirty="0"/>
              <a:t> </a:t>
            </a:r>
            <a:r>
              <a:rPr lang="en-US" sz="1200" i="1" dirty="0"/>
              <a:t> Software Delivery is evolving from an effort-intensive, error-prone “big bang” activity to a seamless, incremental and continuous process that is proving to be faster, more reliable and more efficient.</a:t>
            </a:r>
            <a:r>
              <a:rPr lang="en-US" sz="1200" dirty="0" smtClean="0"/>
              <a:t> </a:t>
            </a:r>
            <a:endParaRPr lang="en-US" sz="1200" dirty="0"/>
          </a:p>
        </p:txBody>
      </p:sp>
      <p:sp>
        <p:nvSpPr>
          <p:cNvPr id="12294" name="Rectangle 4"/>
          <p:cNvSpPr>
            <a:spLocks/>
          </p:cNvSpPr>
          <p:nvPr/>
        </p:nvSpPr>
        <p:spPr bwMode="auto">
          <a:xfrm>
            <a:off x="2024063" y="15335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14</a:t>
            </a:fld>
            <a:endParaRPr lang="en-PH" dirty="0"/>
          </a:p>
        </p:txBody>
      </p:sp>
      <p:sp>
        <p:nvSpPr>
          <p:cNvPr id="17" name="Rectangle 5"/>
          <p:cNvSpPr>
            <a:spLocks/>
          </p:cNvSpPr>
          <p:nvPr/>
        </p:nvSpPr>
        <p:spPr bwMode="auto">
          <a:xfrm>
            <a:off x="344486" y="351510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Andrew Phillips</a:t>
            </a:r>
          </a:p>
          <a:p>
            <a:pPr algn="r"/>
            <a:r>
              <a:rPr lang="en-US" sz="1100" i="1" dirty="0">
                <a:solidFill>
                  <a:srgbClr val="4D4D4D"/>
                </a:solidFill>
                <a:latin typeface="Helvetica" charset="0"/>
                <a:cs typeface="Helvetica" charset="0"/>
              </a:rPr>
              <a:t>XebiaLabs</a:t>
            </a:r>
          </a:p>
          <a:p>
            <a:pPr algn="r"/>
            <a:endParaRPr lang="en-US" sz="1100" i="1" dirty="0">
              <a:solidFill>
                <a:srgbClr val="4D4D4D"/>
              </a:solidFill>
              <a:latin typeface="Helvetica" charset="0"/>
              <a:cs typeface="Helvetica" charset="0"/>
              <a:sym typeface="Helvetica"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7380254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15</a:t>
            </a:fld>
            <a:endParaRPr lang="en-PH" dirty="0"/>
          </a:p>
        </p:txBody>
      </p:sp>
      <p:pic>
        <p:nvPicPr>
          <p:cNvPr id="205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4" y="0"/>
            <a:ext cx="7548081" cy="496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p:cNvSpPr>
            <a:spLocks/>
          </p:cNvSpPr>
          <p:nvPr/>
        </p:nvSpPr>
        <p:spPr bwMode="auto">
          <a:xfrm>
            <a:off x="3894139" y="5038725"/>
            <a:ext cx="3159125" cy="396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will </a:t>
            </a:r>
            <a:r>
              <a:rPr lang="en-US" sz="1200" dirty="0"/>
              <a:t>their insight and experience be invaluable for understanding the challenges you have to overcome, their participation is required to accurately determine the best strategies for optimizing a new process.</a:t>
            </a:r>
          </a:p>
          <a:p>
            <a:endParaRPr lang="en-US" sz="1200" dirty="0"/>
          </a:p>
          <a:p>
            <a:pPr algn="just"/>
            <a:r>
              <a:rPr lang="en-US" sz="1200" dirty="0"/>
              <a:t>The next step is to review technologies that underpin a move to Continuous Delivery, including tools for Continuous Integration, automated testing, provisioning and automated deployment. Oftentimes, organizations are finding they have some of these tools in-house already, and it is a matter of adding some final pieces to make the move to Continuous Delivery.</a:t>
            </a:r>
          </a:p>
          <a:p>
            <a:pPr algn="just"/>
            <a:endParaRPr lang="en-US" sz="1200" dirty="0" smtClean="0"/>
          </a:p>
          <a:p>
            <a:pPr algn="just"/>
            <a:r>
              <a:rPr lang="en-US" sz="1200" dirty="0" smtClean="0"/>
              <a:t>Once </a:t>
            </a:r>
            <a:r>
              <a:rPr lang="en-US" sz="1200" dirty="0"/>
              <a:t>the elements are all capable of working together in order to deliver improved functionality, continuous application delivery becomes the new </a:t>
            </a:r>
            <a:r>
              <a:rPr lang="en-US" sz="1200" dirty="0" smtClean="0"/>
              <a:t>standard.</a:t>
            </a:r>
            <a:endParaRPr lang="en-US" sz="1200" dirty="0"/>
          </a:p>
        </p:txBody>
      </p:sp>
      <p:sp>
        <p:nvSpPr>
          <p:cNvPr id="6" name="Rectangle 2"/>
          <p:cNvSpPr>
            <a:spLocks/>
          </p:cNvSpPr>
          <p:nvPr/>
        </p:nvSpPr>
        <p:spPr bwMode="auto">
          <a:xfrm>
            <a:off x="423864" y="5038725"/>
            <a:ext cx="3127375" cy="396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faster </a:t>
            </a:r>
            <a:r>
              <a:rPr lang="en-US" sz="1200" dirty="0"/>
              <a:t>pace, features will land in your customers’ hands much more quickly, and with a far lower failure rate. This delivers not only the latest and greatest your company has to offer, but also aligns the continuous delivery of software with today’s connected culture giving rise to a seamless customer experience and greater innovation.</a:t>
            </a:r>
          </a:p>
          <a:p>
            <a:endParaRPr lang="en-US" sz="1200" dirty="0"/>
          </a:p>
          <a:p>
            <a:r>
              <a:rPr lang="en-US" sz="1400" b="1" dirty="0"/>
              <a:t>Making the </a:t>
            </a:r>
            <a:r>
              <a:rPr lang="en-US" sz="1400" b="1" dirty="0" smtClean="0"/>
              <a:t>Transition</a:t>
            </a:r>
          </a:p>
          <a:p>
            <a:pPr algn="just"/>
            <a:r>
              <a:rPr lang="en-US" sz="1200" dirty="0" smtClean="0"/>
              <a:t>Beginning </a:t>
            </a:r>
            <a:r>
              <a:rPr lang="en-US" sz="1200" dirty="0"/>
              <a:t>the process of changing over to Continuous Delivery begins with an honest assessment of your existing model and your future needs. This will help you determine the best order and approach for your implementation, and give rise to realistic expectations and deadlines</a:t>
            </a:r>
            <a:r>
              <a:rPr lang="en-US" sz="1200" dirty="0" smtClean="0"/>
              <a:t>.</a:t>
            </a:r>
          </a:p>
          <a:p>
            <a:endParaRPr lang="en-US" sz="1200" dirty="0" smtClean="0"/>
          </a:p>
          <a:p>
            <a:r>
              <a:rPr lang="en-US" sz="1200" dirty="0"/>
              <a:t>Engaging your development team is </a:t>
            </a:r>
            <a:r>
              <a:rPr lang="en-US" sz="1200" dirty="0" smtClean="0"/>
              <a:t>an </a:t>
            </a:r>
            <a:r>
              <a:rPr lang="en-US" sz="1200" dirty="0"/>
              <a:t>essential element to ensuring a positive shift into automated application delivery. Not only </a:t>
            </a:r>
          </a:p>
        </p:txBody>
      </p:sp>
      <p:sp>
        <p:nvSpPr>
          <p:cNvPr id="7" name="Rectangle 2"/>
          <p:cNvSpPr>
            <a:spLocks/>
          </p:cNvSpPr>
          <p:nvPr/>
        </p:nvSpPr>
        <p:spPr bwMode="auto">
          <a:xfrm>
            <a:off x="652462" y="9001126"/>
            <a:ext cx="6172200" cy="6095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4"/>
              </a:rPr>
              <a:t>Andrew Phillips</a:t>
            </a:r>
            <a:r>
              <a:rPr lang="en-US" sz="1000" i="1" dirty="0"/>
              <a:t> is Vice President, Product </a:t>
            </a:r>
            <a:r>
              <a:rPr lang="en-US" sz="1000" i="1" dirty="0" smtClean="0"/>
              <a:t>Management at </a:t>
            </a:r>
            <a:r>
              <a:rPr lang="en-US" sz="1000" i="1" u="sng" dirty="0">
                <a:hlinkClick r:id="rId2"/>
              </a:rPr>
              <a:t>XebiaLabs</a:t>
            </a:r>
            <a:r>
              <a:rPr lang="en-US" sz="1000" i="1" dirty="0"/>
              <a:t>. </a:t>
            </a:r>
            <a:r>
              <a:rPr lang="en-US" sz="1000" i="1" dirty="0" smtClean="0"/>
              <a:t>a </a:t>
            </a:r>
            <a:r>
              <a:rPr lang="en-US" sz="1000" i="1" dirty="0"/>
              <a:t>global provider of Application Release Automation </a:t>
            </a:r>
            <a:r>
              <a:rPr lang="en-US" sz="1000" i="1" dirty="0" smtClean="0"/>
              <a:t>offering </a:t>
            </a:r>
            <a:r>
              <a:rPr lang="en-US" sz="1000" i="1" dirty="0"/>
              <a:t>a Continuous Delivery platform to help enterprises improve and accelerate the application delivery process. To </a:t>
            </a:r>
            <a:r>
              <a:rPr lang="en-US" sz="1000" i="1" dirty="0" smtClean="0"/>
              <a:t>get </a:t>
            </a:r>
            <a:r>
              <a:rPr lang="en-US" sz="1000" i="1" dirty="0"/>
              <a:t>started moving to Continuous Delivery, </a:t>
            </a:r>
            <a:r>
              <a:rPr lang="en-US" sz="1000" i="1" u="sng" dirty="0">
                <a:hlinkClick r:id="rId5"/>
              </a:rPr>
              <a:t>Read the new white paper</a:t>
            </a:r>
            <a:r>
              <a:rPr lang="en-US" sz="1000" i="1" dirty="0"/>
              <a:t>.</a:t>
            </a:r>
          </a:p>
        </p:txBody>
      </p:sp>
      <p:sp>
        <p:nvSpPr>
          <p:cNvPr id="8" name="Rounded Rectangle 7">
            <a:hlinkClick r:id="" action="ppaction://noaction"/>
          </p:cNvPr>
          <p:cNvSpPr/>
          <p:nvPr/>
        </p:nvSpPr>
        <p:spPr>
          <a:xfrm>
            <a:off x="3052761" y="9610725"/>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5520668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4"/>
            <a:ext cx="1388176" cy="1434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810996"/>
            <a:ext cx="5004685"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smtClean="0">
                <a:latin typeface="Palatino Linotype" pitchFamily="18" charset="0"/>
              </a:rPr>
              <a:t>What’s </a:t>
            </a:r>
            <a:r>
              <a:rPr lang="en-US" sz="3200" b="1" dirty="0">
                <a:latin typeface="Palatino Linotype" pitchFamily="18" charset="0"/>
              </a:rPr>
              <a:t>New in TFS 2012? </a:t>
            </a:r>
            <a:endParaRPr lang="en-US" sz="3200" b="1" dirty="0" smtClean="0">
              <a:latin typeface="Palatino Linotype" pitchFamily="18" charset="0"/>
            </a:endParaRPr>
          </a:p>
          <a:p>
            <a:r>
              <a:rPr lang="en-US" sz="3200" b="1" dirty="0" smtClean="0">
                <a:latin typeface="Palatino Linotype" pitchFamily="18" charset="0"/>
              </a:rPr>
              <a:t>– </a:t>
            </a:r>
            <a:r>
              <a:rPr lang="en-US" sz="3200" b="1" dirty="0">
                <a:latin typeface="Palatino Linotype" pitchFamily="18" charset="0"/>
              </a:rPr>
              <a:t>Team Explorer</a:t>
            </a:r>
          </a:p>
        </p:txBody>
      </p:sp>
      <p:sp>
        <p:nvSpPr>
          <p:cNvPr id="12292" name="Rectangle 2"/>
          <p:cNvSpPr>
            <a:spLocks/>
          </p:cNvSpPr>
          <p:nvPr/>
        </p:nvSpPr>
        <p:spPr bwMode="auto">
          <a:xfrm>
            <a:off x="2176462" y="4018337"/>
            <a:ext cx="4956175" cy="3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b="1" dirty="0"/>
              <a:t>What is Team Explorer?</a:t>
            </a:r>
            <a:endParaRPr lang="en-US" sz="1200" dirty="0"/>
          </a:p>
          <a:p>
            <a:pPr algn="just"/>
            <a:endParaRPr lang="en-US" sz="1200" dirty="0" smtClean="0"/>
          </a:p>
          <a:p>
            <a:pPr algn="just"/>
            <a:r>
              <a:rPr lang="en-US" sz="1200" dirty="0" smtClean="0"/>
              <a:t>Team </a:t>
            </a:r>
            <a:r>
              <a:rPr lang="en-US" sz="1200" dirty="0"/>
              <a:t>Explorer </a:t>
            </a:r>
            <a:r>
              <a:rPr lang="en-US" sz="1200" dirty="0" smtClean="0"/>
              <a:t>is considered the </a:t>
            </a:r>
            <a:r>
              <a:rPr lang="en-US" sz="1200" dirty="0"/>
              <a:t>primary client for TFS. It is an add-in </a:t>
            </a:r>
            <a:r>
              <a:rPr lang="en-US" sz="1200" dirty="0" smtClean="0"/>
              <a:t>to</a:t>
            </a:r>
            <a:r>
              <a:rPr lang="en-US" sz="1200" dirty="0"/>
              <a:t> </a:t>
            </a:r>
            <a:r>
              <a:rPr lang="en-US" sz="1200" dirty="0">
                <a:hlinkClick r:id="rId3"/>
              </a:rPr>
              <a:t>Visual Studio 2012</a:t>
            </a:r>
            <a:r>
              <a:rPr lang="en-US" sz="1200" dirty="0"/>
              <a:t> or </a:t>
            </a:r>
            <a:r>
              <a:rPr lang="en-US" sz="1200" dirty="0" smtClean="0"/>
              <a:t>it can </a:t>
            </a:r>
            <a:r>
              <a:rPr lang="en-US" sz="1200" dirty="0"/>
              <a:t>be installed </a:t>
            </a:r>
            <a:r>
              <a:rPr lang="en-US" sz="1200" dirty="0" smtClean="0"/>
              <a:t>as a separate standalone application.</a:t>
            </a:r>
            <a:r>
              <a:rPr lang="en-US" sz="1200" dirty="0"/>
              <a:t> </a:t>
            </a:r>
            <a:endParaRPr lang="en-US" sz="1200" dirty="0" smtClean="0"/>
          </a:p>
          <a:p>
            <a:pPr algn="just"/>
            <a:endParaRPr lang="en-US" sz="1200" dirty="0"/>
          </a:p>
          <a:p>
            <a:pPr algn="just"/>
            <a:r>
              <a:rPr lang="en-US" sz="1200" dirty="0" smtClean="0"/>
              <a:t>There </a:t>
            </a:r>
            <a:r>
              <a:rPr lang="en-US" sz="1200" dirty="0"/>
              <a:t>are a lot of </a:t>
            </a:r>
            <a:r>
              <a:rPr lang="en-US" sz="1200" dirty="0" smtClean="0"/>
              <a:t>changes, </a:t>
            </a:r>
            <a:r>
              <a:rPr lang="en-US" sz="1200" dirty="0"/>
              <a:t>new and merged features in the new Team Explorer and Visual Studio 2012 </a:t>
            </a:r>
            <a:r>
              <a:rPr lang="en-US" sz="1200" dirty="0" smtClean="0"/>
              <a:t>e.g. </a:t>
            </a:r>
            <a:r>
              <a:rPr lang="en-US" sz="1200" dirty="0"/>
              <a:t>the Pending Change Window merged within Team </a:t>
            </a:r>
            <a:r>
              <a:rPr lang="en-US" sz="1200" dirty="0" smtClean="0"/>
              <a:t>Explorer. Also </a:t>
            </a:r>
            <a:r>
              <a:rPr lang="en-US" sz="1200" dirty="0"/>
              <a:t>there are new windows added to the Team Explorer, </a:t>
            </a:r>
            <a:r>
              <a:rPr lang="en-US" sz="1200" dirty="0" smtClean="0"/>
              <a:t>e.g. </a:t>
            </a:r>
            <a:r>
              <a:rPr lang="en-US" sz="1200" dirty="0"/>
              <a:t>there is a new window called My Work, </a:t>
            </a:r>
            <a:r>
              <a:rPr lang="en-US" sz="1200" dirty="0" smtClean="0"/>
              <a:t>introduced </a:t>
            </a:r>
            <a:r>
              <a:rPr lang="en-US" sz="1200" dirty="0"/>
              <a:t>in TFS 2012</a:t>
            </a:r>
            <a:r>
              <a:rPr lang="en-US" sz="1200" dirty="0" smtClean="0"/>
              <a:t>.</a:t>
            </a:r>
          </a:p>
          <a:p>
            <a:pPr algn="just"/>
            <a:endParaRPr lang="en-US" sz="1200" dirty="0"/>
          </a:p>
          <a:p>
            <a:pPr algn="just"/>
            <a:r>
              <a:rPr lang="en-US" sz="1200" dirty="0"/>
              <a:t>In this post I will </a:t>
            </a:r>
            <a:r>
              <a:rPr lang="en-US" sz="1200" dirty="0" smtClean="0"/>
              <a:t>focus </a:t>
            </a:r>
            <a:r>
              <a:rPr lang="en-US" sz="1200" dirty="0"/>
              <a:t>on the Team </a:t>
            </a:r>
            <a:r>
              <a:rPr lang="en-US" sz="1200" dirty="0" smtClean="0"/>
              <a:t>Explorer itself. </a:t>
            </a:r>
            <a:r>
              <a:rPr lang="en-US" sz="1200" dirty="0"/>
              <a:t>and </a:t>
            </a:r>
            <a:r>
              <a:rPr lang="en-US" sz="1200" dirty="0" smtClean="0"/>
              <a:t>its key features.</a:t>
            </a:r>
          </a:p>
          <a:p>
            <a:pPr algn="just"/>
            <a:endParaRPr lang="en-US" sz="1200" dirty="0"/>
          </a:p>
          <a:p>
            <a:r>
              <a:rPr lang="en-US" sz="1200" b="1" dirty="0"/>
              <a:t>Team Explorer </a:t>
            </a:r>
            <a:r>
              <a:rPr lang="en-US" sz="1200" b="1" dirty="0" smtClean="0"/>
              <a:t>2012 Enhancements</a:t>
            </a:r>
          </a:p>
          <a:p>
            <a:endParaRPr lang="en-US" sz="1200" dirty="0"/>
          </a:p>
          <a:p>
            <a:pPr marL="685800" lvl="1" indent="-228600" fontAlgn="ctr">
              <a:buFont typeface="+mj-lt"/>
              <a:buAutoNum type="arabicPeriod"/>
            </a:pPr>
            <a:r>
              <a:rPr lang="en-US" sz="1200" dirty="0"/>
              <a:t>Architecture (Web Based)</a:t>
            </a:r>
          </a:p>
          <a:p>
            <a:pPr marL="1143000" lvl="2" indent="-228600" fontAlgn="ctr">
              <a:buFont typeface="+mj-lt"/>
              <a:buAutoNum type="alphaLcPeriod"/>
            </a:pPr>
            <a:r>
              <a:rPr lang="en-US" sz="1200" dirty="0"/>
              <a:t>Navigation and Extensibility</a:t>
            </a:r>
          </a:p>
          <a:p>
            <a:pPr marL="1143000" lvl="2" indent="-228600" fontAlgn="ctr">
              <a:buFont typeface="+mj-lt"/>
              <a:buAutoNum type="alphaLcPeriod"/>
            </a:pPr>
            <a:r>
              <a:rPr lang="en-US" sz="1200" dirty="0"/>
              <a:t>Work item search</a:t>
            </a:r>
          </a:p>
          <a:p>
            <a:pPr marL="685800" lvl="1" indent="-228600" fontAlgn="ctr">
              <a:buFont typeface="+mj-lt"/>
              <a:buAutoNum type="arabicPeriod"/>
            </a:pPr>
            <a:r>
              <a:rPr lang="en-US" sz="1200" dirty="0"/>
              <a:t>New and Merged Windows</a:t>
            </a:r>
          </a:p>
          <a:p>
            <a:pPr marL="685800" lvl="1" indent="-228600" fontAlgn="ctr">
              <a:buFont typeface="+mj-lt"/>
              <a:buAutoNum type="arabicPeriod"/>
            </a:pPr>
            <a:r>
              <a:rPr lang="en-US" sz="1200" dirty="0"/>
              <a:t>On Demand Data retrieval (paging)</a:t>
            </a:r>
          </a:p>
          <a:p>
            <a:pPr marL="685800" lvl="1" indent="-228600" fontAlgn="ctr">
              <a:buFont typeface="+mj-lt"/>
              <a:buAutoNum type="arabicPeriod"/>
            </a:pPr>
            <a:r>
              <a:rPr lang="en-US" sz="1200" dirty="0"/>
              <a:t>Smart commands and Context driven</a:t>
            </a:r>
          </a:p>
          <a:p>
            <a:pPr marL="685800" lvl="1" indent="-228600" fontAlgn="ctr">
              <a:buFont typeface="+mj-lt"/>
              <a:buAutoNum type="arabicPeriod"/>
            </a:pPr>
            <a:r>
              <a:rPr lang="en-US" sz="1200" dirty="0"/>
              <a:t>Reducing Modality</a:t>
            </a:r>
          </a:p>
          <a:p>
            <a:pPr marL="685800" lvl="1" indent="-228600" fontAlgn="ctr">
              <a:buFont typeface="+mj-lt"/>
              <a:buAutoNum type="arabicPeriod"/>
            </a:pPr>
            <a:r>
              <a:rPr lang="en-US" sz="1200" dirty="0"/>
              <a:t>Performance and </a:t>
            </a:r>
            <a:r>
              <a:rPr lang="en-US" sz="1200" dirty="0" err="1"/>
              <a:t>Async</a:t>
            </a:r>
            <a:r>
              <a:rPr lang="en-US" sz="1200" dirty="0"/>
              <a:t> Operations</a:t>
            </a:r>
          </a:p>
          <a:p>
            <a:pPr marL="685800" lvl="1" indent="-228600" fontAlgn="ctr">
              <a:buFont typeface="+mj-lt"/>
              <a:buAutoNum type="arabicPeriod"/>
            </a:pPr>
            <a:r>
              <a:rPr lang="en-US" sz="1200" dirty="0"/>
              <a:t>Rollback in the </a:t>
            </a:r>
            <a:r>
              <a:rPr lang="en-US" sz="1200" dirty="0" smtClean="0"/>
              <a:t>UI</a:t>
            </a:r>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052760" y="1949449"/>
            <a:ext cx="4076703"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his </a:t>
            </a:r>
            <a:r>
              <a:rPr lang="en-US" sz="1400" dirty="0"/>
              <a:t>series </a:t>
            </a:r>
            <a:r>
              <a:rPr lang="en-US" sz="1400" dirty="0" smtClean="0"/>
              <a:t>introduces </a:t>
            </a:r>
            <a:r>
              <a:rPr lang="en-US" sz="1400" dirty="0"/>
              <a:t>what’s new in </a:t>
            </a:r>
            <a:r>
              <a:rPr lang="en-US" sz="1400" dirty="0" smtClean="0">
                <a:hlinkClick r:id="rId3"/>
              </a:rPr>
              <a:t>Visual </a:t>
            </a:r>
            <a:r>
              <a:rPr lang="en-US" sz="1400" dirty="0">
                <a:hlinkClick r:id="rId3"/>
              </a:rPr>
              <a:t>Studio 2012</a:t>
            </a:r>
            <a:r>
              <a:rPr lang="en-US" sz="1400" dirty="0"/>
              <a:t> and </a:t>
            </a:r>
            <a:r>
              <a:rPr lang="en-US" sz="1400" dirty="0">
                <a:hlinkClick r:id="rId4"/>
              </a:rPr>
              <a:t>Team Foundation Server 2012</a:t>
            </a:r>
            <a:r>
              <a:rPr lang="en-US" sz="1400" dirty="0"/>
              <a:t> (TFS 2012</a:t>
            </a:r>
            <a:r>
              <a:rPr lang="en-US" sz="1400" dirty="0" smtClean="0"/>
              <a:t>). This article focuses new features in Team Explorer.</a:t>
            </a:r>
          </a:p>
          <a:p>
            <a:pPr algn="just"/>
            <a:endParaRPr lang="en-US" sz="1400" dirty="0" smtClean="0"/>
          </a:p>
          <a:p>
            <a:pPr algn="just"/>
            <a:r>
              <a:rPr lang="en-US" sz="1400" dirty="0" smtClean="0"/>
              <a:t>There </a:t>
            </a:r>
            <a:r>
              <a:rPr lang="en-US" sz="1400" dirty="0"/>
              <a:t>are many clients for TFS (Team Foundation Server) like, Microsoft Excel, Microsoft Project, Team Web Access, and </a:t>
            </a:r>
            <a:r>
              <a:rPr lang="en-US" sz="1400" dirty="0" smtClean="0"/>
              <a:t>several other </a:t>
            </a:r>
            <a:r>
              <a:rPr lang="en-US" sz="1400" dirty="0"/>
              <a:t>clients including Team </a:t>
            </a:r>
            <a:r>
              <a:rPr lang="en-US" sz="1400" dirty="0" smtClean="0"/>
              <a:t>Explorer.</a:t>
            </a:r>
          </a:p>
          <a:p>
            <a:pPr algn="just"/>
            <a:endParaRPr lang="en-US" sz="1400" i="1" dirty="0"/>
          </a:p>
          <a:p>
            <a:pPr algn="just"/>
            <a:endParaRPr lang="en-US" sz="1400" i="1" dirty="0"/>
          </a:p>
        </p:txBody>
      </p:sp>
      <p:sp>
        <p:nvSpPr>
          <p:cNvPr id="12294" name="Rectangle 4"/>
          <p:cNvSpPr>
            <a:spLocks/>
          </p:cNvSpPr>
          <p:nvPr/>
        </p:nvSpPr>
        <p:spPr bwMode="auto">
          <a:xfrm>
            <a:off x="2024064" y="1623633"/>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T</a:t>
            </a:r>
          </a:p>
        </p:txBody>
      </p:sp>
      <p:sp>
        <p:nvSpPr>
          <p:cNvPr id="12296" name="Rectangle 5"/>
          <p:cNvSpPr>
            <a:spLocks/>
          </p:cNvSpPr>
          <p:nvPr/>
        </p:nvSpPr>
        <p:spPr bwMode="auto">
          <a:xfrm>
            <a:off x="347664" y="360521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Mohamed </a:t>
            </a:r>
            <a:r>
              <a:rPr lang="en-US" sz="1100" i="1" dirty="0" err="1" smtClean="0">
                <a:latin typeface="Helvetica" pitchFamily="34" charset="0"/>
                <a:cs typeface="Helvetica" pitchFamily="34" charset="0"/>
              </a:rPr>
              <a:t>Radwan</a:t>
            </a:r>
            <a:endParaRPr lang="en-US" sz="1100" i="1" dirty="0" smtClean="0">
              <a:latin typeface="Helvetica" pitchFamily="34" charset="0"/>
              <a:cs typeface="Helvetica" pitchFamily="34" charset="0"/>
            </a:endParaRPr>
          </a:p>
          <a:p>
            <a:pPr algn="r"/>
            <a:r>
              <a:rPr lang="en-US" sz="1100" i="1" dirty="0"/>
              <a:t>Senior ALM Consultant</a:t>
            </a:r>
            <a:endParaRPr lang="en-US" sz="1100" i="1" dirty="0">
              <a:latin typeface="Helvetica" pitchFamily="34" charset="0"/>
              <a:cs typeface="Helvetica" pitchFamily="34" charset="0"/>
            </a:endParaRPr>
          </a:p>
          <a:p>
            <a:pPr algn="r"/>
            <a:r>
              <a:rPr lang="en-US" sz="1100" i="1" u="sng" dirty="0">
                <a:hlinkClick r:id="rId5"/>
              </a:rPr>
              <a:t>Marvel ALM</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16</a:t>
            </a:fld>
            <a:endParaRPr lang="en-PH" dirty="0"/>
          </a:p>
        </p:txBody>
      </p:sp>
      <p:sp>
        <p:nvSpPr>
          <p:cNvPr id="15" name="Rounded Rectangle 14">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ounded Rectangle 1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1327015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smtClean="0"/>
          </a:p>
          <a:p>
            <a:pPr algn="just"/>
            <a:endParaRPr lang="en-US" sz="1200" dirty="0" smtClean="0"/>
          </a:p>
          <a:p>
            <a:pPr algn="just"/>
            <a:endParaRPr lang="en-US" sz="1200" dirty="0"/>
          </a:p>
          <a:p>
            <a:pPr algn="just"/>
            <a:r>
              <a:rPr lang="en-US" sz="1200" dirty="0" smtClean="0"/>
              <a:t>It’s not part of the Power Tool as a third part library anymore, it now become in the box.</a:t>
            </a:r>
          </a:p>
          <a:p>
            <a:pPr algn="just"/>
            <a:r>
              <a:rPr lang="en-US" sz="1200" dirty="0" smtClean="0"/>
              <a:t>The project settings now also looks different.</a:t>
            </a:r>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endParaRPr lang="en-US" sz="1200" dirty="0" smtClean="0"/>
          </a:p>
          <a:p>
            <a:pPr algn="just"/>
            <a:r>
              <a:rPr lang="en-US" sz="1200" b="1" dirty="0" smtClean="0"/>
              <a:t>Summary: </a:t>
            </a:r>
          </a:p>
          <a:p>
            <a:pPr algn="just"/>
            <a:r>
              <a:rPr lang="en-US" sz="1200" dirty="0" smtClean="0"/>
              <a:t>Team Explorer one of the major change of the TFS 2012 and there are a lot of new features and enhancements that can’t be cover in one or two posts, as a summary, Team Explorer has different experience with a lot of change so this post just highlight the main and significant changes of the new experience introduced in Team Explorer.</a:t>
            </a:r>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17</a:t>
            </a:fld>
            <a:endParaRPr lang="en-PH" dirty="0"/>
          </a:p>
        </p:txBody>
      </p:sp>
      <p:sp>
        <p:nvSpPr>
          <p:cNvPr id="10" name="Rectangle 2"/>
          <p:cNvSpPr>
            <a:spLocks/>
          </p:cNvSpPr>
          <p:nvPr/>
        </p:nvSpPr>
        <p:spPr bwMode="auto">
          <a:xfrm>
            <a:off x="1185863" y="8391525"/>
            <a:ext cx="5257799"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2"/>
              </a:rPr>
              <a:t>Mohamed </a:t>
            </a:r>
            <a:r>
              <a:rPr lang="en-US" sz="1000" i="1" u="sng" dirty="0" err="1">
                <a:hlinkClick r:id="rId2"/>
              </a:rPr>
              <a:t>Radwan</a:t>
            </a:r>
            <a:r>
              <a:rPr lang="en-US" sz="1000" i="1" dirty="0"/>
              <a:t> is a Visual Studio ALM MVP, Senior ALM Consultant at </a:t>
            </a:r>
            <a:r>
              <a:rPr lang="en-US" sz="1000" i="1" u="sng" dirty="0">
                <a:hlinkClick r:id="rId3"/>
              </a:rPr>
              <a:t>Marvel ALM</a:t>
            </a:r>
            <a:r>
              <a:rPr lang="en-US" sz="1000" i="1" dirty="0"/>
              <a:t> with more than 10 years of software industry experience, he focuses on C#, MVC, </a:t>
            </a:r>
            <a:r>
              <a:rPr lang="en-US" sz="1000" i="1" dirty="0" err="1"/>
              <a:t>JQuery</a:t>
            </a:r>
            <a:r>
              <a:rPr lang="en-US" sz="1000" i="1" dirty="0"/>
              <a:t>, BDD, TDD, TFS and Practical Agile Implementation. A founder of </a:t>
            </a:r>
            <a:r>
              <a:rPr lang="en-US" sz="1000" i="1" dirty="0">
                <a:hlinkClick r:id="rId4"/>
              </a:rPr>
              <a:t>TFSEG</a:t>
            </a:r>
            <a:r>
              <a:rPr lang="en-US" sz="1000" i="1" dirty="0"/>
              <a:t> User Group, co-founder of MEAALM Community, author of </a:t>
            </a:r>
            <a:r>
              <a:rPr lang="en-US" sz="1000" i="1" dirty="0" err="1"/>
              <a:t>DevMagicFake</a:t>
            </a:r>
            <a:r>
              <a:rPr lang="en-US" sz="1000" i="1" dirty="0"/>
              <a:t> Mocking Framework, Mohamed is a frequent </a:t>
            </a:r>
            <a:r>
              <a:rPr lang="en-US" sz="1000" i="1" u="sng" dirty="0">
                <a:hlinkClick r:id="rId2"/>
              </a:rPr>
              <a:t>blogger</a:t>
            </a:r>
            <a:r>
              <a:rPr lang="en-US" sz="1000" i="1" dirty="0"/>
              <a:t> and speaker at Microsoft events.</a:t>
            </a:r>
          </a:p>
        </p:txBody>
      </p:sp>
      <p:pic>
        <p:nvPicPr>
          <p:cNvPr id="5122" name="Picture 2" descr="C:\Users\Keith\AppData\Local\Temp\msohtmlclip1\02\clip_image001.pn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7737" y="3743325"/>
            <a:ext cx="5495925" cy="34294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Users\Keith\AppData\Local\Temp\msohtmlclip1\02\clip_image001.png">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7737" y="809625"/>
            <a:ext cx="5419725" cy="2393350"/>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4268629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18</a:t>
            </a:fld>
            <a:endParaRPr lang="en-PH" dirty="0"/>
          </a:p>
        </p:txBody>
      </p:sp>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 y="-219075"/>
            <a:ext cx="7581900" cy="252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ounded Rectangle 27">
            <a:hlinkClick r:id="rId3"/>
          </p:cNvPr>
          <p:cNvSpPr/>
          <p:nvPr/>
        </p:nvSpPr>
        <p:spPr>
          <a:xfrm>
            <a:off x="2405062" y="1838325"/>
            <a:ext cx="2743200" cy="381000"/>
          </a:xfrm>
          <a:prstGeom prst="round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189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Click for more Details…</a:t>
            </a:r>
            <a:endParaRPr lang="en-US" dirty="0"/>
          </a:p>
        </p:txBody>
      </p:sp>
      <p:sp>
        <p:nvSpPr>
          <p:cNvPr id="3" name="Rectangle 2"/>
          <p:cNvSpPr/>
          <p:nvPr/>
        </p:nvSpPr>
        <p:spPr>
          <a:xfrm>
            <a:off x="347663" y="2447926"/>
            <a:ext cx="6934201" cy="3877985"/>
          </a:xfrm>
          <a:prstGeom prst="rect">
            <a:avLst/>
          </a:prstGeom>
        </p:spPr>
        <p:txBody>
          <a:bodyPr wrap="square">
            <a:spAutoFit/>
          </a:bodyPr>
          <a:lstStyle/>
          <a:p>
            <a:r>
              <a:rPr lang="en-US" sz="1400" b="1" dirty="0" smtClean="0"/>
              <a:t>ALM Mag Brings You Each </a:t>
            </a:r>
            <a:r>
              <a:rPr lang="en-US" sz="1400" b="1" dirty="0"/>
              <a:t>Month</a:t>
            </a:r>
            <a:r>
              <a:rPr lang="en-US" sz="1400" b="1" dirty="0" smtClean="0"/>
              <a:t>:</a:t>
            </a:r>
          </a:p>
          <a:p>
            <a:endParaRPr lang="en-US" sz="800" b="1" dirty="0"/>
          </a:p>
          <a:p>
            <a:pPr marL="171450" indent="-171450" fontAlgn="ctr">
              <a:buFont typeface="Arial" pitchFamily="34" charset="0"/>
              <a:buChar char="•"/>
            </a:pPr>
            <a:r>
              <a:rPr lang="en-US" sz="1200" b="1" dirty="0"/>
              <a:t>Articles, Whitepapers, Case Studies and Videos and Audio</a:t>
            </a:r>
            <a:r>
              <a:rPr lang="en-US" sz="1200" dirty="0"/>
              <a:t> providing:</a:t>
            </a:r>
          </a:p>
          <a:p>
            <a:pPr marL="628650" lvl="1" indent="-171450">
              <a:buFont typeface="Arial" pitchFamily="34" charset="0"/>
              <a:buChar char="•"/>
            </a:pPr>
            <a:r>
              <a:rPr lang="en-US" sz="1200" dirty="0"/>
              <a:t>Advance notice and Previews of new versions,</a:t>
            </a:r>
          </a:p>
          <a:p>
            <a:pPr marL="628650" lvl="1" indent="-171450">
              <a:buFont typeface="Arial" pitchFamily="34" charset="0"/>
              <a:buChar char="•"/>
            </a:pPr>
            <a:r>
              <a:rPr lang="en-US" sz="1200" b="1" dirty="0"/>
              <a:t>Reviews</a:t>
            </a:r>
            <a:r>
              <a:rPr lang="en-US" sz="1200" dirty="0"/>
              <a:t> of new versions </a:t>
            </a:r>
            <a:r>
              <a:rPr lang="en-US" sz="1200" dirty="0" smtClean="0"/>
              <a:t>and </a:t>
            </a:r>
            <a:r>
              <a:rPr lang="en-US" sz="1200" dirty="0"/>
              <a:t>updates,</a:t>
            </a:r>
          </a:p>
          <a:p>
            <a:pPr marL="628650" lvl="1" indent="-171450">
              <a:buFont typeface="Arial" pitchFamily="34" charset="0"/>
              <a:buChar char="•"/>
            </a:pPr>
            <a:r>
              <a:rPr lang="en-US" sz="1200" b="1" dirty="0"/>
              <a:t>How To </a:t>
            </a:r>
            <a:r>
              <a:rPr lang="en-US" sz="1200" dirty="0"/>
              <a:t>and </a:t>
            </a:r>
            <a:r>
              <a:rPr lang="en-US" sz="1200" b="1" dirty="0"/>
              <a:t>Step-by-Step </a:t>
            </a:r>
            <a:r>
              <a:rPr lang="en-US" sz="1200" b="1" dirty="0" smtClean="0"/>
              <a:t>Guides</a:t>
            </a:r>
            <a:r>
              <a:rPr lang="en-US" sz="1200" dirty="0"/>
              <a:t>,</a:t>
            </a:r>
          </a:p>
          <a:p>
            <a:pPr marL="628650" lvl="1" indent="-171450">
              <a:buFont typeface="Arial" pitchFamily="34" charset="0"/>
              <a:buChar char="•"/>
            </a:pPr>
            <a:r>
              <a:rPr lang="en-US" sz="1200" b="1" dirty="0"/>
              <a:t>Tips</a:t>
            </a:r>
            <a:r>
              <a:rPr lang="en-US" sz="1200" dirty="0"/>
              <a:t> highlighting </a:t>
            </a:r>
            <a:r>
              <a:rPr lang="en-US" sz="1200" b="1" dirty="0"/>
              <a:t>Primary Tools </a:t>
            </a:r>
            <a:r>
              <a:rPr lang="en-US" sz="1200" dirty="0"/>
              <a:t>and</a:t>
            </a:r>
          </a:p>
          <a:p>
            <a:pPr marL="628650" lvl="1" indent="-171450">
              <a:buFont typeface="Arial" pitchFamily="34" charset="0"/>
              <a:buChar char="•"/>
            </a:pPr>
            <a:r>
              <a:rPr lang="en-US" sz="1200" b="1" dirty="0"/>
              <a:t>3rd Party Integrated or Bridging Tools</a:t>
            </a:r>
            <a:r>
              <a:rPr lang="en-US" sz="1200" dirty="0"/>
              <a:t>,</a:t>
            </a:r>
          </a:p>
          <a:p>
            <a:pPr marL="628650" lvl="1" indent="-171450">
              <a:buFont typeface="Arial" pitchFamily="34" charset="0"/>
              <a:buChar char="•"/>
            </a:pPr>
            <a:r>
              <a:rPr lang="en-US" sz="1200" b="1" dirty="0"/>
              <a:t>Processes, Books and Events</a:t>
            </a:r>
          </a:p>
          <a:p>
            <a:pPr marL="171450" indent="-171450" fontAlgn="ctr">
              <a:buFont typeface="Arial" pitchFamily="34" charset="0"/>
              <a:buChar char="•"/>
            </a:pPr>
            <a:r>
              <a:rPr lang="en-US" sz="1200" b="1" dirty="0"/>
              <a:t>Surveys</a:t>
            </a:r>
            <a:r>
              <a:rPr lang="en-US" sz="1200" dirty="0"/>
              <a:t> to discover more about the types of content that interest </a:t>
            </a:r>
            <a:r>
              <a:rPr lang="en-US" sz="1200" dirty="0" smtClean="0"/>
              <a:t>you so </a:t>
            </a:r>
            <a:r>
              <a:rPr lang="en-US" sz="1200" dirty="0"/>
              <a:t>we can serve you better</a:t>
            </a:r>
          </a:p>
          <a:p>
            <a:pPr marL="171450" indent="-171450" fontAlgn="ctr">
              <a:buFont typeface="Arial" pitchFamily="34" charset="0"/>
              <a:buChar char="•"/>
            </a:pPr>
            <a:r>
              <a:rPr lang="en-US" sz="1200" b="1" dirty="0"/>
              <a:t>Industry Study and Survey </a:t>
            </a:r>
            <a:r>
              <a:rPr lang="en-US" sz="1200" b="1" dirty="0" smtClean="0"/>
              <a:t>Results</a:t>
            </a:r>
            <a:r>
              <a:rPr lang="en-US" sz="1200" dirty="0" smtClean="0"/>
              <a:t> </a:t>
            </a:r>
            <a:r>
              <a:rPr lang="en-US" sz="1200" dirty="0"/>
              <a:t>to provide you more insight </a:t>
            </a:r>
            <a:r>
              <a:rPr lang="en-US" sz="1200" dirty="0" smtClean="0"/>
              <a:t>into what </a:t>
            </a:r>
            <a:r>
              <a:rPr lang="en-US" sz="1200" dirty="0"/>
              <a:t>others in your community are doing</a:t>
            </a:r>
          </a:p>
          <a:p>
            <a:pPr marL="171450" indent="-171450" fontAlgn="ctr">
              <a:buFont typeface="Arial" pitchFamily="34" charset="0"/>
              <a:buChar char="•"/>
            </a:pPr>
            <a:r>
              <a:rPr lang="en-US" sz="1200" b="1" dirty="0"/>
              <a:t>Interviews with top ALM Leaders</a:t>
            </a:r>
            <a:r>
              <a:rPr lang="en-US" sz="1200" dirty="0"/>
              <a:t> to help you discover </a:t>
            </a:r>
            <a:r>
              <a:rPr lang="en-US" sz="1200" dirty="0" smtClean="0"/>
              <a:t>what’s coming </a:t>
            </a:r>
            <a:r>
              <a:rPr lang="en-US" sz="1200" dirty="0"/>
              <a:t>and how you can get there</a:t>
            </a:r>
          </a:p>
          <a:p>
            <a:pPr marL="171450" indent="-171450" fontAlgn="ctr">
              <a:buFont typeface="Arial" pitchFamily="34" charset="0"/>
              <a:buChar char="•"/>
            </a:pPr>
            <a:r>
              <a:rPr lang="en-US" sz="1200" b="1" dirty="0"/>
              <a:t>Tutorials and Training Courses</a:t>
            </a:r>
            <a:r>
              <a:rPr lang="en-US" sz="1200" dirty="0"/>
              <a:t> to increase your knowledge </a:t>
            </a:r>
            <a:r>
              <a:rPr lang="en-US" sz="1200" dirty="0" smtClean="0"/>
              <a:t>and leverage </a:t>
            </a:r>
            <a:r>
              <a:rPr lang="en-US" sz="1200" dirty="0"/>
              <a:t>your career</a:t>
            </a:r>
          </a:p>
          <a:p>
            <a:pPr marL="171450" indent="-171450" fontAlgn="ctr">
              <a:buFont typeface="Arial" pitchFamily="34" charset="0"/>
              <a:buChar char="•"/>
            </a:pPr>
            <a:r>
              <a:rPr lang="en-US" sz="1200" b="1" dirty="0"/>
              <a:t>Event and Conference </a:t>
            </a:r>
            <a:r>
              <a:rPr lang="en-US" sz="1200" b="1" dirty="0" smtClean="0"/>
              <a:t>Information</a:t>
            </a:r>
            <a:r>
              <a:rPr lang="en-US" sz="1200" dirty="0" smtClean="0"/>
              <a:t> </a:t>
            </a:r>
            <a:r>
              <a:rPr lang="en-US" sz="1200" dirty="0"/>
              <a:t>with a spotlight on Details</a:t>
            </a:r>
            <a:r>
              <a:rPr lang="en-US" sz="1200" dirty="0" smtClean="0"/>
              <a:t>, Agenda </a:t>
            </a:r>
            <a:r>
              <a:rPr lang="en-US" sz="1200" dirty="0"/>
              <a:t>and Calendar so you are aware of what you want to </a:t>
            </a:r>
            <a:r>
              <a:rPr lang="en-US" sz="1200" dirty="0" smtClean="0"/>
              <a:t>attend to </a:t>
            </a:r>
            <a:r>
              <a:rPr lang="en-US" sz="1200" dirty="0"/>
              <a:t>increase your career potential</a:t>
            </a:r>
          </a:p>
          <a:p>
            <a:pPr marL="171450" indent="-171450" fontAlgn="ctr">
              <a:buFont typeface="Arial" pitchFamily="34" charset="0"/>
              <a:buChar char="•"/>
            </a:pPr>
            <a:r>
              <a:rPr lang="en-US" sz="1200" dirty="0"/>
              <a:t>...and finally </a:t>
            </a:r>
            <a:r>
              <a:rPr lang="en-US" sz="1200" b="1" dirty="0"/>
              <a:t>IT Humor</a:t>
            </a:r>
            <a:r>
              <a:rPr lang="en-US" sz="1200" dirty="0"/>
              <a:t> (yes it does exist ) including </a:t>
            </a:r>
            <a:r>
              <a:rPr lang="en-US" sz="1200" b="1" dirty="0"/>
              <a:t>Cartoons</a:t>
            </a:r>
          </a:p>
          <a:p>
            <a:endParaRPr lang="en-US" sz="800" dirty="0" smtClean="0"/>
          </a:p>
          <a:p>
            <a:r>
              <a:rPr lang="en-US" sz="1200" dirty="0" smtClean="0"/>
              <a:t>and </a:t>
            </a:r>
            <a:r>
              <a:rPr lang="en-US" sz="1200" dirty="0"/>
              <a:t>more...</a:t>
            </a:r>
          </a:p>
          <a:p>
            <a:r>
              <a:rPr lang="en-US" sz="1200" dirty="0"/>
              <a:t> </a:t>
            </a:r>
          </a:p>
        </p:txBody>
      </p:sp>
      <p:sp>
        <p:nvSpPr>
          <p:cNvPr id="5" name="Rectangle 4"/>
          <p:cNvSpPr/>
          <p:nvPr/>
        </p:nvSpPr>
        <p:spPr>
          <a:xfrm>
            <a:off x="4762" y="6181727"/>
            <a:ext cx="7548563" cy="3895725"/>
          </a:xfrm>
          <a:prstGeom prst="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endParaRPr lang="en-US" sz="200" b="1" dirty="0" smtClean="0"/>
          </a:p>
          <a:p>
            <a:pPr>
              <a:spcBef>
                <a:spcPts val="600"/>
              </a:spcBef>
            </a:pPr>
            <a:r>
              <a:rPr lang="en-US" sz="2000" b="1" dirty="0" smtClean="0"/>
              <a:t>        This Magazine Is For You If You Are:</a:t>
            </a:r>
          </a:p>
          <a:p>
            <a:pPr>
              <a:spcBef>
                <a:spcPts val="0"/>
              </a:spcBef>
            </a:pPr>
            <a:r>
              <a:rPr lang="en-US" sz="1200" dirty="0" smtClean="0"/>
              <a:t> </a:t>
            </a:r>
          </a:p>
          <a:p>
            <a:pPr marL="628650" lvl="1" indent="-171450" fontAlgn="ctr">
              <a:spcBef>
                <a:spcPts val="0"/>
              </a:spcBef>
              <a:buFont typeface="Arial" pitchFamily="34" charset="0"/>
              <a:buChar char="•"/>
            </a:pPr>
            <a:r>
              <a:rPr lang="en-US" sz="1600" dirty="0" smtClean="0"/>
              <a:t>a CEO, CIO, COO</a:t>
            </a:r>
          </a:p>
          <a:p>
            <a:pPr marL="628650" lvl="1" indent="-171450" fontAlgn="ctr">
              <a:spcBef>
                <a:spcPts val="0"/>
              </a:spcBef>
              <a:buFont typeface="Arial" pitchFamily="34" charset="0"/>
              <a:buChar char="•"/>
            </a:pPr>
            <a:r>
              <a:rPr lang="en-US" sz="1600" dirty="0" smtClean="0"/>
              <a:t>an Application or Development or QA or DBA Manager or Architect</a:t>
            </a:r>
          </a:p>
          <a:p>
            <a:pPr marL="628650" lvl="1" indent="-171450" fontAlgn="ctr">
              <a:spcBef>
                <a:spcPts val="0"/>
              </a:spcBef>
              <a:buFont typeface="Arial" pitchFamily="34" charset="0"/>
              <a:buChar char="•"/>
            </a:pPr>
            <a:r>
              <a:rPr lang="en-US" sz="1600" dirty="0" smtClean="0"/>
              <a:t>a Development or QA Lead</a:t>
            </a:r>
          </a:p>
          <a:p>
            <a:pPr marL="628650" lvl="1" indent="-171450" fontAlgn="ctr">
              <a:spcBef>
                <a:spcPts val="0"/>
              </a:spcBef>
              <a:buFont typeface="Arial" pitchFamily="34" charset="0"/>
              <a:buChar char="•"/>
            </a:pPr>
            <a:r>
              <a:rPr lang="en-US" sz="1600" dirty="0" smtClean="0"/>
              <a:t>a Product Owner</a:t>
            </a:r>
          </a:p>
          <a:p>
            <a:pPr marL="628650" lvl="1" indent="-171450" fontAlgn="ctr">
              <a:spcBef>
                <a:spcPts val="0"/>
              </a:spcBef>
              <a:buFont typeface="Arial" pitchFamily="34" charset="0"/>
              <a:buChar char="•"/>
            </a:pPr>
            <a:r>
              <a:rPr lang="en-US" sz="1600" dirty="0" smtClean="0"/>
              <a:t>a Project Manager</a:t>
            </a:r>
          </a:p>
          <a:p>
            <a:pPr marL="628650" lvl="1" indent="-171450" fontAlgn="ctr">
              <a:spcBef>
                <a:spcPts val="0"/>
              </a:spcBef>
              <a:buFont typeface="Arial" pitchFamily="34" charset="0"/>
              <a:buChar char="•"/>
            </a:pPr>
            <a:r>
              <a:rPr lang="en-US" sz="1600" dirty="0" smtClean="0"/>
              <a:t>a Scrum Master</a:t>
            </a:r>
          </a:p>
          <a:p>
            <a:pPr marL="628650" lvl="1" indent="-171450" fontAlgn="ctr">
              <a:spcBef>
                <a:spcPts val="0"/>
              </a:spcBef>
              <a:buFont typeface="Arial" pitchFamily="34" charset="0"/>
              <a:buChar char="•"/>
            </a:pPr>
            <a:r>
              <a:rPr lang="en-US" sz="1600" dirty="0" smtClean="0"/>
              <a:t>a Business Analyst</a:t>
            </a:r>
          </a:p>
          <a:p>
            <a:pPr marL="628650" lvl="1" indent="-171450" fontAlgn="ctr">
              <a:spcBef>
                <a:spcPts val="0"/>
              </a:spcBef>
              <a:buFont typeface="Arial" pitchFamily="34" charset="0"/>
              <a:buChar char="•"/>
            </a:pPr>
            <a:r>
              <a:rPr lang="en-US" sz="1600" dirty="0" smtClean="0"/>
              <a:t>a Tester</a:t>
            </a:r>
          </a:p>
          <a:p>
            <a:pPr marL="628650" lvl="1" indent="-171450" fontAlgn="ctr">
              <a:spcBef>
                <a:spcPts val="0"/>
              </a:spcBef>
              <a:buFont typeface="Arial" pitchFamily="34" charset="0"/>
              <a:buChar char="•"/>
            </a:pPr>
            <a:r>
              <a:rPr lang="en-US" sz="1600" dirty="0" smtClean="0"/>
              <a:t>a Developer </a:t>
            </a:r>
          </a:p>
          <a:p>
            <a:pPr marL="628650" lvl="1" indent="-171450" fontAlgn="ctr">
              <a:spcBef>
                <a:spcPts val="0"/>
              </a:spcBef>
              <a:buFont typeface="Arial" pitchFamily="34" charset="0"/>
              <a:buChar char="•"/>
            </a:pPr>
            <a:r>
              <a:rPr lang="en-US" sz="1600" dirty="0" smtClean="0"/>
              <a:t>...Or anyone involved in software Planning, Development, Testing, </a:t>
            </a:r>
          </a:p>
          <a:p>
            <a:pPr lvl="1" fontAlgn="ctr">
              <a:spcBef>
                <a:spcPts val="0"/>
              </a:spcBef>
            </a:pPr>
            <a:r>
              <a:rPr lang="en-US" sz="1600" dirty="0" smtClean="0"/>
              <a:t>   Infrastructure Provisioning or Deployment</a:t>
            </a:r>
            <a:endParaRPr lang="en-US" sz="1600" dirty="0"/>
          </a:p>
        </p:txBody>
      </p:sp>
      <p:sp>
        <p:nvSpPr>
          <p:cNvPr id="10" name="Rounded Rectangle 9">
            <a:hlinkClick r:id="rId4"/>
          </p:cNvPr>
          <p:cNvSpPr/>
          <p:nvPr/>
        </p:nvSpPr>
        <p:spPr>
          <a:xfrm>
            <a:off x="5160644" y="7858125"/>
            <a:ext cx="1740218" cy="609600"/>
          </a:xfrm>
          <a:prstGeom prst="roundRect">
            <a:avLst/>
          </a:prstGeom>
          <a:gradFill flip="none" rotWithShape="1">
            <a:gsLst>
              <a:gs pos="0">
                <a:srgbClr val="FEAB00">
                  <a:shade val="30000"/>
                  <a:satMod val="115000"/>
                </a:srgbClr>
              </a:gs>
              <a:gs pos="50000">
                <a:srgbClr val="FEAB00">
                  <a:shade val="67500"/>
                  <a:satMod val="115000"/>
                </a:srgbClr>
              </a:gs>
              <a:gs pos="100000">
                <a:srgbClr val="FEAB00">
                  <a:shade val="100000"/>
                  <a:satMod val="115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Subscribe</a:t>
            </a:r>
            <a:endParaRPr lang="en-US" b="1" dirty="0"/>
          </a:p>
        </p:txBody>
      </p:sp>
      <p:sp>
        <p:nvSpPr>
          <p:cNvPr id="8" name="Rounded Rectangle 7">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9325900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3000" r="-23000"/>
          </a:stretch>
        </a:blipFill>
        <a:effectLst/>
      </p:bgPr>
    </p:bg>
    <p:spTree>
      <p:nvGrpSpPr>
        <p:cNvPr id="1" name=""/>
        <p:cNvGrpSpPr/>
        <p:nvPr/>
      </p:nvGrpSpPr>
      <p:grpSpPr>
        <a:xfrm>
          <a:off x="0" y="0"/>
          <a:ext cx="0" cy="0"/>
          <a:chOff x="0" y="0"/>
          <a:chExt cx="0" cy="0"/>
        </a:xfrm>
      </p:grpSpPr>
      <p:sp>
        <p:nvSpPr>
          <p:cNvPr id="42" name="Rectangle 41"/>
          <p:cNvSpPr/>
          <p:nvPr/>
        </p:nvSpPr>
        <p:spPr>
          <a:xfrm>
            <a:off x="5529263" y="6969125"/>
            <a:ext cx="1877219" cy="2765424"/>
          </a:xfrm>
          <a:prstGeom prst="rect">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52" name="AutoShape 3"/>
          <p:cNvSpPr>
            <a:spLocks/>
          </p:cNvSpPr>
          <p:nvPr/>
        </p:nvSpPr>
        <p:spPr bwMode="auto">
          <a:xfrm>
            <a:off x="5513388" y="4429126"/>
            <a:ext cx="1877219" cy="2366962"/>
          </a:xfrm>
          <a:prstGeom prst="roundRect">
            <a:avLst>
              <a:gd name="adj" fmla="val 11676"/>
            </a:avLst>
          </a:prstGeom>
          <a:gradFill flip="none" rotWithShape="1">
            <a:gsLst>
              <a:gs pos="0">
                <a:srgbClr val="0091CE">
                  <a:shade val="30000"/>
                  <a:satMod val="115000"/>
                </a:srgbClr>
              </a:gs>
              <a:gs pos="50000">
                <a:srgbClr val="0091CE">
                  <a:shade val="67500"/>
                  <a:satMod val="115000"/>
                </a:srgbClr>
              </a:gs>
              <a:gs pos="100000">
                <a:srgbClr val="0091CE">
                  <a:shade val="100000"/>
                  <a:satMod val="115000"/>
                </a:srgbClr>
              </a:gs>
            </a:gsLst>
            <a:path path="circle">
              <a:fillToRect l="50000" t="50000" r="50000" b="50000"/>
            </a:path>
            <a:tileRect/>
          </a:gradFill>
          <a:ln w="25400">
            <a:solidFill>
              <a:schemeClr val="tx1">
                <a:alpha val="0"/>
              </a:schemeClr>
            </a:solidFill>
            <a:miter lim="800000"/>
            <a:headEnd/>
            <a:tailEnd/>
          </a:ln>
        </p:spPr>
        <p:txBody>
          <a:bodyPr lIns="0" tIns="0" rIns="0" bIns="0"/>
          <a:lstStyle/>
          <a:p>
            <a:endParaRPr lang="en-PH" dirty="0">
              <a:latin typeface="Calibri" pitchFamily="34" charset="0"/>
            </a:endParaRPr>
          </a:p>
        </p:txBody>
      </p:sp>
      <p:sp>
        <p:nvSpPr>
          <p:cNvPr id="2054" name="Rectangle 7"/>
          <p:cNvSpPr>
            <a:spLocks/>
          </p:cNvSpPr>
          <p:nvPr/>
        </p:nvSpPr>
        <p:spPr bwMode="auto">
          <a:xfrm>
            <a:off x="5861843" y="5114926"/>
            <a:ext cx="1528763" cy="679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endParaRPr lang="en-US" sz="3900" dirty="0" smtClean="0">
              <a:latin typeface="Impact" charset="0"/>
              <a:sym typeface="Impact" charset="0"/>
            </a:endParaRPr>
          </a:p>
          <a:p>
            <a:pPr>
              <a:lnSpc>
                <a:spcPct val="70000"/>
              </a:lnSpc>
            </a:pPr>
            <a:r>
              <a:rPr lang="en-US" sz="3900" dirty="0" smtClean="0">
                <a:latin typeface="Impact" charset="0"/>
                <a:sym typeface="Impact" charset="0"/>
              </a:rPr>
              <a:t>BONUS</a:t>
            </a:r>
            <a:endParaRPr lang="en-US" sz="3900" dirty="0">
              <a:latin typeface="Impact" charset="0"/>
              <a:sym typeface="Impact" charset="0"/>
            </a:endParaRPr>
          </a:p>
        </p:txBody>
      </p:sp>
      <p:sp>
        <p:nvSpPr>
          <p:cNvPr id="2055" name="Rectangle 8"/>
          <p:cNvSpPr>
            <a:spLocks/>
          </p:cNvSpPr>
          <p:nvPr/>
        </p:nvSpPr>
        <p:spPr bwMode="auto">
          <a:xfrm>
            <a:off x="5986463" y="6053137"/>
            <a:ext cx="149304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900" b="1" i="1" dirty="0">
                <a:solidFill>
                  <a:srgbClr val="FFFFFF"/>
                </a:solidFill>
                <a:latin typeface="Helvetica Neue" charset="0"/>
                <a:sym typeface="Helvetica Neue" charset="0"/>
              </a:rPr>
              <a:t>Video</a:t>
            </a:r>
          </a:p>
        </p:txBody>
      </p:sp>
      <p:sp>
        <p:nvSpPr>
          <p:cNvPr id="2059" name="Rectangle 13"/>
          <p:cNvSpPr>
            <a:spLocks/>
          </p:cNvSpPr>
          <p:nvPr/>
        </p:nvSpPr>
        <p:spPr bwMode="auto">
          <a:xfrm>
            <a:off x="5834062" y="7081838"/>
            <a:ext cx="1600200" cy="268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eaLnBrk="1" hangingPunct="1"/>
            <a:r>
              <a:rPr lang="en-US" sz="4000" b="1" i="1" dirty="0" smtClean="0">
                <a:solidFill>
                  <a:schemeClr val="bg1"/>
                </a:solidFill>
              </a:rPr>
              <a:t>TFS -</a:t>
            </a:r>
            <a:r>
              <a:rPr lang="en-US" sz="3200" b="1" i="1" dirty="0" smtClean="0">
                <a:solidFill>
                  <a:schemeClr val="bg1"/>
                </a:solidFill>
              </a:rPr>
              <a:t>  Beyond Source Control</a:t>
            </a:r>
            <a:endParaRPr lang="en-US" sz="3200" b="1" i="1" dirty="0">
              <a:solidFill>
                <a:schemeClr val="bg1"/>
              </a:solidFill>
            </a:endParaRPr>
          </a:p>
        </p:txBody>
      </p:sp>
      <p:grpSp>
        <p:nvGrpSpPr>
          <p:cNvPr id="12" name="Group 11"/>
          <p:cNvGrpSpPr/>
          <p:nvPr/>
        </p:nvGrpSpPr>
        <p:grpSpPr>
          <a:xfrm>
            <a:off x="301626" y="2600326"/>
            <a:ext cx="5059363" cy="1003935"/>
            <a:chOff x="301625" y="2739390"/>
            <a:chExt cx="5059363" cy="1003935"/>
          </a:xfrm>
        </p:grpSpPr>
        <p:sp>
          <p:nvSpPr>
            <p:cNvPr id="23" name="Rectangle 22"/>
            <p:cNvSpPr/>
            <p:nvPr/>
          </p:nvSpPr>
          <p:spPr>
            <a:xfrm>
              <a:off x="301625" y="2739390"/>
              <a:ext cx="5059363" cy="9652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1" name="Rectangle 4"/>
            <p:cNvSpPr>
              <a:spLocks/>
            </p:cNvSpPr>
            <p:nvPr/>
          </p:nvSpPr>
          <p:spPr bwMode="auto">
            <a:xfrm>
              <a:off x="454025" y="2778125"/>
              <a:ext cx="489267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spcBef>
                  <a:spcPts val="0"/>
                </a:spcBef>
              </a:pPr>
              <a:r>
                <a:rPr lang="en-US" sz="3200" b="1" dirty="0">
                  <a:solidFill>
                    <a:srgbClr val="FFFFFF"/>
                  </a:solidFill>
                  <a:latin typeface="Helvetica Neue" charset="0"/>
                  <a:sym typeface="Helvetica Neue" charset="0"/>
                </a:rPr>
                <a:t>TFS </a:t>
              </a:r>
              <a:r>
                <a:rPr lang="en-US" sz="3200" b="1" dirty="0" smtClean="0">
                  <a:solidFill>
                    <a:srgbClr val="FFFFFF"/>
                  </a:solidFill>
                  <a:latin typeface="Helvetica Neue" charset="0"/>
                  <a:sym typeface="Helvetica Neue" charset="0"/>
                </a:rPr>
                <a:t>Migrations</a:t>
              </a:r>
              <a:r>
                <a:rPr lang="en-US" sz="4400" b="1" dirty="0">
                  <a:solidFill>
                    <a:srgbClr val="FFFFFF"/>
                  </a:solidFill>
                  <a:latin typeface="Helvetica Neue" charset="0"/>
                  <a:sym typeface="Helvetica Neue" charset="0"/>
                </a:rPr>
                <a:t/>
              </a:r>
              <a:br>
                <a:rPr lang="en-US" sz="4400" b="1" dirty="0">
                  <a:solidFill>
                    <a:srgbClr val="FFFFFF"/>
                  </a:solidFill>
                  <a:latin typeface="Helvetica Neue" charset="0"/>
                  <a:sym typeface="Helvetica Neue" charset="0"/>
                </a:rPr>
              </a:br>
              <a:r>
                <a:rPr lang="en-US" sz="2400" b="1" dirty="0">
                  <a:solidFill>
                    <a:srgbClr val="FFFFFF"/>
                  </a:solidFill>
                  <a:latin typeface="Helvetica Neue" charset="0"/>
                  <a:sym typeface="Helvetica Neue" charset="0"/>
                </a:rPr>
                <a:t>2008 &amp; 2010 to </a:t>
              </a:r>
              <a:r>
                <a:rPr lang="en-US" sz="2400" b="1" dirty="0" smtClean="0">
                  <a:solidFill>
                    <a:srgbClr val="FFFFFF"/>
                  </a:solidFill>
                  <a:latin typeface="Helvetica Neue" charset="0"/>
                  <a:sym typeface="Helvetica Neue" charset="0"/>
                </a:rPr>
                <a:t>2012</a:t>
              </a:r>
              <a:endParaRPr lang="en-US" sz="2400" b="1" dirty="0">
                <a:solidFill>
                  <a:srgbClr val="FFFFFF"/>
                </a:solidFill>
                <a:latin typeface="Helvetica Neue" charset="0"/>
                <a:sym typeface="Helvetica Neue" charset="0"/>
              </a:endParaRPr>
            </a:p>
          </p:txBody>
        </p:sp>
      </p:grpSp>
      <p:grpSp>
        <p:nvGrpSpPr>
          <p:cNvPr id="14" name="Group 13"/>
          <p:cNvGrpSpPr/>
          <p:nvPr/>
        </p:nvGrpSpPr>
        <p:grpSpPr>
          <a:xfrm>
            <a:off x="301625" y="4894900"/>
            <a:ext cx="5062538" cy="744537"/>
            <a:chOff x="301625" y="5033963"/>
            <a:chExt cx="5062538" cy="744537"/>
          </a:xfrm>
        </p:grpSpPr>
        <p:sp>
          <p:nvSpPr>
            <p:cNvPr id="27" name="Rectangle 26"/>
            <p:cNvSpPr/>
            <p:nvPr/>
          </p:nvSpPr>
          <p:spPr>
            <a:xfrm>
              <a:off x="301625" y="5033963"/>
              <a:ext cx="5059363" cy="744537"/>
            </a:xfrm>
            <a:prstGeom prst="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5" name="Rectangle 4"/>
            <p:cNvSpPr>
              <a:spLocks/>
            </p:cNvSpPr>
            <p:nvPr/>
          </p:nvSpPr>
          <p:spPr bwMode="auto">
            <a:xfrm>
              <a:off x="471488" y="5059362"/>
              <a:ext cx="48926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solidFill>
                    <a:srgbClr val="FFFFFF"/>
                  </a:solidFill>
                  <a:latin typeface="Helvetica Neue" charset="0"/>
                  <a:sym typeface="Helvetica Neue" charset="0"/>
                </a:rPr>
                <a:t>ALM Consulting </a:t>
              </a:r>
              <a:r>
                <a:rPr lang="en-US" sz="3200" b="1" dirty="0" smtClean="0">
                  <a:solidFill>
                    <a:srgbClr val="FFFFFF"/>
                  </a:solidFill>
                  <a:latin typeface="Helvetica Neue" charset="0"/>
                  <a:sym typeface="Helvetica Neue" charset="0"/>
                </a:rPr>
                <a:t>Update</a:t>
              </a:r>
              <a:endParaRPr lang="en-US" sz="2400" b="1" dirty="0">
                <a:solidFill>
                  <a:srgbClr val="FFFFFF"/>
                </a:solidFill>
                <a:latin typeface="Helvetica Neue" charset="0"/>
                <a:sym typeface="Helvetica Neue" charset="0"/>
              </a:endParaRPr>
            </a:p>
          </p:txBody>
        </p:sp>
      </p:grpSp>
      <p:grpSp>
        <p:nvGrpSpPr>
          <p:cNvPr id="16" name="Group 15"/>
          <p:cNvGrpSpPr/>
          <p:nvPr/>
        </p:nvGrpSpPr>
        <p:grpSpPr>
          <a:xfrm>
            <a:off x="301626" y="6867196"/>
            <a:ext cx="5611813" cy="1184940"/>
            <a:chOff x="301625" y="6867193"/>
            <a:chExt cx="5611813" cy="1184939"/>
          </a:xfrm>
        </p:grpSpPr>
        <p:sp>
          <p:nvSpPr>
            <p:cNvPr id="2058" name="Rectangle 12"/>
            <p:cNvSpPr>
              <a:spLocks/>
            </p:cNvSpPr>
            <p:nvPr/>
          </p:nvSpPr>
          <p:spPr bwMode="auto">
            <a:xfrm>
              <a:off x="5529263" y="6867193"/>
              <a:ext cx="384175" cy="118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r>
                <a:rPr lang="en-US" sz="7700" b="1" dirty="0">
                  <a:solidFill>
                    <a:schemeClr val="bg1"/>
                  </a:solidFill>
                  <a:latin typeface="Helvetica Neue" charset="0"/>
                  <a:sym typeface="Helvetica Neue" charset="0"/>
                </a:rPr>
                <a:t>*</a:t>
              </a:r>
            </a:p>
          </p:txBody>
        </p:sp>
        <p:sp>
          <p:nvSpPr>
            <p:cNvPr id="28" name="Rectangle 27"/>
            <p:cNvSpPr/>
            <p:nvPr/>
          </p:nvSpPr>
          <p:spPr>
            <a:xfrm>
              <a:off x="301625" y="6943725"/>
              <a:ext cx="5048023" cy="762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2077" name="Rectangle 4"/>
            <p:cNvSpPr>
              <a:spLocks/>
            </p:cNvSpPr>
            <p:nvPr/>
          </p:nvSpPr>
          <p:spPr bwMode="auto">
            <a:xfrm>
              <a:off x="517525" y="6969125"/>
              <a:ext cx="4892676"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solidFill>
                    <a:srgbClr val="FFFFFF"/>
                  </a:solidFill>
                  <a:latin typeface="Helvetica Neue" charset="0"/>
                  <a:sym typeface="Helvetica Neue" charset="0"/>
                </a:rPr>
                <a:t>Industry </a:t>
              </a:r>
              <a:r>
                <a:rPr lang="en-US" sz="3200" b="1" dirty="0" smtClean="0">
                  <a:solidFill>
                    <a:srgbClr val="FFFFFF"/>
                  </a:solidFill>
                  <a:latin typeface="Helvetica Neue" charset="0"/>
                  <a:sym typeface="Helvetica Neue" charset="0"/>
                </a:rPr>
                <a:t>Surveys</a:t>
              </a:r>
              <a:endParaRPr lang="en-US" sz="2400" b="1" dirty="0">
                <a:solidFill>
                  <a:srgbClr val="FFFFFF"/>
                </a:solidFill>
                <a:latin typeface="Helvetica Neue" charset="0"/>
                <a:sym typeface="Helvetica Neue" charset="0"/>
              </a:endParaRPr>
            </a:p>
          </p:txBody>
        </p:sp>
      </p:grpSp>
      <p:grpSp>
        <p:nvGrpSpPr>
          <p:cNvPr id="11" name="Group 10"/>
          <p:cNvGrpSpPr/>
          <p:nvPr/>
        </p:nvGrpSpPr>
        <p:grpSpPr>
          <a:xfrm>
            <a:off x="5529266" y="2600325"/>
            <a:ext cx="1904998" cy="1695965"/>
            <a:chOff x="347662" y="2143125"/>
            <a:chExt cx="5059363" cy="711200"/>
          </a:xfrm>
        </p:grpSpPr>
        <p:sp>
          <p:nvSpPr>
            <p:cNvPr id="32" name="Rectangle 31"/>
            <p:cNvSpPr/>
            <p:nvPr/>
          </p:nvSpPr>
          <p:spPr>
            <a:xfrm>
              <a:off x="347662" y="2143125"/>
              <a:ext cx="5059363" cy="711200"/>
            </a:xfrm>
            <a:prstGeom prst="rect">
              <a:avLst/>
            </a:prstGeom>
            <a:gradFill flip="none" rotWithShape="1">
              <a:gsLst>
                <a:gs pos="0">
                  <a:srgbClr val="FEAB00">
                    <a:shade val="30000"/>
                    <a:satMod val="115000"/>
                  </a:srgbClr>
                </a:gs>
                <a:gs pos="50000">
                  <a:srgbClr val="FEAB00">
                    <a:shade val="67500"/>
                    <a:satMod val="115000"/>
                  </a:srgbClr>
                </a:gs>
                <a:gs pos="100000">
                  <a:srgbClr val="FEAB0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33" name="Rectangle 4"/>
            <p:cNvSpPr>
              <a:spLocks/>
            </p:cNvSpPr>
            <p:nvPr/>
          </p:nvSpPr>
          <p:spPr bwMode="auto">
            <a:xfrm>
              <a:off x="484185" y="2244090"/>
              <a:ext cx="4892675" cy="48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ctr"/>
              <a:r>
                <a:rPr lang="en-US" sz="3200" b="1" dirty="0" smtClean="0">
                  <a:solidFill>
                    <a:srgbClr val="FFFFFF"/>
                  </a:solidFill>
                  <a:latin typeface="Helvetica Neue" charset="0"/>
                  <a:sym typeface="Helvetica Neue" charset="0"/>
                </a:rPr>
                <a:t>Event Wrap Up </a:t>
              </a:r>
            </a:p>
            <a:p>
              <a:pPr algn="ctr"/>
              <a:r>
                <a:rPr lang="en-US" sz="3200" b="1" dirty="0" smtClean="0">
                  <a:solidFill>
                    <a:srgbClr val="FFFFFF"/>
                  </a:solidFill>
                  <a:latin typeface="Helvetica Neue" charset="0"/>
                  <a:sym typeface="Helvetica Neue" charset="0"/>
                </a:rPr>
                <a:t>&amp; Review</a:t>
              </a:r>
              <a:endParaRPr lang="en-US" sz="3200" b="1" dirty="0">
                <a:solidFill>
                  <a:srgbClr val="FFFFFF"/>
                </a:solidFill>
                <a:latin typeface="Helvetica Neue" charset="0"/>
                <a:sym typeface="Helvetica Neue" charset="0"/>
              </a:endParaRPr>
            </a:p>
          </p:txBody>
        </p:sp>
      </p:grpSp>
      <p:grpSp>
        <p:nvGrpSpPr>
          <p:cNvPr id="13" name="Group 12"/>
          <p:cNvGrpSpPr/>
          <p:nvPr/>
        </p:nvGrpSpPr>
        <p:grpSpPr>
          <a:xfrm>
            <a:off x="301626" y="3756661"/>
            <a:ext cx="5075237" cy="965200"/>
            <a:chOff x="301625" y="3895725"/>
            <a:chExt cx="5075237" cy="965200"/>
          </a:xfrm>
        </p:grpSpPr>
        <p:sp>
          <p:nvSpPr>
            <p:cNvPr id="34" name="Rectangle 33"/>
            <p:cNvSpPr/>
            <p:nvPr/>
          </p:nvSpPr>
          <p:spPr>
            <a:xfrm>
              <a:off x="301625" y="3895725"/>
              <a:ext cx="5059363" cy="9652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35" name="Rectangle 4"/>
            <p:cNvSpPr>
              <a:spLocks/>
            </p:cNvSpPr>
            <p:nvPr/>
          </p:nvSpPr>
          <p:spPr bwMode="auto">
            <a:xfrm>
              <a:off x="484187" y="3921125"/>
              <a:ext cx="48926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spcBef>
                  <a:spcPts val="600"/>
                </a:spcBef>
              </a:pPr>
              <a:r>
                <a:rPr lang="en-US" sz="3200" b="1" dirty="0" smtClean="0">
                  <a:solidFill>
                    <a:srgbClr val="FFFFFF"/>
                  </a:solidFill>
                  <a:latin typeface="Helvetica Neue" charset="0"/>
                  <a:sym typeface="Helvetica Neue" charset="0"/>
                </a:rPr>
                <a:t>Audio Podcasts</a:t>
              </a:r>
              <a:r>
                <a:rPr lang="en-US" sz="3900" b="1" dirty="0">
                  <a:solidFill>
                    <a:srgbClr val="FFFFFF"/>
                  </a:solidFill>
                  <a:latin typeface="Helvetica Neue" charset="0"/>
                  <a:sym typeface="Helvetica Neue" charset="0"/>
                </a:rPr>
                <a:t/>
              </a:r>
              <a:br>
                <a:rPr lang="en-US" sz="3900" b="1" dirty="0">
                  <a:solidFill>
                    <a:srgbClr val="FFFFFF"/>
                  </a:solidFill>
                  <a:latin typeface="Helvetica Neue" charset="0"/>
                  <a:sym typeface="Helvetica Neue" charset="0"/>
                </a:rPr>
              </a:br>
              <a:r>
                <a:rPr lang="en-US" sz="2000" b="1" dirty="0" smtClean="0">
                  <a:solidFill>
                    <a:srgbClr val="FFFFFF"/>
                  </a:solidFill>
                  <a:latin typeface="Helvetica Neue" charset="0"/>
                  <a:sym typeface="Helvetica Neue" charset="0"/>
                </a:rPr>
                <a:t>Technology &amp; Process with the Experts</a:t>
              </a:r>
              <a:endParaRPr lang="en-US" sz="2000" b="1" dirty="0">
                <a:solidFill>
                  <a:srgbClr val="FFFFFF"/>
                </a:solidFill>
                <a:latin typeface="Helvetica Neue" charset="0"/>
                <a:sym typeface="Helvetica Neue" charset="0"/>
              </a:endParaRPr>
            </a:p>
          </p:txBody>
        </p:sp>
      </p:grpSp>
      <p:grpSp>
        <p:nvGrpSpPr>
          <p:cNvPr id="20" name="Group 19"/>
          <p:cNvGrpSpPr/>
          <p:nvPr/>
        </p:nvGrpSpPr>
        <p:grpSpPr>
          <a:xfrm>
            <a:off x="301625" y="7878625"/>
            <a:ext cx="5081586" cy="1079420"/>
            <a:chOff x="301625" y="7878624"/>
            <a:chExt cx="5081586" cy="1079420"/>
          </a:xfrm>
        </p:grpSpPr>
        <p:sp>
          <p:nvSpPr>
            <p:cNvPr id="37" name="TextBox 1"/>
            <p:cNvSpPr txBox="1">
              <a:spLocks noChangeArrowheads="1"/>
            </p:cNvSpPr>
            <p:nvPr/>
          </p:nvSpPr>
          <p:spPr bwMode="auto">
            <a:xfrm>
              <a:off x="301625" y="7878624"/>
              <a:ext cx="5065714" cy="1015663"/>
            </a:xfrm>
            <a:prstGeom prst="rect">
              <a:avLst/>
            </a:prstGeom>
            <a:gradFill flip="none" rotWithShape="1">
              <a:gsLst>
                <a:gs pos="0">
                  <a:srgbClr val="375F01"/>
                </a:gs>
                <a:gs pos="50000">
                  <a:srgbClr val="538B06"/>
                </a:gs>
                <a:gs pos="100000">
                  <a:srgbClr val="65A60A"/>
                </a:gs>
              </a:gsLst>
              <a:path path="circle">
                <a:fillToRect l="50000" t="50000" r="50000" b="50000"/>
              </a:path>
              <a:tileRect/>
            </a:gradFill>
            <a:ln w="9525">
              <a:solidFill>
                <a:srgbClr val="000000"/>
              </a:solidFill>
              <a:miter lim="800000"/>
              <a:headEnd/>
              <a:tailEnd/>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sz="6000" dirty="0"/>
            </a:p>
          </p:txBody>
        </p:sp>
        <p:sp>
          <p:nvSpPr>
            <p:cNvPr id="43" name="Rectangle 4"/>
            <p:cNvSpPr>
              <a:spLocks/>
            </p:cNvSpPr>
            <p:nvPr/>
          </p:nvSpPr>
          <p:spPr bwMode="auto">
            <a:xfrm>
              <a:off x="490536" y="7938949"/>
              <a:ext cx="4892675" cy="101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80000"/>
                </a:lnSpc>
                <a:spcBef>
                  <a:spcPts val="0"/>
                </a:spcBef>
              </a:pPr>
              <a:r>
                <a:rPr lang="en-US" sz="3600" b="1" dirty="0">
                  <a:solidFill>
                    <a:srgbClr val="FFFFFF"/>
                  </a:solidFill>
                  <a:latin typeface="Helvetica Neue" charset="0"/>
                  <a:sym typeface="Helvetica Neue" charset="0"/>
                </a:rPr>
                <a:t>Interviews with Industry Leaders</a:t>
              </a:r>
            </a:p>
          </p:txBody>
        </p:sp>
      </p:grpSp>
      <p:sp>
        <p:nvSpPr>
          <p:cNvPr id="44" name="Rectangle 8"/>
          <p:cNvSpPr>
            <a:spLocks/>
          </p:cNvSpPr>
          <p:nvPr/>
        </p:nvSpPr>
        <p:spPr bwMode="auto">
          <a:xfrm>
            <a:off x="5654676" y="4529136"/>
            <a:ext cx="208438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900" b="1" i="1" dirty="0" smtClean="0">
                <a:solidFill>
                  <a:srgbClr val="FFFFFF"/>
                </a:solidFill>
                <a:latin typeface="Helvetica Neue" charset="0"/>
                <a:sym typeface="Helvetica Neue" charset="0"/>
              </a:rPr>
              <a:t>More</a:t>
            </a:r>
            <a:endParaRPr lang="en-US" sz="3900" b="1" i="1" dirty="0">
              <a:solidFill>
                <a:srgbClr val="FFFFFF"/>
              </a:solidFill>
              <a:latin typeface="Helvetica Neue" charset="0"/>
              <a:sym typeface="Helvetica Neue" charset="0"/>
            </a:endParaRPr>
          </a:p>
        </p:txBody>
      </p:sp>
      <p:grpSp>
        <p:nvGrpSpPr>
          <p:cNvPr id="15" name="Group 14"/>
          <p:cNvGrpSpPr/>
          <p:nvPr/>
        </p:nvGrpSpPr>
        <p:grpSpPr>
          <a:xfrm>
            <a:off x="301626" y="5890260"/>
            <a:ext cx="5075237" cy="990600"/>
            <a:chOff x="301625" y="5953125"/>
            <a:chExt cx="5075237" cy="990600"/>
          </a:xfrm>
        </p:grpSpPr>
        <p:sp>
          <p:nvSpPr>
            <p:cNvPr id="19" name="Rectangle 18"/>
            <p:cNvSpPr/>
            <p:nvPr/>
          </p:nvSpPr>
          <p:spPr>
            <a:xfrm>
              <a:off x="301625" y="5953126"/>
              <a:ext cx="5059362" cy="815974"/>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 name="Rectangle 50"/>
            <p:cNvSpPr/>
            <p:nvPr/>
          </p:nvSpPr>
          <p:spPr>
            <a:xfrm>
              <a:off x="314324" y="5953125"/>
              <a:ext cx="5059363" cy="8159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00"/>
                </a:solidFill>
              </a:endParaRPr>
            </a:p>
          </p:txBody>
        </p:sp>
        <p:sp>
          <p:nvSpPr>
            <p:cNvPr id="52" name="Rectangle 4"/>
            <p:cNvSpPr>
              <a:spLocks/>
            </p:cNvSpPr>
            <p:nvPr/>
          </p:nvSpPr>
          <p:spPr bwMode="auto">
            <a:xfrm>
              <a:off x="484187" y="5978525"/>
              <a:ext cx="4892675"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nSpc>
                  <a:spcPct val="70000"/>
                </a:lnSpc>
              </a:pPr>
              <a:r>
                <a:rPr lang="en-US" sz="3200" b="1" dirty="0">
                  <a:latin typeface="Helvetica Neue" charset="0"/>
                  <a:sym typeface="Helvetica Neue" charset="0"/>
                </a:rPr>
                <a:t>Industry </a:t>
              </a:r>
              <a:r>
                <a:rPr lang="en-US" sz="3200" b="1" dirty="0" smtClean="0">
                  <a:latin typeface="Helvetica Neue" charset="0"/>
                  <a:sym typeface="Helvetica Neue" charset="0"/>
                </a:rPr>
                <a:t>Case Studies</a:t>
              </a:r>
              <a:endParaRPr lang="en-US" sz="2400" b="1" dirty="0">
                <a:latin typeface="Helvetica Neue" charset="0"/>
                <a:sym typeface="Helvetica Neue" charset="0"/>
              </a:endParaRPr>
            </a:p>
          </p:txBody>
        </p:sp>
      </p:grpSp>
      <p:grpSp>
        <p:nvGrpSpPr>
          <p:cNvPr id="21" name="Group 20"/>
          <p:cNvGrpSpPr/>
          <p:nvPr/>
        </p:nvGrpSpPr>
        <p:grpSpPr>
          <a:xfrm>
            <a:off x="301626" y="8995460"/>
            <a:ext cx="5075237" cy="889000"/>
            <a:chOff x="301625" y="8995459"/>
            <a:chExt cx="5075237" cy="889000"/>
          </a:xfrm>
        </p:grpSpPr>
        <p:sp>
          <p:nvSpPr>
            <p:cNvPr id="38" name="TextBox 37"/>
            <p:cNvSpPr txBox="1"/>
            <p:nvPr/>
          </p:nvSpPr>
          <p:spPr>
            <a:xfrm>
              <a:off x="301625" y="9116794"/>
              <a:ext cx="5062539" cy="6463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wrap="square">
              <a:spAutoFit/>
            </a:bodyPr>
            <a:lstStyle/>
            <a:p>
              <a:pPr>
                <a:defRPr/>
              </a:pPr>
              <a:endParaRPr lang="en-US" sz="3600" b="1" dirty="0">
                <a:solidFill>
                  <a:schemeClr val="bg1"/>
                </a:solidFill>
                <a:latin typeface="Helvetica Neue"/>
              </a:endParaRPr>
            </a:p>
          </p:txBody>
        </p:sp>
        <p:sp>
          <p:nvSpPr>
            <p:cNvPr id="54" name="Rectangle 4"/>
            <p:cNvSpPr>
              <a:spLocks/>
            </p:cNvSpPr>
            <p:nvPr/>
          </p:nvSpPr>
          <p:spPr bwMode="auto">
            <a:xfrm>
              <a:off x="484186" y="8995459"/>
              <a:ext cx="4892676"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defRPr/>
              </a:pPr>
              <a:r>
                <a:rPr lang="en-US" sz="3200" b="1" dirty="0">
                  <a:solidFill>
                    <a:schemeClr val="bg1"/>
                  </a:solidFill>
                  <a:latin typeface="Helvetica Neue"/>
                </a:rPr>
                <a:t>Best NEW Features</a:t>
              </a:r>
            </a:p>
          </p:txBody>
        </p:sp>
      </p:grpSp>
      <p:sp>
        <p:nvSpPr>
          <p:cNvPr id="39" name="Rounded Rectangle 38">
            <a:hlinkClick r:id="" action="ppaction://noaction"/>
          </p:cNvPr>
          <p:cNvSpPr/>
          <p:nvPr/>
        </p:nvSpPr>
        <p:spPr>
          <a:xfrm>
            <a:off x="3052761" y="9686925"/>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40" name="Rectangle 2"/>
          <p:cNvSpPr>
            <a:spLocks/>
          </p:cNvSpPr>
          <p:nvPr/>
        </p:nvSpPr>
        <p:spPr bwMode="auto">
          <a:xfrm rot="5400000">
            <a:off x="-4902992" y="4902994"/>
            <a:ext cx="10077450" cy="271463"/>
          </a:xfrm>
          <a:prstGeom prst="rect">
            <a:avLst/>
          </a:prstGeom>
          <a:noFill/>
          <a:ln w="25400" cap="flat">
            <a:noFill/>
            <a:miter lim="800000"/>
            <a:headEnd type="none" w="med" len="med"/>
            <a:tailEnd type="none" w="med" len="med"/>
          </a:ln>
        </p:spPr>
        <p:txBody>
          <a:bodyPr lIns="0" tIns="0" rIns="0" bIns="0" anchor="ctr"/>
          <a:lstStyle/>
          <a:p>
            <a:pPr fontAlgn="auto">
              <a:spcBef>
                <a:spcPts val="0"/>
              </a:spcBef>
              <a:spcAft>
                <a:spcPts val="0"/>
              </a:spcAft>
              <a:defRPr/>
            </a:pPr>
            <a:r>
              <a:rPr lang="en-US" sz="1300" spc="-150" dirty="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rPr>
              <a:t>         ALM  Mag  - Vol.. 1, Issue </a:t>
            </a:r>
            <a:r>
              <a:rPr lang="en-US" sz="1300" spc="-150" dirty="0" smtClean="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rPr>
              <a:t>2  February 2013</a:t>
            </a:r>
            <a:endParaRPr lang="en-US" sz="1300" spc="-150" dirty="0">
              <a:solidFill>
                <a:srgbClr val="FFFFFF"/>
              </a:solidFill>
              <a:effectLst>
                <a:outerShdw blurRad="38100" dist="38100" dir="2700000" algn="tl">
                  <a:srgbClr val="808080"/>
                </a:outerShdw>
              </a:effectLst>
              <a:latin typeface="Helvetica Neue Bold Condensed" charset="0"/>
              <a:ea typeface="Helvetica Neue Bold Condensed" charset="0"/>
              <a:cs typeface="Helvetica Neue Bold Condensed" charset="0"/>
              <a:sym typeface="Helvetica Neue Bold Condensed" charset="0"/>
            </a:endParaRPr>
          </a:p>
        </p:txBody>
      </p:sp>
      <p:sp>
        <p:nvSpPr>
          <p:cNvPr id="41" name="Rectangle 11">
            <a:hlinkClick r:id="rId4"/>
          </p:cNvPr>
          <p:cNvSpPr>
            <a:spLocks/>
          </p:cNvSpPr>
          <p:nvPr/>
        </p:nvSpPr>
        <p:spPr bwMode="auto">
          <a:xfrm>
            <a:off x="415456" y="20539"/>
            <a:ext cx="6942606"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14000" i="1" dirty="0" smtClean="0">
                <a:solidFill>
                  <a:srgbClr val="FEAB00"/>
                </a:solidFill>
                <a:latin typeface="Impact" charset="0"/>
                <a:sym typeface="Impact" charset="0"/>
              </a:rPr>
              <a:t>ALM</a:t>
            </a:r>
            <a:r>
              <a:rPr lang="en-US" sz="14000" dirty="0" smtClean="0">
                <a:solidFill>
                  <a:srgbClr val="639C14"/>
                </a:solidFill>
                <a:latin typeface="Brush Script MT" pitchFamily="66" charset="0"/>
                <a:sym typeface="Impact" charset="0"/>
              </a:rPr>
              <a:t>Mag</a:t>
            </a:r>
            <a:r>
              <a:rPr lang="en-US" sz="6000" dirty="0" smtClean="0">
                <a:solidFill>
                  <a:srgbClr val="639C14"/>
                </a:solidFill>
                <a:latin typeface="Brush Script MT" pitchFamily="66" charset="0"/>
                <a:sym typeface="Impact" charset="0"/>
              </a:rPr>
              <a:t>.com</a:t>
            </a:r>
            <a:endParaRPr lang="en-US" sz="6000" dirty="0">
              <a:solidFill>
                <a:srgbClr val="639C14"/>
              </a:solidFill>
              <a:latin typeface="Brush Script MT" pitchFamily="66" charset="0"/>
              <a:sym typeface="Impact" charset="0"/>
            </a:endParaRPr>
          </a:p>
        </p:txBody>
      </p:sp>
      <p:sp>
        <p:nvSpPr>
          <p:cNvPr id="45" name="Rectangle 14"/>
          <p:cNvSpPr>
            <a:spLocks/>
          </p:cNvSpPr>
          <p:nvPr/>
        </p:nvSpPr>
        <p:spPr bwMode="auto">
          <a:xfrm>
            <a:off x="368300" y="1838325"/>
            <a:ext cx="6116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r>
              <a:rPr lang="en-US" sz="1500" b="1" i="1" dirty="0" smtClean="0">
                <a:solidFill>
                  <a:schemeClr val="bg1"/>
                </a:solidFill>
                <a:latin typeface="Helvetica Neue" charset="0"/>
                <a:sym typeface="Helvetica Neue" charset="0"/>
              </a:rPr>
              <a:t>Empowering Rapid Delivery of Quality Software</a:t>
            </a:r>
            <a:endParaRPr lang="en-US" sz="1500" b="1" i="1" dirty="0">
              <a:solidFill>
                <a:schemeClr val="bg1"/>
              </a:solidFill>
              <a:latin typeface="Helvetica Neue" charset="0"/>
              <a:sym typeface="Helvetica Neue" charset="0"/>
            </a:endParaRPr>
          </a:p>
        </p:txBody>
      </p:sp>
      <p:sp>
        <p:nvSpPr>
          <p:cNvPr id="46" name="Rectangle 14"/>
          <p:cNvSpPr>
            <a:spLocks/>
          </p:cNvSpPr>
          <p:nvPr/>
        </p:nvSpPr>
        <p:spPr bwMode="auto">
          <a:xfrm>
            <a:off x="957262" y="2098774"/>
            <a:ext cx="6449219" cy="34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2400" dirty="0">
                <a:solidFill>
                  <a:schemeClr val="bg1"/>
                </a:solidFill>
                <a:latin typeface="Helvetica Neue" charset="0"/>
                <a:sym typeface="Helvetica Neue" charset="0"/>
              </a:rPr>
              <a:t>swirly-stars-backgrounds-wallpapers-2</a:t>
            </a:r>
          </a:p>
        </p:txBody>
      </p:sp>
    </p:spTree>
    <p:extLst>
      <p:ext uri="{BB962C8B-B14F-4D97-AF65-F5344CB8AC3E}">
        <p14:creationId xmlns:p14="http://schemas.microsoft.com/office/powerpoint/2010/main" val="2849416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20</a:t>
            </a:fld>
            <a:endParaRPr lang="en-PH" dirty="0"/>
          </a:p>
        </p:txBody>
      </p:sp>
      <p:pic>
        <p:nvPicPr>
          <p:cNvPr id="205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553325"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a:spLocks/>
          </p:cNvSpPr>
          <p:nvPr/>
        </p:nvSpPr>
        <p:spPr bwMode="auto">
          <a:xfrm>
            <a:off x="2173288" y="5191125"/>
            <a:ext cx="49561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next thing. The time box limits the amount of work a team can take on. Effective teams generally use the Kanban principle of Limited WIP, only working on one or two transactional stories at a time. Some teams choose not to commit at all, but simply pull in stories according to their WIP limit, being careful not to start something that cannot be finished in a sprint. The important thing here, is not whether teams make commitments, or how they make them, but the fact these are </a:t>
            </a:r>
            <a:r>
              <a:rPr lang="en-US" sz="1200" i="1" dirty="0"/>
              <a:t>cross-functional</a:t>
            </a:r>
            <a:r>
              <a:rPr lang="en-US" sz="1200" dirty="0"/>
              <a:t> teams, collaborating with requesters, managing their own time and process, and focusing on the </a:t>
            </a:r>
            <a:r>
              <a:rPr lang="en-US" sz="1200" i="1" dirty="0"/>
              <a:t>completion of work</a:t>
            </a:r>
            <a:r>
              <a:rPr lang="en-US" sz="1200" dirty="0"/>
              <a:t>. </a:t>
            </a:r>
          </a:p>
          <a:p>
            <a:pPr algn="just"/>
            <a:endParaRPr lang="en-US" sz="1200" dirty="0"/>
          </a:p>
          <a:p>
            <a:pPr algn="just"/>
            <a:r>
              <a:rPr lang="en-US" sz="1200" dirty="0"/>
              <a:t>If organizations wanting to adopt Scrum would be willing to shift from a project culture to a team culture, they’d find many of the problems associated with project management would disappear. They would reduce (project) management overhead costs, stop calling in consultants to fix whatever the previous consultants screwed up, and they’d see a stream-lined, effective organization emerging right before their eyes. Trust the teams. It’s as simple—and terrifying—as that</a:t>
            </a:r>
            <a:r>
              <a:rPr lang="en-US" sz="1200" dirty="0" smtClean="0"/>
              <a:t>.</a:t>
            </a:r>
            <a:endParaRPr lang="en-US" sz="1200" dirty="0"/>
          </a:p>
        </p:txBody>
      </p:sp>
      <p:sp>
        <p:nvSpPr>
          <p:cNvPr id="7" name="Rectangle 2"/>
          <p:cNvSpPr>
            <a:spLocks/>
          </p:cNvSpPr>
          <p:nvPr/>
        </p:nvSpPr>
        <p:spPr bwMode="auto">
          <a:xfrm>
            <a:off x="2176462" y="8543925"/>
            <a:ext cx="4973355" cy="6422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4"/>
              </a:rPr>
              <a:t>Tobias Mayer</a:t>
            </a:r>
            <a:r>
              <a:rPr lang="en-US" sz="1000" i="1" dirty="0"/>
              <a:t> is a facilitator, guide, and coach, specializing in Agile transformation. His current work explores the concept of </a:t>
            </a:r>
            <a:r>
              <a:rPr lang="en-US" sz="1000" i="1" u="sng" dirty="0">
                <a:hlinkClick r:id="rId4"/>
              </a:rPr>
              <a:t>craftsmanship</a:t>
            </a:r>
            <a:r>
              <a:rPr lang="en-US" sz="1000" i="1" dirty="0"/>
              <a:t> in this context, focusing on the values and principles that foster an Agile mindset.</a:t>
            </a:r>
          </a:p>
        </p:txBody>
      </p:sp>
      <p:sp>
        <p:nvSpPr>
          <p:cNvPr id="9" name="Rounded Rectangle 8">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5695018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35"/>
          <p:cNvSpPr/>
          <p:nvPr/>
        </p:nvSpPr>
        <p:spPr>
          <a:xfrm>
            <a:off x="6519862" y="1721882"/>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sp>
        <p:nvSpPr>
          <p:cNvPr id="7" name="TextBox 6"/>
          <p:cNvSpPr txBox="1"/>
          <p:nvPr/>
        </p:nvSpPr>
        <p:spPr>
          <a:xfrm>
            <a:off x="119064" y="695325"/>
            <a:ext cx="3667479" cy="707886"/>
          </a:xfrm>
          <a:prstGeom prst="rect">
            <a:avLst/>
          </a:prstGeom>
          <a:noFill/>
        </p:spPr>
        <p:txBody>
          <a:bodyPr wrap="none">
            <a:spAutoFit/>
          </a:bodyPr>
          <a:lstStyle/>
          <a:p>
            <a:pPr fontAlgn="auto">
              <a:spcBef>
                <a:spcPts val="0"/>
              </a:spcBef>
              <a:spcAft>
                <a:spcPts val="0"/>
              </a:spcAft>
              <a:defRPr/>
            </a:pPr>
            <a:r>
              <a:rPr lang="en-PH" sz="4000" b="1" spc="-150" dirty="0">
                <a:solidFill>
                  <a:schemeClr val="bg1">
                    <a:lumMod val="50000"/>
                  </a:schemeClr>
                </a:solidFill>
                <a:latin typeface="Arial Rounded MT Bold" pitchFamily="34" charset="0"/>
                <a:cs typeface="Arial" pitchFamily="34" charset="0"/>
              </a:rPr>
              <a:t>F</a:t>
            </a:r>
            <a:r>
              <a:rPr lang="en-PH" sz="4000" b="1" spc="-150" dirty="0" smtClean="0">
                <a:solidFill>
                  <a:schemeClr val="bg1">
                    <a:lumMod val="50000"/>
                  </a:schemeClr>
                </a:solidFill>
                <a:latin typeface="Arial Rounded MT Bold" pitchFamily="34" charset="0"/>
                <a:cs typeface="Arial" pitchFamily="34" charset="0"/>
              </a:rPr>
              <a:t>eatured Event</a:t>
            </a:r>
            <a:endParaRPr lang="en-PH" sz="4000" b="1" spc="-150" dirty="0">
              <a:solidFill>
                <a:schemeClr val="bg1">
                  <a:lumMod val="50000"/>
                </a:schemeClr>
              </a:solidFill>
              <a:latin typeface="Arial Rounded MT Bold" pitchFamily="34" charset="0"/>
              <a:cs typeface="Arial" pitchFamily="34" charset="0"/>
            </a:endParaRPr>
          </a:p>
        </p:txBody>
      </p:sp>
      <p:sp>
        <p:nvSpPr>
          <p:cNvPr id="4101" name="TextBox 7"/>
          <p:cNvSpPr txBox="1">
            <a:spLocks noChangeArrowheads="1"/>
          </p:cNvSpPr>
          <p:nvPr/>
        </p:nvSpPr>
        <p:spPr bwMode="auto">
          <a:xfrm>
            <a:off x="254001" y="1654177"/>
            <a:ext cx="23920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2400" b="1" dirty="0">
                <a:latin typeface="Arial Narrow" pitchFamily="34" charset="0"/>
              </a:rPr>
              <a:t>The Headline Here</a:t>
            </a:r>
          </a:p>
        </p:txBody>
      </p:sp>
      <p:cxnSp>
        <p:nvCxnSpPr>
          <p:cNvPr id="17" name="Straight Connector 16"/>
          <p:cNvCxnSpPr/>
          <p:nvPr/>
        </p:nvCxnSpPr>
        <p:spPr>
          <a:xfrm>
            <a:off x="271463" y="4164235"/>
            <a:ext cx="6858000" cy="0"/>
          </a:xfrm>
          <a:prstGeom prst="line">
            <a:avLst/>
          </a:prstGeom>
          <a:ln w="44450" cap="rnd" cmpd="sng">
            <a:solidFill>
              <a:schemeClr val="bg1">
                <a:lumMod val="50000"/>
              </a:schemeClr>
            </a:solidFill>
            <a:prstDash val="dash"/>
            <a:miter lim="800000"/>
          </a:ln>
          <a:effectLst>
            <a:outerShdw sx="1000" sy="1000" algn="ctr" rotWithShape="0">
              <a:srgbClr val="000000"/>
            </a:outerShdw>
          </a:effectLst>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95263" y="3568701"/>
            <a:ext cx="2202654" cy="707886"/>
          </a:xfrm>
          <a:prstGeom prst="rect">
            <a:avLst/>
          </a:prstGeom>
          <a:noFill/>
        </p:spPr>
        <p:txBody>
          <a:bodyPr wrap="none">
            <a:spAutoFit/>
          </a:bodyPr>
          <a:lstStyle/>
          <a:p>
            <a:pPr fontAlgn="auto">
              <a:spcBef>
                <a:spcPts val="0"/>
              </a:spcBef>
              <a:spcAft>
                <a:spcPts val="0"/>
              </a:spcAft>
              <a:defRPr/>
            </a:pPr>
            <a:r>
              <a:rPr lang="en-PH" sz="4000" b="1" spc="-150" dirty="0">
                <a:solidFill>
                  <a:schemeClr val="bg1">
                    <a:lumMod val="50000"/>
                  </a:schemeClr>
                </a:solidFill>
                <a:latin typeface="Arial Rounded MT Bold" pitchFamily="34" charset="0"/>
                <a:cs typeface="Arial" pitchFamily="34" charset="0"/>
              </a:rPr>
              <a:t>Features</a:t>
            </a:r>
          </a:p>
        </p:txBody>
      </p:sp>
      <p:pic>
        <p:nvPicPr>
          <p:cNvPr id="4124"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1834596"/>
            <a:ext cx="4429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50" name="Picture 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 y="1640843"/>
            <a:ext cx="5800713" cy="1492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Oval 30"/>
          <p:cNvSpPr/>
          <p:nvPr/>
        </p:nvSpPr>
        <p:spPr>
          <a:xfrm>
            <a:off x="6519863" y="5572124"/>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32"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56848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 name="TextBox 34">
            <a:hlinkClick r:id="rId5" action="ppaction://hlinksldjump"/>
          </p:cNvPr>
          <p:cNvSpPr txBox="1">
            <a:spLocks noChangeArrowheads="1"/>
          </p:cNvSpPr>
          <p:nvPr/>
        </p:nvSpPr>
        <p:spPr bwMode="auto">
          <a:xfrm>
            <a:off x="1785228" y="5419726"/>
            <a:ext cx="36407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Magic Quadrant for </a:t>
            </a:r>
            <a:endParaRPr lang="en-US" sz="1600" b="1" i="1" dirty="0" smtClean="0"/>
          </a:p>
          <a:p>
            <a:pPr eaLnBrk="1" hangingPunct="1"/>
            <a:r>
              <a:rPr lang="en-US" sz="1600" b="1" i="1" dirty="0" smtClean="0"/>
              <a:t>Application </a:t>
            </a:r>
            <a:r>
              <a:rPr lang="en-US" sz="1600" b="1" i="1" dirty="0"/>
              <a:t>Life Cycle Management</a:t>
            </a:r>
            <a:endParaRPr lang="en-PH" sz="1600" b="1" i="1" dirty="0"/>
          </a:p>
        </p:txBody>
      </p:sp>
      <p:sp>
        <p:nvSpPr>
          <p:cNvPr id="37" name="TextBox 36"/>
          <p:cNvSpPr txBox="1"/>
          <p:nvPr/>
        </p:nvSpPr>
        <p:spPr>
          <a:xfrm>
            <a:off x="1785229" y="5950150"/>
            <a:ext cx="1829347" cy="276999"/>
          </a:xfrm>
          <a:prstGeom prst="rect">
            <a:avLst/>
          </a:prstGeom>
          <a:noFill/>
        </p:spPr>
        <p:txBody>
          <a:bodyPr wrap="none">
            <a:spAutoFit/>
          </a:bodyPr>
          <a:lstStyle/>
          <a:p>
            <a:pPr fontAlgn="auto">
              <a:spcBef>
                <a:spcPts val="0"/>
              </a:spcBef>
              <a:spcAft>
                <a:spcPts val="0"/>
              </a:spcAft>
              <a:defRPr/>
            </a:pPr>
            <a:r>
              <a:rPr lang="en-PH" sz="1200" dirty="0" smtClean="0">
                <a:latin typeface="Arial" pitchFamily="34" charset="0"/>
                <a:cs typeface="Arial" pitchFamily="34" charset="0"/>
              </a:rPr>
              <a:t>The June 2012 Findings</a:t>
            </a:r>
            <a:endParaRPr lang="en-PH" sz="1200" dirty="0">
              <a:latin typeface="Arial" pitchFamily="34" charset="0"/>
              <a:cs typeface="Arial" pitchFamily="34" charset="0"/>
            </a:endParaRPr>
          </a:p>
        </p:txBody>
      </p:sp>
      <p:sp>
        <p:nvSpPr>
          <p:cNvPr id="38" name="TextBox 37"/>
          <p:cNvSpPr txBox="1"/>
          <p:nvPr/>
        </p:nvSpPr>
        <p:spPr>
          <a:xfrm>
            <a:off x="1785228" y="6209527"/>
            <a:ext cx="2580963"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t>
            </a:r>
            <a:r>
              <a:rPr lang="en-US" sz="1200" i="1" dirty="0"/>
              <a:t>Thomas E. Murphy, Jim Duggan</a:t>
            </a:r>
            <a:endParaRPr lang="en-PH" sz="1200" i="1" dirty="0">
              <a:latin typeface="Arial" pitchFamily="34" charset="0"/>
              <a:cs typeface="Arial" pitchFamily="34" charset="0"/>
            </a:endParaRPr>
          </a:p>
        </p:txBody>
      </p:sp>
      <p:sp>
        <p:nvSpPr>
          <p:cNvPr id="40" name="Oval 39"/>
          <p:cNvSpPr/>
          <p:nvPr/>
        </p:nvSpPr>
        <p:spPr>
          <a:xfrm>
            <a:off x="6519863" y="78581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41"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79708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2" name="TextBox 59"/>
          <p:cNvSpPr txBox="1">
            <a:spLocks noChangeArrowheads="1"/>
          </p:cNvSpPr>
          <p:nvPr/>
        </p:nvSpPr>
        <p:spPr bwMode="auto">
          <a:xfrm>
            <a:off x="1785229" y="6638925"/>
            <a:ext cx="33870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A Lap Around Visual Studio 2012</a:t>
            </a:r>
            <a:endParaRPr lang="en-PH" sz="1600" b="1" i="1" dirty="0"/>
          </a:p>
        </p:txBody>
      </p:sp>
      <p:sp>
        <p:nvSpPr>
          <p:cNvPr id="43" name="TextBox 42"/>
          <p:cNvSpPr txBox="1"/>
          <p:nvPr/>
        </p:nvSpPr>
        <p:spPr>
          <a:xfrm>
            <a:off x="1785229" y="6915151"/>
            <a:ext cx="4347665" cy="276999"/>
          </a:xfrm>
          <a:prstGeom prst="rect">
            <a:avLst/>
          </a:prstGeom>
          <a:noFill/>
        </p:spPr>
        <p:txBody>
          <a:bodyPr wrap="none">
            <a:spAutoFit/>
          </a:bodyPr>
          <a:lstStyle/>
          <a:p>
            <a:pPr fontAlgn="auto">
              <a:spcBef>
                <a:spcPts val="0"/>
              </a:spcBef>
              <a:spcAft>
                <a:spcPts val="0"/>
              </a:spcAft>
              <a:defRPr/>
            </a:pPr>
            <a:r>
              <a:rPr lang="en-US" sz="1200" dirty="0" smtClean="0">
                <a:latin typeface="Arial" pitchFamily="34" charset="0"/>
                <a:cs typeface="Arial" pitchFamily="34" charset="0"/>
              </a:rPr>
              <a:t>See new </a:t>
            </a:r>
            <a:r>
              <a:rPr lang="en-US" sz="1200" dirty="0">
                <a:latin typeface="Arial" pitchFamily="34" charset="0"/>
                <a:cs typeface="Arial" pitchFamily="34" charset="0"/>
              </a:rPr>
              <a:t>enhanced User Interface</a:t>
            </a:r>
            <a:r>
              <a:rPr lang="en-US" sz="1200" dirty="0" smtClean="0">
                <a:latin typeface="Arial" pitchFamily="34" charset="0"/>
                <a:cs typeface="Arial" pitchFamily="34" charset="0"/>
              </a:rPr>
              <a:t>, Features </a:t>
            </a:r>
            <a:r>
              <a:rPr lang="en-US" sz="1200" dirty="0">
                <a:latin typeface="Arial" pitchFamily="34" charset="0"/>
                <a:cs typeface="Arial" pitchFamily="34" charset="0"/>
              </a:rPr>
              <a:t>and functionality</a:t>
            </a:r>
            <a:endParaRPr lang="en-PH" sz="1200" dirty="0">
              <a:latin typeface="Arial" pitchFamily="34" charset="0"/>
              <a:cs typeface="Arial" pitchFamily="34" charset="0"/>
            </a:endParaRPr>
          </a:p>
        </p:txBody>
      </p:sp>
      <p:sp>
        <p:nvSpPr>
          <p:cNvPr id="44" name="TextBox 43"/>
          <p:cNvSpPr txBox="1"/>
          <p:nvPr/>
        </p:nvSpPr>
        <p:spPr>
          <a:xfrm>
            <a:off x="1766331" y="7197152"/>
            <a:ext cx="2471585" cy="276999"/>
          </a:xfrm>
          <a:prstGeom prst="rect">
            <a:avLst/>
          </a:prstGeom>
          <a:noFill/>
        </p:spPr>
        <p:txBody>
          <a:bodyPr wrap="square">
            <a:spAutoFit/>
          </a:bodyPr>
          <a:lstStyle/>
          <a:p>
            <a:pPr fontAlgn="auto">
              <a:spcBef>
                <a:spcPts val="0"/>
              </a:spcBef>
              <a:spcAft>
                <a:spcPts val="0"/>
              </a:spcAft>
              <a:defRPr/>
            </a:pPr>
            <a:r>
              <a:rPr lang="en-PH" sz="1200" dirty="0">
                <a:latin typeface="Arial" pitchFamily="34" charset="0"/>
                <a:cs typeface="Arial" pitchFamily="34" charset="0"/>
              </a:rPr>
              <a:t> </a:t>
            </a:r>
            <a:r>
              <a:rPr lang="en-PH" sz="1200" i="1" dirty="0" smtClean="0">
                <a:latin typeface="Arial" pitchFamily="34" charset="0"/>
                <a:cs typeface="Arial" pitchFamily="34" charset="0"/>
              </a:rPr>
              <a:t>by </a:t>
            </a:r>
            <a:r>
              <a:rPr lang="en-US" sz="1200" i="1" dirty="0">
                <a:latin typeface="Helvetica" pitchFamily="34" charset="0"/>
                <a:cs typeface="Helvetica" pitchFamily="34" charset="0"/>
              </a:rPr>
              <a:t>James </a:t>
            </a:r>
            <a:r>
              <a:rPr lang="en-US" sz="1200" i="1" dirty="0" smtClean="0">
                <a:latin typeface="Helvetica" pitchFamily="34" charset="0"/>
                <a:cs typeface="Helvetica" pitchFamily="34" charset="0"/>
              </a:rPr>
              <a:t>Tupper</a:t>
            </a:r>
            <a:endParaRPr lang="en-US" sz="1200" i="1" dirty="0">
              <a:latin typeface="Helvetica" pitchFamily="34" charset="0"/>
              <a:cs typeface="Helvetica" pitchFamily="34" charset="0"/>
            </a:endParaRPr>
          </a:p>
        </p:txBody>
      </p:sp>
      <p:sp>
        <p:nvSpPr>
          <p:cNvPr id="45" name="TextBox 66"/>
          <p:cNvSpPr txBox="1">
            <a:spLocks noChangeArrowheads="1"/>
          </p:cNvSpPr>
          <p:nvPr/>
        </p:nvSpPr>
        <p:spPr bwMode="auto">
          <a:xfrm>
            <a:off x="1785229" y="7730550"/>
            <a:ext cx="30380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Integrating Development &amp; </a:t>
            </a:r>
          </a:p>
          <a:p>
            <a:pPr eaLnBrk="1" hangingPunct="1"/>
            <a:r>
              <a:rPr lang="en-US" sz="1600" b="1" i="1" dirty="0"/>
              <a:t>Operations for the Enterprise</a:t>
            </a:r>
            <a:endParaRPr lang="en-PH" sz="1600" b="1" i="1" dirty="0"/>
          </a:p>
        </p:txBody>
      </p:sp>
      <p:sp>
        <p:nvSpPr>
          <p:cNvPr id="46" name="TextBox 45"/>
          <p:cNvSpPr txBox="1"/>
          <p:nvPr/>
        </p:nvSpPr>
        <p:spPr>
          <a:xfrm>
            <a:off x="1785228" y="8263952"/>
            <a:ext cx="4330032" cy="276999"/>
          </a:xfrm>
          <a:prstGeom prst="rect">
            <a:avLst/>
          </a:prstGeom>
          <a:noFill/>
        </p:spPr>
        <p:txBody>
          <a:bodyPr wrap="none">
            <a:spAutoFit/>
          </a:bodyPr>
          <a:lstStyle/>
          <a:p>
            <a:pPr fontAlgn="auto">
              <a:spcBef>
                <a:spcPts val="0"/>
              </a:spcBef>
              <a:spcAft>
                <a:spcPts val="0"/>
              </a:spcAft>
              <a:defRPr/>
            </a:pPr>
            <a:r>
              <a:rPr lang="en-US" sz="1200" dirty="0" smtClean="0"/>
              <a:t>The adoption </a:t>
            </a:r>
            <a:r>
              <a:rPr lang="en-US" sz="1200" dirty="0"/>
              <a:t>of DevOps is now an established industry trend</a:t>
            </a:r>
            <a:endParaRPr lang="en-PH" sz="1200" dirty="0">
              <a:solidFill>
                <a:srgbClr val="FF0000"/>
              </a:solidFill>
              <a:latin typeface="Arial" pitchFamily="34" charset="0"/>
              <a:cs typeface="Arial" pitchFamily="34" charset="0"/>
            </a:endParaRPr>
          </a:p>
        </p:txBody>
      </p:sp>
      <p:sp>
        <p:nvSpPr>
          <p:cNvPr id="47" name="TextBox 46"/>
          <p:cNvSpPr txBox="1"/>
          <p:nvPr/>
        </p:nvSpPr>
        <p:spPr>
          <a:xfrm>
            <a:off x="1785228" y="8545177"/>
            <a:ext cx="3038011" cy="276999"/>
          </a:xfrm>
          <a:prstGeom prst="rect">
            <a:avLst/>
          </a:prstGeom>
          <a:noFill/>
        </p:spPr>
        <p:txBody>
          <a:bodyPr wrap="squar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Keith Pleas</a:t>
            </a:r>
            <a:endParaRPr lang="en-PH" sz="1200" i="1" dirty="0">
              <a:latin typeface="Arial" pitchFamily="34" charset="0"/>
              <a:cs typeface="Arial" pitchFamily="34" charset="0"/>
            </a:endParaRPr>
          </a:p>
        </p:txBody>
      </p:sp>
      <p:sp>
        <p:nvSpPr>
          <p:cNvPr id="48" name="Oval 47"/>
          <p:cNvSpPr/>
          <p:nvPr/>
        </p:nvSpPr>
        <p:spPr>
          <a:xfrm>
            <a:off x="6519863" y="67151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0"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68278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4" name="TextBox 37">
            <a:hlinkClick r:id="rId6" action="ppaction://hlinksldjump"/>
          </p:cNvPr>
          <p:cNvSpPr txBox="1">
            <a:spLocks noChangeArrowheads="1"/>
          </p:cNvSpPr>
          <p:nvPr/>
        </p:nvSpPr>
        <p:spPr bwMode="auto">
          <a:xfrm>
            <a:off x="1785228" y="4352924"/>
            <a:ext cx="22956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1600" b="1" i="1" dirty="0" smtClean="0"/>
              <a:t>Welcome to ALM Mag</a:t>
            </a:r>
            <a:endParaRPr lang="en-PH" sz="1600" b="1" i="1" dirty="0"/>
          </a:p>
        </p:txBody>
      </p:sp>
      <p:sp>
        <p:nvSpPr>
          <p:cNvPr id="56" name="TextBox 55"/>
          <p:cNvSpPr txBox="1"/>
          <p:nvPr/>
        </p:nvSpPr>
        <p:spPr>
          <a:xfrm>
            <a:off x="1785228" y="4629151"/>
            <a:ext cx="1379095" cy="276999"/>
          </a:xfrm>
          <a:prstGeom prst="rect">
            <a:avLst/>
          </a:prstGeom>
          <a:noFill/>
        </p:spPr>
        <p:txBody>
          <a:bodyPr wrap="none">
            <a:spAutoFit/>
          </a:bodyPr>
          <a:lstStyle/>
          <a:p>
            <a:pPr fontAlgn="auto">
              <a:spcBef>
                <a:spcPts val="0"/>
              </a:spcBef>
              <a:spcAft>
                <a:spcPts val="0"/>
              </a:spcAft>
              <a:defRPr/>
            </a:pPr>
            <a:r>
              <a:rPr lang="en-PH" sz="1200" dirty="0" smtClean="0">
                <a:latin typeface="Arial" pitchFamily="34" charset="0"/>
                <a:cs typeface="Arial" pitchFamily="34" charset="0"/>
              </a:rPr>
              <a:t>Editor’s Welcome</a:t>
            </a:r>
            <a:endParaRPr lang="en-PH" sz="1200" dirty="0">
              <a:latin typeface="Arial" pitchFamily="34" charset="0"/>
              <a:cs typeface="Arial" pitchFamily="34" charset="0"/>
            </a:endParaRPr>
          </a:p>
        </p:txBody>
      </p:sp>
      <p:sp>
        <p:nvSpPr>
          <p:cNvPr id="59" name="Oval 58"/>
          <p:cNvSpPr/>
          <p:nvPr/>
        </p:nvSpPr>
        <p:spPr>
          <a:xfrm>
            <a:off x="6519863" y="44291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60"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4541838"/>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65" name="Straight Connector 6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Rounded Rectangle 65"/>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Table Of Contents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21</a:t>
            </a:fld>
            <a:endParaRPr lang="en-PH" dirty="0"/>
          </a:p>
        </p:txBody>
      </p:sp>
      <p:sp>
        <p:nvSpPr>
          <p:cNvPr id="3" name="TextBox 2"/>
          <p:cNvSpPr txBox="1"/>
          <p:nvPr/>
        </p:nvSpPr>
        <p:spPr>
          <a:xfrm>
            <a:off x="1342315" y="4429126"/>
            <a:ext cx="441146" cy="369332"/>
          </a:xfrm>
          <a:prstGeom prst="rect">
            <a:avLst/>
          </a:prstGeom>
          <a:noFill/>
        </p:spPr>
        <p:txBody>
          <a:bodyPr wrap="none" rtlCol="0">
            <a:spAutoFit/>
          </a:bodyPr>
          <a:lstStyle/>
          <a:p>
            <a:r>
              <a:rPr lang="en-US" b="1" dirty="0" smtClean="0">
                <a:solidFill>
                  <a:srgbClr val="FF0000"/>
                </a:solidFill>
              </a:rPr>
              <a:t>04</a:t>
            </a:r>
            <a:endParaRPr lang="en-US" b="1" dirty="0">
              <a:solidFill>
                <a:srgbClr val="FF0000"/>
              </a:solidFill>
            </a:endParaRPr>
          </a:p>
        </p:txBody>
      </p:sp>
      <p:sp>
        <p:nvSpPr>
          <p:cNvPr id="67" name="TextBox 66"/>
          <p:cNvSpPr txBox="1"/>
          <p:nvPr/>
        </p:nvSpPr>
        <p:spPr>
          <a:xfrm>
            <a:off x="1342315" y="5495926"/>
            <a:ext cx="441146" cy="369332"/>
          </a:xfrm>
          <a:prstGeom prst="rect">
            <a:avLst/>
          </a:prstGeom>
          <a:noFill/>
        </p:spPr>
        <p:txBody>
          <a:bodyPr wrap="none" rtlCol="0">
            <a:spAutoFit/>
          </a:bodyPr>
          <a:lstStyle/>
          <a:p>
            <a:r>
              <a:rPr lang="en-US" b="1" dirty="0" smtClean="0">
                <a:solidFill>
                  <a:srgbClr val="FF0000"/>
                </a:solidFill>
              </a:rPr>
              <a:t>05</a:t>
            </a:r>
            <a:endParaRPr lang="en-US" b="1" dirty="0">
              <a:solidFill>
                <a:srgbClr val="FF0000"/>
              </a:solidFill>
            </a:endParaRPr>
          </a:p>
        </p:txBody>
      </p:sp>
      <p:sp>
        <p:nvSpPr>
          <p:cNvPr id="68" name="TextBox 67"/>
          <p:cNvSpPr txBox="1"/>
          <p:nvPr/>
        </p:nvSpPr>
        <p:spPr>
          <a:xfrm>
            <a:off x="1342315" y="6739950"/>
            <a:ext cx="441146" cy="369332"/>
          </a:xfrm>
          <a:prstGeom prst="rect">
            <a:avLst/>
          </a:prstGeom>
          <a:noFill/>
        </p:spPr>
        <p:txBody>
          <a:bodyPr wrap="none" rtlCol="0">
            <a:spAutoFit/>
          </a:bodyPr>
          <a:lstStyle/>
          <a:p>
            <a:r>
              <a:rPr lang="en-US" b="1" dirty="0" smtClean="0">
                <a:solidFill>
                  <a:srgbClr val="FF0000"/>
                </a:solidFill>
              </a:rPr>
              <a:t>07</a:t>
            </a:r>
            <a:endParaRPr lang="en-US" b="1" dirty="0">
              <a:solidFill>
                <a:srgbClr val="FF0000"/>
              </a:solidFill>
            </a:endParaRPr>
          </a:p>
        </p:txBody>
      </p:sp>
      <p:sp>
        <p:nvSpPr>
          <p:cNvPr id="69" name="TextBox 68"/>
          <p:cNvSpPr txBox="1"/>
          <p:nvPr/>
        </p:nvSpPr>
        <p:spPr>
          <a:xfrm>
            <a:off x="1342315" y="7831575"/>
            <a:ext cx="441146" cy="369332"/>
          </a:xfrm>
          <a:prstGeom prst="rect">
            <a:avLst/>
          </a:prstGeom>
          <a:noFill/>
        </p:spPr>
        <p:txBody>
          <a:bodyPr wrap="none" rtlCol="0">
            <a:spAutoFit/>
          </a:bodyPr>
          <a:lstStyle/>
          <a:p>
            <a:r>
              <a:rPr lang="en-US" b="1" dirty="0" smtClean="0">
                <a:solidFill>
                  <a:srgbClr val="FF0000"/>
                </a:solidFill>
              </a:rPr>
              <a:t>08</a:t>
            </a:r>
            <a:endParaRPr lang="en-US" b="1" dirty="0">
              <a:solidFill>
                <a:srgbClr val="FF0000"/>
              </a:solidFill>
            </a:endParaRPr>
          </a:p>
        </p:txBody>
      </p:sp>
      <p:sp>
        <p:nvSpPr>
          <p:cNvPr id="71" name="TextBox 70"/>
          <p:cNvSpPr txBox="1"/>
          <p:nvPr/>
        </p:nvSpPr>
        <p:spPr>
          <a:xfrm>
            <a:off x="6519862" y="2383394"/>
            <a:ext cx="441146" cy="369332"/>
          </a:xfrm>
          <a:prstGeom prst="rect">
            <a:avLst/>
          </a:prstGeom>
          <a:noFill/>
        </p:spPr>
        <p:txBody>
          <a:bodyPr wrap="none" rtlCol="0">
            <a:spAutoFit/>
          </a:bodyPr>
          <a:lstStyle/>
          <a:p>
            <a:r>
              <a:rPr lang="en-US" b="1" dirty="0" smtClean="0">
                <a:solidFill>
                  <a:srgbClr val="FF0000"/>
                </a:solidFill>
              </a:rPr>
              <a:t>15</a:t>
            </a:r>
            <a:endParaRPr lang="en-US" b="1" dirty="0">
              <a:solidFill>
                <a:srgbClr val="FF0000"/>
              </a:solidFill>
            </a:endParaRPr>
          </a:p>
        </p:txBody>
      </p:sp>
      <p:sp>
        <p:nvSpPr>
          <p:cNvPr id="4" name="Rectangle 3">
            <a:hlinkClick r:id="rId6" action="ppaction://hlinksldjump"/>
          </p:cNvPr>
          <p:cNvSpPr/>
          <p:nvPr/>
        </p:nvSpPr>
        <p:spPr>
          <a:xfrm>
            <a:off x="1185864" y="4276726"/>
            <a:ext cx="60960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hlinkClick r:id="rId5" action="ppaction://hlinksldjump"/>
          </p:cNvPr>
          <p:cNvSpPr/>
          <p:nvPr/>
        </p:nvSpPr>
        <p:spPr>
          <a:xfrm>
            <a:off x="1185862" y="5343525"/>
            <a:ext cx="60960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hlinkClick r:id="rId7" action="ppaction://hlinksldjump"/>
          </p:cNvPr>
          <p:cNvSpPr/>
          <p:nvPr/>
        </p:nvSpPr>
        <p:spPr>
          <a:xfrm>
            <a:off x="1189916" y="6640832"/>
            <a:ext cx="6096000" cy="8333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hlinkClick r:id="" action="ppaction://noaction"/>
          </p:cNvPr>
          <p:cNvSpPr/>
          <p:nvPr/>
        </p:nvSpPr>
        <p:spPr>
          <a:xfrm>
            <a:off x="1185862" y="7692450"/>
            <a:ext cx="6096000" cy="1232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031306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3" name="TextBox 73"/>
          <p:cNvSpPr txBox="1">
            <a:spLocks noChangeArrowheads="1"/>
          </p:cNvSpPr>
          <p:nvPr/>
        </p:nvSpPr>
        <p:spPr bwMode="auto">
          <a:xfrm>
            <a:off x="1781176" y="2247125"/>
            <a:ext cx="17908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1600" b="1" i="1" dirty="0" smtClean="0"/>
              <a:t>Podcast Podium</a:t>
            </a:r>
            <a:endParaRPr lang="en-PH" sz="1600" b="1" i="1" dirty="0"/>
          </a:p>
        </p:txBody>
      </p:sp>
      <p:sp>
        <p:nvSpPr>
          <p:cNvPr id="75" name="TextBox 74"/>
          <p:cNvSpPr txBox="1"/>
          <p:nvPr/>
        </p:nvSpPr>
        <p:spPr>
          <a:xfrm>
            <a:off x="1781175" y="2523352"/>
            <a:ext cx="3028778" cy="276999"/>
          </a:xfrm>
          <a:prstGeom prst="rect">
            <a:avLst/>
          </a:prstGeom>
          <a:noFill/>
        </p:spPr>
        <p:txBody>
          <a:bodyPr wrap="square">
            <a:spAutoFit/>
          </a:bodyPr>
          <a:lstStyle/>
          <a:p>
            <a:pPr algn="just"/>
            <a:r>
              <a:rPr lang="en-US" sz="1200" dirty="0">
                <a:latin typeface="Helvetica" charset="0"/>
                <a:cs typeface="Helvetica" charset="0"/>
                <a:sym typeface="Helvetica" charset="0"/>
              </a:rPr>
              <a:t>Interviews with Agile Evangelists</a:t>
            </a:r>
          </a:p>
        </p:txBody>
      </p:sp>
      <p:sp>
        <p:nvSpPr>
          <p:cNvPr id="76" name="TextBox 75"/>
          <p:cNvSpPr txBox="1"/>
          <p:nvPr/>
        </p:nvSpPr>
        <p:spPr>
          <a:xfrm>
            <a:off x="1781174" y="2783925"/>
            <a:ext cx="1539204"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Derek Neighbors</a:t>
            </a:r>
            <a:endParaRPr lang="en-PH" sz="1200" i="1" dirty="0">
              <a:latin typeface="Arial" pitchFamily="34" charset="0"/>
              <a:cs typeface="Arial" pitchFamily="34" charset="0"/>
            </a:endParaRPr>
          </a:p>
        </p:txBody>
      </p:sp>
      <p:sp>
        <p:nvSpPr>
          <p:cNvPr id="5147" name="TextBox 80"/>
          <p:cNvSpPr txBox="1">
            <a:spLocks noChangeArrowheads="1"/>
          </p:cNvSpPr>
          <p:nvPr/>
        </p:nvSpPr>
        <p:spPr bwMode="auto">
          <a:xfrm>
            <a:off x="1781176" y="3341727"/>
            <a:ext cx="37565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1600" b="1" i="1" dirty="0"/>
              <a:t>TFS Taskboard on Microsoft </a:t>
            </a:r>
            <a:r>
              <a:rPr lang="en-US" sz="1600" b="1" i="1" dirty="0" smtClean="0"/>
              <a:t>Surface</a:t>
            </a:r>
            <a:endParaRPr lang="en-US" sz="1600" b="1" i="1" dirty="0"/>
          </a:p>
        </p:txBody>
      </p:sp>
      <p:sp>
        <p:nvSpPr>
          <p:cNvPr id="82" name="TextBox 81"/>
          <p:cNvSpPr txBox="1"/>
          <p:nvPr/>
        </p:nvSpPr>
        <p:spPr>
          <a:xfrm>
            <a:off x="1781175" y="3674329"/>
            <a:ext cx="3748087" cy="276999"/>
          </a:xfrm>
          <a:prstGeom prst="rect">
            <a:avLst/>
          </a:prstGeom>
          <a:noFill/>
        </p:spPr>
        <p:txBody>
          <a:bodyPr wrap="square">
            <a:spAutoFit/>
          </a:bodyPr>
          <a:lstStyle/>
          <a:p>
            <a:r>
              <a:rPr lang="en-US" sz="1200" dirty="0"/>
              <a:t>Goodbye Post-It Notes</a:t>
            </a:r>
          </a:p>
        </p:txBody>
      </p:sp>
      <p:sp>
        <p:nvSpPr>
          <p:cNvPr id="83" name="TextBox 82"/>
          <p:cNvSpPr txBox="1"/>
          <p:nvPr/>
        </p:nvSpPr>
        <p:spPr>
          <a:xfrm>
            <a:off x="1781175" y="3951328"/>
            <a:ext cx="1219308"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Anna Russo</a:t>
            </a:r>
            <a:endParaRPr lang="en-PH" sz="1200" i="1" dirty="0">
              <a:latin typeface="Arial" pitchFamily="34" charset="0"/>
              <a:cs typeface="Arial" pitchFamily="34" charset="0"/>
            </a:endParaRPr>
          </a:p>
        </p:txBody>
      </p:sp>
      <p:sp>
        <p:nvSpPr>
          <p:cNvPr id="89" name="Oval 88"/>
          <p:cNvSpPr/>
          <p:nvPr/>
        </p:nvSpPr>
        <p:spPr>
          <a:xfrm>
            <a:off x="6519863" y="2323325"/>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151"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24360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1" name="Oval 90"/>
          <p:cNvSpPr/>
          <p:nvPr/>
        </p:nvSpPr>
        <p:spPr>
          <a:xfrm>
            <a:off x="6519863" y="3417927"/>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5153"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35306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7" name="Oval 46"/>
          <p:cNvSpPr/>
          <p:nvPr/>
        </p:nvSpPr>
        <p:spPr>
          <a:xfrm>
            <a:off x="6519863" y="8066127"/>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48"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8178840"/>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3" name="TextBox 37"/>
          <p:cNvSpPr txBox="1">
            <a:spLocks noChangeArrowheads="1"/>
          </p:cNvSpPr>
          <p:nvPr/>
        </p:nvSpPr>
        <p:spPr bwMode="auto">
          <a:xfrm>
            <a:off x="1781175" y="4481552"/>
            <a:ext cx="30287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Agile At The Enterprise Level</a:t>
            </a:r>
            <a:endParaRPr lang="en-PH" sz="1600" b="1" i="1" dirty="0"/>
          </a:p>
        </p:txBody>
      </p:sp>
      <p:sp>
        <p:nvSpPr>
          <p:cNvPr id="54" name="TextBox 53"/>
          <p:cNvSpPr txBox="1"/>
          <p:nvPr/>
        </p:nvSpPr>
        <p:spPr>
          <a:xfrm>
            <a:off x="1781175" y="4757779"/>
            <a:ext cx="4281487" cy="276999"/>
          </a:xfrm>
          <a:prstGeom prst="rect">
            <a:avLst/>
          </a:prstGeom>
          <a:noFill/>
        </p:spPr>
        <p:txBody>
          <a:bodyPr wrap="square">
            <a:spAutoFit/>
          </a:bodyPr>
          <a:lstStyle/>
          <a:p>
            <a:pPr fontAlgn="auto">
              <a:spcBef>
                <a:spcPts val="0"/>
              </a:spcBef>
              <a:spcAft>
                <a:spcPts val="0"/>
              </a:spcAft>
              <a:defRPr/>
            </a:pPr>
            <a:r>
              <a:rPr lang="en-US" sz="1200" dirty="0"/>
              <a:t>Agile requires consistent collaboration among stakeholders</a:t>
            </a:r>
            <a:endParaRPr lang="en-PH" sz="1200" dirty="0">
              <a:solidFill>
                <a:srgbClr val="FF0000"/>
              </a:solidFill>
              <a:latin typeface="Arial" pitchFamily="34" charset="0"/>
              <a:cs typeface="Arial" pitchFamily="34" charset="0"/>
            </a:endParaRPr>
          </a:p>
        </p:txBody>
      </p:sp>
      <p:sp>
        <p:nvSpPr>
          <p:cNvPr id="55" name="TextBox 54"/>
          <p:cNvSpPr txBox="1"/>
          <p:nvPr/>
        </p:nvSpPr>
        <p:spPr>
          <a:xfrm>
            <a:off x="1781176" y="5018128"/>
            <a:ext cx="1335622"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t>
            </a:r>
            <a:r>
              <a:rPr lang="en-PH" sz="1200" i="1" dirty="0">
                <a:latin typeface="Arial" pitchFamily="34" charset="0"/>
                <a:cs typeface="Arial" pitchFamily="34" charset="0"/>
              </a:rPr>
              <a:t>Bob Savelson</a:t>
            </a:r>
          </a:p>
        </p:txBody>
      </p:sp>
      <p:sp>
        <p:nvSpPr>
          <p:cNvPr id="56" name="TextBox 45"/>
          <p:cNvSpPr txBox="1">
            <a:spLocks noChangeArrowheads="1"/>
          </p:cNvSpPr>
          <p:nvPr/>
        </p:nvSpPr>
        <p:spPr bwMode="auto">
          <a:xfrm>
            <a:off x="1781176" y="5627726"/>
            <a:ext cx="36557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smtClean="0"/>
              <a:t>Load </a:t>
            </a:r>
            <a:r>
              <a:rPr lang="en-US" sz="1600" b="1" i="1" dirty="0"/>
              <a:t>Testing U</a:t>
            </a:r>
            <a:r>
              <a:rPr lang="en-US" sz="1600" b="1" i="1" dirty="0" smtClean="0"/>
              <a:t>sing </a:t>
            </a:r>
            <a:r>
              <a:rPr lang="en-US" sz="1600" b="1" i="1" dirty="0"/>
              <a:t>Windows Azure</a:t>
            </a:r>
          </a:p>
        </p:txBody>
      </p:sp>
      <p:sp>
        <p:nvSpPr>
          <p:cNvPr id="57" name="TextBox 56"/>
          <p:cNvSpPr txBox="1"/>
          <p:nvPr/>
        </p:nvSpPr>
        <p:spPr>
          <a:xfrm>
            <a:off x="1781175" y="5932528"/>
            <a:ext cx="4281487" cy="461665"/>
          </a:xfrm>
          <a:prstGeom prst="rect">
            <a:avLst/>
          </a:prstGeom>
          <a:noFill/>
        </p:spPr>
        <p:txBody>
          <a:bodyPr wrap="square">
            <a:spAutoFit/>
          </a:bodyPr>
          <a:lstStyle/>
          <a:p>
            <a:pPr fontAlgn="auto">
              <a:spcBef>
                <a:spcPts val="0"/>
              </a:spcBef>
              <a:spcAft>
                <a:spcPts val="0"/>
              </a:spcAft>
              <a:defRPr/>
            </a:pPr>
            <a:r>
              <a:rPr lang="en-US" sz="1200" dirty="0" smtClean="0"/>
              <a:t>A reusable inexpensive solution with easy infrastructure </a:t>
            </a:r>
          </a:p>
          <a:p>
            <a:pPr fontAlgn="auto">
              <a:spcBef>
                <a:spcPts val="0"/>
              </a:spcBef>
              <a:spcAft>
                <a:spcPts val="0"/>
              </a:spcAft>
              <a:defRPr/>
            </a:pPr>
            <a:r>
              <a:rPr lang="en-US" sz="1200" dirty="0" smtClean="0"/>
              <a:t>management will increase performance testing adoption</a:t>
            </a:r>
            <a:endParaRPr lang="en-PH" sz="1200" dirty="0">
              <a:solidFill>
                <a:srgbClr val="FF0000"/>
              </a:solidFill>
              <a:latin typeface="Arial" pitchFamily="34" charset="0"/>
              <a:cs typeface="Arial" pitchFamily="34" charset="0"/>
            </a:endParaRPr>
          </a:p>
        </p:txBody>
      </p:sp>
      <p:sp>
        <p:nvSpPr>
          <p:cNvPr id="59" name="TextBox 58"/>
          <p:cNvSpPr txBox="1"/>
          <p:nvPr/>
        </p:nvSpPr>
        <p:spPr>
          <a:xfrm>
            <a:off x="1781175" y="6389728"/>
            <a:ext cx="1189172" cy="276999"/>
          </a:xfrm>
          <a:prstGeom prst="rect">
            <a:avLst/>
          </a:prstGeom>
          <a:noFill/>
        </p:spPr>
        <p:txBody>
          <a:bodyPr wrap="none">
            <a:spAutoFit/>
          </a:bodyPr>
          <a:lstStyle/>
          <a:p>
            <a:pPr fontAlgn="auto">
              <a:spcBef>
                <a:spcPts val="0"/>
              </a:spcBef>
              <a:spcAft>
                <a:spcPts val="0"/>
              </a:spcAft>
              <a:defRPr/>
            </a:pPr>
            <a:r>
              <a:rPr lang="en-PH" sz="1200" i="1" dirty="0" smtClean="0">
                <a:latin typeface="Arial" pitchFamily="34" charset="0"/>
                <a:cs typeface="Arial" pitchFamily="34" charset="0"/>
              </a:rPr>
              <a:t>by </a:t>
            </a:r>
            <a:r>
              <a:rPr lang="en-US" sz="1200" i="1" dirty="0" smtClean="0"/>
              <a:t>Tarun Arora</a:t>
            </a:r>
            <a:endParaRPr lang="en-PH" sz="1200" i="1" dirty="0">
              <a:latin typeface="Arial" pitchFamily="34" charset="0"/>
              <a:cs typeface="Arial" pitchFamily="34" charset="0"/>
            </a:endParaRPr>
          </a:p>
        </p:txBody>
      </p:sp>
      <p:sp>
        <p:nvSpPr>
          <p:cNvPr id="60" name="TextBox 59"/>
          <p:cNvSpPr txBox="1">
            <a:spLocks noChangeArrowheads="1"/>
          </p:cNvSpPr>
          <p:nvPr/>
        </p:nvSpPr>
        <p:spPr bwMode="auto">
          <a:xfrm>
            <a:off x="1781176" y="6819126"/>
            <a:ext cx="307526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Team Culture, Project Culture</a:t>
            </a:r>
          </a:p>
        </p:txBody>
      </p:sp>
      <p:sp>
        <p:nvSpPr>
          <p:cNvPr id="63" name="TextBox 62"/>
          <p:cNvSpPr txBox="1"/>
          <p:nvPr/>
        </p:nvSpPr>
        <p:spPr>
          <a:xfrm>
            <a:off x="1781175" y="7095352"/>
            <a:ext cx="4433888" cy="461665"/>
          </a:xfrm>
          <a:prstGeom prst="rect">
            <a:avLst/>
          </a:prstGeom>
          <a:noFill/>
        </p:spPr>
        <p:txBody>
          <a:bodyPr wrap="square">
            <a:spAutoFit/>
          </a:bodyPr>
          <a:lstStyle/>
          <a:p>
            <a:pPr fontAlgn="auto">
              <a:spcBef>
                <a:spcPts val="0"/>
              </a:spcBef>
              <a:spcAft>
                <a:spcPts val="0"/>
              </a:spcAft>
              <a:defRPr/>
            </a:pPr>
            <a:r>
              <a:rPr lang="en-US" sz="1200" dirty="0"/>
              <a:t>Team culture offers a simple approach to solving complex problems</a:t>
            </a:r>
            <a:endParaRPr lang="en-PH" sz="1200" dirty="0">
              <a:solidFill>
                <a:srgbClr val="FF0000"/>
              </a:solidFill>
              <a:latin typeface="Arial" pitchFamily="34" charset="0"/>
              <a:cs typeface="Arial" pitchFamily="34" charset="0"/>
            </a:endParaRPr>
          </a:p>
        </p:txBody>
      </p:sp>
      <p:sp>
        <p:nvSpPr>
          <p:cNvPr id="64" name="TextBox 63"/>
          <p:cNvSpPr txBox="1"/>
          <p:nvPr/>
        </p:nvSpPr>
        <p:spPr>
          <a:xfrm>
            <a:off x="1781175" y="7532728"/>
            <a:ext cx="2166784" cy="276999"/>
          </a:xfrm>
          <a:prstGeom prst="rect">
            <a:avLst/>
          </a:prstGeom>
          <a:noFill/>
        </p:spPr>
        <p:txBody>
          <a:bodyPr wrap="squar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a:t>
            </a:r>
            <a:r>
              <a:rPr lang="en-US" sz="1200" i="1" dirty="0" smtClean="0">
                <a:latin typeface="Helvetica" pitchFamily="34" charset="0"/>
                <a:cs typeface="Helvetica" pitchFamily="34" charset="0"/>
              </a:rPr>
              <a:t>Tobias Mayer</a:t>
            </a:r>
            <a:endParaRPr lang="en-US" sz="1200" i="1" dirty="0">
              <a:latin typeface="Helvetica" pitchFamily="34" charset="0"/>
              <a:cs typeface="Helvetica" pitchFamily="34" charset="0"/>
            </a:endParaRPr>
          </a:p>
        </p:txBody>
      </p:sp>
      <p:sp>
        <p:nvSpPr>
          <p:cNvPr id="65" name="TextBox 66"/>
          <p:cNvSpPr txBox="1">
            <a:spLocks noChangeArrowheads="1"/>
          </p:cNvSpPr>
          <p:nvPr/>
        </p:nvSpPr>
        <p:spPr bwMode="auto">
          <a:xfrm>
            <a:off x="1781176" y="7989927"/>
            <a:ext cx="30684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The History and Back Story…</a:t>
            </a:r>
            <a:endParaRPr lang="en-PH" sz="1600" b="1" i="1" dirty="0"/>
          </a:p>
        </p:txBody>
      </p:sp>
      <p:sp>
        <p:nvSpPr>
          <p:cNvPr id="66" name="TextBox 65"/>
          <p:cNvSpPr txBox="1"/>
          <p:nvPr/>
        </p:nvSpPr>
        <p:spPr>
          <a:xfrm>
            <a:off x="1781175" y="8294729"/>
            <a:ext cx="4205287" cy="276999"/>
          </a:xfrm>
          <a:prstGeom prst="rect">
            <a:avLst/>
          </a:prstGeom>
          <a:noFill/>
        </p:spPr>
        <p:txBody>
          <a:bodyPr wrap="square">
            <a:spAutoFit/>
          </a:bodyPr>
          <a:lstStyle/>
          <a:p>
            <a:pPr fontAlgn="auto">
              <a:spcBef>
                <a:spcPts val="0"/>
              </a:spcBef>
              <a:spcAft>
                <a:spcPts val="0"/>
              </a:spcAft>
              <a:defRPr/>
            </a:pPr>
            <a:r>
              <a:rPr lang="en-PH" sz="1200" dirty="0" smtClean="0">
                <a:latin typeface="Arial" pitchFamily="34" charset="0"/>
                <a:cs typeface="Arial" pitchFamily="34" charset="0"/>
              </a:rPr>
              <a:t>The Chicken and the Pig Story Brought to Life</a:t>
            </a:r>
            <a:endParaRPr lang="en-PH" sz="1200" dirty="0">
              <a:latin typeface="Arial" pitchFamily="34" charset="0"/>
              <a:cs typeface="Arial" pitchFamily="34" charset="0"/>
            </a:endParaRPr>
          </a:p>
        </p:txBody>
      </p:sp>
      <p:sp>
        <p:nvSpPr>
          <p:cNvPr id="67" name="TextBox 66"/>
          <p:cNvSpPr txBox="1"/>
          <p:nvPr/>
        </p:nvSpPr>
        <p:spPr>
          <a:xfrm>
            <a:off x="1781176" y="8571727"/>
            <a:ext cx="1214243"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Mike Vizdos</a:t>
            </a:r>
            <a:endParaRPr lang="en-PH" sz="1200" i="1" dirty="0">
              <a:latin typeface="Arial" pitchFamily="34" charset="0"/>
              <a:cs typeface="Arial" pitchFamily="34" charset="0"/>
            </a:endParaRPr>
          </a:p>
        </p:txBody>
      </p:sp>
      <p:sp>
        <p:nvSpPr>
          <p:cNvPr id="70" name="Oval 69"/>
          <p:cNvSpPr/>
          <p:nvPr/>
        </p:nvSpPr>
        <p:spPr>
          <a:xfrm>
            <a:off x="6519863" y="68953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71"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70080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2" name="Oval 71"/>
          <p:cNvSpPr/>
          <p:nvPr/>
        </p:nvSpPr>
        <p:spPr>
          <a:xfrm>
            <a:off x="6519863" y="5703928"/>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73"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5816640"/>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4" name="Oval 73"/>
          <p:cNvSpPr/>
          <p:nvPr/>
        </p:nvSpPr>
        <p:spPr>
          <a:xfrm>
            <a:off x="6519863" y="4557752"/>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77"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4670466"/>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42" name="Straight Connector 41"/>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Table Of Contents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22</a:t>
            </a:fld>
            <a:endParaRPr lang="en-PH" dirty="0"/>
          </a:p>
        </p:txBody>
      </p:sp>
      <p:sp>
        <p:nvSpPr>
          <p:cNvPr id="44" name="TextBox 43"/>
          <p:cNvSpPr txBox="1"/>
          <p:nvPr/>
        </p:nvSpPr>
        <p:spPr>
          <a:xfrm>
            <a:off x="1338262" y="2326725"/>
            <a:ext cx="441146" cy="369332"/>
          </a:xfrm>
          <a:prstGeom prst="rect">
            <a:avLst/>
          </a:prstGeom>
          <a:noFill/>
        </p:spPr>
        <p:txBody>
          <a:bodyPr wrap="none" rtlCol="0">
            <a:spAutoFit/>
          </a:bodyPr>
          <a:lstStyle/>
          <a:p>
            <a:r>
              <a:rPr lang="en-US" b="1" dirty="0" smtClean="0">
                <a:solidFill>
                  <a:srgbClr val="FF0000"/>
                </a:solidFill>
              </a:rPr>
              <a:t>32</a:t>
            </a:r>
            <a:endParaRPr lang="en-US" b="1" dirty="0">
              <a:solidFill>
                <a:srgbClr val="FF0000"/>
              </a:solidFill>
            </a:endParaRPr>
          </a:p>
        </p:txBody>
      </p:sp>
      <p:sp>
        <p:nvSpPr>
          <p:cNvPr id="45" name="TextBox 44"/>
          <p:cNvSpPr txBox="1"/>
          <p:nvPr/>
        </p:nvSpPr>
        <p:spPr>
          <a:xfrm>
            <a:off x="1338262" y="5715595"/>
            <a:ext cx="441146" cy="369332"/>
          </a:xfrm>
          <a:prstGeom prst="rect">
            <a:avLst/>
          </a:prstGeom>
          <a:noFill/>
        </p:spPr>
        <p:txBody>
          <a:bodyPr wrap="none" rtlCol="0">
            <a:spAutoFit/>
          </a:bodyPr>
          <a:lstStyle/>
          <a:p>
            <a:r>
              <a:rPr lang="en-US" b="1" dirty="0" smtClean="0">
                <a:solidFill>
                  <a:srgbClr val="FF0000"/>
                </a:solidFill>
              </a:rPr>
              <a:t>36</a:t>
            </a:r>
            <a:endParaRPr lang="en-US" b="1" dirty="0">
              <a:solidFill>
                <a:srgbClr val="FF0000"/>
              </a:solidFill>
            </a:endParaRPr>
          </a:p>
        </p:txBody>
      </p:sp>
      <p:sp>
        <p:nvSpPr>
          <p:cNvPr id="46" name="TextBox 45"/>
          <p:cNvSpPr txBox="1"/>
          <p:nvPr/>
        </p:nvSpPr>
        <p:spPr>
          <a:xfrm>
            <a:off x="1338262" y="3429596"/>
            <a:ext cx="441146" cy="369332"/>
          </a:xfrm>
          <a:prstGeom prst="rect">
            <a:avLst/>
          </a:prstGeom>
          <a:noFill/>
        </p:spPr>
        <p:txBody>
          <a:bodyPr wrap="none" rtlCol="0">
            <a:spAutoFit/>
          </a:bodyPr>
          <a:lstStyle/>
          <a:p>
            <a:r>
              <a:rPr lang="en-US" b="1" dirty="0" smtClean="0">
                <a:solidFill>
                  <a:srgbClr val="FF0000"/>
                </a:solidFill>
              </a:rPr>
              <a:t>33</a:t>
            </a:r>
            <a:endParaRPr lang="en-US" b="1" dirty="0">
              <a:solidFill>
                <a:srgbClr val="FF0000"/>
              </a:solidFill>
            </a:endParaRPr>
          </a:p>
        </p:txBody>
      </p:sp>
      <p:sp>
        <p:nvSpPr>
          <p:cNvPr id="49" name="TextBox 48"/>
          <p:cNvSpPr txBox="1"/>
          <p:nvPr/>
        </p:nvSpPr>
        <p:spPr>
          <a:xfrm>
            <a:off x="1338262" y="4572596"/>
            <a:ext cx="441146" cy="369332"/>
          </a:xfrm>
          <a:prstGeom prst="rect">
            <a:avLst/>
          </a:prstGeom>
          <a:noFill/>
        </p:spPr>
        <p:txBody>
          <a:bodyPr wrap="none" rtlCol="0">
            <a:spAutoFit/>
          </a:bodyPr>
          <a:lstStyle/>
          <a:p>
            <a:r>
              <a:rPr lang="en-US" b="1" dirty="0">
                <a:solidFill>
                  <a:srgbClr val="FF0000"/>
                </a:solidFill>
              </a:rPr>
              <a:t>3</a:t>
            </a:r>
            <a:r>
              <a:rPr lang="en-US" b="1" dirty="0" smtClean="0">
                <a:solidFill>
                  <a:srgbClr val="FF0000"/>
                </a:solidFill>
              </a:rPr>
              <a:t>4</a:t>
            </a:r>
            <a:endParaRPr lang="en-US" b="1" dirty="0">
              <a:solidFill>
                <a:srgbClr val="FF0000"/>
              </a:solidFill>
            </a:endParaRPr>
          </a:p>
        </p:txBody>
      </p:sp>
      <p:sp>
        <p:nvSpPr>
          <p:cNvPr id="50" name="TextBox 49"/>
          <p:cNvSpPr txBox="1"/>
          <p:nvPr/>
        </p:nvSpPr>
        <p:spPr>
          <a:xfrm>
            <a:off x="1338262" y="6895326"/>
            <a:ext cx="441146" cy="369332"/>
          </a:xfrm>
          <a:prstGeom prst="rect">
            <a:avLst/>
          </a:prstGeom>
          <a:noFill/>
        </p:spPr>
        <p:txBody>
          <a:bodyPr wrap="none" rtlCol="0">
            <a:spAutoFit/>
          </a:bodyPr>
          <a:lstStyle/>
          <a:p>
            <a:r>
              <a:rPr lang="en-US" b="1" dirty="0" smtClean="0">
                <a:solidFill>
                  <a:srgbClr val="FF0000"/>
                </a:solidFill>
              </a:rPr>
              <a:t>42</a:t>
            </a:r>
            <a:endParaRPr lang="en-US" b="1" dirty="0">
              <a:solidFill>
                <a:srgbClr val="FF0000"/>
              </a:solidFill>
            </a:endParaRPr>
          </a:p>
        </p:txBody>
      </p:sp>
      <p:sp>
        <p:nvSpPr>
          <p:cNvPr id="51" name="TextBox 50"/>
          <p:cNvSpPr txBox="1"/>
          <p:nvPr/>
        </p:nvSpPr>
        <p:spPr>
          <a:xfrm>
            <a:off x="1338262" y="8038327"/>
            <a:ext cx="441146" cy="369332"/>
          </a:xfrm>
          <a:prstGeom prst="rect">
            <a:avLst/>
          </a:prstGeom>
          <a:noFill/>
        </p:spPr>
        <p:txBody>
          <a:bodyPr wrap="none" rtlCol="0">
            <a:spAutoFit/>
          </a:bodyPr>
          <a:lstStyle/>
          <a:p>
            <a:r>
              <a:rPr lang="en-US" b="1" dirty="0" smtClean="0">
                <a:solidFill>
                  <a:srgbClr val="FF0000"/>
                </a:solidFill>
              </a:rPr>
              <a:t>46</a:t>
            </a:r>
            <a:endParaRPr lang="en-US" b="1" dirty="0">
              <a:solidFill>
                <a:srgbClr val="FF0000"/>
              </a:solidFill>
            </a:endParaRPr>
          </a:p>
        </p:txBody>
      </p:sp>
      <p:sp>
        <p:nvSpPr>
          <p:cNvPr id="52" name="Rounded Rectangle 5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58" name="TextBox 73"/>
          <p:cNvSpPr txBox="1">
            <a:spLocks noChangeArrowheads="1"/>
          </p:cNvSpPr>
          <p:nvPr/>
        </p:nvSpPr>
        <p:spPr bwMode="auto">
          <a:xfrm>
            <a:off x="1785229" y="1027927"/>
            <a:ext cx="33666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i="1" dirty="0"/>
              <a:t>Requirement management in the</a:t>
            </a:r>
            <a:br>
              <a:rPr lang="en-US" sz="1600" b="1" i="1" dirty="0"/>
            </a:br>
            <a:r>
              <a:rPr lang="en-US" sz="1600" b="1" i="1" dirty="0"/>
              <a:t>modern application lifecycle</a:t>
            </a:r>
          </a:p>
        </p:txBody>
      </p:sp>
      <p:sp>
        <p:nvSpPr>
          <p:cNvPr id="61" name="TextBox 60"/>
          <p:cNvSpPr txBox="1"/>
          <p:nvPr/>
        </p:nvSpPr>
        <p:spPr>
          <a:xfrm>
            <a:off x="1785228" y="1537754"/>
            <a:ext cx="4447051" cy="276999"/>
          </a:xfrm>
          <a:prstGeom prst="rect">
            <a:avLst/>
          </a:prstGeom>
          <a:noFill/>
        </p:spPr>
        <p:txBody>
          <a:bodyPr wrap="none">
            <a:spAutoFit/>
          </a:bodyPr>
          <a:lstStyle/>
          <a:p>
            <a:pPr fontAlgn="auto">
              <a:spcBef>
                <a:spcPts val="0"/>
              </a:spcBef>
              <a:spcAft>
                <a:spcPts val="0"/>
              </a:spcAft>
              <a:defRPr/>
            </a:pPr>
            <a:r>
              <a:rPr lang="en-US" sz="1200" dirty="0" smtClean="0"/>
              <a:t>Managing </a:t>
            </a:r>
            <a:r>
              <a:rPr lang="en-US" sz="1200" dirty="0"/>
              <a:t>requirements </a:t>
            </a:r>
            <a:r>
              <a:rPr lang="en-US" sz="1200" dirty="0" smtClean="0"/>
              <a:t>can be hard… here are some answers</a:t>
            </a:r>
            <a:endParaRPr lang="en-PH" sz="1200" dirty="0">
              <a:solidFill>
                <a:srgbClr val="FF0000"/>
              </a:solidFill>
              <a:latin typeface="Arial" pitchFamily="34" charset="0"/>
              <a:cs typeface="Arial" pitchFamily="34" charset="0"/>
            </a:endParaRPr>
          </a:p>
        </p:txBody>
      </p:sp>
      <p:sp>
        <p:nvSpPr>
          <p:cNvPr id="62" name="TextBox 61"/>
          <p:cNvSpPr txBox="1"/>
          <p:nvPr/>
        </p:nvSpPr>
        <p:spPr>
          <a:xfrm>
            <a:off x="1785228" y="1842554"/>
            <a:ext cx="1734770" cy="276999"/>
          </a:xfrm>
          <a:prstGeom prst="rect">
            <a:avLst/>
          </a:prstGeom>
          <a:noFill/>
        </p:spPr>
        <p:txBody>
          <a:bodyPr wrap="none">
            <a:spAutoFit/>
          </a:bodyPr>
          <a:lstStyle/>
          <a:p>
            <a:pPr fontAlgn="auto">
              <a:spcBef>
                <a:spcPts val="0"/>
              </a:spcBef>
              <a:spcAft>
                <a:spcPts val="0"/>
              </a:spcAft>
              <a:defRPr/>
            </a:pPr>
            <a:r>
              <a:rPr lang="en-PH" sz="1200" i="1" dirty="0">
                <a:latin typeface="Arial" pitchFamily="34" charset="0"/>
                <a:cs typeface="Arial" pitchFamily="34" charset="0"/>
              </a:rPr>
              <a:t>b</a:t>
            </a:r>
            <a:r>
              <a:rPr lang="en-PH" sz="1200" i="1" dirty="0" smtClean="0">
                <a:latin typeface="Arial" pitchFamily="34" charset="0"/>
                <a:cs typeface="Arial" pitchFamily="34" charset="0"/>
              </a:rPr>
              <a:t>y Martin Hinshelwood</a:t>
            </a:r>
            <a:endParaRPr lang="en-PH" sz="1200" i="1" dirty="0">
              <a:latin typeface="Arial" pitchFamily="34" charset="0"/>
              <a:cs typeface="Arial" pitchFamily="34" charset="0"/>
            </a:endParaRPr>
          </a:p>
        </p:txBody>
      </p:sp>
      <p:sp>
        <p:nvSpPr>
          <p:cNvPr id="68" name="Oval 67"/>
          <p:cNvSpPr/>
          <p:nvPr/>
        </p:nvSpPr>
        <p:spPr>
          <a:xfrm>
            <a:off x="6519863" y="1104126"/>
            <a:ext cx="457200" cy="457200"/>
          </a:xfrm>
          <a:prstGeom prst="ellipse">
            <a:avLst/>
          </a:prstGeom>
          <a:solidFill>
            <a:srgbClr val="E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PH" dirty="0"/>
          </a:p>
        </p:txBody>
      </p:sp>
      <p:pic>
        <p:nvPicPr>
          <p:cNvPr id="69" name="Picture 2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9863" y="1216839"/>
            <a:ext cx="442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 name="TextBox 83"/>
          <p:cNvSpPr txBox="1"/>
          <p:nvPr/>
        </p:nvSpPr>
        <p:spPr>
          <a:xfrm>
            <a:off x="1338262" y="1052751"/>
            <a:ext cx="441146" cy="369332"/>
          </a:xfrm>
          <a:prstGeom prst="rect">
            <a:avLst/>
          </a:prstGeom>
          <a:noFill/>
        </p:spPr>
        <p:txBody>
          <a:bodyPr wrap="none" rtlCol="0">
            <a:spAutoFit/>
          </a:bodyPr>
          <a:lstStyle/>
          <a:p>
            <a:r>
              <a:rPr lang="en-US" b="1" dirty="0" smtClean="0">
                <a:solidFill>
                  <a:srgbClr val="FF0000"/>
                </a:solidFill>
              </a:rPr>
              <a:t>16</a:t>
            </a:r>
            <a:endParaRPr lang="en-US" b="1" dirty="0">
              <a:solidFill>
                <a:srgbClr val="FF0000"/>
              </a:solidFill>
            </a:endParaRPr>
          </a:p>
        </p:txBody>
      </p:sp>
      <p:sp>
        <p:nvSpPr>
          <p:cNvPr id="78" name="Rectangle 77">
            <a:hlinkClick r:id="" action="ppaction://noaction"/>
          </p:cNvPr>
          <p:cNvSpPr/>
          <p:nvPr/>
        </p:nvSpPr>
        <p:spPr>
          <a:xfrm>
            <a:off x="1185862" y="923925"/>
            <a:ext cx="6096000" cy="1232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hlinkClick r:id="rId3" action="ppaction://hlinksldjump"/>
          </p:cNvPr>
          <p:cNvSpPr/>
          <p:nvPr/>
        </p:nvSpPr>
        <p:spPr>
          <a:xfrm>
            <a:off x="1185862" y="2206050"/>
            <a:ext cx="6096000" cy="927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hlinkClick r:id="" action="ppaction://noaction"/>
          </p:cNvPr>
          <p:cNvSpPr/>
          <p:nvPr/>
        </p:nvSpPr>
        <p:spPr>
          <a:xfrm>
            <a:off x="1185862" y="3286125"/>
            <a:ext cx="60960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hlinkClick r:id="" action="ppaction://noaction"/>
          </p:cNvPr>
          <p:cNvSpPr/>
          <p:nvPr/>
        </p:nvSpPr>
        <p:spPr>
          <a:xfrm>
            <a:off x="1185862" y="4415851"/>
            <a:ext cx="6096000" cy="1003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hlinkClick r:id="" action="ppaction://noaction"/>
          </p:cNvPr>
          <p:cNvSpPr/>
          <p:nvPr/>
        </p:nvSpPr>
        <p:spPr>
          <a:xfrm>
            <a:off x="1185862" y="5558852"/>
            <a:ext cx="6096000" cy="1107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hlinkClick r:id="" action="ppaction://noaction"/>
          </p:cNvPr>
          <p:cNvSpPr/>
          <p:nvPr/>
        </p:nvSpPr>
        <p:spPr>
          <a:xfrm>
            <a:off x="1185862" y="6791326"/>
            <a:ext cx="60960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hlinkClick r:id="" action="ppaction://noaction"/>
          </p:cNvPr>
          <p:cNvSpPr/>
          <p:nvPr/>
        </p:nvSpPr>
        <p:spPr>
          <a:xfrm>
            <a:off x="1185862" y="7934326"/>
            <a:ext cx="6096000" cy="9905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795664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3"/>
          <p:cNvSpPr txBox="1">
            <a:spLocks noChangeArrowheads="1"/>
          </p:cNvSpPr>
          <p:nvPr/>
        </p:nvSpPr>
        <p:spPr bwMode="auto">
          <a:xfrm>
            <a:off x="423862" y="619125"/>
            <a:ext cx="20996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Welcome</a:t>
            </a:r>
          </a:p>
        </p:txBody>
      </p:sp>
      <p:cxnSp>
        <p:nvCxnSpPr>
          <p:cNvPr id="58" name="Straight Connector 57"/>
          <p:cNvCxnSpPr/>
          <p:nvPr/>
        </p:nvCxnSpPr>
        <p:spPr>
          <a:xfrm>
            <a:off x="271462" y="542925"/>
            <a:ext cx="7003732"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0244" name="Rectangle 2"/>
          <p:cNvSpPr>
            <a:spLocks/>
          </p:cNvSpPr>
          <p:nvPr/>
        </p:nvSpPr>
        <p:spPr bwMode="auto">
          <a:xfrm>
            <a:off x="2024063" y="2219325"/>
            <a:ext cx="51816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smtClean="0"/>
              <a:t>I </a:t>
            </a:r>
            <a:r>
              <a:rPr lang="en-US" sz="1200" dirty="0"/>
              <a:t>much prefer the community experts take the stage maximizing the benefit through </a:t>
            </a:r>
            <a:r>
              <a:rPr lang="en-US" sz="1200" dirty="0" smtClean="0"/>
              <a:t>the provided value </a:t>
            </a:r>
            <a:r>
              <a:rPr lang="en-US" sz="1200" dirty="0"/>
              <a:t>you'll get from each i</a:t>
            </a:r>
            <a:r>
              <a:rPr lang="en-US" sz="1200" dirty="0" smtClean="0"/>
              <a:t>ssue. Their contributions are presented as true to the original format as possible. You may even notice some “English” spelling.</a:t>
            </a:r>
            <a:endParaRPr lang="en-US" sz="1200" dirty="0"/>
          </a:p>
          <a:p>
            <a:pPr algn="just">
              <a:defRPr/>
            </a:pPr>
            <a:r>
              <a:rPr lang="en-US" sz="1200" dirty="0"/>
              <a:t> </a:t>
            </a:r>
          </a:p>
          <a:p>
            <a:pPr algn="just">
              <a:defRPr/>
            </a:pPr>
            <a:r>
              <a:rPr lang="en-US" sz="1200" dirty="0"/>
              <a:t>However, I feel it important to set the stage and let you know that this magazine is to be all about the content. Content covering a wide spectrum of interest to the community: topic areas and different viewpoints.</a:t>
            </a:r>
          </a:p>
          <a:p>
            <a:pPr>
              <a:defRPr/>
            </a:pPr>
            <a:r>
              <a:rPr lang="en-US" sz="1200" dirty="0"/>
              <a:t> </a:t>
            </a:r>
          </a:p>
          <a:p>
            <a:pPr algn="just">
              <a:defRPr/>
            </a:pPr>
            <a:r>
              <a:rPr lang="en-US" sz="1200" dirty="0"/>
              <a:t>Viewpoints will be provided in both overview and in-depth formats sometimes taking a position, outlining pros and cons, pointing out strengths and weaknesses, asking the tough questions in order to stimulate thought, not just rubber-stamping a process or tool but mostly striving to provide balanced coverage and commentary.</a:t>
            </a:r>
          </a:p>
          <a:p>
            <a:pPr>
              <a:defRPr/>
            </a:pPr>
            <a:endParaRPr lang="en-US" sz="1200" dirty="0"/>
          </a:p>
          <a:p>
            <a:pPr>
              <a:defRPr/>
            </a:pPr>
            <a:r>
              <a:rPr lang="en-US" sz="1200" dirty="0"/>
              <a:t>This electronic publication will feature the following and more:</a:t>
            </a:r>
          </a:p>
          <a:p>
            <a:pPr>
              <a:defRPr/>
            </a:pPr>
            <a:endParaRPr lang="en-US" sz="1200" dirty="0"/>
          </a:p>
          <a:p>
            <a:pPr marL="171450" indent="-171450" fontAlgn="ctr">
              <a:buFont typeface="Arial" pitchFamily="34" charset="0"/>
              <a:buChar char="•"/>
              <a:defRPr/>
            </a:pPr>
            <a:r>
              <a:rPr lang="en-US" sz="1200" dirty="0"/>
              <a:t>Articles and Videos: Reviews, How To, Step-by-Step, Top Tips</a:t>
            </a:r>
          </a:p>
          <a:p>
            <a:pPr marL="628650" lvl="1" indent="-171450" fontAlgn="ctr">
              <a:buFont typeface="Arial" pitchFamily="34" charset="0"/>
              <a:buChar char="•"/>
              <a:defRPr/>
            </a:pPr>
            <a:r>
              <a:rPr lang="en-US" sz="1200" dirty="0"/>
              <a:t>Primary tools, Process, 3rd Party Integrated or Bridging Tools, Books, Events</a:t>
            </a:r>
          </a:p>
          <a:p>
            <a:pPr marL="171450" indent="-171450" fontAlgn="ctr">
              <a:buFont typeface="Arial" pitchFamily="34" charset="0"/>
              <a:buChar char="•"/>
              <a:defRPr/>
            </a:pPr>
            <a:r>
              <a:rPr lang="en-US" sz="1200" dirty="0"/>
              <a:t>Surveys, Studies</a:t>
            </a:r>
          </a:p>
          <a:p>
            <a:pPr marL="171450" indent="-171450" fontAlgn="ctr">
              <a:buFont typeface="Arial" pitchFamily="34" charset="0"/>
              <a:buChar char="•"/>
              <a:defRPr/>
            </a:pPr>
            <a:r>
              <a:rPr lang="en-US" sz="1200" dirty="0"/>
              <a:t>Interviews – ALM Leaders, Evangelists</a:t>
            </a:r>
          </a:p>
          <a:p>
            <a:pPr marL="171450" indent="-171450" fontAlgn="ctr">
              <a:buFont typeface="Arial" pitchFamily="34" charset="0"/>
              <a:buChar char="•"/>
              <a:defRPr/>
            </a:pPr>
            <a:r>
              <a:rPr lang="en-US" sz="1200" dirty="0"/>
              <a:t>Tutorials, Courseware</a:t>
            </a:r>
          </a:p>
          <a:p>
            <a:pPr marL="171450" indent="-171450" fontAlgn="ctr">
              <a:buFont typeface="Arial" pitchFamily="34" charset="0"/>
              <a:buChar char="•"/>
              <a:defRPr/>
            </a:pPr>
            <a:r>
              <a:rPr lang="en-US" sz="1200" dirty="0"/>
              <a:t>Event Spotlight, Calendar</a:t>
            </a:r>
          </a:p>
          <a:p>
            <a:pPr marL="171450" indent="-171450" fontAlgn="ctr">
              <a:buFont typeface="Arial" pitchFamily="34" charset="0"/>
              <a:buChar char="•"/>
              <a:defRPr/>
            </a:pPr>
            <a:r>
              <a:rPr lang="en-US" sz="1200" dirty="0"/>
              <a:t>IT Humor / Cartoons</a:t>
            </a:r>
          </a:p>
          <a:p>
            <a:pPr>
              <a:defRPr/>
            </a:pPr>
            <a:r>
              <a:rPr lang="en-US" sz="1200" dirty="0"/>
              <a:t> </a:t>
            </a:r>
          </a:p>
          <a:p>
            <a:pPr algn="just">
              <a:defRPr/>
            </a:pPr>
            <a:r>
              <a:rPr lang="en-US" sz="1200" dirty="0"/>
              <a:t>ALM Mag the magazine will be available on desktops but primarily aimed at the three major mobile tablet platforms: pcPad, aPad and iPad.</a:t>
            </a:r>
          </a:p>
          <a:p>
            <a:pPr algn="just">
              <a:defRPr/>
            </a:pPr>
            <a:endParaRPr lang="en-US" sz="1200" dirty="0"/>
          </a:p>
          <a:p>
            <a:pPr algn="just">
              <a:defRPr/>
            </a:pPr>
            <a:r>
              <a:rPr lang="en-US" sz="1200" dirty="0"/>
              <a:t>I wish you many hours of enjoyment over the coming issues as you build a library of knowledge and resources you can turn to support you daily.</a:t>
            </a:r>
          </a:p>
          <a:p>
            <a:pPr>
              <a:defRPr/>
            </a:pPr>
            <a:endParaRPr lang="en-US" sz="1200" dirty="0"/>
          </a:p>
          <a:p>
            <a:pPr>
              <a:defRPr/>
            </a:pPr>
            <a:r>
              <a:rPr lang="en-US" sz="1200" dirty="0"/>
              <a:t>Warmest Regards,</a:t>
            </a:r>
          </a:p>
          <a:p>
            <a:pPr>
              <a:defRPr/>
            </a:pPr>
            <a:r>
              <a:rPr lang="en-US" sz="1200" dirty="0"/>
              <a:t>Keith </a:t>
            </a:r>
            <a:r>
              <a:rPr lang="en-US" sz="1200" dirty="0" smtClean="0"/>
              <a:t>Denham</a:t>
            </a:r>
          </a:p>
          <a:p>
            <a:pPr>
              <a:defRPr/>
            </a:pPr>
            <a:endParaRPr lang="en-US" sz="1200" dirty="0"/>
          </a:p>
          <a:p>
            <a:pPr>
              <a:defRPr/>
            </a:pPr>
            <a:endParaRPr lang="en-US" sz="1200" dirty="0" smtClean="0"/>
          </a:p>
          <a:p>
            <a:pPr>
              <a:defRPr/>
            </a:pPr>
            <a:r>
              <a:rPr lang="en-US" sz="1100" i="1" dirty="0" smtClean="0"/>
              <a:t>P.S. Don’t forget, this is an interactive magazine, tap on the audios and videos and tap on the highlighted links to see additional related content. </a:t>
            </a:r>
          </a:p>
          <a:p>
            <a:pPr>
              <a:defRPr/>
            </a:pPr>
            <a:r>
              <a:rPr lang="en-US" sz="1100" i="1" dirty="0" smtClean="0"/>
              <a:t>Tap on the Index Page Button at the foot of any page to return to the Index.</a:t>
            </a:r>
            <a:endParaRPr lang="en-US" sz="1100" i="1" dirty="0"/>
          </a:p>
        </p:txBody>
      </p:sp>
      <p:sp>
        <p:nvSpPr>
          <p:cNvPr id="6149" name="Rectangle 3"/>
          <p:cNvSpPr>
            <a:spLocks/>
          </p:cNvSpPr>
          <p:nvPr/>
        </p:nvSpPr>
        <p:spPr bwMode="auto">
          <a:xfrm>
            <a:off x="3319462" y="1304925"/>
            <a:ext cx="3886201"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elcome to the premier issue of ALM Mag, the only online e-magazine </a:t>
            </a:r>
            <a:r>
              <a:rPr lang="en-US" sz="1200" dirty="0" smtClean="0"/>
              <a:t>dedicated to focus on topics of interest to the </a:t>
            </a:r>
          </a:p>
          <a:p>
            <a:pPr algn="just"/>
            <a:r>
              <a:rPr lang="en-US" sz="1200" dirty="0" smtClean="0"/>
              <a:t>ALM, DevOps, Agile and TFS community.</a:t>
            </a:r>
          </a:p>
          <a:p>
            <a:endParaRPr lang="en-US" sz="1200" dirty="0"/>
          </a:p>
          <a:p>
            <a:r>
              <a:rPr lang="en-US" sz="1200" dirty="0"/>
              <a:t>This column will be an occasional addition to an edition.</a:t>
            </a:r>
          </a:p>
        </p:txBody>
      </p:sp>
      <p:sp>
        <p:nvSpPr>
          <p:cNvPr id="6150" name="Rectangle 4"/>
          <p:cNvSpPr>
            <a:spLocks/>
          </p:cNvSpPr>
          <p:nvPr/>
        </p:nvSpPr>
        <p:spPr bwMode="auto">
          <a:xfrm>
            <a:off x="2024063" y="1000125"/>
            <a:ext cx="838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9600" b="1" dirty="0">
                <a:latin typeface="Helvetica Neue Bold Condensed" charset="0"/>
                <a:sym typeface="Helvetica Neue Bold Condensed" charset="0"/>
              </a:rPr>
              <a:t>W</a:t>
            </a:r>
          </a:p>
        </p:txBody>
      </p:sp>
      <p:sp>
        <p:nvSpPr>
          <p:cNvPr id="6151" name="Rectangle 5"/>
          <p:cNvSpPr>
            <a:spLocks/>
          </p:cNvSpPr>
          <p:nvPr/>
        </p:nvSpPr>
        <p:spPr bwMode="auto">
          <a:xfrm>
            <a:off x="195263" y="2843213"/>
            <a:ext cx="1679576"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Denham</a:t>
            </a:r>
          </a:p>
          <a:p>
            <a:pPr algn="r"/>
            <a:r>
              <a:rPr lang="en-US" sz="1100" i="1" dirty="0" smtClean="0">
                <a:solidFill>
                  <a:srgbClr val="4D4D4D"/>
                </a:solidFill>
                <a:latin typeface="Helvetica" charset="0"/>
                <a:cs typeface="Helvetica" charset="0"/>
                <a:sym typeface="Helvetica" charset="0"/>
              </a:rPr>
              <a:t>Publisher</a:t>
            </a:r>
          </a:p>
          <a:p>
            <a:pPr algn="r"/>
            <a:endParaRPr lang="en-US" sz="1100" i="1" dirty="0" smtClean="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rPr>
              <a:t>Treasure Cove Publishing</a:t>
            </a:r>
          </a:p>
          <a:p>
            <a:pPr algn="r"/>
            <a:r>
              <a:rPr lang="en-US" sz="1100" i="1" dirty="0" smtClean="0">
                <a:solidFill>
                  <a:srgbClr val="4D4D4D"/>
                </a:solidFill>
                <a:latin typeface="Helvetica" charset="0"/>
                <a:cs typeface="Helvetica" charset="0"/>
                <a:sym typeface="Helvetica" charset="0"/>
              </a:rPr>
              <a:t>Volume 1 – Issue 1</a:t>
            </a:r>
          </a:p>
          <a:p>
            <a:pPr algn="r"/>
            <a:r>
              <a:rPr lang="en-US" sz="1100" i="1" dirty="0" smtClean="0">
                <a:solidFill>
                  <a:srgbClr val="4D4D4D"/>
                </a:solidFill>
                <a:latin typeface="Helvetica" charset="0"/>
                <a:cs typeface="Helvetica" charset="0"/>
                <a:sym typeface="Helvetica" charset="0"/>
              </a:rPr>
              <a:t>January 2013 </a:t>
            </a:r>
          </a:p>
        </p:txBody>
      </p:sp>
      <p:pic>
        <p:nvPicPr>
          <p:cNvPr id="6152" name="Picture 4" descr="E:\Pictures\ALM Mag - Contributors\KD-Headshot-Sq-145x14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295400"/>
            <a:ext cx="13811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8467725"/>
            <a:ext cx="1768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p:cNvSpPr>
            <a:spLocks/>
          </p:cNvSpPr>
          <p:nvPr/>
        </p:nvSpPr>
        <p:spPr bwMode="auto">
          <a:xfrm>
            <a:off x="195262" y="4276725"/>
            <a:ext cx="1686243" cy="53292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r"/>
            <a:endParaRPr lang="en-US" sz="1100" i="1" dirty="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ADVISORY BOARD:</a:t>
            </a:r>
          </a:p>
          <a:p>
            <a:pPr algn="ctr"/>
            <a:r>
              <a:rPr lang="en-US" sz="1100" i="1" dirty="0" smtClean="0">
                <a:solidFill>
                  <a:srgbClr val="4D4D4D"/>
                </a:solidFill>
                <a:latin typeface="Helvetica" charset="0"/>
                <a:cs typeface="Helvetica" charset="0"/>
                <a:sym typeface="Helvetica" charset="0"/>
              </a:rPr>
              <a:t>Sam Guckenheimer</a:t>
            </a:r>
          </a:p>
          <a:p>
            <a:pPr algn="ctr"/>
            <a:r>
              <a:rPr lang="en-US" sz="1000" i="1" dirty="0">
                <a:solidFill>
                  <a:srgbClr val="4D4D4D"/>
                </a:solidFill>
                <a:latin typeface="Helvetica" charset="0"/>
                <a:cs typeface="Helvetica" charset="0"/>
              </a:rPr>
              <a:t>Group Product Planner for Visual </a:t>
            </a:r>
            <a:r>
              <a:rPr lang="en-US" sz="1000" i="1" dirty="0" smtClean="0">
                <a:solidFill>
                  <a:srgbClr val="4D4D4D"/>
                </a:solidFill>
                <a:latin typeface="Helvetica" charset="0"/>
                <a:cs typeface="Helvetica" charset="0"/>
              </a:rPr>
              <a:t>Studio &amp; Author</a:t>
            </a:r>
            <a:endParaRPr lang="en-US" sz="1000" i="1" dirty="0">
              <a:solidFill>
                <a:srgbClr val="4D4D4D"/>
              </a:solidFill>
              <a:latin typeface="Helvetica" charset="0"/>
              <a:cs typeface="Helvetica" charset="0"/>
              <a:sym typeface="Helvetica" charset="0"/>
            </a:endParaRPr>
          </a:p>
          <a:p>
            <a:pPr algn="ctr"/>
            <a:r>
              <a:rPr lang="en-US" sz="1000" i="1" dirty="0" smtClean="0">
                <a:solidFill>
                  <a:srgbClr val="4D4D4D"/>
                </a:solidFill>
                <a:latin typeface="Helvetica" charset="0"/>
                <a:cs typeface="Helvetica" charset="0"/>
                <a:sym typeface="Helvetica" charset="0"/>
              </a:rPr>
              <a:t>- Microsoft</a:t>
            </a:r>
          </a:p>
          <a:p>
            <a:pPr algn="ctr"/>
            <a:endParaRPr lang="en-US" sz="400" i="1" dirty="0" smtClean="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Keith Pleas</a:t>
            </a:r>
          </a:p>
          <a:p>
            <a:pPr algn="ctr"/>
            <a:r>
              <a:rPr lang="en-US" sz="1000" i="1" dirty="0">
                <a:solidFill>
                  <a:srgbClr val="4D4D4D"/>
                </a:solidFill>
                <a:latin typeface="Helvetica" charset="0"/>
                <a:cs typeface="Helvetica" charset="0"/>
              </a:rPr>
              <a:t>Organizer &amp; Conference Chair - ALM Summit</a:t>
            </a:r>
            <a:endParaRPr lang="en-US" sz="1000" i="1" dirty="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EDITORIAL REVIEW:</a:t>
            </a:r>
          </a:p>
          <a:p>
            <a:pPr algn="ctr"/>
            <a:r>
              <a:rPr lang="en-US" sz="1100" i="1" dirty="0">
                <a:solidFill>
                  <a:srgbClr val="4D4D4D"/>
                </a:solidFill>
                <a:latin typeface="Helvetica" charset="0"/>
                <a:cs typeface="Helvetica" charset="0"/>
                <a:sym typeface="Helvetica" charset="0"/>
              </a:rPr>
              <a:t>Mike </a:t>
            </a:r>
            <a:r>
              <a:rPr lang="en-US" sz="1100" i="1" dirty="0" smtClean="0">
                <a:solidFill>
                  <a:srgbClr val="4D4D4D"/>
                </a:solidFill>
                <a:latin typeface="Helvetica" charset="0"/>
                <a:cs typeface="Helvetica" charset="0"/>
                <a:sym typeface="Helvetica" charset="0"/>
              </a:rPr>
              <a:t>Vizdos</a:t>
            </a:r>
          </a:p>
          <a:p>
            <a:pPr algn="ctr"/>
            <a:r>
              <a:rPr lang="en-US" sz="1000" i="1" dirty="0">
                <a:solidFill>
                  <a:srgbClr val="4D4D4D"/>
                </a:solidFill>
                <a:latin typeface="Helvetica" charset="0"/>
                <a:cs typeface="Helvetica" charset="0"/>
              </a:rPr>
              <a:t>Agile </a:t>
            </a:r>
            <a:r>
              <a:rPr lang="en-US" sz="1000" i="1" dirty="0" smtClean="0">
                <a:solidFill>
                  <a:srgbClr val="4D4D4D"/>
                </a:solidFill>
                <a:latin typeface="Helvetica" charset="0"/>
                <a:cs typeface="Helvetica" charset="0"/>
              </a:rPr>
              <a:t>Coach</a:t>
            </a:r>
          </a:p>
          <a:p>
            <a:pPr algn="ctr"/>
            <a:r>
              <a:rPr lang="en-US" sz="1000" i="1" dirty="0" smtClean="0">
                <a:solidFill>
                  <a:srgbClr val="4D4D4D"/>
                </a:solidFill>
                <a:latin typeface="Helvetica" charset="0"/>
                <a:cs typeface="Helvetica" charset="0"/>
              </a:rPr>
              <a:t>Certified Scrum Trainer</a:t>
            </a:r>
            <a:endParaRPr lang="en-US" sz="1000" i="1" dirty="0">
              <a:solidFill>
                <a:srgbClr val="4D4D4D"/>
              </a:solidFill>
              <a:latin typeface="Helvetica" charset="0"/>
              <a:cs typeface="Helvetica" charset="0"/>
              <a:sym typeface="Helvetica" charset="0"/>
            </a:endParaRP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Clementino de Mendonca</a:t>
            </a:r>
          </a:p>
          <a:p>
            <a:pPr algn="ctr"/>
            <a:r>
              <a:rPr lang="en-US" sz="1000" i="1" dirty="0" smtClean="0">
                <a:solidFill>
                  <a:srgbClr val="4D4D4D"/>
                </a:solidFill>
                <a:latin typeface="Helvetica" charset="0"/>
                <a:cs typeface="Helvetica" charset="0"/>
                <a:sym typeface="Helvetica" charset="0"/>
              </a:rPr>
              <a:t>National ALM Architect</a:t>
            </a:r>
          </a:p>
          <a:p>
            <a:pPr algn="ctr"/>
            <a:r>
              <a:rPr lang="en-US" sz="1000" i="1" dirty="0" smtClean="0">
                <a:solidFill>
                  <a:srgbClr val="4D4D4D"/>
                </a:solidFill>
                <a:latin typeface="Helvetica" charset="0"/>
                <a:cs typeface="Helvetica" charset="0"/>
                <a:sym typeface="Helvetica" charset="0"/>
              </a:rPr>
              <a:t>- Neudesic</a:t>
            </a:r>
          </a:p>
          <a:p>
            <a:pPr algn="ctr"/>
            <a:endParaRPr lang="en-US" sz="1100" i="1" dirty="0" smtClean="0">
              <a:solidFill>
                <a:srgbClr val="4D4D4D"/>
              </a:solidFill>
              <a:latin typeface="Helvetica" charset="0"/>
              <a:cs typeface="Helvetica" charset="0"/>
              <a:sym typeface="Helvetica" charset="0"/>
            </a:endParaRPr>
          </a:p>
          <a:p>
            <a:pPr algn="ctr"/>
            <a:endParaRPr lang="en-US" sz="1100" i="1" dirty="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Subscriptions:</a:t>
            </a:r>
          </a:p>
          <a:p>
            <a:pPr algn="ctr"/>
            <a:r>
              <a:rPr lang="en-US" sz="1100" i="1" dirty="0" smtClean="0">
                <a:solidFill>
                  <a:srgbClr val="4D4D4D"/>
                </a:solidFill>
                <a:latin typeface="Helvetica" charset="0"/>
                <a:cs typeface="Helvetica" charset="0"/>
                <a:sym typeface="Helvetica" charset="0"/>
              </a:rPr>
              <a:t>almmag.com/subscribe</a:t>
            </a: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Email Address Changes:</a:t>
            </a:r>
          </a:p>
          <a:p>
            <a:pPr algn="ctr"/>
            <a:r>
              <a:rPr lang="en-US" sz="1100" i="1" dirty="0" smtClean="0">
                <a:solidFill>
                  <a:srgbClr val="4D4D4D"/>
                </a:solidFill>
                <a:latin typeface="Helvetica" charset="0"/>
                <a:cs typeface="Helvetica" charset="0"/>
                <a:sym typeface="Helvetica" charset="0"/>
                <a:hlinkClick r:id="rId4"/>
              </a:rPr>
              <a:t>support@almmag.com</a:t>
            </a: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Mission Statement:</a:t>
            </a:r>
          </a:p>
          <a:p>
            <a:pPr algn="ctr"/>
            <a:r>
              <a:rPr lang="en-US" sz="1100" i="1" dirty="0" smtClean="0">
                <a:solidFill>
                  <a:srgbClr val="4D4D4D"/>
                </a:solidFill>
                <a:latin typeface="Helvetica" charset="0"/>
                <a:cs typeface="Helvetica" charset="0"/>
                <a:sym typeface="Helvetica" charset="0"/>
              </a:rPr>
              <a:t>“Our mission is to promote,  support and empower rapid delivery of quality software.” </a:t>
            </a:r>
            <a:endParaRPr lang="en-US" sz="1100" i="1" dirty="0">
              <a:solidFill>
                <a:srgbClr val="4D4D4D"/>
              </a:solidFill>
              <a:latin typeface="Helvetica" charset="0"/>
              <a:cs typeface="Helvetica" charset="0"/>
              <a:sym typeface="Helvetica" charset="0"/>
            </a:endParaRPr>
          </a:p>
        </p:txBody>
      </p:sp>
      <p:sp>
        <p:nvSpPr>
          <p:cNvPr id="2" name="Rounded Rectangle 1"/>
          <p:cNvSpPr/>
          <p:nvPr/>
        </p:nvSpPr>
        <p:spPr>
          <a:xfrm>
            <a:off x="271462" y="1619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Editor’s Note </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23</a:t>
            </a:fld>
            <a:endParaRPr lang="en-PH" dirty="0"/>
          </a:p>
        </p:txBody>
      </p:sp>
      <p:sp>
        <p:nvSpPr>
          <p:cNvPr id="14" name="Rounded Rectangle 13">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9924600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3"/>
          <p:cNvSpPr txBox="1">
            <a:spLocks noChangeArrowheads="1"/>
          </p:cNvSpPr>
          <p:nvPr/>
        </p:nvSpPr>
        <p:spPr bwMode="auto">
          <a:xfrm>
            <a:off x="195263" y="699552"/>
            <a:ext cx="716280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Gartner Magic </a:t>
            </a:r>
            <a:r>
              <a:rPr lang="en-US" sz="3600" b="1" dirty="0">
                <a:latin typeface="Palatino Linotype" pitchFamily="18" charset="0"/>
              </a:rPr>
              <a:t>Quadrant for </a:t>
            </a:r>
            <a:r>
              <a:rPr lang="en-US" sz="3200" b="1" dirty="0">
                <a:latin typeface="Palatino Linotype" pitchFamily="18" charset="0"/>
              </a:rPr>
              <a:t>Application Life Cycle </a:t>
            </a:r>
            <a:r>
              <a:rPr lang="en-US" sz="3200" b="1" dirty="0" smtClean="0">
                <a:latin typeface="Palatino Linotype" pitchFamily="18" charset="0"/>
              </a:rPr>
              <a:t>Management</a:t>
            </a:r>
            <a:endParaRPr lang="en-US" b="1" dirty="0">
              <a:latin typeface="Palatino Linotype" pitchFamily="18" charset="0"/>
            </a:endParaRPr>
          </a:p>
        </p:txBody>
      </p:sp>
      <p:sp>
        <p:nvSpPr>
          <p:cNvPr id="8196" name="Rectangle 2"/>
          <p:cNvSpPr>
            <a:spLocks/>
          </p:cNvSpPr>
          <p:nvPr/>
        </p:nvSpPr>
        <p:spPr bwMode="auto">
          <a:xfrm>
            <a:off x="2173288" y="3209925"/>
            <a:ext cx="495617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The application life cycle management (ALM) tool market is focused on the planning and governance activities of the software development life cycle (SDLC). Traditionally, this has been the combination of software change and configuration management (SCCM), requirements management and quality management. ALM is evolving, with a focus on coordinating the planning and execution of software projects with an emphasis on work items, planning iterations and coordinating </a:t>
            </a:r>
            <a:r>
              <a:rPr lang="en-US" sz="1200" dirty="0" smtClean="0"/>
              <a:t>actions</a:t>
            </a:r>
          </a:p>
        </p:txBody>
      </p:sp>
      <p:sp>
        <p:nvSpPr>
          <p:cNvPr id="8197" name="Rectangle 3"/>
          <p:cNvSpPr>
            <a:spLocks/>
          </p:cNvSpPr>
          <p:nvPr/>
        </p:nvSpPr>
        <p:spPr bwMode="auto">
          <a:xfrm>
            <a:off x="3167063" y="1935163"/>
            <a:ext cx="3962400"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artner, a leading industry analyst firm, evaluated 16 vendors based on their completeness of vision and ability to execute in the Magic Quadrant for Application Lifecycle Management. We invite you to </a:t>
            </a:r>
            <a:r>
              <a:rPr lang="en-US" sz="1200" dirty="0">
                <a:hlinkClick r:id="rId2"/>
              </a:rPr>
              <a:t>download the complete report</a:t>
            </a:r>
            <a:r>
              <a:rPr lang="en-US" sz="1200" dirty="0"/>
              <a:t> for insights into how </a:t>
            </a:r>
            <a:r>
              <a:rPr lang="en-US" sz="1200" dirty="0" smtClean="0"/>
              <a:t>Agile </a:t>
            </a:r>
            <a:r>
              <a:rPr lang="en-US" sz="1200" dirty="0"/>
              <a:t>and the cloud technologies are driving adoption of ALM.</a:t>
            </a:r>
          </a:p>
        </p:txBody>
      </p:sp>
      <p:sp>
        <p:nvSpPr>
          <p:cNvPr id="8198" name="Rectangle 4"/>
          <p:cNvSpPr>
            <a:spLocks/>
          </p:cNvSpPr>
          <p:nvPr/>
        </p:nvSpPr>
        <p:spPr bwMode="auto">
          <a:xfrm>
            <a:off x="2024063" y="16097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G</a:t>
            </a:r>
          </a:p>
        </p:txBody>
      </p:sp>
      <p:sp>
        <p:nvSpPr>
          <p:cNvPr id="8200" name="Rectangle 5"/>
          <p:cNvSpPr>
            <a:spLocks/>
          </p:cNvSpPr>
          <p:nvPr/>
        </p:nvSpPr>
        <p:spPr bwMode="auto">
          <a:xfrm>
            <a:off x="347663" y="3209925"/>
            <a:ext cx="160337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b="1" i="1" dirty="0" smtClean="0"/>
              <a:t>Summarized by </a:t>
            </a:r>
          </a:p>
          <a:p>
            <a:pPr algn="r"/>
            <a:r>
              <a:rPr lang="en-US" sz="1100" i="1" dirty="0"/>
              <a:t>Keith Denham</a:t>
            </a:r>
          </a:p>
          <a:p>
            <a:pPr algn="r"/>
            <a:endParaRPr lang="en-US" sz="1100" b="1" i="1" dirty="0"/>
          </a:p>
          <a:p>
            <a:pPr algn="r"/>
            <a:r>
              <a:rPr lang="en-US" sz="1100" b="1" i="1" dirty="0" smtClean="0"/>
              <a:t>Derived from the original work by Analysts:</a:t>
            </a:r>
          </a:p>
          <a:p>
            <a:pPr algn="r"/>
            <a:r>
              <a:rPr lang="en-US" sz="1100" i="1" dirty="0" smtClean="0"/>
              <a:t>Thomas </a:t>
            </a:r>
            <a:r>
              <a:rPr lang="en-US" sz="1100" i="1" dirty="0"/>
              <a:t>E. Murphy</a:t>
            </a:r>
            <a:r>
              <a:rPr lang="en-US" sz="1100" i="1" dirty="0" smtClean="0"/>
              <a:t>,</a:t>
            </a:r>
          </a:p>
          <a:p>
            <a:pPr algn="r"/>
            <a:r>
              <a:rPr lang="en-US" sz="1100" i="1" dirty="0" smtClean="0"/>
              <a:t>Jim Duggan</a:t>
            </a:r>
          </a:p>
          <a:p>
            <a:pPr algn="r"/>
            <a:r>
              <a:rPr lang="en-US" sz="1100" b="1" dirty="0" smtClean="0"/>
              <a:t>5 </a:t>
            </a:r>
            <a:r>
              <a:rPr lang="en-US" sz="1100" b="1" dirty="0"/>
              <a:t>June </a:t>
            </a:r>
            <a:r>
              <a:rPr lang="en-US" sz="1100" b="1" dirty="0" smtClean="0"/>
              <a:t>2012</a:t>
            </a:r>
            <a:endParaRPr lang="en-US" sz="1100" i="1" dirty="0">
              <a:solidFill>
                <a:srgbClr val="4D4D4D"/>
              </a:solidFill>
              <a:latin typeface="Helvetica" charset="0"/>
              <a:cs typeface="Helvetica" charset="0"/>
              <a:sym typeface="Helvetica" charset="0"/>
            </a:endParaRPr>
          </a:p>
        </p:txBody>
      </p:sp>
      <p:pic>
        <p:nvPicPr>
          <p:cNvPr id="2050" name="Picture 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62" y="2686050"/>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 Studio / TFS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24</a:t>
            </a:fld>
            <a:endParaRPr lang="en-PH" dirty="0"/>
          </a:p>
        </p:txBody>
      </p:sp>
      <p:sp>
        <p:nvSpPr>
          <p:cNvPr id="14" name="Rounded Rectangle 13">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pic>
        <p:nvPicPr>
          <p:cNvPr id="1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2262" y="4733925"/>
            <a:ext cx="3432718" cy="3518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6315" y="4657725"/>
            <a:ext cx="3268747" cy="14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2"/>
          <p:cNvSpPr>
            <a:spLocks/>
          </p:cNvSpPr>
          <p:nvPr/>
        </p:nvSpPr>
        <p:spPr bwMode="auto">
          <a:xfrm>
            <a:off x="2184315" y="8315325"/>
            <a:ext cx="5097548" cy="1066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a:t>*</a:t>
            </a:r>
            <a:r>
              <a:rPr lang="en-US" sz="1000" i="1" dirty="0">
                <a:hlinkClick r:id="rId3"/>
              </a:rPr>
              <a:t>Gartner</a:t>
            </a:r>
            <a:r>
              <a:rPr lang="en-US" sz="1000" i="1" dirty="0"/>
              <a:t> does not endorse any vendor, product or service depicted in its research publications, and does not advise technology users to select only those vendors with the highest ratings. Gartner research publications consist of the opinions of Gartner's research organization and should not be construed as statements of fact. Gartner disclaims all warranties, expressed or implied, with respect to this research, including any warranties of merchantability or fitness for a particular purpose.</a:t>
            </a:r>
            <a:endParaRPr lang="en-US" sz="1000" dirty="0"/>
          </a:p>
        </p:txBody>
      </p:sp>
    </p:spTree>
    <p:extLst>
      <p:ext uri="{BB962C8B-B14F-4D97-AF65-F5344CB8AC3E}">
        <p14:creationId xmlns:p14="http://schemas.microsoft.com/office/powerpoint/2010/main" val="16739729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19063" y="810994"/>
            <a:ext cx="74004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b="1" dirty="0">
                <a:latin typeface="Palatino Linotype" pitchFamily="18" charset="0"/>
              </a:rPr>
              <a:t>A Lap Around Visual Studio 2012</a:t>
            </a:r>
            <a:endParaRPr lang="en-US" sz="3600" dirty="0">
              <a:latin typeface="Palatino Linotype" pitchFamily="18" charset="0"/>
            </a:endParaRPr>
          </a:p>
        </p:txBody>
      </p:sp>
      <p:sp>
        <p:nvSpPr>
          <p:cNvPr id="12292" name="Rectangle 2"/>
          <p:cNvSpPr>
            <a:spLocks/>
          </p:cNvSpPr>
          <p:nvPr/>
        </p:nvSpPr>
        <p:spPr bwMode="auto">
          <a:xfrm>
            <a:off x="2173288" y="2767010"/>
            <a:ext cx="49561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a:latin typeface="Arial" pitchFamily="34" charset="0"/>
                <a:cs typeface="Arial" pitchFamily="34" charset="0"/>
              </a:rPr>
              <a:t>The list goes on but the ride starts here, so buckle up and join us for this lap around Visual Studio 2012.</a:t>
            </a:r>
            <a:br>
              <a:rPr lang="en-US" sz="1200" dirty="0">
                <a:latin typeface="Arial" pitchFamily="34" charset="0"/>
                <a:cs typeface="Arial" pitchFamily="34" charset="0"/>
              </a:rPr>
            </a:br>
            <a:endParaRPr lang="en-US" sz="1200" dirty="0">
              <a:latin typeface="Arial" pitchFamily="34" charset="0"/>
              <a:cs typeface="Arial" pitchFamily="34" charset="0"/>
            </a:endParaRPr>
          </a:p>
          <a:p>
            <a:r>
              <a:rPr lang="en-US" sz="1200" b="1" dirty="0">
                <a:latin typeface="Arial" pitchFamily="34" charset="0"/>
                <a:cs typeface="Arial" pitchFamily="34" charset="0"/>
              </a:rPr>
              <a:t>Recommended Audiences</a:t>
            </a:r>
            <a:endParaRPr lang="en-US" sz="1200" dirty="0">
              <a:latin typeface="Arial" pitchFamily="34" charset="0"/>
              <a:cs typeface="Arial" pitchFamily="34" charset="0"/>
            </a:endParaRPr>
          </a:p>
          <a:p>
            <a:r>
              <a:rPr lang="en-US" sz="1200" dirty="0">
                <a:latin typeface="Arial" pitchFamily="34" charset="0"/>
                <a:cs typeface="Arial" pitchFamily="34" charset="0"/>
              </a:rPr>
              <a:t>Business Decision Makers, Developers, Technical Decision Makers</a:t>
            </a:r>
          </a:p>
          <a:p>
            <a:endParaRPr lang="en-US" sz="1400" dirty="0"/>
          </a:p>
        </p:txBody>
      </p:sp>
      <p:sp>
        <p:nvSpPr>
          <p:cNvPr id="12293" name="Rectangle 3"/>
          <p:cNvSpPr>
            <a:spLocks/>
          </p:cNvSpPr>
          <p:nvPr/>
        </p:nvSpPr>
        <p:spPr bwMode="auto">
          <a:xfrm>
            <a:off x="3090864" y="1568448"/>
            <a:ext cx="4038600" cy="135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latin typeface="Arial" pitchFamily="34" charset="0"/>
                <a:cs typeface="Arial" pitchFamily="34" charset="0"/>
              </a:rPr>
              <a:t>iew this introduction to the major new features and improvements in Visual Studio 2012.  Expect to see the new enhanced User Interface, </a:t>
            </a:r>
            <a:r>
              <a:rPr lang="en-US" sz="1200" dirty="0" smtClean="0">
                <a:latin typeface="Arial" pitchFamily="34" charset="0"/>
                <a:cs typeface="Arial" pitchFamily="34" charset="0"/>
              </a:rPr>
              <a:t>Agile </a:t>
            </a:r>
            <a:r>
              <a:rPr lang="en-US" sz="1200" dirty="0">
                <a:latin typeface="Arial" pitchFamily="34" charset="0"/>
                <a:cs typeface="Arial" pitchFamily="34" charset="0"/>
              </a:rPr>
              <a:t>Planning Tools, Requirements Gathering Tool, Stakeholder Feedback Tool, Updates to the Developer and Tester Experience, Version Control Improvements, and DevOps Integration.</a:t>
            </a:r>
          </a:p>
        </p:txBody>
      </p:sp>
      <p:sp>
        <p:nvSpPr>
          <p:cNvPr id="12294" name="Rectangle 4"/>
          <p:cNvSpPr>
            <a:spLocks/>
          </p:cNvSpPr>
          <p:nvPr/>
        </p:nvSpPr>
        <p:spPr bwMode="auto">
          <a:xfrm>
            <a:off x="2024064" y="1243010"/>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V</a:t>
            </a:r>
          </a:p>
        </p:txBody>
      </p:sp>
      <p:sp>
        <p:nvSpPr>
          <p:cNvPr id="12296" name="Rectangle 5"/>
          <p:cNvSpPr>
            <a:spLocks/>
          </p:cNvSpPr>
          <p:nvPr/>
        </p:nvSpPr>
        <p:spPr bwMode="auto">
          <a:xfrm>
            <a:off x="347663" y="3071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latin typeface="Helvetica" pitchFamily="34" charset="0"/>
                <a:cs typeface="Helvetica" pitchFamily="34" charset="0"/>
              </a:rPr>
              <a:t>James Tupper</a:t>
            </a:r>
          </a:p>
          <a:p>
            <a:pPr algn="r"/>
            <a:r>
              <a:rPr lang="en-US" sz="1100" i="1" dirty="0">
                <a:latin typeface="Helvetica" pitchFamily="34" charset="0"/>
                <a:cs typeface="Helvetica" pitchFamily="34" charset="0"/>
              </a:rPr>
              <a:t>ALM Consultant</a:t>
            </a:r>
          </a:p>
          <a:p>
            <a:pPr algn="r"/>
            <a:r>
              <a:rPr lang="en-US" sz="1100" i="1" dirty="0">
                <a:latin typeface="Helvetica" pitchFamily="34" charset="0"/>
                <a:cs typeface="Helvetica" pitchFamily="34" charset="0"/>
                <a:hlinkClick r:id="rId2"/>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2" name="Rectangle 2"/>
          <p:cNvSpPr>
            <a:spLocks/>
          </p:cNvSpPr>
          <p:nvPr/>
        </p:nvSpPr>
        <p:spPr bwMode="auto">
          <a:xfrm>
            <a:off x="344489" y="8834914"/>
            <a:ext cx="6784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b="1" i="1" u="sng" dirty="0">
                <a:latin typeface="Arial" pitchFamily="34" charset="0"/>
                <a:cs typeface="Arial" pitchFamily="34" charset="0"/>
                <a:hlinkClick r:id="rId2"/>
              </a:rPr>
              <a:t>Northwest Cadence, Inc.</a:t>
            </a:r>
            <a:r>
              <a:rPr lang="en-US" sz="1000" i="1" dirty="0">
                <a:latin typeface="Arial" pitchFamily="34" charset="0"/>
                <a:cs typeface="Arial" pitchFamily="34" charset="0"/>
                <a:hlinkClick r:id="rId2"/>
              </a:rPr>
              <a:t> </a:t>
            </a:r>
            <a:r>
              <a:rPr lang="en-US" sz="1000" i="1" dirty="0" smtClean="0">
                <a:latin typeface="Arial" pitchFamily="34" charset="0"/>
                <a:cs typeface="Arial" pitchFamily="34" charset="0"/>
              </a:rPr>
              <a:t> </a:t>
            </a:r>
            <a:r>
              <a:rPr lang="en-US" sz="1000" i="1" dirty="0" smtClean="0"/>
              <a:t>provides </a:t>
            </a:r>
            <a:r>
              <a:rPr lang="en-US" sz="1000" i="1" dirty="0"/>
              <a:t>training and consulting services across the United States. The exclusive focus on Software Process and Microsoft ALM tools ensures clients benefit from deep technical expertise, sound process acumen, and hundreds of practical experiences on ALM projects.  They partner with software development teams to improve processes and business results.</a:t>
            </a:r>
            <a:endParaRPr lang="en-US" sz="1000" i="1" dirty="0">
              <a:latin typeface="Arial" pitchFamily="34" charset="0"/>
              <a:cs typeface="Arial" pitchFamily="34" charset="0"/>
            </a:endParaRPr>
          </a:p>
        </p:txBody>
      </p:sp>
      <p:pic>
        <p:nvPicPr>
          <p:cNvPr id="1026" name="Picture 2" descr="E:\My Documents\_Work Related\_ALM Mag\Admin\Contributors\NW Cadence\nwc_logo_tagline-250x80.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3" y="8172959"/>
            <a:ext cx="1752600" cy="56083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288" y="1624010"/>
            <a:ext cx="1377750" cy="130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2"/>
          <p:cNvSpPr>
            <a:spLocks/>
          </p:cNvSpPr>
          <p:nvPr/>
        </p:nvSpPr>
        <p:spPr bwMode="auto">
          <a:xfrm>
            <a:off x="2147324" y="7553325"/>
            <a:ext cx="4973355" cy="1066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a:latin typeface="Arial" pitchFamily="34" charset="0"/>
                <a:cs typeface="Arial" pitchFamily="34" charset="0"/>
              </a:rPr>
              <a:t>James Tupper, ALM Consultant at </a:t>
            </a:r>
            <a:r>
              <a:rPr lang="en-US" sz="1000" i="1" dirty="0">
                <a:latin typeface="Arial" pitchFamily="34" charset="0"/>
                <a:cs typeface="Arial" pitchFamily="34" charset="0"/>
                <a:hlinkClick r:id="rId2"/>
              </a:rPr>
              <a:t>Northwest Cadence</a:t>
            </a:r>
            <a:r>
              <a:rPr lang="en-US" sz="1000" i="1" dirty="0">
                <a:latin typeface="Arial" pitchFamily="34" charset="0"/>
                <a:cs typeface="Arial" pitchFamily="34" charset="0"/>
              </a:rPr>
              <a:t>, is experienced with both software and hardware development, extending Visual Studio Team Foundation Server using its APIs, and customizing TFS in unconventional ways. James has also developed solutions using the TFS work item tracking for complex scenarios not centered on software development. A certified Professional Scrum Developer, James writes often on the Northwest Cadence blog.</a:t>
            </a: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 Studio / TFS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25</a:t>
            </a:fld>
            <a:endParaRPr lang="en-PH" dirty="0"/>
          </a:p>
        </p:txBody>
      </p:sp>
      <p:pic>
        <p:nvPicPr>
          <p:cNvPr id="13" name="Picture 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7324" y="3785027"/>
            <a:ext cx="4956175" cy="301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hlinkClick r:id="rId5"/>
          </p:cNvPr>
          <p:cNvSpPr txBox="1"/>
          <p:nvPr/>
        </p:nvSpPr>
        <p:spPr>
          <a:xfrm>
            <a:off x="2147324" y="4013627"/>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9" name="TextBox 18">
            <a:hlinkClick r:id="rId5"/>
          </p:cNvPr>
          <p:cNvSpPr txBox="1"/>
          <p:nvPr/>
        </p:nvSpPr>
        <p:spPr>
          <a:xfrm>
            <a:off x="2147323" y="5842427"/>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1" name="Rounded Rectangle 20">
            <a:hlinkClick r:id="rId7"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5" name="TextBox 4"/>
          <p:cNvSpPr txBox="1"/>
          <p:nvPr/>
        </p:nvSpPr>
        <p:spPr>
          <a:xfrm>
            <a:off x="2147324" y="6846927"/>
            <a:ext cx="4956174" cy="553998"/>
          </a:xfrm>
          <a:prstGeom prst="rect">
            <a:avLst/>
          </a:prstGeom>
          <a:noFill/>
        </p:spPr>
        <p:txBody>
          <a:bodyPr wrap="square" rtlCol="0">
            <a:spAutoFit/>
          </a:bodyPr>
          <a:lstStyle/>
          <a:p>
            <a:pPr algn="ctr"/>
            <a:r>
              <a:rPr lang="en-US" sz="1000" i="1" dirty="0"/>
              <a:t>Click on the graphic above to play the </a:t>
            </a:r>
            <a:r>
              <a:rPr lang="en-US" sz="1000" i="1" dirty="0" smtClean="0"/>
              <a:t>video</a:t>
            </a:r>
            <a:endParaRPr lang="en-US" sz="1000" i="1" dirty="0"/>
          </a:p>
          <a:p>
            <a:pPr algn="ctr"/>
            <a:r>
              <a:rPr lang="en-US" sz="1000" i="1" dirty="0"/>
              <a:t>If the graphic above doesn’t play for you </a:t>
            </a:r>
          </a:p>
          <a:p>
            <a:pPr algn="ctr"/>
            <a:r>
              <a:rPr lang="en-US" sz="1000" i="1" dirty="0">
                <a:hlinkClick r:id="rId8"/>
              </a:rPr>
              <a:t>click here for a dedicated player and the option to </a:t>
            </a:r>
            <a:r>
              <a:rPr lang="en-US" sz="1000" i="1" dirty="0" smtClean="0">
                <a:hlinkClick r:id="rId8"/>
              </a:rPr>
              <a:t>Download</a:t>
            </a:r>
            <a:endParaRPr lang="en-US" sz="1000" i="1" dirty="0"/>
          </a:p>
        </p:txBody>
      </p:sp>
    </p:spTree>
    <p:extLst>
      <p:ext uri="{BB962C8B-B14F-4D97-AF65-F5344CB8AC3E}">
        <p14:creationId xmlns:p14="http://schemas.microsoft.com/office/powerpoint/2010/main" val="29891893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695325"/>
            <a:ext cx="659667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Integrating Development &amp; </a:t>
            </a:r>
            <a:endParaRPr lang="en-US" sz="3600" b="1" dirty="0" smtClean="0">
              <a:latin typeface="Palatino Linotype" pitchFamily="18" charset="0"/>
            </a:endParaRPr>
          </a:p>
          <a:p>
            <a:pPr eaLnBrk="1" hangingPunct="1"/>
            <a:r>
              <a:rPr lang="en-US" sz="3600" b="1" dirty="0" smtClean="0">
                <a:latin typeface="Palatino Linotype" pitchFamily="18" charset="0"/>
              </a:rPr>
              <a:t>Operations </a:t>
            </a:r>
            <a:r>
              <a:rPr lang="en-US" sz="3600" b="1" dirty="0">
                <a:latin typeface="Palatino Linotype" pitchFamily="18" charset="0"/>
              </a:rPr>
              <a:t>for the Enterprise</a:t>
            </a:r>
          </a:p>
        </p:txBody>
      </p:sp>
      <p:sp>
        <p:nvSpPr>
          <p:cNvPr id="12292" name="Rectangle 2"/>
          <p:cNvSpPr>
            <a:spLocks/>
          </p:cNvSpPr>
          <p:nvPr/>
        </p:nvSpPr>
        <p:spPr bwMode="auto">
          <a:xfrm>
            <a:off x="2173288" y="3119437"/>
            <a:ext cx="49561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and </a:t>
            </a:r>
            <a:r>
              <a:rPr lang="en-US" sz="1200" dirty="0"/>
              <a:t>fixes – and the organization benefits from that increased usage and satisfaction as well as having higher quality software at a lower cost. The philosophy and practice of this deeper integration between development teams and operations is often referred to as DevOps</a:t>
            </a:r>
            <a:r>
              <a:rPr lang="en-US" sz="1200" dirty="0" smtClean="0"/>
              <a:t>.</a:t>
            </a:r>
          </a:p>
          <a:p>
            <a:pPr algn="just"/>
            <a:endParaRPr lang="en-US" sz="1200" dirty="0"/>
          </a:p>
          <a:p>
            <a:pPr algn="just"/>
            <a:r>
              <a:rPr lang="en-US" sz="1200" dirty="0"/>
              <a:t>DevOps practices are particularly well suited to the </a:t>
            </a:r>
            <a:r>
              <a:rPr lang="en-US" sz="1200" i="1" dirty="0"/>
              <a:t>Software as a Service</a:t>
            </a:r>
            <a:r>
              <a:rPr lang="en-US" sz="1200" dirty="0"/>
              <a:t> (SaaS) delivery model used in cloud computing, where continuous delivery has become standard. These successful practices are being extended to the enterprise to realize the value of continuous delivery. This consistency is even more important for companies whose applications bridge the gap between private and public clouds through </a:t>
            </a:r>
            <a:r>
              <a:rPr lang="en-US" sz="1200" i="1" dirty="0"/>
              <a:t>hybrid </a:t>
            </a:r>
            <a:r>
              <a:rPr lang="en-US" sz="1200" i="1" dirty="0" smtClean="0"/>
              <a:t>IT </a:t>
            </a:r>
            <a:r>
              <a:rPr lang="en-US" sz="1200" i="1" cap="small" baseline="30000" dirty="0" smtClean="0"/>
              <a:t>1</a:t>
            </a:r>
            <a:r>
              <a:rPr lang="en-US" sz="1200" i="1" dirty="0" smtClean="0"/>
              <a:t>. </a:t>
            </a:r>
            <a:r>
              <a:rPr lang="en-US" sz="1200" dirty="0"/>
              <a:t>Many forward leaning organizations are further able to fuse these two traditionally distinct roles into one single DevOps role, resulting in even less friction throughout the ALM process. </a:t>
            </a:r>
            <a:endParaRPr lang="en-US" sz="1200" dirty="0" smtClean="0"/>
          </a:p>
          <a:p>
            <a:pPr algn="just"/>
            <a:endParaRPr lang="en-US" sz="1200" dirty="0"/>
          </a:p>
          <a:p>
            <a:pPr algn="just"/>
            <a:r>
              <a:rPr lang="en-US" sz="1200" dirty="0"/>
              <a:t>The adoption of DevOps is now an established industry trend supported by numerous vendors, including many ALM tool providers. Looking forward, analysts at Gartner recently predicted that “By 2016, 40% of organizations will implement DevOps processes to support continuous delivery and simplified release management</a:t>
            </a:r>
            <a:r>
              <a:rPr lang="en-US" sz="1200" dirty="0" smtClean="0"/>
              <a:t>.”</a:t>
            </a:r>
            <a:r>
              <a:rPr lang="en-US" sz="1200" cap="small" baseline="30000" dirty="0" smtClean="0"/>
              <a:t> 2</a:t>
            </a:r>
            <a:r>
              <a:rPr lang="en-US" sz="1200" dirty="0" smtClean="0"/>
              <a:t> </a:t>
            </a:r>
            <a:r>
              <a:rPr lang="en-US" sz="1200" dirty="0"/>
              <a:t>Visual Studio 2012 can </a:t>
            </a:r>
            <a:r>
              <a:rPr lang="en-US" sz="1200" dirty="0" smtClean="0"/>
              <a:t>be</a:t>
            </a:r>
            <a:endParaRPr lang="en-US" sz="1200" dirty="0"/>
          </a:p>
        </p:txBody>
      </p:sp>
      <p:sp>
        <p:nvSpPr>
          <p:cNvPr id="12293" name="Rectangle 3"/>
          <p:cNvSpPr>
            <a:spLocks/>
          </p:cNvSpPr>
          <p:nvPr/>
        </p:nvSpPr>
        <p:spPr bwMode="auto">
          <a:xfrm>
            <a:off x="3090863" y="1935162"/>
            <a:ext cx="4038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smtClean="0"/>
              <a:t>xecutive Overview</a:t>
            </a:r>
          </a:p>
          <a:p>
            <a:pPr algn="just"/>
            <a:r>
              <a:rPr lang="en-US" sz="1200" dirty="0" smtClean="0"/>
              <a:t>Organizations </a:t>
            </a:r>
            <a:r>
              <a:rPr lang="en-US" sz="1200" dirty="0"/>
              <a:t>that use practices and tools to integrate development and operations can significantly speed up their ALM process and enable continuous delivery of software. With continuous delivery, internal and external customers benefit from quicker access to new applications, features, </a:t>
            </a:r>
          </a:p>
        </p:txBody>
      </p:sp>
      <p:sp>
        <p:nvSpPr>
          <p:cNvPr id="12294" name="Rectangle 4"/>
          <p:cNvSpPr>
            <a:spLocks/>
          </p:cNvSpPr>
          <p:nvPr/>
        </p:nvSpPr>
        <p:spPr bwMode="auto">
          <a:xfrm>
            <a:off x="2024063" y="16097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E</a:t>
            </a:r>
            <a:endParaRPr lang="en-US" sz="11600" b="1" dirty="0">
              <a:latin typeface="Helvetica Neue Bold Condensed" charset="0"/>
              <a:sym typeface="Helvetica Neue Bold Condensed" charset="0"/>
            </a:endParaRPr>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528638" y="1976437"/>
            <a:ext cx="1427162" cy="1416384"/>
          </a:xfrm>
          <a:prstGeom prst="rect">
            <a:avLst/>
          </a:prstGeom>
          <a:noFill/>
          <a:ln>
            <a:noFill/>
          </a:ln>
        </p:spPr>
      </p:pic>
      <p:sp>
        <p:nvSpPr>
          <p:cNvPr id="12" name="Rectangle 2"/>
          <p:cNvSpPr>
            <a:spLocks/>
          </p:cNvSpPr>
          <p:nvPr/>
        </p:nvSpPr>
        <p:spPr bwMode="auto">
          <a:xfrm>
            <a:off x="344488" y="8972549"/>
            <a:ext cx="67849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cap="small" baseline="30000" dirty="0" smtClean="0"/>
              <a:t>1</a:t>
            </a:r>
            <a:r>
              <a:rPr lang="en-US" sz="1000" cap="small" dirty="0" smtClean="0"/>
              <a:t> </a:t>
            </a:r>
            <a:r>
              <a:rPr lang="en-US" sz="1000" i="1" dirty="0"/>
              <a:t>hybrid IT </a:t>
            </a:r>
            <a:r>
              <a:rPr lang="en-US" sz="1000" dirty="0"/>
              <a:t> enables companies to use private clouds for application delivery and also take advantage of public cloud infrastructure to create resource flexibility and address temporary infrastructure demand </a:t>
            </a:r>
            <a:r>
              <a:rPr lang="en-US" sz="1000" dirty="0" smtClean="0"/>
              <a:t>needs</a:t>
            </a:r>
          </a:p>
          <a:p>
            <a:r>
              <a:rPr lang="en-US" sz="1000" cap="small" baseline="30000" dirty="0" smtClean="0"/>
              <a:t>2  </a:t>
            </a:r>
            <a:r>
              <a:rPr lang="en-US" sz="1000" dirty="0"/>
              <a:t>Gartner Predicts 2012: Application Development (Dec 2011)</a:t>
            </a:r>
            <a:endParaRPr lang="en-US" sz="1000" cap="small" baseline="30000" dirty="0"/>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26</a:t>
            </a:fld>
            <a:endParaRPr lang="en-PH" dirty="0"/>
          </a:p>
        </p:txBody>
      </p:sp>
      <p:sp>
        <p:nvSpPr>
          <p:cNvPr id="17" name="Rectangle 5"/>
          <p:cNvSpPr>
            <a:spLocks/>
          </p:cNvSpPr>
          <p:nvPr/>
        </p:nvSpPr>
        <p:spPr bwMode="auto">
          <a:xfrm>
            <a:off x="344486" y="3590925"/>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Pleas</a:t>
            </a:r>
          </a:p>
          <a:p>
            <a:pPr algn="r"/>
            <a:r>
              <a:rPr lang="en-US" sz="1100" i="1" dirty="0">
                <a:solidFill>
                  <a:srgbClr val="4D4D4D"/>
                </a:solidFill>
                <a:latin typeface="Helvetica" charset="0"/>
                <a:cs typeface="Helvetica" charset="0"/>
              </a:rPr>
              <a:t>Organizer and Conference Chair for the </a:t>
            </a:r>
            <a:r>
              <a:rPr lang="en-US" sz="1100" i="1" dirty="0">
                <a:solidFill>
                  <a:srgbClr val="4D4D4D"/>
                </a:solidFill>
                <a:latin typeface="Helvetica" charset="0"/>
                <a:cs typeface="Helvetica" charset="0"/>
                <a:hlinkClick r:id="rId3"/>
              </a:rPr>
              <a:t>ALM Summit</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6" name="Rounded Rectangle 15">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ectangle 1"/>
          <p:cNvSpPr>
            <a:spLocks/>
          </p:cNvSpPr>
          <p:nvPr/>
        </p:nvSpPr>
        <p:spPr bwMode="auto">
          <a:xfrm>
            <a:off x="3894137" y="7172325"/>
            <a:ext cx="3194049" cy="1447800"/>
          </a:xfrm>
          <a:prstGeom prst="rect">
            <a:avLst/>
          </a:prstGeom>
          <a:noFill/>
          <a:ln w="9525">
            <a:solidFill>
              <a:schemeClr val="tx1"/>
            </a:solidFill>
            <a:miter lim="800000"/>
            <a:headEnd/>
            <a:tailEnd/>
          </a:ln>
          <a:extLst/>
        </p:spPr>
        <p:txBody>
          <a:bodyPr lIns="91440" tIns="91440" rIns="91440" bIns="91440"/>
          <a:lstStyle/>
          <a:p>
            <a:pPr algn="just"/>
            <a:r>
              <a:rPr lang="en-US" sz="1000" i="1" dirty="0" smtClean="0"/>
              <a:t>Keith </a:t>
            </a:r>
            <a:r>
              <a:rPr lang="en-US" sz="1000" i="1" dirty="0"/>
              <a:t>Pleas is the Organizer and Conference Chair for the </a:t>
            </a:r>
            <a:r>
              <a:rPr lang="en-US" sz="1000" i="1" u="sng" dirty="0">
                <a:hlinkClick r:id="rId3"/>
              </a:rPr>
              <a:t>ALM Summit</a:t>
            </a:r>
            <a:r>
              <a:rPr lang="en-US" sz="1000" i="1" dirty="0"/>
              <a:t>. Keith is also a software architect, and has worked with the Microsoft </a:t>
            </a:r>
            <a:r>
              <a:rPr lang="en-US" sz="1000" i="1" u="sng" dirty="0">
                <a:hlinkClick r:id="rId5"/>
              </a:rPr>
              <a:t>patterns &amp; practices</a:t>
            </a:r>
            <a:r>
              <a:rPr lang="en-US" sz="1000" i="1" dirty="0"/>
              <a:t>, .NET Framework, and Visual Studio teams. Keith is an internationally known writer, speaker, conference organizer. Keith was a founding board member of INETA and created the </a:t>
            </a:r>
            <a:r>
              <a:rPr lang="en-US" sz="1000" i="1" u="sng" dirty="0">
                <a:hlinkClick r:id="rId6"/>
              </a:rPr>
              <a:t>INETA Speakers Bureau</a:t>
            </a:r>
            <a:r>
              <a:rPr lang="en-US" sz="1000" i="1" dirty="0" smtClean="0"/>
              <a:t>.</a:t>
            </a:r>
            <a:endParaRPr lang="en-US" sz="1000" i="1" dirty="0"/>
          </a:p>
          <a:p>
            <a:pPr algn="just"/>
            <a:endParaRPr lang="en-US" sz="1200" dirty="0">
              <a:latin typeface="Helvetica" charset="0"/>
              <a:cs typeface="Helvetica" charset="0"/>
              <a:sym typeface="Helvetica" charset="0"/>
            </a:endParaRPr>
          </a:p>
        </p:txBody>
      </p:sp>
    </p:spTree>
    <p:extLst>
      <p:ext uri="{BB962C8B-B14F-4D97-AF65-F5344CB8AC3E}">
        <p14:creationId xmlns:p14="http://schemas.microsoft.com/office/powerpoint/2010/main" val="4731540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553325" cy="10099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746997" y="85725"/>
            <a:ext cx="611065" cy="246221"/>
          </a:xfrm>
          <a:prstGeom prst="rect">
            <a:avLst/>
          </a:prstGeom>
          <a:solidFill>
            <a:schemeClr val="tx1"/>
          </a:solidFill>
        </p:spPr>
        <p:txBody>
          <a:bodyPr wrap="none" rtlCol="0">
            <a:spAutoFit/>
          </a:bodyPr>
          <a:lstStyle/>
          <a:p>
            <a:r>
              <a:rPr lang="en-US" sz="1000" b="1" dirty="0" smtClean="0">
                <a:solidFill>
                  <a:schemeClr val="bg1"/>
                </a:solidFill>
              </a:rPr>
              <a:t>EVENT</a:t>
            </a:r>
            <a:endParaRPr lang="en-US" sz="1000" b="1" dirty="0">
              <a:solidFill>
                <a:schemeClr val="bg1"/>
              </a:solidFill>
            </a:endParaRPr>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27</a:t>
            </a:fld>
            <a:endParaRPr lang="en-PH" dirty="0"/>
          </a:p>
        </p:txBody>
      </p:sp>
      <p:sp>
        <p:nvSpPr>
          <p:cNvPr id="4" name="Rectangle 3">
            <a:hlinkClick r:id="rId3"/>
          </p:cNvPr>
          <p:cNvSpPr/>
          <p:nvPr/>
        </p:nvSpPr>
        <p:spPr>
          <a:xfrm>
            <a:off x="-1" y="0"/>
            <a:ext cx="7553325" cy="10077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9001658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14375"/>
            <a:ext cx="734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Requirement management in the</a:t>
            </a:r>
            <a:br>
              <a:rPr lang="en-US" sz="3600" b="1" dirty="0">
                <a:latin typeface="Palatino Linotype" pitchFamily="18" charset="0"/>
              </a:rPr>
            </a:br>
            <a:r>
              <a:rPr lang="en-US" sz="3600" b="1" dirty="0">
                <a:latin typeface="Palatino Linotype" pitchFamily="18" charset="0"/>
              </a:rPr>
              <a:t>modern application lifecycle</a:t>
            </a:r>
          </a:p>
        </p:txBody>
      </p:sp>
      <p:sp>
        <p:nvSpPr>
          <p:cNvPr id="12292" name="Rectangle 2"/>
          <p:cNvSpPr>
            <a:spLocks/>
          </p:cNvSpPr>
          <p:nvPr/>
        </p:nvSpPr>
        <p:spPr bwMode="auto">
          <a:xfrm>
            <a:off x="2173288" y="3425825"/>
            <a:ext cx="49561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smtClean="0">
                <a:effectLst/>
              </a:rPr>
              <a:t>UPDATED 2012-09-11: I have updated the list of tools available</a:t>
            </a:r>
            <a:r>
              <a:rPr lang="en-US" sz="1200" dirty="0" smtClean="0">
                <a:effectLst/>
              </a:rPr>
              <a:t> </a:t>
            </a:r>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endParaRPr lang="en-US" sz="1200" dirty="0"/>
          </a:p>
          <a:p>
            <a:endParaRPr lang="en-US" sz="1200" dirty="0" smtClean="0"/>
          </a:p>
          <a:p>
            <a:endParaRPr lang="en-US" sz="1200" dirty="0"/>
          </a:p>
          <a:p>
            <a:endParaRPr lang="en-US" sz="1200" dirty="0"/>
          </a:p>
          <a:p>
            <a:pPr algn="just"/>
            <a:r>
              <a:rPr lang="en-US" sz="1200" dirty="0" smtClean="0">
                <a:effectLst/>
              </a:rPr>
              <a:t>Team Foundation Server aims to become your matter of record or single-point-of-truth for what state your requirements are in, what the details of that requirement are, who is currently working on it and who changed what when.</a:t>
            </a:r>
          </a:p>
          <a:p>
            <a:pPr algn="just"/>
            <a:endParaRPr lang="en-US" sz="1200" dirty="0" smtClean="0">
              <a:effectLst/>
            </a:endParaRPr>
          </a:p>
          <a:p>
            <a:pPr algn="just"/>
            <a:r>
              <a:rPr lang="en-US" sz="1200" dirty="0" smtClean="0">
                <a:effectLst/>
              </a:rPr>
              <a:t>The system has lists of work item that can have any number of fields with configurable forms and permissions along with many other features out-of-the-box and you can store data against these fields with TFS storing a</a:t>
            </a:r>
            <a:endParaRPr lang="en-US" sz="1200" dirty="0">
              <a:effectLst/>
            </a:endParaRPr>
          </a:p>
        </p:txBody>
      </p:sp>
      <p:sp>
        <p:nvSpPr>
          <p:cNvPr id="12293" name="Rectangle 3"/>
          <p:cNvSpPr>
            <a:spLocks/>
          </p:cNvSpPr>
          <p:nvPr/>
        </p:nvSpPr>
        <p:spPr bwMode="auto">
          <a:xfrm>
            <a:off x="3243261" y="2012950"/>
            <a:ext cx="3886201"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effectLst/>
              </a:rPr>
              <a:t>anaging requirements is hard and no single tool can tell you how to achieve that within your organization. To that end, Visual Studio 2012 Team Foundation Server stays out of the “where do your requirements come from” world and firmly in the “</a:t>
            </a:r>
            <a:r>
              <a:rPr lang="en-US" sz="1200" dirty="0"/>
              <a:t>I</a:t>
            </a:r>
            <a:r>
              <a:rPr lang="en-US" sz="1200" dirty="0" smtClean="0">
                <a:effectLst/>
              </a:rPr>
              <a:t> have my requirements.. .what now?” world and indeed the tools built on top of the requirement management system stay in one niche.</a:t>
            </a:r>
            <a:endParaRPr lang="en-US" sz="1200" dirty="0"/>
          </a:p>
        </p:txBody>
      </p:sp>
      <p:sp>
        <p:nvSpPr>
          <p:cNvPr id="12294" name="Rectangle 4"/>
          <p:cNvSpPr>
            <a:spLocks/>
          </p:cNvSpPr>
          <p:nvPr/>
        </p:nvSpPr>
        <p:spPr bwMode="auto">
          <a:xfrm>
            <a:off x="2024063" y="1687513"/>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M</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3" y="36687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Martin </a:t>
            </a:r>
            <a:r>
              <a:rPr lang="en-US" sz="1100" i="1" dirty="0" smtClean="0">
                <a:solidFill>
                  <a:srgbClr val="4D4D4D"/>
                </a:solidFill>
                <a:latin typeface="Helvetica" charset="0"/>
                <a:cs typeface="Helvetica" charset="0"/>
                <a:sym typeface="Helvetica" charset="0"/>
              </a:rPr>
              <a:t>Hinshelwood</a:t>
            </a:r>
          </a:p>
          <a:p>
            <a:pPr algn="r"/>
            <a:r>
              <a:rPr lang="en-US" sz="1100" i="1" dirty="0">
                <a:solidFill>
                  <a:srgbClr val="4D4D4D"/>
                </a:solidFill>
                <a:latin typeface="Helvetica" charset="0"/>
                <a:cs typeface="Helvetica" charset="0"/>
              </a:rPr>
              <a:t>ALM Consultant</a:t>
            </a:r>
          </a:p>
          <a:p>
            <a:pPr algn="r"/>
            <a:r>
              <a:rPr lang="en-US" sz="1100" i="1" dirty="0">
                <a:latin typeface="Helvetica" pitchFamily="34" charset="0"/>
                <a:cs typeface="Helvetica" pitchFamily="34" charset="0"/>
                <a:hlinkClick r:id="rId2"/>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p:txBody>
      </p:sp>
      <p:pic>
        <p:nvPicPr>
          <p:cNvPr id="12297" name="Picture 9" descr="Martin Hinshelwo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2054225"/>
            <a:ext cx="1427162"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287" y="3730625"/>
            <a:ext cx="4999037" cy="308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28</a:t>
            </a:fld>
            <a:endParaRPr lang="en-PH" dirty="0"/>
          </a:p>
        </p:txBody>
      </p:sp>
      <p:sp>
        <p:nvSpPr>
          <p:cNvPr id="15" name="Rounded Rectangle 14">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6" name="Rectangle 2"/>
          <p:cNvSpPr>
            <a:spLocks/>
          </p:cNvSpPr>
          <p:nvPr/>
        </p:nvSpPr>
        <p:spPr bwMode="auto">
          <a:xfrm>
            <a:off x="1385326" y="8456839"/>
            <a:ext cx="4973355" cy="9252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dirty="0" smtClean="0"/>
              <a:t>Martin </a:t>
            </a:r>
            <a:r>
              <a:rPr lang="en-GB" sz="1000" i="1" dirty="0"/>
              <a:t>is </a:t>
            </a:r>
            <a:r>
              <a:rPr lang="en-GB" sz="1000" i="1" dirty="0" smtClean="0"/>
              <a:t>an </a:t>
            </a:r>
            <a:r>
              <a:rPr lang="en-GB" sz="1000" i="1" dirty="0"/>
              <a:t>ALM Consultant at </a:t>
            </a:r>
            <a:r>
              <a:rPr lang="en-GB" sz="1000" i="1" u="sng" dirty="0">
                <a:hlinkClick r:id="rId6"/>
              </a:rPr>
              <a:t>Northwest Cadence</a:t>
            </a:r>
            <a:r>
              <a:rPr lang="en-GB" sz="1000" i="1" dirty="0"/>
              <a:t>, and </a:t>
            </a:r>
            <a:r>
              <a:rPr lang="en-GB" sz="1000" i="1" u="sng" dirty="0">
                <a:hlinkClick r:id="rId7"/>
              </a:rPr>
              <a:t>Visual Studio ALM MVP (2013)</a:t>
            </a:r>
            <a:r>
              <a:rPr lang="en-GB" sz="1000" i="1" dirty="0"/>
              <a:t>. He was named </a:t>
            </a:r>
            <a:r>
              <a:rPr lang="en-GB" sz="1000" i="1" u="sng" dirty="0">
                <a:hlinkClick r:id="rId7"/>
              </a:rPr>
              <a:t>ALM MVP of the year 2011</a:t>
            </a:r>
            <a:r>
              <a:rPr lang="en-GB" sz="1000" i="1" dirty="0"/>
              <a:t>, </a:t>
            </a:r>
            <a:r>
              <a:rPr lang="en-GB" sz="1000" i="1" u="sng" dirty="0">
                <a:hlinkClick r:id="rId8"/>
              </a:rPr>
              <a:t>ALM Ranger Champion for 2011</a:t>
            </a:r>
            <a:r>
              <a:rPr lang="en-GB" sz="1000" i="1" dirty="0"/>
              <a:t> and was one of the first </a:t>
            </a:r>
            <a:r>
              <a:rPr lang="en-GB" sz="1000" i="1" u="sng" dirty="0">
                <a:hlinkClick r:id="rId9"/>
              </a:rPr>
              <a:t>Professional Scrum Trainers</a:t>
            </a:r>
            <a:r>
              <a:rPr lang="en-GB" sz="1000" i="1" dirty="0"/>
              <a:t> with Scrum.org. </a:t>
            </a:r>
            <a:r>
              <a:rPr lang="en-GB" sz="1000" i="1" dirty="0" smtClean="0"/>
              <a:t>Martin </a:t>
            </a:r>
            <a:r>
              <a:rPr lang="en-GB" sz="1000" i="1" dirty="0"/>
              <a:t>regularly delivers consulting and training while writing for his </a:t>
            </a:r>
            <a:r>
              <a:rPr lang="en-GB" sz="1000" i="1" u="sng" dirty="0">
                <a:hlinkClick r:id="rId10"/>
              </a:rPr>
              <a:t>Visual Studio ALM blog</a:t>
            </a:r>
            <a:r>
              <a:rPr lang="en-GB" sz="1000" i="1" dirty="0"/>
              <a:t>, and is a sought-after speaker. </a:t>
            </a:r>
            <a:endParaRPr lang="en-US" sz="1000" i="1" dirty="0"/>
          </a:p>
          <a:p>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8456160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29</a:t>
            </a:fld>
            <a:endParaRPr lang="en-PH" dirty="0"/>
          </a:p>
        </p:txBody>
      </p:sp>
      <p:sp>
        <p:nvSpPr>
          <p:cNvPr id="5" name="Title 1"/>
          <p:cNvSpPr>
            <a:spLocks noGrp="1"/>
          </p:cNvSpPr>
          <p:nvPr/>
        </p:nvSpPr>
        <p:spPr bwMode="auto">
          <a:xfrm>
            <a:off x="407987" y="334645"/>
            <a:ext cx="6797675" cy="58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algn="ctr" eaLnBrk="0" fontAlgn="base" hangingPunct="0">
              <a:spcBef>
                <a:spcPts val="0"/>
              </a:spcBef>
              <a:spcAft>
                <a:spcPts val="0"/>
              </a:spcAft>
            </a:pPr>
            <a:r>
              <a:rPr lang="en-US" sz="3200" kern="1200" dirty="0">
                <a:solidFill>
                  <a:srgbClr val="000000"/>
                </a:solidFill>
                <a:effectLst/>
                <a:latin typeface="Cambria"/>
                <a:ea typeface="Times New Roman"/>
                <a:cs typeface="Times New Roman"/>
              </a:rPr>
              <a:t>Modern Requirements Management</a:t>
            </a:r>
            <a:endParaRPr lang="en-US" sz="1200" dirty="0">
              <a:effectLst/>
              <a:latin typeface="Times New Roman"/>
              <a:ea typeface="Times New Roman"/>
            </a:endParaRPr>
          </a:p>
        </p:txBody>
      </p:sp>
      <p:pic>
        <p:nvPicPr>
          <p:cNvPr id="2054" name="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2" y="7470775"/>
            <a:ext cx="6667500" cy="19939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5"/>
          <p:cNvSpPr txBox="1"/>
          <p:nvPr/>
        </p:nvSpPr>
        <p:spPr>
          <a:xfrm>
            <a:off x="423862" y="7027545"/>
            <a:ext cx="6781800" cy="297180"/>
          </a:xfrm>
          <a:prstGeom prst="rect">
            <a:avLst/>
          </a:prstGeom>
          <a:noFill/>
        </p:spPr>
        <p:txBody>
          <a:bodyPr wrap="square" rtlCol="0">
            <a:spAutoFit/>
          </a:bodyPr>
          <a:lstStyle/>
          <a:p>
            <a:pPr marL="0" marR="0" algn="ctr" fontAlgn="base">
              <a:spcBef>
                <a:spcPts val="0"/>
              </a:spcBef>
              <a:spcAft>
                <a:spcPts val="0"/>
              </a:spcAft>
            </a:pPr>
            <a:r>
              <a:rPr lang="en-US" sz="1400" b="1" kern="1200" dirty="0">
                <a:solidFill>
                  <a:srgbClr val="000000"/>
                </a:solidFill>
                <a:effectLst/>
                <a:latin typeface="Arial"/>
                <a:ea typeface="Times New Roman"/>
              </a:rPr>
              <a:t>Key Features that extend TFS capabilities</a:t>
            </a:r>
            <a:endParaRPr lang="en-US" sz="1200" dirty="0">
              <a:effectLst/>
              <a:latin typeface="Times New Roman"/>
              <a:ea typeface="Times New Roman"/>
            </a:endParaRPr>
          </a:p>
        </p:txBody>
      </p:sp>
      <p:sp>
        <p:nvSpPr>
          <p:cNvPr id="8" name="TextBox 6"/>
          <p:cNvSpPr txBox="1"/>
          <p:nvPr/>
        </p:nvSpPr>
        <p:spPr>
          <a:xfrm>
            <a:off x="461962" y="6516370"/>
            <a:ext cx="6705600" cy="400110"/>
          </a:xfrm>
          <a:prstGeom prst="rect">
            <a:avLst/>
          </a:prstGeom>
          <a:noFill/>
        </p:spPr>
        <p:txBody>
          <a:bodyPr wrap="square" rtlCol="0">
            <a:spAutoFit/>
          </a:bodyPr>
          <a:lstStyle/>
          <a:p>
            <a:pPr marL="0" marR="0" algn="ctr" fontAlgn="base">
              <a:spcBef>
                <a:spcPts val="0"/>
              </a:spcBef>
              <a:spcAft>
                <a:spcPts val="0"/>
              </a:spcAft>
            </a:pPr>
            <a:r>
              <a:rPr lang="en-US" sz="2000" kern="1200" dirty="0">
                <a:solidFill>
                  <a:srgbClr val="4F81BD"/>
                </a:solidFill>
                <a:effectLst/>
                <a:latin typeface="Arial"/>
                <a:ea typeface="Times New Roman"/>
              </a:rPr>
              <a:t>inteGREAT &amp; TFS share a single database</a:t>
            </a:r>
            <a:endParaRPr lang="en-US" sz="1200" dirty="0">
              <a:effectLst/>
              <a:latin typeface="Times New Roman"/>
              <a:ea typeface="Times New Roman"/>
            </a:endParaRPr>
          </a:p>
        </p:txBody>
      </p:sp>
      <p:pic>
        <p:nvPicPr>
          <p:cNvPr id="2051" name="Picture 1" descr="alm-im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98" y="2676525"/>
            <a:ext cx="7068864" cy="368744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eGREAT-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7887" y="1175459"/>
            <a:ext cx="3457575" cy="13486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7"/>
          <p:cNvSpPr>
            <a:spLocks noChangeArrowheads="1"/>
          </p:cNvSpPr>
          <p:nvPr/>
        </p:nvSpPr>
        <p:spPr bwMode="auto">
          <a:xfrm>
            <a:off x="0" y="828675"/>
            <a:ext cx="755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Flowchart: Alternate Process 11">
            <a:hlinkClick r:id="rId5"/>
          </p:cNvPr>
          <p:cNvSpPr/>
          <p:nvPr/>
        </p:nvSpPr>
        <p:spPr>
          <a:xfrm>
            <a:off x="4919662" y="5267325"/>
            <a:ext cx="2209800" cy="685800"/>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12">
            <a:hlinkClick r:id="rId6"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4" name="Flowchart: Alternate Process 13">
            <a:hlinkClick r:id="rId7"/>
          </p:cNvPr>
          <p:cNvSpPr/>
          <p:nvPr/>
        </p:nvSpPr>
        <p:spPr>
          <a:xfrm>
            <a:off x="2024062" y="1057275"/>
            <a:ext cx="3581400" cy="1466850"/>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3863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95605"/>
            <a:ext cx="73260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600" b="1" dirty="0" smtClean="0">
                <a:latin typeface="Palatino Linotype" pitchFamily="18" charset="0"/>
              </a:rPr>
              <a:t>Interviews with Agile Evangelists</a:t>
            </a:r>
            <a:endParaRPr lang="en-PH" sz="3600" b="1" dirty="0">
              <a:latin typeface="Palatino Linotype" pitchFamily="18" charset="0"/>
            </a:endParaRPr>
          </a:p>
        </p:txBody>
      </p:sp>
      <p:sp>
        <p:nvSpPr>
          <p:cNvPr id="12292" name="Rectangle 6"/>
          <p:cNvSpPr>
            <a:spLocks/>
          </p:cNvSpPr>
          <p:nvPr/>
        </p:nvSpPr>
        <p:spPr bwMode="auto">
          <a:xfrm>
            <a:off x="354013" y="2947988"/>
            <a:ext cx="1603375"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i="1" dirty="0" smtClean="0">
                <a:solidFill>
                  <a:srgbClr val="4D4D4D"/>
                </a:solidFill>
                <a:latin typeface="Helvetica" charset="0"/>
                <a:cs typeface="Helvetica" charset="0"/>
                <a:sym typeface="Helvetica" charset="0"/>
              </a:rPr>
              <a:t>Derek Neighbors</a:t>
            </a:r>
          </a:p>
          <a:p>
            <a:pPr algn="r"/>
            <a:r>
              <a:rPr lang="en-US" sz="1100" i="1" u="sng" dirty="0">
                <a:hlinkClick r:id="rId2"/>
              </a:rPr>
              <a:t>Integrum Technologies</a:t>
            </a:r>
            <a:endParaRPr lang="en-US" sz="1100" i="1" dirty="0">
              <a:solidFill>
                <a:srgbClr val="4D4D4D"/>
              </a:solidFill>
              <a:latin typeface="Helvetica" charset="0"/>
              <a:cs typeface="Helvetica" charset="0"/>
              <a:sym typeface="Helvetica" charset="0"/>
            </a:endParaRPr>
          </a:p>
        </p:txBody>
      </p:sp>
      <p:sp>
        <p:nvSpPr>
          <p:cNvPr id="12296" name="Rectangle 10"/>
          <p:cNvSpPr>
            <a:spLocks/>
          </p:cNvSpPr>
          <p:nvPr/>
        </p:nvSpPr>
        <p:spPr bwMode="auto">
          <a:xfrm>
            <a:off x="2173288" y="1533525"/>
            <a:ext cx="49561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600" dirty="0" smtClean="0">
                <a:latin typeface="Helvetica" charset="0"/>
                <a:cs typeface="Helvetica" charset="0"/>
                <a:sym typeface="Helvetica" charset="0"/>
              </a:rPr>
              <a:t>Agile Weekly PodCast</a:t>
            </a:r>
          </a:p>
          <a:p>
            <a:pPr algn="just"/>
            <a:endParaRPr lang="en-US" sz="1200" dirty="0" smtClean="0">
              <a:hlinkClick r:id=""/>
            </a:endParaRPr>
          </a:p>
          <a:p>
            <a:pPr algn="just"/>
            <a:r>
              <a:rPr lang="en-US" sz="1200" dirty="0" smtClean="0">
                <a:hlinkClick r:id=""/>
              </a:rPr>
              <a:t>Agile </a:t>
            </a:r>
            <a:r>
              <a:rPr lang="en-US" sz="1200" dirty="0">
                <a:hlinkClick r:id="rId3" tooltip="Permalink to Episode #83 – Agile Manifesto with James Grenning"/>
              </a:rPr>
              <a:t>Manifesto with James Grenning</a:t>
            </a:r>
            <a:endParaRPr lang="en-US" sz="1200" dirty="0"/>
          </a:p>
          <a:p>
            <a:pPr algn="just"/>
            <a:endParaRPr lang="en-US" sz="1200" dirty="0">
              <a:latin typeface="Helvetica" charset="0"/>
              <a:cs typeface="Helvetica" charset="0"/>
              <a:sym typeface="Helvetica" charset="0"/>
            </a:endParaRPr>
          </a:p>
          <a:p>
            <a:endParaRPr lang="en-US" sz="1200" dirty="0" smtClean="0"/>
          </a:p>
          <a:p>
            <a:endParaRPr lang="en-US" sz="1200" dirty="0" smtClean="0"/>
          </a:p>
          <a:p>
            <a:endParaRPr lang="en-US" sz="1200" dirty="0"/>
          </a:p>
          <a:p>
            <a:pPr algn="ctr"/>
            <a:r>
              <a:rPr lang="en-US" sz="1000" i="1" dirty="0" smtClean="0"/>
              <a:t>Click on the graphic above to play the interview</a:t>
            </a:r>
          </a:p>
          <a:p>
            <a:pPr algn="ctr"/>
            <a:r>
              <a:rPr lang="en-US" sz="1000" i="1" dirty="0" smtClean="0"/>
              <a:t>If </a:t>
            </a:r>
            <a:r>
              <a:rPr lang="en-US" sz="1000" i="1" dirty="0"/>
              <a:t>the graphic above </a:t>
            </a:r>
            <a:r>
              <a:rPr lang="en-US" sz="1000" i="1" dirty="0" smtClean="0"/>
              <a:t>doesn’t play for you </a:t>
            </a:r>
          </a:p>
          <a:p>
            <a:pPr algn="ctr"/>
            <a:r>
              <a:rPr lang="en-US" sz="1000" i="1" dirty="0" smtClean="0">
                <a:hlinkClick r:id="rId4"/>
              </a:rPr>
              <a:t>click here for a dedicated player and the option to Download</a:t>
            </a:r>
            <a:endParaRPr lang="en-US" sz="1000" i="1" dirty="0"/>
          </a:p>
          <a:p>
            <a:endParaRPr lang="en-US" sz="1200" dirty="0"/>
          </a:p>
          <a:p>
            <a:r>
              <a:rPr lang="en-US" sz="1200" dirty="0" smtClean="0"/>
              <a:t>Derek </a:t>
            </a:r>
            <a:r>
              <a:rPr lang="en-US" sz="1200" dirty="0"/>
              <a:t>Neighbors and James Grenning discuss:</a:t>
            </a:r>
          </a:p>
          <a:p>
            <a:pPr marL="171450" indent="-171450">
              <a:buFont typeface="Arial" pitchFamily="34" charset="0"/>
              <a:buChar char="•"/>
            </a:pPr>
            <a:r>
              <a:rPr lang="en-US" sz="1200" dirty="0"/>
              <a:t>History of The Agile Manifesto</a:t>
            </a:r>
          </a:p>
          <a:p>
            <a:pPr marL="171450" indent="-171450">
              <a:buFont typeface="Arial" pitchFamily="34" charset="0"/>
              <a:buChar char="•"/>
            </a:pPr>
            <a:r>
              <a:rPr lang="en-US" sz="1200" dirty="0"/>
              <a:t>Embedded TDD</a:t>
            </a:r>
          </a:p>
          <a:p>
            <a:pPr marL="171450" indent="-171450">
              <a:buFont typeface="Arial" pitchFamily="34" charset="0"/>
              <a:buChar char="•"/>
            </a:pPr>
            <a:r>
              <a:rPr lang="en-US" sz="1200" dirty="0"/>
              <a:t>Estimates</a:t>
            </a:r>
          </a:p>
          <a:p>
            <a:endParaRPr lang="en-US" sz="1200" u="sng" dirty="0" smtClean="0">
              <a:hlinkClick r:id="rId3"/>
            </a:endParaRPr>
          </a:p>
          <a:p>
            <a:r>
              <a:rPr lang="en-US" sz="1200" dirty="0" smtClean="0">
                <a:latin typeface="Helvetica" charset="0"/>
                <a:cs typeface="Helvetica" charset="0"/>
                <a:sym typeface="Helvetica" charset="0"/>
                <a:hlinkClick r:id="rId5"/>
              </a:rPr>
              <a:t>Agile Weekly Podcasts</a:t>
            </a:r>
            <a:endParaRPr lang="en-US" sz="1200" u="sng" dirty="0" smtClean="0"/>
          </a:p>
          <a:p>
            <a:endParaRPr lang="en-US" sz="1200" dirty="0" smtClean="0"/>
          </a:p>
          <a:p>
            <a:pPr algn="just"/>
            <a:endParaRPr lang="en-US" sz="1200" dirty="0">
              <a:latin typeface="Helvetica" charset="0"/>
              <a:cs typeface="Helvetica" charset="0"/>
              <a:sym typeface="Helvetica" charset="0"/>
            </a:endParaRPr>
          </a:p>
        </p:txBody>
      </p:sp>
      <p:pic>
        <p:nvPicPr>
          <p:cNvPr id="12301" name="Picture 2">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6337" y="2600325"/>
            <a:ext cx="18129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2" name="Rectangle 10"/>
          <p:cNvSpPr>
            <a:spLocks/>
          </p:cNvSpPr>
          <p:nvPr/>
        </p:nvSpPr>
        <p:spPr bwMode="auto">
          <a:xfrm>
            <a:off x="2176463" y="3590925"/>
            <a:ext cx="4956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a:latin typeface="Helvetica" charset="0"/>
              <a:cs typeface="Helvetica" charset="0"/>
              <a:sym typeface="Helvetica" charset="0"/>
            </a:endParaRPr>
          </a:p>
        </p:txBody>
      </p:sp>
      <p:pic>
        <p:nvPicPr>
          <p:cNvPr id="16" name="Picture 15"/>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4385" y="1609725"/>
            <a:ext cx="1143003" cy="1150465"/>
          </a:xfrm>
          <a:prstGeom prst="rect">
            <a:avLst/>
          </a:prstGeom>
          <a:noFill/>
          <a:ln>
            <a:noFill/>
          </a:ln>
        </p:spPr>
      </p:pic>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Podcast Podium</a:t>
            </a:r>
            <a:endParaRPr lang="en-US" dirty="0"/>
          </a:p>
        </p:txBody>
      </p:sp>
      <p:sp>
        <p:nvSpPr>
          <p:cNvPr id="14" name="Rectangle 2"/>
          <p:cNvSpPr>
            <a:spLocks/>
          </p:cNvSpPr>
          <p:nvPr/>
        </p:nvSpPr>
        <p:spPr bwMode="auto">
          <a:xfrm>
            <a:off x="2176462" y="4962524"/>
            <a:ext cx="4956176" cy="9144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9"/>
              </a:rPr>
              <a:t>Derek Neighbors</a:t>
            </a:r>
            <a:r>
              <a:rPr lang="en-US" sz="1000" i="1" dirty="0"/>
              <a:t> is a serial entrepreneur who helps people bring ideas to reality. Derek co-founded </a:t>
            </a:r>
            <a:r>
              <a:rPr lang="en-US" sz="1000" i="1" u="sng" dirty="0">
                <a:hlinkClick r:id="rId10"/>
              </a:rPr>
              <a:t>Gangplank</a:t>
            </a:r>
            <a:r>
              <a:rPr lang="en-US" sz="1000" i="1" dirty="0"/>
              <a:t>, a collaborative workspace, in 2008 to encourage local </a:t>
            </a:r>
            <a:r>
              <a:rPr lang="en-US" sz="1000" i="1" dirty="0" smtClean="0"/>
              <a:t>“creatives” to </a:t>
            </a:r>
            <a:r>
              <a:rPr lang="en-US" sz="1000" i="1" dirty="0"/>
              <a:t>explore innovative ideas.  A partner at </a:t>
            </a:r>
            <a:r>
              <a:rPr lang="en-US" sz="1000" i="1" u="sng" dirty="0">
                <a:hlinkClick r:id="rId2"/>
              </a:rPr>
              <a:t>Integrum Technologies</a:t>
            </a:r>
            <a:r>
              <a:rPr lang="en-US" sz="1000" i="1" dirty="0"/>
              <a:t>, a consulting services firm, helping companies build high performing teams, Derek teaches entrepreneurship at </a:t>
            </a:r>
            <a:r>
              <a:rPr lang="en-US" sz="1000" i="1" u="sng" dirty="0">
                <a:hlinkClick r:id="rId11"/>
              </a:rPr>
              <a:t>Arizona State University</a:t>
            </a:r>
            <a:r>
              <a:rPr lang="en-US" sz="1000" i="1" dirty="0"/>
              <a:t>.</a:t>
            </a:r>
          </a:p>
        </p:txBody>
      </p:sp>
      <p:sp>
        <p:nvSpPr>
          <p:cNvPr id="13" name="Rounded Rectangle 12">
            <a:hlinkClick r:id="rId12"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5401554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195263" y="714196"/>
            <a:ext cx="708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b="1" dirty="0">
                <a:latin typeface="Palatino Linotype" pitchFamily="18" charset="0"/>
              </a:rPr>
              <a:t>TFS </a:t>
            </a:r>
            <a:r>
              <a:rPr lang="en-US" sz="3600" b="1" dirty="0" smtClean="0">
                <a:latin typeface="Palatino Linotype" pitchFamily="18" charset="0"/>
              </a:rPr>
              <a:t>Taskboard </a:t>
            </a:r>
            <a:r>
              <a:rPr lang="en-US" sz="3600" b="1" dirty="0">
                <a:latin typeface="Palatino Linotype" pitchFamily="18" charset="0"/>
              </a:rPr>
              <a:t>on </a:t>
            </a:r>
            <a:r>
              <a:rPr lang="en-US" sz="3600" b="1" dirty="0" smtClean="0">
                <a:latin typeface="Palatino Linotype" pitchFamily="18" charset="0"/>
              </a:rPr>
              <a:t>Microsoft Surface </a:t>
            </a:r>
            <a:r>
              <a:rPr lang="en-US" sz="3600" b="1" dirty="0">
                <a:latin typeface="Palatino Linotype" pitchFamily="18" charset="0"/>
              </a:rPr>
              <a:t>- </a:t>
            </a:r>
            <a:r>
              <a:rPr lang="en-US" sz="3200" b="1" dirty="0">
                <a:latin typeface="Palatino Linotype" pitchFamily="18" charset="0"/>
              </a:rPr>
              <a:t>Goodbye Post-It </a:t>
            </a:r>
            <a:r>
              <a:rPr lang="en-US" sz="3200" b="1" dirty="0" smtClean="0">
                <a:latin typeface="Palatino Linotype" pitchFamily="18" charset="0"/>
              </a:rPr>
              <a:t>Notes</a:t>
            </a:r>
            <a:endParaRPr lang="en-US" sz="3200" b="1" dirty="0">
              <a:latin typeface="Palatino Linotype" pitchFamily="18" charset="0"/>
            </a:endParaRPr>
          </a:p>
        </p:txBody>
      </p:sp>
      <p:sp>
        <p:nvSpPr>
          <p:cNvPr id="18436" name="Rectangle 2"/>
          <p:cNvSpPr>
            <a:spLocks/>
          </p:cNvSpPr>
          <p:nvPr/>
        </p:nvSpPr>
        <p:spPr bwMode="auto">
          <a:xfrm>
            <a:off x="2173288" y="3197225"/>
            <a:ext cx="4956175" cy="572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smtClean="0"/>
              <a:t>Once connected to TFS 2012…</a:t>
            </a:r>
          </a:p>
          <a:p>
            <a:r>
              <a:rPr lang="en-US" sz="1200" dirty="0"/>
              <a:t>Dragging </a:t>
            </a:r>
            <a:r>
              <a:rPr lang="en-US" sz="1200" dirty="0" smtClean="0"/>
              <a:t>tasks </a:t>
            </a:r>
            <a:r>
              <a:rPr lang="en-US" sz="1200" dirty="0"/>
              <a:t>from New to Active on the TFS </a:t>
            </a:r>
            <a:r>
              <a:rPr lang="en-US" sz="1200" dirty="0" smtClean="0"/>
              <a:t>taskboard is fun and easy.</a:t>
            </a:r>
          </a:p>
          <a:p>
            <a:r>
              <a:rPr lang="en-US" sz="1200" dirty="0" smtClean="0"/>
              <a:t>It’s so </a:t>
            </a:r>
            <a:r>
              <a:rPr lang="en-US" sz="1200" dirty="0"/>
              <a:t>awesome that I can update my work item status with the swipe of a </a:t>
            </a:r>
            <a:r>
              <a:rPr lang="en-US" sz="1200" dirty="0" smtClean="0"/>
              <a:t>finger.</a:t>
            </a:r>
          </a:p>
          <a:p>
            <a:endParaRPr lang="en-US" sz="1200" dirty="0" smtClean="0"/>
          </a:p>
          <a:p>
            <a:r>
              <a:rPr lang="en-US" sz="1200" dirty="0"/>
              <a:t>It's neat that TFS has such a portable rich client and the data stored in a database where you can collaboratively work together. </a:t>
            </a:r>
            <a:br>
              <a:rPr lang="en-US" sz="1200" dirty="0"/>
            </a:br>
            <a:endParaRPr lang="en-US" sz="1200" dirty="0"/>
          </a:p>
          <a:p>
            <a:r>
              <a:rPr lang="en-US" sz="1200" dirty="0"/>
              <a:t>Try to do that with your post-it notes :) </a:t>
            </a:r>
          </a:p>
          <a:p>
            <a:r>
              <a:rPr lang="en-US" sz="1200" dirty="0"/>
              <a:t/>
            </a:r>
            <a:br>
              <a:rPr lang="en-US" sz="1200" dirty="0"/>
            </a:br>
            <a:r>
              <a:rPr lang="en-US" sz="1200" dirty="0"/>
              <a:t/>
            </a:r>
            <a:br>
              <a:rPr lang="en-US" sz="1200" dirty="0"/>
            </a:br>
            <a:endParaRPr lang="en-US" sz="1200" dirty="0" smtClean="0"/>
          </a:p>
          <a:p>
            <a:endParaRPr lang="en-US" sz="1200" dirty="0"/>
          </a:p>
        </p:txBody>
      </p:sp>
      <p:sp>
        <p:nvSpPr>
          <p:cNvPr id="18437" name="Rectangle 3"/>
          <p:cNvSpPr>
            <a:spLocks/>
          </p:cNvSpPr>
          <p:nvPr/>
        </p:nvSpPr>
        <p:spPr bwMode="auto">
          <a:xfrm>
            <a:off x="3548062" y="2027715"/>
            <a:ext cx="3581401" cy="116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ith </a:t>
            </a:r>
            <a:r>
              <a:rPr lang="en-US" sz="1200" dirty="0"/>
              <a:t>the Microsoft Surface out I decided to give the drag and drop features of the TFS taskboard a whirl. What's great about this is that you can use the Surface for your stand-up meetings and connect it to a projector via </a:t>
            </a:r>
            <a:r>
              <a:rPr lang="en-US" sz="1200" dirty="0">
                <a:hlinkClick r:id="rId2"/>
              </a:rPr>
              <a:t>VGA or HDMI(sold </a:t>
            </a:r>
            <a:r>
              <a:rPr lang="en-US" sz="1200" dirty="0" smtClean="0">
                <a:hlinkClick r:id="rId2"/>
              </a:rPr>
              <a:t>separately</a:t>
            </a:r>
            <a:r>
              <a:rPr lang="en-US" sz="1200" dirty="0">
                <a:hlinkClick r:id="rId2"/>
              </a:rPr>
              <a:t>)</a:t>
            </a:r>
            <a:r>
              <a:rPr lang="en-US" sz="1200" dirty="0"/>
              <a:t>. </a:t>
            </a:r>
            <a:endParaRPr lang="en-US" sz="1200" dirty="0" smtClean="0"/>
          </a:p>
          <a:p>
            <a:pPr algn="just"/>
            <a:r>
              <a:rPr lang="en-US" sz="1200" dirty="0" smtClean="0"/>
              <a:t>Now </a:t>
            </a:r>
            <a:r>
              <a:rPr lang="en-US" sz="1200" dirty="0"/>
              <a:t>that's what I call a high tech stand-up meeting!</a:t>
            </a:r>
          </a:p>
        </p:txBody>
      </p:sp>
      <p:sp>
        <p:nvSpPr>
          <p:cNvPr id="18438" name="Rectangle 4"/>
          <p:cNvSpPr>
            <a:spLocks/>
          </p:cNvSpPr>
          <p:nvPr/>
        </p:nvSpPr>
        <p:spPr bwMode="auto">
          <a:xfrm>
            <a:off x="2024063" y="16732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sp>
        <p:nvSpPr>
          <p:cNvPr id="18440" name="Rectangle 5"/>
          <p:cNvSpPr>
            <a:spLocks/>
          </p:cNvSpPr>
          <p:nvPr/>
        </p:nvSpPr>
        <p:spPr bwMode="auto">
          <a:xfrm>
            <a:off x="347663" y="3363912"/>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Anna Russo</a:t>
            </a:r>
          </a:p>
          <a:p>
            <a:pPr algn="r"/>
            <a:r>
              <a:rPr lang="fr-FR" sz="1100" i="1" dirty="0">
                <a:solidFill>
                  <a:srgbClr val="4D4D4D"/>
                </a:solidFill>
                <a:latin typeface="Helvetica" charset="0"/>
                <a:cs typeface="Helvetica" charset="0"/>
              </a:rPr>
              <a:t>ALM Consultant </a:t>
            </a:r>
          </a:p>
          <a:p>
            <a:pPr algn="r"/>
            <a:r>
              <a:rPr lang="fr-FR" sz="1100" dirty="0">
                <a:hlinkClick r:id="rId3"/>
              </a:rPr>
              <a:t>Imaginet</a:t>
            </a:r>
            <a:endParaRPr lang="fr-FR" sz="1100" dirty="0"/>
          </a:p>
          <a:p>
            <a:pPr algn="r"/>
            <a:endParaRPr lang="en-US" sz="1100" i="1" dirty="0" smtClean="0">
              <a:solidFill>
                <a:srgbClr val="4D4D4D"/>
              </a:solidFill>
              <a:latin typeface="Helvetica" charset="0"/>
              <a:cs typeface="Helvetica" charset="0"/>
              <a:sym typeface="Helvetica" charset="0"/>
            </a:endParaRPr>
          </a:p>
        </p:txBody>
      </p:sp>
      <p:pic>
        <p:nvPicPr>
          <p:cNvPr id="1028" name="Picture 4" descr="http://2.bp.blogspot.com/-g0JtlNHquvo/UKmnl2LGpEI/AAAAAAAAAeY/CAzXnA2CQBA/s1600/TFS+Taskboard+-+Microsoft+Surface+3+-+Anna+Russ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76462" y="4962525"/>
            <a:ext cx="4572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My Documents\_Work Related\_ALM Mag\Admin\Contributors\Anna Russo\AnnaRussoCloseUpSmaller-25kb.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860" y="2054225"/>
            <a:ext cx="1146178" cy="124386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p:cNvSpPr>
            <a:spLocks/>
          </p:cNvSpPr>
          <p:nvPr/>
        </p:nvSpPr>
        <p:spPr bwMode="auto">
          <a:xfrm>
            <a:off x="2176462" y="8467725"/>
            <a:ext cx="4876800" cy="9144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hlinkClick r:id="rId6"/>
              </a:rPr>
              <a:t>Anna Russo</a:t>
            </a:r>
            <a:r>
              <a:rPr lang="en-US" sz="1000" i="1" dirty="0"/>
              <a:t> is an ALM Consultant and MVP with </a:t>
            </a:r>
            <a:r>
              <a:rPr lang="en-US" sz="1000" i="1" dirty="0">
                <a:hlinkClick r:id="rId3"/>
              </a:rPr>
              <a:t>Imaginet</a:t>
            </a:r>
            <a:r>
              <a:rPr lang="en-US" sz="1000" i="1" dirty="0"/>
              <a:t>, a firm that specializes in helping companies improve software development process with TFS. She has worked with a variety of clients and upgraded/installed TFS, provided training, created custom processes, implemented release strategies, and automated build scripts. Visit Anna's blog </a:t>
            </a:r>
            <a:r>
              <a:rPr lang="en-US" sz="1000" i="1" dirty="0">
                <a:hlinkClick r:id="rId6"/>
              </a:rPr>
              <a:t>ImprovingSoftwareQuality.com</a:t>
            </a:r>
            <a:endParaRPr lang="en-US" sz="1000" i="1" cap="small" baseline="30000" dirty="0"/>
          </a:p>
        </p:txBody>
      </p:sp>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31</a:t>
            </a:fld>
            <a:endParaRPr lang="en-PH" dirty="0"/>
          </a:p>
        </p:txBody>
      </p:sp>
      <p:sp>
        <p:nvSpPr>
          <p:cNvPr id="16" name="Rounded Rectangle 15">
            <a:hlinkClick r:id="rId7"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3589714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p:cNvSpPr txBox="1">
            <a:spLocks noChangeArrowheads="1"/>
          </p:cNvSpPr>
          <p:nvPr/>
        </p:nvSpPr>
        <p:spPr bwMode="auto">
          <a:xfrm>
            <a:off x="195263" y="887194"/>
            <a:ext cx="67077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Agile </a:t>
            </a:r>
            <a:r>
              <a:rPr lang="en-US" sz="3600" b="1" dirty="0">
                <a:latin typeface="Palatino Linotype" pitchFamily="18" charset="0"/>
              </a:rPr>
              <a:t>At The </a:t>
            </a:r>
            <a:r>
              <a:rPr lang="en-US" sz="3600" b="1" dirty="0" smtClean="0">
                <a:latin typeface="Palatino Linotype" pitchFamily="18" charset="0"/>
              </a:rPr>
              <a:t>Enterprise Level</a:t>
            </a:r>
            <a:endParaRPr lang="en-US" sz="3600" b="1" dirty="0">
              <a:latin typeface="Palatino Linotype" pitchFamily="18" charset="0"/>
            </a:endParaRPr>
          </a:p>
        </p:txBody>
      </p:sp>
      <p:sp>
        <p:nvSpPr>
          <p:cNvPr id="15364" name="Rectangle 2"/>
          <p:cNvSpPr>
            <a:spLocks/>
          </p:cNvSpPr>
          <p:nvPr/>
        </p:nvSpPr>
        <p:spPr bwMode="auto">
          <a:xfrm>
            <a:off x="2173288" y="5330825"/>
            <a:ext cx="4956175"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once </a:t>
            </a:r>
            <a:r>
              <a:rPr lang="en-US" sz="1200" dirty="0"/>
              <a:t>every few weeks, with small sets of deliverables defined in Sprint Backlogs. The focus of the Agile methodology is obtaining a small set of features to deliver business value early, and continually improving it, adding further functionality throughout the life of the project.</a:t>
            </a:r>
          </a:p>
          <a:p>
            <a:endParaRPr lang="en-US" sz="1200" dirty="0" smtClean="0"/>
          </a:p>
          <a:p>
            <a:pPr algn="just"/>
            <a:r>
              <a:rPr lang="en-US" sz="1200" dirty="0" smtClean="0"/>
              <a:t>For </a:t>
            </a:r>
            <a:r>
              <a:rPr lang="en-US" sz="1200" dirty="0"/>
              <a:t>its adaptive nature with constant collaboration needs and frequent iterations, Agile works fine when it comes to working within a small or medium sized team. But when applying Agile at an Enterprise-level, a number of issues need to be resolved for effective Agile implementation. For many enterprises considering Agile approaches, the absence of effective and scalable Agile requirements processes has been a showstopper for adoption</a:t>
            </a:r>
            <a:r>
              <a:rPr lang="en-US" sz="1200" dirty="0" smtClean="0"/>
              <a:t>.</a:t>
            </a:r>
          </a:p>
          <a:p>
            <a:endParaRPr lang="en-US" sz="1200" dirty="0"/>
          </a:p>
          <a:p>
            <a:pPr algn="just"/>
            <a:r>
              <a:rPr lang="en-US" sz="1200" dirty="0"/>
              <a:t>Dean Leffingwell, Scaled lean-agile author, methodologist and consultant, has defined an excellent Scaled Agile framework for Agile adoption at an enterprise level, by eliminating issues faced by widely distributed teams and multiple parallel backlogs &amp; iterations. In the framework, he has defined an enterprise as a group of teams working collaboratively on a set of features with effective collaboration, providing high quality applications and better customer satisfaction.</a:t>
            </a:r>
          </a:p>
          <a:p>
            <a:endParaRPr lang="en-US" sz="1200" dirty="0"/>
          </a:p>
          <a:p>
            <a:endParaRPr lang="en-US" sz="1200" dirty="0"/>
          </a:p>
          <a:p>
            <a:endParaRPr lang="en-US" sz="1200" dirty="0"/>
          </a:p>
          <a:p>
            <a:endParaRPr lang="en-US" sz="1200" dirty="0"/>
          </a:p>
        </p:txBody>
      </p:sp>
      <p:sp>
        <p:nvSpPr>
          <p:cNvPr id="15365" name="Rectangle 3"/>
          <p:cNvSpPr>
            <a:spLocks/>
          </p:cNvSpPr>
          <p:nvPr/>
        </p:nvSpPr>
        <p:spPr bwMode="auto">
          <a:xfrm>
            <a:off x="3167062" y="1846263"/>
            <a:ext cx="3962400"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owadays</a:t>
            </a:r>
            <a:r>
              <a:rPr lang="en-US" sz="1200" dirty="0"/>
              <a:t>, Agile is considered to be one of the best process models for application development in small and medium sized teams, for its incremental and iterative approach. As it is adaptive in nature, Agile requires consistent collaboration among stakeholders for better fulfillment of customer needs. Agile adapts itself to any change and maintains progress. Agile involves frequent releases, </a:t>
            </a:r>
          </a:p>
        </p:txBody>
      </p:sp>
      <p:sp>
        <p:nvSpPr>
          <p:cNvPr id="15366" name="Rectangle 4"/>
          <p:cNvSpPr>
            <a:spLocks/>
          </p:cNvSpPr>
          <p:nvPr/>
        </p:nvSpPr>
        <p:spPr bwMode="auto">
          <a:xfrm>
            <a:off x="2100262" y="15204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N</a:t>
            </a:r>
            <a:endParaRPr lang="en-US" sz="11600" b="1" dirty="0">
              <a:latin typeface="Helvetica Neue Bold Condensed" charset="0"/>
              <a:sym typeface="Helvetica Neue Bold Condensed" charset="0"/>
            </a:endParaRPr>
          </a:p>
        </p:txBody>
      </p:sp>
      <p:pic>
        <p:nvPicPr>
          <p:cNvPr id="1026" name="Picture 2" descr="http://edevtech.com/blog/wp-content/uploads/2012/10/Agile-process-flo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2550" y="3197225"/>
            <a:ext cx="4057650" cy="20002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5"/>
          <p:cNvSpPr>
            <a:spLocks/>
          </p:cNvSpPr>
          <p:nvPr/>
        </p:nvSpPr>
        <p:spPr bwMode="auto">
          <a:xfrm>
            <a:off x="347663" y="3349625"/>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Bob Savelson</a:t>
            </a:r>
          </a:p>
          <a:p>
            <a:pPr algn="r"/>
            <a:r>
              <a:rPr lang="en-US" sz="1100" i="1" dirty="0" smtClean="0">
                <a:solidFill>
                  <a:srgbClr val="4D4D4D"/>
                </a:solidFill>
                <a:latin typeface="Helvetica" charset="0"/>
                <a:cs typeface="Helvetica" charset="0"/>
              </a:rPr>
              <a:t>SVP Sales &amp; Marketing</a:t>
            </a:r>
          </a:p>
          <a:p>
            <a:pPr algn="r"/>
            <a:r>
              <a:rPr lang="en-US" sz="1100" i="1" dirty="0" smtClean="0">
                <a:solidFill>
                  <a:srgbClr val="4D4D4D"/>
                </a:solidFill>
                <a:latin typeface="Helvetica" charset="0"/>
                <a:cs typeface="Helvetica" charset="0"/>
                <a:hlinkClick r:id="rId3"/>
              </a:rPr>
              <a:t>eDev </a:t>
            </a:r>
            <a:r>
              <a:rPr lang="en-US" sz="1100" i="1" dirty="0">
                <a:solidFill>
                  <a:srgbClr val="4D4D4D"/>
                </a:solidFill>
                <a:latin typeface="Helvetica" charset="0"/>
                <a:cs typeface="Helvetica" charset="0"/>
                <a:hlinkClick r:id="rId3"/>
              </a:rPr>
              <a:t>Technologies</a:t>
            </a:r>
            <a:endParaRPr lang="en-US" sz="1100" i="1" dirty="0">
              <a:solidFill>
                <a:srgbClr val="4D4D4D"/>
              </a:solidFill>
              <a:latin typeface="Helvetica" charset="0"/>
              <a:cs typeface="Helvetica" charset="0"/>
            </a:endParaRPr>
          </a:p>
          <a:p>
            <a:pPr algn="r"/>
            <a:endParaRPr lang="en-US" sz="1100" i="1" dirty="0">
              <a:solidFill>
                <a:srgbClr val="4D4D4D"/>
              </a:solidFill>
              <a:latin typeface="Helvetica" charset="0"/>
              <a:cs typeface="Helvetica" charset="0"/>
              <a:sym typeface="Helvetica" charset="0"/>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0" y="1901825"/>
            <a:ext cx="1146178" cy="115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32</a:t>
            </a:fld>
            <a:endParaRPr lang="en-PH" dirty="0"/>
          </a:p>
        </p:txBody>
      </p:sp>
      <p:sp>
        <p:nvSpPr>
          <p:cNvPr id="15" name="Rounded Rectangle 14">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3428833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2328862" y="771525"/>
            <a:ext cx="4953001" cy="280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In the Scaled Agile Framework, a Product Backlog is considered as an Enterprise Backlog Model, translating the allocation of strategic investments to the portfolio, program, and team levels. The Enterprise Backlog break downs into three levels: Portfolio Backlog, Program Backlog and Team Backlog</a:t>
            </a:r>
            <a:r>
              <a:rPr lang="en-US" sz="1200" dirty="0" smtClean="0"/>
              <a:t>.</a:t>
            </a:r>
          </a:p>
          <a:p>
            <a:pPr algn="just"/>
            <a:endParaRPr lang="en-US" sz="1200" dirty="0"/>
          </a:p>
          <a:p>
            <a:pPr algn="just"/>
            <a:r>
              <a:rPr lang="en-US" sz="1200" dirty="0"/>
              <a:t>The Portfolio Backlog consists of Business and Architectural Epics that are large-scale development initiatives defining the desired solutions. Epics are broken down into Features at the Program level and are maintained in the Program Backlogs. Each feature defines a set of User Stories to be implemented at the Team level. User Stories are then stored in the Team Backlog. Features and User Stories define functional requirements required to achieve an Epic, whereas Non-functional requirements are also identified and maintained at the Program and Team levels.</a:t>
            </a:r>
          </a:p>
          <a:p>
            <a:pPr>
              <a:defRPr/>
            </a:pPr>
            <a:endParaRPr lang="en-US" sz="1200" dirty="0"/>
          </a:p>
          <a:p>
            <a:pPr>
              <a:defRPr/>
            </a:pPr>
            <a:endParaRPr lang="en-US" sz="1200" dirty="0"/>
          </a:p>
        </p:txBody>
      </p:sp>
      <p:sp>
        <p:nvSpPr>
          <p:cNvPr id="5" name="Rectangle 2"/>
          <p:cNvSpPr>
            <a:spLocks/>
          </p:cNvSpPr>
          <p:nvPr/>
        </p:nvSpPr>
        <p:spPr bwMode="auto">
          <a:xfrm>
            <a:off x="271462" y="3648760"/>
            <a:ext cx="7010401"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smtClean="0"/>
              <a:t>Leffingwell has scaled iterations into multiple levels in his Scaled Agile Framework. At the Team level, two-week sprints are set that require teams to complete their designated functionalities within the iteration. Outputs from multiple iterations are synchronized and integrated together to release the desired solutions in 6 to 8 weeks. During all these iterations and releases, stakeholders continuously collaborate with each other, and changes are absorbed as done within traditional Agile processes.</a:t>
            </a:r>
          </a:p>
          <a:p>
            <a:pPr>
              <a:defRPr/>
            </a:pPr>
            <a:endParaRPr lang="en-US" sz="1200" dirty="0"/>
          </a:p>
        </p:txBody>
      </p:sp>
      <p:pic>
        <p:nvPicPr>
          <p:cNvPr id="2050" name="Picture 2" descr="http://edevtech.com/blog/wp-content/uploads/2012/10/Backlog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1" y="771526"/>
            <a:ext cx="1905001" cy="282742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a:spLocks/>
          </p:cNvSpPr>
          <p:nvPr/>
        </p:nvSpPr>
        <p:spPr bwMode="auto">
          <a:xfrm>
            <a:off x="271462" y="4657725"/>
            <a:ext cx="48006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a:t>In inteGREAT, a flexible framework is provided to support Agile Requirements Development and Management. inteGREAT allows Agile teams to define User Stories through Requirements knowledge objects and maintain them in Product Backlog, further assigning them to different sprints. As inteGREAT bi-directionally integrates with Team Foundation Server, Requirement management capabilities of TFS are leveraged for managing and keeping track of requirements across multiple teams providing support to Enterprise-level Agile implementation.</a:t>
            </a:r>
          </a:p>
        </p:txBody>
      </p:sp>
      <p:pic>
        <p:nvPicPr>
          <p:cNvPr id="2052" name="Picture 4" descr="http://edevtech.com/blog/wp-content/uploads/2012/10/Agile-Explor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4462" y="4658410"/>
            <a:ext cx="2057399" cy="209938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a:spLocks/>
          </p:cNvSpPr>
          <p:nvPr/>
        </p:nvSpPr>
        <p:spPr bwMode="auto">
          <a:xfrm>
            <a:off x="1385326" y="7230160"/>
            <a:ext cx="4973355" cy="93276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5"/>
              </a:rPr>
              <a:t>Bob Savelson</a:t>
            </a:r>
            <a:r>
              <a:rPr lang="en-US" sz="1000" i="1" dirty="0"/>
              <a:t>, a seasoned veteran of the software development industry, has worked for large outsourcers and built his own requirements facilitation company; helping many clients to optimize their ALM processes and define the ‘right’ requirements. Today, as SVP at </a:t>
            </a:r>
            <a:r>
              <a:rPr lang="en-US" sz="1000" i="1" u="sng" dirty="0">
                <a:hlinkClick r:id="rId6"/>
              </a:rPr>
              <a:t>eDevTech</a:t>
            </a:r>
            <a:r>
              <a:rPr lang="en-US" sz="1000" i="1" dirty="0"/>
              <a:t>, he continues to promote </a:t>
            </a:r>
            <a:r>
              <a:rPr lang="en-US" sz="1000" i="1" u="sng" dirty="0">
                <a:hlinkClick r:id="rId7"/>
              </a:rPr>
              <a:t>inteGREAT</a:t>
            </a:r>
            <a:r>
              <a:rPr lang="en-US" sz="1000" i="1" dirty="0"/>
              <a:t> and </a:t>
            </a:r>
            <a:r>
              <a:rPr lang="en-US" sz="1000" i="1" u="sng" dirty="0">
                <a:hlinkClick r:id="rId8"/>
              </a:rPr>
              <a:t>SmartOffice</a:t>
            </a:r>
            <a:r>
              <a:rPr lang="en-US" sz="1000" i="1" dirty="0"/>
              <a:t> as industry leading requirements tools.</a:t>
            </a:r>
            <a:endParaRPr lang="en-US" sz="1000" dirty="0"/>
          </a:p>
        </p:txBody>
      </p:sp>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33</a:t>
            </a:fld>
            <a:endParaRPr lang="en-PH" dirty="0"/>
          </a:p>
        </p:txBody>
      </p:sp>
      <p:sp>
        <p:nvSpPr>
          <p:cNvPr id="15" name="Rounded Rectangle 14">
            <a:hlinkClick r:id="rId9"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2662887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p:cNvSpPr txBox="1">
            <a:spLocks noChangeArrowheads="1"/>
          </p:cNvSpPr>
          <p:nvPr/>
        </p:nvSpPr>
        <p:spPr bwMode="auto">
          <a:xfrm>
            <a:off x="195263" y="835026"/>
            <a:ext cx="619502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Visual Studio Load Testing </a:t>
            </a:r>
          </a:p>
          <a:p>
            <a:pPr eaLnBrk="1" hangingPunct="1"/>
            <a:r>
              <a:rPr lang="en-US" sz="3600" b="1" dirty="0" smtClean="0">
                <a:latin typeface="Palatino Linotype" pitchFamily="18" charset="0"/>
              </a:rPr>
              <a:t>using Windows Azure</a:t>
            </a:r>
            <a:endParaRPr lang="en-US" sz="3600" b="1" dirty="0">
              <a:latin typeface="Palatino Linotype" pitchFamily="18" charset="0"/>
            </a:endParaRPr>
          </a:p>
        </p:txBody>
      </p:sp>
      <p:sp>
        <p:nvSpPr>
          <p:cNvPr id="15364" name="Rectangle 2"/>
          <p:cNvSpPr>
            <a:spLocks/>
          </p:cNvSpPr>
          <p:nvPr/>
        </p:nvSpPr>
        <p:spPr bwMode="auto">
          <a:xfrm>
            <a:off x="2173288" y="3654426"/>
            <a:ext cx="4956175" cy="5270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It is possible to run your test rig in the cloud without getting tangled in SCVMM or Lab Management. All you need is an active Azure subscription, Windows Azure endpoint enabled developer workstation running visual studio ultimate on premise, windows azure endpoint enabled worker roles on azure compute instances set up to run as test controllers and test agents. My test rig is running SQL server 2012 and Visual Studio 2012 RC agents. The beauty is that the solution is reusable, you can open the azure project, change the subscription and certificate, click publish and *</a:t>
            </a:r>
            <a:r>
              <a:rPr lang="en-US" sz="1200" b="1" dirty="0"/>
              <a:t>BOOM</a:t>
            </a:r>
            <a:r>
              <a:rPr lang="en-US" sz="1200" dirty="0"/>
              <a:t>* in less than 15 minutes you could have your own test rig running in the cloud</a:t>
            </a:r>
            <a:r>
              <a:rPr lang="en-US" sz="1200" dirty="0" smtClean="0"/>
              <a:t>.</a:t>
            </a:r>
          </a:p>
          <a:p>
            <a:pPr algn="just"/>
            <a:endParaRPr lang="en-US" sz="1200" dirty="0" smtClean="0"/>
          </a:p>
          <a:p>
            <a:pPr algn="just"/>
            <a:r>
              <a:rPr lang="en-US" sz="1200" dirty="0"/>
              <a:t>In this blog post I intend to show you how you can use the power of Windows Azure to effectively abstract the administration cost of infrastructure management and lower the total cost of Load &amp; Performance Testing. As a bonus, I will share a reusable solution that you can use to automate test rig creation for both VS 2010 agents as well as VS 2012 agents. </a:t>
            </a:r>
            <a:endParaRPr lang="en-US" sz="1200" dirty="0" smtClean="0"/>
          </a:p>
          <a:p>
            <a:endParaRPr lang="en-US" sz="1200" dirty="0" smtClean="0"/>
          </a:p>
          <a:p>
            <a:r>
              <a:rPr lang="en-US" sz="1200" b="1" dirty="0" smtClean="0"/>
              <a:t>Introduction</a:t>
            </a:r>
          </a:p>
          <a:p>
            <a:endParaRPr lang="en-US" sz="1200" dirty="0" smtClean="0"/>
          </a:p>
          <a:p>
            <a:r>
              <a:rPr lang="en-US" sz="1200" dirty="0" smtClean="0"/>
              <a:t>The </a:t>
            </a:r>
            <a:r>
              <a:rPr lang="en-US" sz="1200" dirty="0"/>
              <a:t>slide show below should help you under the high level details of what we are trying to </a:t>
            </a:r>
            <a:r>
              <a:rPr lang="en-US" sz="1200" dirty="0" smtClean="0"/>
              <a:t>archive...</a:t>
            </a:r>
          </a:p>
          <a:p>
            <a:endParaRPr lang="en-US" sz="1200" dirty="0" smtClean="0"/>
          </a:p>
          <a:p>
            <a:r>
              <a:rPr lang="en-US" sz="1200" b="1" dirty="0" smtClean="0">
                <a:effectLst/>
                <a:hlinkClick r:id="rId2"/>
              </a:rPr>
              <a:t>Leveraging Azure for Performance Testing</a:t>
            </a:r>
            <a:endParaRPr lang="en-US" sz="1200" dirty="0" smtClean="0">
              <a:effectLst/>
            </a:endParaRPr>
          </a:p>
          <a:p>
            <a:endParaRPr lang="en-US" sz="1200" dirty="0" smtClean="0"/>
          </a:p>
        </p:txBody>
      </p:sp>
      <p:sp>
        <p:nvSpPr>
          <p:cNvPr id="15365" name="Rectangle 3"/>
          <p:cNvSpPr>
            <a:spLocks/>
          </p:cNvSpPr>
          <p:nvPr/>
        </p:nvSpPr>
        <p:spPr bwMode="auto">
          <a:xfrm>
            <a:off x="2709862" y="2303464"/>
            <a:ext cx="4419601"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n </a:t>
            </a:r>
            <a:r>
              <a:rPr lang="en-US" sz="1200" dirty="0"/>
              <a:t>my opinion the biggest adoption barrier in performance testing on smaller projects is not the tooling but the high infrastructure and administration cost that comes with this phase of testing. Only if a reusable solution was possible and infrastructure management wasn’t as expensive, adoption would certainly spike. It certainly is possible if you bring Visual Studio and Windows Azure into the equation.</a:t>
            </a:r>
          </a:p>
        </p:txBody>
      </p:sp>
      <p:sp>
        <p:nvSpPr>
          <p:cNvPr id="15366" name="Rectangle 4"/>
          <p:cNvSpPr>
            <a:spLocks/>
          </p:cNvSpPr>
          <p:nvPr/>
        </p:nvSpPr>
        <p:spPr bwMode="auto">
          <a:xfrm>
            <a:off x="2024063" y="1978026"/>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sp>
        <p:nvSpPr>
          <p:cNvPr id="15368" name="Rectangle 5"/>
          <p:cNvSpPr>
            <a:spLocks/>
          </p:cNvSpPr>
          <p:nvPr/>
        </p:nvSpPr>
        <p:spPr bwMode="auto">
          <a:xfrm>
            <a:off x="347663" y="3897313"/>
            <a:ext cx="1603375"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Tarun Arora</a:t>
            </a:r>
          </a:p>
          <a:p>
            <a:pPr algn="r"/>
            <a:r>
              <a:rPr lang="en-US" sz="1100" i="1" dirty="0" smtClean="0">
                <a:solidFill>
                  <a:srgbClr val="4D4D4D"/>
                </a:solidFill>
                <a:latin typeface="Helvetica" charset="0"/>
                <a:cs typeface="Helvetica" charset="0"/>
                <a:sym typeface="Helvetica" charset="0"/>
              </a:rPr>
              <a:t>Microsoft MVP</a:t>
            </a:r>
          </a:p>
          <a:p>
            <a:pPr algn="r"/>
            <a:r>
              <a:rPr lang="en-US" sz="1100" i="1" dirty="0" smtClean="0">
                <a:solidFill>
                  <a:srgbClr val="4D4D4D"/>
                </a:solidFill>
                <a:latin typeface="Helvetica" charset="0"/>
                <a:cs typeface="Helvetica" charset="0"/>
                <a:sym typeface="Helvetica" charset="0"/>
              </a:rPr>
              <a:t>ALM Ranger</a:t>
            </a:r>
          </a:p>
          <a:p>
            <a:pPr algn="r"/>
            <a:r>
              <a:rPr lang="en-US" sz="1100" i="1" dirty="0" smtClean="0">
                <a:solidFill>
                  <a:srgbClr val="4D4D4D"/>
                </a:solidFill>
                <a:latin typeface="Helvetica" charset="0"/>
                <a:cs typeface="Helvetica" charset="0"/>
                <a:sym typeface="Helvetica" charset="0"/>
              </a:rPr>
              <a:t>Consultant</a:t>
            </a:r>
          </a:p>
          <a:p>
            <a:pPr algn="r"/>
            <a:r>
              <a:rPr lang="en-US" sz="1100" i="1" dirty="0" smtClean="0">
                <a:solidFill>
                  <a:srgbClr val="4D4D4D"/>
                </a:solidFill>
                <a:latin typeface="Helvetica" charset="0"/>
                <a:cs typeface="Helvetica" charset="0"/>
                <a:sym typeface="Helvetica" charset="0"/>
              </a:rPr>
              <a:t>Avanade</a:t>
            </a:r>
            <a:endParaRPr lang="en-US" sz="1100" i="1" dirty="0">
              <a:solidFill>
                <a:srgbClr val="4D4D4D"/>
              </a:solidFill>
              <a:latin typeface="Helvetica" charset="0"/>
              <a:cs typeface="Helvetica" charset="0"/>
              <a:sym typeface="Helvetica" charset="0"/>
            </a:endParaRPr>
          </a:p>
        </p:txBody>
      </p:sp>
      <p:pic>
        <p:nvPicPr>
          <p:cNvPr id="9" name="Picture 8">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526098" y="2337436"/>
            <a:ext cx="1424940" cy="1424940"/>
          </a:xfrm>
          <a:prstGeom prst="rect">
            <a:avLst/>
          </a:prstGeom>
          <a:noFill/>
          <a:ln>
            <a:noFill/>
          </a:ln>
        </p:spPr>
      </p:pic>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 Studio</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34</a:t>
            </a:fld>
            <a:endParaRPr lang="en-PH" dirty="0"/>
          </a:p>
        </p:txBody>
      </p:sp>
      <p:sp>
        <p:nvSpPr>
          <p:cNvPr id="13" name="Rounded Rectangle 12">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14636166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p:cNvSpPr>
          <p:nvPr/>
        </p:nvSpPr>
        <p:spPr bwMode="auto">
          <a:xfrm>
            <a:off x="2173288" y="771525"/>
            <a:ext cx="4956175" cy="763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smtClean="0"/>
              <a:t>Walkthrough</a:t>
            </a:r>
          </a:p>
          <a:p>
            <a:endParaRPr lang="en-US" sz="200" dirty="0" smtClean="0"/>
          </a:p>
          <a:p>
            <a:pPr algn="just"/>
            <a:r>
              <a:rPr lang="en-US" sz="1200" dirty="0" smtClean="0"/>
              <a:t>To </a:t>
            </a:r>
            <a:r>
              <a:rPr lang="en-US" sz="1200" dirty="0"/>
              <a:t>set up the test rig in the cloud, the test controller, test agent and SQL express installers need to be available when the worker role set up starts, the easiest and most efficient way is to pre upload the required software into Windows Azure Blob storage. SQL express, test controller and test agent expose various switches which we can take advantage of including the quiet install switch. Once all the 3 have been installed the test controller needs to be registered with the test agents and the SQL database needs to be associated to the test controller. By enabling Windows Azure connect on the machines in the cloud and the developer workstation on premise we successfully create a virtual network amongst the machines enabling </a:t>
            </a:r>
            <a:r>
              <a:rPr lang="en-US" sz="1200" dirty="0" smtClean="0"/>
              <a:t>2-way </a:t>
            </a:r>
            <a:r>
              <a:rPr lang="en-US" sz="1200" dirty="0"/>
              <a:t>communication. All of the above can be done programmatically, let’s see step by step how</a:t>
            </a:r>
            <a:r>
              <a:rPr lang="en-US" sz="1200" dirty="0" smtClean="0"/>
              <a:t>…</a:t>
            </a:r>
          </a:p>
          <a:p>
            <a:endParaRPr lang="en-US" sz="1200" dirty="0" smtClean="0"/>
          </a:p>
          <a:p>
            <a:endParaRPr lang="en-US" sz="1200" dirty="0" smtClean="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r>
              <a:rPr lang="en-US" sz="1200" dirty="0" smtClean="0">
                <a:effectLst/>
              </a:rPr>
              <a:t>Video Walkthrough–Leveraging Windows Azure for performance Testing</a:t>
            </a:r>
          </a:p>
          <a:p>
            <a:endParaRPr lang="en-US" sz="1200" dirty="0" smtClean="0"/>
          </a:p>
          <a:p>
            <a:endParaRPr lang="en-US" sz="1200" dirty="0"/>
          </a:p>
          <a:p>
            <a:endParaRPr lang="en-US" sz="1200" dirty="0"/>
          </a:p>
          <a:p>
            <a:endParaRPr lang="en-US" sz="1200" dirty="0"/>
          </a:p>
          <a:p>
            <a:r>
              <a:rPr lang="en-US" sz="1200" b="1" dirty="0" smtClean="0"/>
              <a:t>Solution</a:t>
            </a:r>
          </a:p>
          <a:p>
            <a:endParaRPr lang="en-US" sz="200" dirty="0" smtClean="0"/>
          </a:p>
          <a:p>
            <a:pPr algn="just"/>
            <a:r>
              <a:rPr lang="en-US" sz="1200" dirty="0" smtClean="0"/>
              <a:t>If </a:t>
            </a:r>
            <a:r>
              <a:rPr lang="en-US" sz="1200" dirty="0"/>
              <a:t>you are still reading and are interested in the solution, drop me an </a:t>
            </a:r>
            <a:r>
              <a:rPr lang="en-US" sz="1200" u="sng" dirty="0">
                <a:hlinkClick r:id="rId2"/>
              </a:rPr>
              <a:t>email</a:t>
            </a:r>
            <a:r>
              <a:rPr lang="en-US" sz="1200" dirty="0"/>
              <a:t> with your windows live id. I’ll add you to my TFS preview project which has a re-usable solution for both VS 2010 and VS 2012 test rigs as well as guidance and demo performance tests</a:t>
            </a:r>
            <a:r>
              <a:rPr lang="en-US" sz="1200" dirty="0" smtClean="0"/>
              <a:t>.</a:t>
            </a:r>
          </a:p>
          <a:p>
            <a:endParaRPr lang="en-US" sz="1200" dirty="0"/>
          </a:p>
        </p:txBody>
      </p:sp>
      <p:sp>
        <p:nvSpPr>
          <p:cNvPr id="15365" name="Rectangle 3"/>
          <p:cNvSpPr>
            <a:spLocks/>
          </p:cNvSpPr>
          <p:nvPr/>
        </p:nvSpPr>
        <p:spPr bwMode="auto">
          <a:xfrm>
            <a:off x="3014663" y="1782763"/>
            <a:ext cx="4114800"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a:p>
        </p:txBody>
      </p:sp>
      <p:pic>
        <p:nvPicPr>
          <p:cNvPr id="11" name="Picture 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7324" y="3240828"/>
            <a:ext cx="4982139" cy="301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2"/>
          <p:cNvSpPr>
            <a:spLocks/>
          </p:cNvSpPr>
          <p:nvPr/>
        </p:nvSpPr>
        <p:spPr bwMode="auto">
          <a:xfrm>
            <a:off x="2223526" y="8543925"/>
            <a:ext cx="4973355" cy="838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5"/>
              </a:rPr>
              <a:t>Tarun Arora</a:t>
            </a:r>
            <a:r>
              <a:rPr lang="en-US" sz="1000" i="1" dirty="0"/>
              <a:t> is a passionate technologist at </a:t>
            </a:r>
            <a:r>
              <a:rPr lang="en-US" sz="1000" i="1" u="sng" dirty="0">
                <a:hlinkClick r:id="rId6"/>
              </a:rPr>
              <a:t>Avanade</a:t>
            </a:r>
            <a:r>
              <a:rPr lang="en-US" sz="1000" i="1" dirty="0"/>
              <a:t>, London. Tarun is a Microsoft MVP and a Visual Studio ALM Ranger. After work he is found moderating MSDN forums, </a:t>
            </a:r>
            <a:r>
              <a:rPr lang="en-US" sz="1000" i="1" u="sng" dirty="0">
                <a:hlinkClick r:id="rId7"/>
              </a:rPr>
              <a:t>blogging</a:t>
            </a:r>
            <a:r>
              <a:rPr lang="en-US" sz="1000" i="1" dirty="0"/>
              <a:t> and writing for MSDN, TechNet, Codeproject and other technology centric websites. For the latest and greatest follow him on </a:t>
            </a:r>
            <a:r>
              <a:rPr lang="en-US" sz="1000" i="1" u="sng" dirty="0">
                <a:hlinkClick r:id="rId8"/>
              </a:rPr>
              <a:t>@arora_tarun</a:t>
            </a:r>
            <a:endParaRPr lang="en-US" sz="1000" i="1" dirty="0"/>
          </a:p>
        </p:txBody>
      </p:sp>
      <p:cxnSp>
        <p:nvCxnSpPr>
          <p:cNvPr id="9" name="Straight Connector 8"/>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Visual Studio</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35</a:t>
            </a:fld>
            <a:endParaRPr lang="en-PH" dirty="0"/>
          </a:p>
        </p:txBody>
      </p:sp>
      <p:sp>
        <p:nvSpPr>
          <p:cNvPr id="15" name="TextBox 14">
            <a:hlinkClick r:id="rId3"/>
          </p:cNvPr>
          <p:cNvSpPr txBox="1"/>
          <p:nvPr/>
        </p:nvSpPr>
        <p:spPr>
          <a:xfrm>
            <a:off x="2173287" y="3469428"/>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6" name="TextBox 15">
            <a:hlinkClick r:id="rId3"/>
          </p:cNvPr>
          <p:cNvSpPr txBox="1"/>
          <p:nvPr/>
        </p:nvSpPr>
        <p:spPr>
          <a:xfrm>
            <a:off x="2173286" y="5298228"/>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12" name="Rounded Rectangle 11">
            <a:hlinkClick r:id="rId9"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4" name="TextBox 13"/>
          <p:cNvSpPr txBox="1"/>
          <p:nvPr/>
        </p:nvSpPr>
        <p:spPr>
          <a:xfrm>
            <a:off x="2147324" y="6542127"/>
            <a:ext cx="4956174" cy="553998"/>
          </a:xfrm>
          <a:prstGeom prst="rect">
            <a:avLst/>
          </a:prstGeom>
          <a:noFill/>
        </p:spPr>
        <p:txBody>
          <a:bodyPr wrap="square" rtlCol="0">
            <a:spAutoFit/>
          </a:bodyPr>
          <a:lstStyle/>
          <a:p>
            <a:pPr algn="ctr"/>
            <a:r>
              <a:rPr lang="en-US" sz="1000" i="1" dirty="0"/>
              <a:t>Click on the graphic above to play the </a:t>
            </a:r>
            <a:r>
              <a:rPr lang="en-US" sz="1000" i="1" dirty="0" smtClean="0"/>
              <a:t>video</a:t>
            </a:r>
            <a:endParaRPr lang="en-US" sz="1000" i="1" dirty="0"/>
          </a:p>
          <a:p>
            <a:pPr algn="ctr"/>
            <a:r>
              <a:rPr lang="en-US" sz="1000" i="1" dirty="0"/>
              <a:t>If the graphic above doesn’t play for you </a:t>
            </a:r>
          </a:p>
          <a:p>
            <a:pPr algn="ctr"/>
            <a:r>
              <a:rPr lang="en-US" sz="1000" i="1" dirty="0">
                <a:hlinkClick r:id="rId10"/>
              </a:rPr>
              <a:t>click here for a dedicated player and the option to </a:t>
            </a:r>
            <a:r>
              <a:rPr lang="en-US" sz="1000" i="1" dirty="0" smtClean="0">
                <a:hlinkClick r:id="rId10"/>
              </a:rPr>
              <a:t>Download</a:t>
            </a:r>
            <a:endParaRPr lang="en-US" sz="1000" i="1" dirty="0"/>
          </a:p>
        </p:txBody>
      </p:sp>
    </p:spTree>
    <p:extLst>
      <p:ext uri="{BB962C8B-B14F-4D97-AF65-F5344CB8AC3E}">
        <p14:creationId xmlns:p14="http://schemas.microsoft.com/office/powerpoint/2010/main" val="27217278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1">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088" y="8582025"/>
            <a:ext cx="31051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3862" y="3099733"/>
            <a:ext cx="699516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Object 1"/>
          <p:cNvGraphicFramePr>
            <a:graphicFrameLocks noChangeAspect="1"/>
          </p:cNvGraphicFramePr>
          <p:nvPr>
            <p:extLst>
              <p:ext uri="{D42A27DB-BD31-4B8C-83A1-F6EECF244321}">
                <p14:modId xmlns:p14="http://schemas.microsoft.com/office/powerpoint/2010/main" val="1429477223"/>
              </p:ext>
            </p:extLst>
          </p:nvPr>
        </p:nvGraphicFramePr>
        <p:xfrm>
          <a:off x="2224087" y="1914525"/>
          <a:ext cx="2754312" cy="666750"/>
        </p:xfrm>
        <a:graphic>
          <a:graphicData uri="http://schemas.openxmlformats.org/presentationml/2006/ole">
            <mc:AlternateContent xmlns:mc="http://schemas.openxmlformats.org/markup-compatibility/2006">
              <mc:Choice xmlns:v="urn:schemas-microsoft-com:vml" Requires="v">
                <p:oleObj spid="_x0000_s1187" name="Bitmap Image" r:id="rId6" imgW="0" imgH="0" progId="PBrush">
                  <p:embed/>
                </p:oleObj>
              </mc:Choice>
              <mc:Fallback>
                <p:oleObj name="Bitmap Image" r:id="rId6" imgW="0" imgH="0" progId="PBrush">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4087" y="1914525"/>
                        <a:ext cx="275431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559593" y="6300133"/>
            <a:ext cx="6629400" cy="1938992"/>
          </a:xfrm>
          <a:prstGeom prst="rect">
            <a:avLst/>
          </a:prstGeom>
          <a:noFill/>
        </p:spPr>
        <p:txBody>
          <a:bodyPr wrap="square" rtlCol="0">
            <a:spAutoFit/>
          </a:bodyPr>
          <a:lstStyle/>
          <a:p>
            <a:pPr lvl="0"/>
            <a:r>
              <a:rPr lang="en-US" sz="1200" b="1" dirty="0">
                <a:solidFill>
                  <a:prstClr val="black"/>
                </a:solidFill>
              </a:rPr>
              <a:t>“inteGREAT Smart Docs provides TFS users with a very familiar user interface that will enhance its speed of adoption, while broadening its use throughout the enterprise” </a:t>
            </a:r>
            <a:endParaRPr lang="en-US" sz="1200" dirty="0">
              <a:solidFill>
                <a:prstClr val="black"/>
              </a:solidFill>
            </a:endParaRPr>
          </a:p>
          <a:p>
            <a:pPr lvl="0"/>
            <a:r>
              <a:rPr lang="en-US" sz="1200" b="1" i="1" dirty="0">
                <a:solidFill>
                  <a:prstClr val="black"/>
                </a:solidFill>
              </a:rPr>
              <a:t>Brian Harry - Product Unit Manager for Team Foundation, Microsoft Corporation.</a:t>
            </a:r>
          </a:p>
          <a:p>
            <a:pPr lvl="0"/>
            <a:endParaRPr lang="en-US" sz="1200" dirty="0">
              <a:solidFill>
                <a:prstClr val="black"/>
              </a:solidFill>
            </a:endParaRPr>
          </a:p>
          <a:p>
            <a:pPr lvl="0"/>
            <a:r>
              <a:rPr lang="en-US" sz="1200" dirty="0">
                <a:solidFill>
                  <a:prstClr val="black"/>
                </a:solidFill>
              </a:rPr>
              <a:t>The use of Word, Excel and Visio, while very familiar to requirements project stakeholders, lacks efficiency in reuse, change synchronization and stakeholder collaboration. inteGREAT SmartDocs solves this problem while maintaining the familiar authoring </a:t>
            </a:r>
            <a:r>
              <a:rPr lang="en-US" sz="1200" dirty="0" smtClean="0">
                <a:solidFill>
                  <a:prstClr val="black"/>
                </a:solidFill>
              </a:rPr>
              <a:t>environment of </a:t>
            </a:r>
            <a:r>
              <a:rPr lang="en-US" sz="1200" dirty="0">
                <a:solidFill>
                  <a:prstClr val="black"/>
                </a:solidFill>
              </a:rPr>
              <a:t>Word. SmartDocs is a </a:t>
            </a:r>
            <a:r>
              <a:rPr lang="en-US" sz="1200" b="1" dirty="0">
                <a:solidFill>
                  <a:prstClr val="black"/>
                </a:solidFill>
              </a:rPr>
              <a:t>Word plugin </a:t>
            </a:r>
            <a:r>
              <a:rPr lang="en-US" sz="1200" dirty="0">
                <a:solidFill>
                  <a:prstClr val="black"/>
                </a:solidFill>
              </a:rPr>
              <a:t>that enables the requirements contained in these documents to be saved to a single source requirements repository; reducing cycle </a:t>
            </a:r>
            <a:r>
              <a:rPr lang="en-US" sz="1200" dirty="0" smtClean="0">
                <a:solidFill>
                  <a:prstClr val="black"/>
                </a:solidFill>
              </a:rPr>
              <a:t>time </a:t>
            </a:r>
            <a:r>
              <a:rPr lang="en-US" sz="1200" dirty="0">
                <a:solidFill>
                  <a:prstClr val="black"/>
                </a:solidFill>
              </a:rPr>
              <a:t>through the documents’ lifespan, dramatically.</a:t>
            </a:r>
            <a:endParaRPr lang="en-US" sz="1200" dirty="0">
              <a:solidFill>
                <a:prstClr val="black"/>
              </a:solidFill>
              <a:latin typeface="Helvetica" charset="0"/>
              <a:cs typeface="Helvetica" charset="0"/>
              <a:sym typeface="Helvetica" charset="0"/>
            </a:endParaRPr>
          </a:p>
        </p:txBody>
      </p:sp>
      <p:cxnSp>
        <p:nvCxnSpPr>
          <p:cNvPr id="10" name="Straight Connector 9"/>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bg1"/>
                </a:solidFill>
              </a:rPr>
              <a:t>Sponsored Article</a:t>
            </a:r>
            <a:endParaRPr lang="en-US" b="1" dirty="0">
              <a:solidFill>
                <a:schemeClr val="bg1"/>
              </a:solidFill>
            </a:endParaRPr>
          </a:p>
        </p:txBody>
      </p:sp>
      <p:sp>
        <p:nvSpPr>
          <p:cNvPr id="12" name="TextBox 3"/>
          <p:cNvSpPr txBox="1">
            <a:spLocks noChangeArrowheads="1"/>
          </p:cNvSpPr>
          <p:nvPr/>
        </p:nvSpPr>
        <p:spPr bwMode="auto">
          <a:xfrm>
            <a:off x="195262" y="684907"/>
            <a:ext cx="735806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CA" sz="3200" b="1" dirty="0" smtClean="0">
                <a:latin typeface="Palatino Linotype" pitchFamily="18" charset="0"/>
              </a:rPr>
              <a:t>Simplicity - Word </a:t>
            </a:r>
            <a:r>
              <a:rPr lang="en-CA" sz="3200" b="1" dirty="0">
                <a:latin typeface="Palatino Linotype" pitchFamily="18" charset="0"/>
              </a:rPr>
              <a:t>with real </a:t>
            </a:r>
            <a:r>
              <a:rPr lang="en-CA" sz="3200" b="1" dirty="0" smtClean="0">
                <a:latin typeface="Palatino Linotype" pitchFamily="18" charset="0"/>
              </a:rPr>
              <a:t>time </a:t>
            </a:r>
          </a:p>
          <a:p>
            <a:r>
              <a:rPr lang="en-CA" sz="3200" b="1" dirty="0" smtClean="0">
                <a:latin typeface="Palatino Linotype" pitchFamily="18" charset="0"/>
              </a:rPr>
              <a:t>requirements repository connectivity</a:t>
            </a:r>
            <a:endParaRPr lang="en-US" sz="3200" dirty="0">
              <a:latin typeface="Palatino Linotype" pitchFamily="18" charset="0"/>
            </a:endParaRPr>
          </a:p>
        </p:txBody>
      </p:sp>
      <p:sp>
        <p:nvSpPr>
          <p:cNvPr id="13" name="Rounded Rectangle 12">
            <a:hlinkClick r:id="rId8"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2696370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600" b="1" dirty="0" smtClean="0"/>
              <a:t> </a:t>
            </a:r>
            <a:endParaRPr lang="en-PH" sz="3600" b="1" dirty="0"/>
          </a:p>
        </p:txBody>
      </p:sp>
      <p:pic>
        <p:nvPicPr>
          <p:cNvPr id="43016"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1262" y="3525838"/>
            <a:ext cx="2632271" cy="25034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a:spLocks noChangeArrowheads="1"/>
          </p:cNvSpPr>
          <p:nvPr/>
        </p:nvSpPr>
        <p:spPr bwMode="auto">
          <a:xfrm flipH="1">
            <a:off x="52702" y="1070812"/>
            <a:ext cx="2333625" cy="8844713"/>
          </a:xfrm>
          <a:prstGeom prst="rect">
            <a:avLst/>
          </a:prstGeom>
          <a:solidFill>
            <a:schemeClr val="accent1">
              <a:lumMod val="100000"/>
              <a:lumOff val="0"/>
            </a:schemeClr>
          </a:solidFill>
          <a:ln>
            <a:noFill/>
          </a:ln>
          <a:effectLst/>
          <a:extLst>
            <a:ext uri="{91240B29-F687-4F45-9708-019B960494DF}">
              <a14:hiddenLine xmlns:a14="http://schemas.microsoft.com/office/drawing/2010/main" w="19050">
                <a:solidFill>
                  <a:schemeClr val="tx1">
                    <a:lumMod val="100000"/>
                    <a:lumOff val="0"/>
                  </a:schemeClr>
                </a:solidFill>
                <a:miter lim="800000"/>
                <a:headEnd/>
                <a:tailEnd/>
              </a14:hiddenLine>
            </a:ext>
            <a:ext uri="{AF507438-7753-43E0-B8FC-AC1667EBCBE1}">
              <a14:hiddenEffects xmlns:a14="http://schemas.microsoft.com/office/drawing/2010/main">
                <a:effectLst>
                  <a:outerShdw dist="190500" dir="10800000" algn="ctr" rotWithShape="0">
                    <a:schemeClr val="accent6">
                      <a:lumMod val="100000"/>
                      <a:lumOff val="0"/>
                      <a:alpha val="50000"/>
                    </a:schemeClr>
                  </a:outerShdw>
                </a:effectLst>
              </a14:hiddenEffects>
            </a:ext>
          </a:extLst>
        </p:spPr>
        <p:txBody>
          <a:bodyPr rot="0" vert="horz" wrap="square" lIns="274320" tIns="274320" rIns="274320" bIns="274320" anchor="t" anchorCtr="0" upright="1">
            <a:noAutofit/>
          </a:bodyPr>
          <a:lstStyle/>
          <a:p>
            <a:pPr marL="0" marR="0">
              <a:lnSpc>
                <a:spcPct val="115000"/>
              </a:lnSpc>
              <a:spcBef>
                <a:spcPts val="0"/>
              </a:spcBef>
              <a:spcAft>
                <a:spcPts val="0"/>
              </a:spcAft>
            </a:pPr>
            <a:r>
              <a:rPr lang="en-US" sz="900" b="1" dirty="0">
                <a:effectLst/>
                <a:latin typeface="Calibri"/>
                <a:ea typeface="Times New Roman"/>
                <a:cs typeface="Calibri"/>
              </a:rPr>
              <a:t>Create a SmartDoc in Word - Upload to inteGREAT</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Open a SmartDoc Word template and create requirement content. Load the document into inteGREAT and see the requirement hierarchy and traceability established.</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Any project stakeholder may contribute requirement content in Word, without having to learn a new interface.</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0" marR="0">
              <a:lnSpc>
                <a:spcPct val="115000"/>
              </a:lnSpc>
              <a:spcBef>
                <a:spcPts val="0"/>
              </a:spcBef>
              <a:spcAft>
                <a:spcPts val="0"/>
              </a:spcAft>
            </a:pPr>
            <a:r>
              <a:rPr lang="en-US" sz="900" b="1" dirty="0">
                <a:effectLst/>
                <a:latin typeface="Calibri"/>
                <a:ea typeface="Times New Roman"/>
                <a:cs typeface="Calibri"/>
              </a:rPr>
              <a:t>Edit a SmartDoc in Word - Upload to inteGREAT</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Open a SmartDoc Word document with existing requirements and edit the document adding new content and editing existing content. Load the document into inteGREAT and see the additions and updates reflected.</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Once a SmartDoc exists and has been used for specific requirements, any user may update this document, which in turn updates inteGREAT</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0" marR="0">
              <a:lnSpc>
                <a:spcPct val="115000"/>
              </a:lnSpc>
              <a:spcBef>
                <a:spcPts val="0"/>
              </a:spcBef>
              <a:spcAft>
                <a:spcPts val="0"/>
              </a:spcAft>
            </a:pPr>
            <a:r>
              <a:rPr lang="en-US" sz="1000" b="1" dirty="0">
                <a:effectLst/>
                <a:latin typeface="Calibri"/>
                <a:ea typeface="Times New Roman"/>
                <a:cs typeface="Calibri"/>
              </a:rPr>
              <a:t>inteGREAT SmartDoc Generation</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Based on the requirement content in inteGREAT, have inteGREAT generate a SmartDoc, which can then be given to multiple stakeholders simultaneously. The stakeholders may update the document with track changes; return their SmartDoc to the BA who accepts/rejects changes with </a:t>
            </a:r>
            <a:endParaRPr lang="en-US" sz="900" dirty="0" smtClean="0">
              <a:effectLst/>
              <a:latin typeface="Calibri"/>
              <a:ea typeface="Times New Roman"/>
              <a:cs typeface="Calibri"/>
            </a:endParaRPr>
          </a:p>
          <a:p>
            <a:pPr marL="228600" marR="0">
              <a:lnSpc>
                <a:spcPct val="115000"/>
              </a:lnSpc>
              <a:spcBef>
                <a:spcPts val="0"/>
              </a:spcBef>
              <a:spcAft>
                <a:spcPts val="0"/>
              </a:spcAft>
            </a:pPr>
            <a:r>
              <a:rPr lang="en-US" sz="900" dirty="0" smtClean="0">
                <a:effectLst/>
                <a:latin typeface="Calibri"/>
                <a:ea typeface="Times New Roman"/>
                <a:cs typeface="Calibri"/>
              </a:rPr>
              <a:t>the </a:t>
            </a:r>
            <a:r>
              <a:rPr lang="en-US" sz="900" dirty="0">
                <a:effectLst/>
                <a:latin typeface="Calibri"/>
                <a:ea typeface="Times New Roman"/>
                <a:cs typeface="Calibri"/>
              </a:rPr>
              <a:t>results then uploaded into inteGREAT.</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Collaboration is now simplified through the use of SmartDoc Word documents. Business stakeholders can review and update SmartDocs in the familiar Word interface, and have their changes reflected in the final documentation</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 </a:t>
            </a:r>
            <a:endParaRPr lang="en-US" sz="1100" dirty="0">
              <a:effectLst/>
              <a:latin typeface="Calibri"/>
              <a:ea typeface="Times New Roman"/>
              <a:cs typeface="Times New Roman"/>
            </a:endParaRPr>
          </a:p>
          <a:p>
            <a:pPr marL="0" marR="0">
              <a:lnSpc>
                <a:spcPct val="115000"/>
              </a:lnSpc>
              <a:spcBef>
                <a:spcPts val="0"/>
              </a:spcBef>
              <a:spcAft>
                <a:spcPts val="1000"/>
              </a:spcAft>
            </a:pPr>
            <a:r>
              <a:rPr lang="en-US" sz="900" dirty="0">
                <a:solidFill>
                  <a:srgbClr val="FFFFFF"/>
                </a:solidFill>
                <a:effectLst/>
                <a:latin typeface="Calibri"/>
                <a:ea typeface="Times New Roman"/>
                <a:cs typeface="Times New Roman"/>
              </a:rPr>
              <a:t> </a:t>
            </a:r>
            <a:endParaRPr lang="en-US" sz="1100" dirty="0">
              <a:effectLst/>
              <a:latin typeface="Calibri"/>
              <a:ea typeface="Times New Roman"/>
              <a:cs typeface="Times New Roman"/>
            </a:endParaRPr>
          </a:p>
        </p:txBody>
      </p:sp>
      <p:sp>
        <p:nvSpPr>
          <p:cNvPr id="9" name="Rectangle 8"/>
          <p:cNvSpPr>
            <a:spLocks noChangeArrowheads="1"/>
          </p:cNvSpPr>
          <p:nvPr/>
        </p:nvSpPr>
        <p:spPr bwMode="auto">
          <a:xfrm flipH="1">
            <a:off x="5148262" y="1062989"/>
            <a:ext cx="2328864" cy="8852535"/>
          </a:xfrm>
          <a:prstGeom prst="rect">
            <a:avLst/>
          </a:prstGeom>
          <a:solidFill>
            <a:schemeClr val="accent1">
              <a:lumMod val="100000"/>
              <a:lumOff val="0"/>
            </a:schemeClr>
          </a:solidFill>
          <a:ln>
            <a:noFill/>
          </a:ln>
          <a:effectLst/>
          <a:extLst>
            <a:ext uri="{91240B29-F687-4F45-9708-019B960494DF}">
              <a14:hiddenLine xmlns:a14="http://schemas.microsoft.com/office/drawing/2010/main" w="19050">
                <a:solidFill>
                  <a:schemeClr val="tx1">
                    <a:lumMod val="100000"/>
                    <a:lumOff val="0"/>
                  </a:schemeClr>
                </a:solidFill>
                <a:miter lim="800000"/>
                <a:headEnd/>
                <a:tailEnd/>
              </a14:hiddenLine>
            </a:ext>
            <a:ext uri="{AF507438-7753-43E0-B8FC-AC1667EBCBE1}">
              <a14:hiddenEffects xmlns:a14="http://schemas.microsoft.com/office/drawing/2010/main">
                <a:effectLst>
                  <a:outerShdw dist="190500" dir="10800000" algn="ctr" rotWithShape="0">
                    <a:schemeClr val="accent6">
                      <a:lumMod val="100000"/>
                      <a:lumOff val="0"/>
                      <a:alpha val="50000"/>
                    </a:schemeClr>
                  </a:outerShdw>
                </a:effectLst>
              </a14:hiddenEffects>
            </a:ext>
          </a:extLst>
        </p:spPr>
        <p:txBody>
          <a:bodyPr rot="0" vert="horz" wrap="square" lIns="274320" tIns="274320" rIns="274320" bIns="274320" anchor="t" anchorCtr="0" upright="1">
            <a:noAutofit/>
          </a:bodyPr>
          <a:lstStyle/>
          <a:p>
            <a:pPr marL="0" marR="0">
              <a:lnSpc>
                <a:spcPct val="115000"/>
              </a:lnSpc>
              <a:spcBef>
                <a:spcPts val="0"/>
              </a:spcBef>
              <a:spcAft>
                <a:spcPts val="0"/>
              </a:spcAft>
            </a:pPr>
            <a:r>
              <a:rPr lang="en-US" sz="900" b="1" dirty="0">
                <a:effectLst/>
                <a:latin typeface="Calibri"/>
                <a:ea typeface="Times New Roman"/>
                <a:cs typeface="Calibri"/>
              </a:rPr>
              <a:t>Get Work Item from TFS to include in a SmartDoc</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When working in a SmartDoc a user may access the existing Work Items in TFS and include them in the SmartDoc.</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Any stakeholder may reuse existing requirements, allowing for consistency across the project.</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0" marR="0">
              <a:lnSpc>
                <a:spcPct val="115000"/>
              </a:lnSpc>
              <a:spcBef>
                <a:spcPts val="0"/>
              </a:spcBef>
              <a:spcAft>
                <a:spcPts val="0"/>
              </a:spcAft>
            </a:pPr>
            <a:r>
              <a:rPr lang="en-US" sz="900" b="1" dirty="0">
                <a:effectLst/>
                <a:latin typeface="Calibri"/>
                <a:ea typeface="Times New Roman"/>
                <a:cs typeface="Calibri"/>
              </a:rPr>
              <a:t>Create new Work Item in a SmartDoc - upload to TFS</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New requirements created in a SmartDoc can be saved directly as work items in TFS.</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All stakeholders can contribute directly to the single source requirements repository</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b="1" dirty="0">
                <a:effectLst/>
                <a:latin typeface="Calibri"/>
                <a:ea typeface="Times New Roman"/>
                <a:cs typeface="Calibri"/>
              </a:rPr>
              <a:t> </a:t>
            </a:r>
            <a:endParaRPr lang="en-US" sz="1100" dirty="0">
              <a:effectLst/>
              <a:latin typeface="Calibri"/>
              <a:ea typeface="Times New Roman"/>
              <a:cs typeface="Times New Roman"/>
            </a:endParaRPr>
          </a:p>
          <a:p>
            <a:pPr marL="0" marR="0">
              <a:lnSpc>
                <a:spcPct val="115000"/>
              </a:lnSpc>
              <a:spcBef>
                <a:spcPts val="0"/>
              </a:spcBef>
              <a:spcAft>
                <a:spcPts val="0"/>
              </a:spcAft>
            </a:pPr>
            <a:r>
              <a:rPr lang="en-US" sz="900" b="1" dirty="0">
                <a:effectLst/>
                <a:latin typeface="Calibri"/>
                <a:ea typeface="Times New Roman"/>
                <a:cs typeface="Calibri"/>
              </a:rPr>
              <a:t>Update a Work Item in a SmartDoc -upload to TFS</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Existing requirements which are updated by a user in a SmartDoc can be saved in TFS.</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900" dirty="0">
                <a:effectLst/>
                <a:latin typeface="Calibri"/>
                <a:ea typeface="Times New Roman"/>
                <a:cs typeface="Calibri"/>
              </a:rPr>
              <a:t>Benefit: Stakeholders contribute changes directly to the TFS single source repository.</a:t>
            </a:r>
            <a:r>
              <a:rPr lang="en-US" sz="12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For More information and to see SmartDocs in action please visit www.edevtech.com</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or call us at </a:t>
            </a:r>
            <a:endParaRPr lang="en-US" sz="1100" dirty="0">
              <a:effectLst/>
              <a:latin typeface="Calibri"/>
              <a:ea typeface="Times New Roman"/>
              <a:cs typeface="Times New Roman"/>
            </a:endParaRPr>
          </a:p>
          <a:p>
            <a:pPr marL="228600" marR="0">
              <a:lnSpc>
                <a:spcPct val="115000"/>
              </a:lnSpc>
              <a:spcBef>
                <a:spcPts val="0"/>
              </a:spcBef>
              <a:spcAft>
                <a:spcPts val="0"/>
              </a:spcAft>
            </a:pPr>
            <a:r>
              <a:rPr lang="en-US" sz="1200" dirty="0">
                <a:effectLst/>
                <a:latin typeface="Calibri"/>
                <a:ea typeface="Times New Roman"/>
                <a:cs typeface="Calibri"/>
              </a:rPr>
              <a:t>1-877-473-2881</a:t>
            </a:r>
            <a:endParaRPr lang="en-US" sz="1100" dirty="0">
              <a:effectLst/>
              <a:latin typeface="Calibri"/>
              <a:ea typeface="Times New Roman"/>
              <a:cs typeface="Times New Roman"/>
            </a:endParaRPr>
          </a:p>
          <a:p>
            <a:pPr marL="0" marR="0">
              <a:lnSpc>
                <a:spcPct val="115000"/>
              </a:lnSpc>
              <a:spcBef>
                <a:spcPts val="0"/>
              </a:spcBef>
              <a:spcAft>
                <a:spcPts val="1000"/>
              </a:spcAft>
            </a:pPr>
            <a:r>
              <a:rPr lang="en-US" sz="900" dirty="0">
                <a:solidFill>
                  <a:srgbClr val="FFFFFF"/>
                </a:solidFill>
                <a:effectLst/>
                <a:latin typeface="Calibri"/>
                <a:ea typeface="Times New Roman"/>
                <a:cs typeface="Times New Roman"/>
              </a:rPr>
              <a:t> </a:t>
            </a:r>
            <a:endParaRPr lang="en-US" sz="1100" dirty="0">
              <a:effectLst/>
              <a:latin typeface="Calibri"/>
              <a:ea typeface="Times New Roman"/>
              <a:cs typeface="Times New Roman"/>
            </a:endParaRPr>
          </a:p>
        </p:txBody>
      </p:sp>
      <p:pic>
        <p:nvPicPr>
          <p:cNvPr id="43009" name="Picture 9" descr="http://i.telegraph.co.uk/multimedia/archive/01475/ms-word_1475356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6387" y="2905125"/>
            <a:ext cx="936625" cy="585788"/>
          </a:xfrm>
          <a:prstGeom prst="rect">
            <a:avLst/>
          </a:prstGeom>
          <a:noFill/>
          <a:extLst>
            <a:ext uri="{909E8E84-426E-40DD-AFC4-6F175D3DCCD1}">
              <a14:hiddenFill xmlns:a14="http://schemas.microsoft.com/office/drawing/2010/main">
                <a:solidFill>
                  <a:srgbClr val="FFFFFF"/>
                </a:solidFill>
              </a14:hiddenFill>
            </a:ext>
          </a:extLst>
        </p:spPr>
      </p:pic>
      <p:sp>
        <p:nvSpPr>
          <p:cNvPr id="12" name="Flowchart: Magnetic Disk 11"/>
          <p:cNvSpPr>
            <a:spLocks/>
          </p:cNvSpPr>
          <p:nvPr/>
        </p:nvSpPr>
        <p:spPr>
          <a:xfrm>
            <a:off x="2069148" y="7504430"/>
            <a:ext cx="3398520" cy="101854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3" name="TextBox 7"/>
          <p:cNvSpPr txBox="1">
            <a:spLocks noChangeArrowheads="1"/>
          </p:cNvSpPr>
          <p:nvPr/>
        </p:nvSpPr>
        <p:spPr bwMode="auto">
          <a:xfrm>
            <a:off x="2557462" y="7840980"/>
            <a:ext cx="2862261" cy="38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CA" sz="1300" b="1" kern="1200" dirty="0">
                <a:solidFill>
                  <a:srgbClr val="000000"/>
                </a:solidFill>
                <a:effectLst/>
                <a:latin typeface="Calibri"/>
                <a:ea typeface="Times New Roman"/>
                <a:cs typeface="Times New Roman"/>
              </a:rPr>
              <a:t>Single source Requirements Repository</a:t>
            </a:r>
            <a:endParaRPr lang="en-US" sz="1300" b="1" dirty="0">
              <a:effectLst/>
              <a:latin typeface="Times New Roman"/>
              <a:ea typeface="Times New Roman"/>
            </a:endParaRPr>
          </a:p>
        </p:txBody>
      </p:sp>
      <p:pic>
        <p:nvPicPr>
          <p:cNvPr id="4301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0462" y="3036888"/>
            <a:ext cx="1323975" cy="342900"/>
          </a:xfrm>
          <a:prstGeom prst="rect">
            <a:avLst/>
          </a:prstGeom>
          <a:noFill/>
          <a:extLst>
            <a:ext uri="{909E8E84-426E-40DD-AFC4-6F175D3DCCD1}">
              <a14:hiddenFill xmlns:a14="http://schemas.microsoft.com/office/drawing/2010/main">
                <a:solidFill>
                  <a:srgbClr val="FFFFFF"/>
                </a:solidFill>
              </a14:hiddenFill>
            </a:ext>
          </a:extLst>
        </p:spPr>
      </p:pic>
      <p:sp>
        <p:nvSpPr>
          <p:cNvPr id="14" name="Down Arrow 13"/>
          <p:cNvSpPr>
            <a:spLocks/>
          </p:cNvSpPr>
          <p:nvPr/>
        </p:nvSpPr>
        <p:spPr>
          <a:xfrm>
            <a:off x="4157662" y="6544945"/>
            <a:ext cx="484505" cy="7200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3012" name="Picture 4" descr="http://blogs.msdn.com/cfs-file.ashx/__key/communityserver-blogs-components-weblogfiles/00-00-01-18-52-metablogapi/1778.VS2012.ALMRangers.Logo.NoTrademark.Transparent.Purple.1416x475_5F00_38B03E00.png"/>
          <p:cNvPicPr>
            <a:picLocks noChangeAspect="1" noChangeArrowheads="1"/>
          </p:cNvPicPr>
          <p:nvPr/>
        </p:nvPicPr>
        <p:blipFill>
          <a:blip r:embed="rId5">
            <a:extLst>
              <a:ext uri="{28A0092B-C50C-407E-A947-70E740481C1C}">
                <a14:useLocalDpi xmlns:a14="http://schemas.microsoft.com/office/drawing/2010/main" val="0"/>
              </a:ext>
            </a:extLst>
          </a:blip>
          <a:srcRect r="74452" b="34538"/>
          <a:stretch>
            <a:fillRect/>
          </a:stretch>
        </p:blipFill>
        <p:spPr bwMode="auto">
          <a:xfrm>
            <a:off x="2024062" y="7778750"/>
            <a:ext cx="601663" cy="517525"/>
          </a:xfrm>
          <a:prstGeom prst="rect">
            <a:avLst/>
          </a:prstGeom>
          <a:noFill/>
          <a:extLst>
            <a:ext uri="{909E8E84-426E-40DD-AFC4-6F175D3DCCD1}">
              <a14:hiddenFill xmlns:a14="http://schemas.microsoft.com/office/drawing/2010/main">
                <a:solidFill>
                  <a:srgbClr val="FFFFFF"/>
                </a:solidFill>
              </a14:hiddenFill>
            </a:ext>
          </a:extLst>
        </p:spPr>
      </p:pic>
      <p:sp>
        <p:nvSpPr>
          <p:cNvPr id="16" name="Down Arrow 15"/>
          <p:cNvSpPr>
            <a:spLocks/>
          </p:cNvSpPr>
          <p:nvPr/>
        </p:nvSpPr>
        <p:spPr>
          <a:xfrm rot="10800000">
            <a:off x="2971165" y="6410325"/>
            <a:ext cx="484505" cy="7200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Text Box 2"/>
          <p:cNvSpPr txBox="1">
            <a:spLocks noChangeArrowheads="1"/>
          </p:cNvSpPr>
          <p:nvPr/>
        </p:nvSpPr>
        <p:spPr bwMode="auto">
          <a:xfrm>
            <a:off x="5148263" y="680085"/>
            <a:ext cx="2328863" cy="37548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spAutoFit/>
          </a:bodyPr>
          <a:lstStyle/>
          <a:p>
            <a:pPr marL="0" marR="0" algn="ctr">
              <a:lnSpc>
                <a:spcPct val="115000"/>
              </a:lnSpc>
              <a:spcBef>
                <a:spcPts val="0"/>
              </a:spcBef>
              <a:spcAft>
                <a:spcPts val="1000"/>
              </a:spcAft>
            </a:pPr>
            <a:r>
              <a:rPr lang="en-US" sz="1600" dirty="0" smtClean="0">
                <a:effectLst/>
                <a:latin typeface="Calibri"/>
                <a:ea typeface="Times New Roman"/>
                <a:cs typeface="Times New Roman"/>
              </a:rPr>
              <a:t>Technical Users</a:t>
            </a:r>
            <a:endParaRPr lang="en-US" sz="1100" dirty="0">
              <a:effectLst/>
              <a:latin typeface="Calibri"/>
              <a:ea typeface="Times New Roman"/>
              <a:cs typeface="Times New Roman"/>
            </a:endParaRPr>
          </a:p>
        </p:txBody>
      </p:sp>
      <p:sp>
        <p:nvSpPr>
          <p:cNvPr id="3" name="Rectangle 18"/>
          <p:cNvSpPr>
            <a:spLocks noChangeArrowheads="1"/>
          </p:cNvSpPr>
          <p:nvPr/>
        </p:nvSpPr>
        <p:spPr bwMode="auto">
          <a:xfrm>
            <a:off x="2651995" y="723126"/>
            <a:ext cx="224933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entury Gothic" pitchFamily="34" charset="0"/>
                <a:ea typeface="Times New Roman" pitchFamily="18" charset="0"/>
                <a:cs typeface="Arial" pitchFamily="34" charset="0"/>
              </a:rPr>
              <a:t>SmartDocs Usage Scenarios</a:t>
            </a:r>
            <a:endParaRPr kumimoji="0" lang="en-US" sz="1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
        <p:nvSpPr>
          <p:cNvPr id="4" name="Rectangle 20"/>
          <p:cNvSpPr>
            <a:spLocks noChangeArrowheads="1"/>
          </p:cNvSpPr>
          <p:nvPr/>
        </p:nvSpPr>
        <p:spPr bwMode="auto">
          <a:xfrm>
            <a:off x="0" y="914400"/>
            <a:ext cx="75533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3029" name="Picture 21">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6965" y="8848725"/>
            <a:ext cx="2761297" cy="575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3" name="Straight Connector 2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bg1"/>
                </a:solidFill>
              </a:rPr>
              <a:t>Sponsored Article</a:t>
            </a:r>
            <a:endParaRPr lang="en-US" b="1" dirty="0">
              <a:solidFill>
                <a:schemeClr val="bg1"/>
              </a:solidFill>
            </a:endParaRPr>
          </a:p>
        </p:txBody>
      </p:sp>
      <p:sp>
        <p:nvSpPr>
          <p:cNvPr id="26" name="Text Box 2"/>
          <p:cNvSpPr txBox="1">
            <a:spLocks noChangeArrowheads="1"/>
          </p:cNvSpPr>
          <p:nvPr/>
        </p:nvSpPr>
        <p:spPr bwMode="auto">
          <a:xfrm>
            <a:off x="42862" y="695325"/>
            <a:ext cx="2328863" cy="37548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spAutoFit/>
          </a:bodyPr>
          <a:lstStyle/>
          <a:p>
            <a:pPr marL="0" marR="0" algn="ctr">
              <a:lnSpc>
                <a:spcPct val="115000"/>
              </a:lnSpc>
              <a:spcBef>
                <a:spcPts val="0"/>
              </a:spcBef>
              <a:spcAft>
                <a:spcPts val="1000"/>
              </a:spcAft>
            </a:pPr>
            <a:r>
              <a:rPr lang="en-US" sz="1600" dirty="0" smtClean="0">
                <a:effectLst/>
                <a:latin typeface="Calibri"/>
                <a:ea typeface="Times New Roman"/>
                <a:cs typeface="Times New Roman"/>
              </a:rPr>
              <a:t>Business Users</a:t>
            </a:r>
            <a:endParaRPr lang="en-US" sz="1100" dirty="0">
              <a:effectLst/>
              <a:latin typeface="Calibri"/>
              <a:ea typeface="Times New Roman"/>
              <a:cs typeface="Times New Roman"/>
            </a:endParaRPr>
          </a:p>
        </p:txBody>
      </p:sp>
      <p:sp>
        <p:nvSpPr>
          <p:cNvPr id="5" name="Slide Number Placeholder 4"/>
          <p:cNvSpPr>
            <a:spLocks noGrp="1"/>
          </p:cNvSpPr>
          <p:nvPr>
            <p:ph type="sldNum" sz="quarter" idx="12"/>
          </p:nvPr>
        </p:nvSpPr>
        <p:spPr/>
        <p:txBody>
          <a:bodyPr/>
          <a:lstStyle/>
          <a:p>
            <a:pPr>
              <a:defRPr/>
            </a:pPr>
            <a:fld id="{EA30B413-8FC0-44D3-9979-403CCACD0588}" type="slidenum">
              <a:rPr lang="en-PH" smtClean="0"/>
              <a:pPr>
                <a:defRPr/>
              </a:pPr>
              <a:t>37</a:t>
            </a:fld>
            <a:endParaRPr lang="en-PH" dirty="0"/>
          </a:p>
        </p:txBody>
      </p:sp>
      <p:sp>
        <p:nvSpPr>
          <p:cNvPr id="25" name="Rounded Rectangle 24">
            <a:hlinkClick r:id="rId8"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7608609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195263" y="835025"/>
            <a:ext cx="64773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Team Culture, Project Culture</a:t>
            </a:r>
          </a:p>
        </p:txBody>
      </p:sp>
      <p:sp>
        <p:nvSpPr>
          <p:cNvPr id="18436" name="Rectangle 2"/>
          <p:cNvSpPr>
            <a:spLocks/>
          </p:cNvSpPr>
          <p:nvPr/>
        </p:nvSpPr>
        <p:spPr bwMode="auto">
          <a:xfrm>
            <a:off x="2173288" y="3590925"/>
            <a:ext cx="495617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But what’s interesting here is that we stay stuck in the idea that projects must be managed—or even that there need be projects at all. While we hold on to our project-centric mindset Scrum will never be an appropriate solution—and I’d argue that none of the other suggested alternatives or enhancements will be much better. While we try to add layers of agility onto what is essentially an incompatible foundation we will only ever see limited success—and quick reversion back to status quo at the slightest panic. For any truly </a:t>
            </a:r>
            <a:r>
              <a:rPr lang="en-US" sz="1200" dirty="0" smtClean="0"/>
              <a:t>Agile </a:t>
            </a:r>
            <a:r>
              <a:rPr lang="en-US" sz="1200" dirty="0"/>
              <a:t>effort to work we need a complete paradigm shift in how we manage business.</a:t>
            </a:r>
          </a:p>
          <a:p>
            <a:pPr algn="just"/>
            <a:endParaRPr lang="en-US" sz="1200" dirty="0"/>
          </a:p>
          <a:p>
            <a:pPr algn="just"/>
            <a:r>
              <a:rPr lang="en-US" sz="1200" dirty="0"/>
              <a:t>Back in the 1970’s or perhaps earlier, the software world adopted what we might call a project culture. This means that the project is king, and the people are there to serve the project. Projects have managers, and if we add more managers we can add more projects, and get more things done at once. So goes the thinking. And what follows is that people become “resources” to the projects. It is the individual contributor who is sought after by the competing project managers, whose attention is frequently tugged in multiple directions, and teams—such as they are in a project culture—are weak entities, frequently broken apart as priorities change and skill-sets are needed elsewhere.</a:t>
            </a:r>
          </a:p>
          <a:p>
            <a:pPr algn="just"/>
            <a:endParaRPr lang="en-US" sz="1200" dirty="0"/>
          </a:p>
          <a:p>
            <a:pPr algn="just"/>
            <a:r>
              <a:rPr lang="en-US" sz="1200" dirty="0"/>
              <a:t>The project culture undermines a key principle of effective workmanship: that of focus. While individuals are pushed from project to project a massive overhead of context switching and thus loss of productivity is incurred. In simple experiments [</a:t>
            </a:r>
            <a:r>
              <a:rPr lang="en-US" sz="1200" dirty="0">
                <a:hlinkClick r:id="rId2" tooltip="Context Switching Game"/>
              </a:rPr>
              <a:t>ref</a:t>
            </a:r>
            <a:r>
              <a:rPr lang="en-US" sz="1200" dirty="0"/>
              <a:t>], this cost runs around 30-50%. I’m sure it is much higher in complex environments. Because of this mess we have to hire more managers to better “level the resources”. Moving people around, assigning work, tracking that work, all this needs careful and detailed management, and good project managers are not cheap. </a:t>
            </a:r>
          </a:p>
        </p:txBody>
      </p:sp>
      <p:sp>
        <p:nvSpPr>
          <p:cNvPr id="18437" name="Rectangle 3"/>
          <p:cNvSpPr>
            <a:spLocks/>
          </p:cNvSpPr>
          <p:nvPr/>
        </p:nvSpPr>
        <p:spPr bwMode="auto">
          <a:xfrm>
            <a:off x="2557462" y="1770063"/>
            <a:ext cx="4572001" cy="1724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’ve heard a lot over the years about how Scrum is inadequate for managing large projects—some would say managing projects at all—and much has been written about the need for Agile Project Management, or the implementation of a Lean or Kanban approach to mitigate this apparent inadequacy. Broken Scrum implementations are (we hear) fixed by the addition of one or more of these approaches, or even in combining Scrum with a defined (e.g. waterfall) approach. I don’t doubt the case studies. In fact, I agree that Scrum is a half-assed way to manage projects.</a:t>
            </a:r>
          </a:p>
        </p:txBody>
      </p:sp>
      <p:sp>
        <p:nvSpPr>
          <p:cNvPr id="18438" name="Rectangle 4"/>
          <p:cNvSpPr>
            <a:spLocks/>
          </p:cNvSpPr>
          <p:nvPr/>
        </p:nvSpPr>
        <p:spPr bwMode="auto">
          <a:xfrm>
            <a:off x="2024063" y="14446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I</a:t>
            </a:r>
          </a:p>
        </p:txBody>
      </p:sp>
      <p:sp>
        <p:nvSpPr>
          <p:cNvPr id="18440" name="Rectangle 5"/>
          <p:cNvSpPr>
            <a:spLocks/>
          </p:cNvSpPr>
          <p:nvPr/>
        </p:nvSpPr>
        <p:spPr bwMode="auto">
          <a:xfrm>
            <a:off x="347663" y="3121025"/>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Tobias </a:t>
            </a:r>
            <a:r>
              <a:rPr lang="en-US" sz="1100" i="1" dirty="0" smtClean="0">
                <a:solidFill>
                  <a:srgbClr val="4D4D4D"/>
                </a:solidFill>
                <a:latin typeface="Helvetica" charset="0"/>
                <a:cs typeface="Helvetica" charset="0"/>
                <a:sym typeface="Helvetica" charset="0"/>
              </a:rPr>
              <a:t>Mayer</a:t>
            </a:r>
          </a:p>
          <a:p>
            <a:pPr algn="r"/>
            <a:r>
              <a:rPr lang="en-US" sz="1100" i="1" dirty="0" smtClean="0"/>
              <a:t>Agile Coach</a:t>
            </a:r>
            <a:endParaRPr lang="en-US" sz="1100" i="1" dirty="0">
              <a:solidFill>
                <a:srgbClr val="4D4D4D"/>
              </a:solidFill>
              <a:latin typeface="Helvetica" charset="0"/>
              <a:cs typeface="Helvetica" charset="0"/>
              <a:sym typeface="Helvetica"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 y="1810511"/>
            <a:ext cx="1146175" cy="1158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Scrum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38</a:t>
            </a:fld>
            <a:endParaRPr lang="en-PH" dirty="0"/>
          </a:p>
        </p:txBody>
      </p:sp>
      <p:sp>
        <p:nvSpPr>
          <p:cNvPr id="14" name="Rounded Rectangle 13">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1763627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39</a:t>
            </a:fld>
            <a:endParaRPr lang="en-PH" dirty="0"/>
          </a:p>
        </p:txBody>
      </p:sp>
      <p:pic>
        <p:nvPicPr>
          <p:cNvPr id="205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553325"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a:spLocks/>
          </p:cNvSpPr>
          <p:nvPr/>
        </p:nvSpPr>
        <p:spPr bwMode="auto">
          <a:xfrm>
            <a:off x="2173288" y="5191125"/>
            <a:ext cx="49561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next thing. The time box limits the amount of work a team can take on. Effective teams generally use the Kanban principle of Limited WIP, only working on one or two transactional stories at a time. Some teams choose not to commit at all, but simply pull in stories according to their WIP limit, being careful not to start something that cannot be finished in a sprint. The important thing here, is not whether teams make commitments, or how they make them, but the fact these are </a:t>
            </a:r>
            <a:r>
              <a:rPr lang="en-US" sz="1200" i="1" dirty="0"/>
              <a:t>cross-functional</a:t>
            </a:r>
            <a:r>
              <a:rPr lang="en-US" sz="1200" dirty="0"/>
              <a:t> teams, collaborating with requesters, managing their own time and process, and focusing on the </a:t>
            </a:r>
            <a:r>
              <a:rPr lang="en-US" sz="1200" i="1" dirty="0"/>
              <a:t>completion of work</a:t>
            </a:r>
            <a:r>
              <a:rPr lang="en-US" sz="1200" dirty="0"/>
              <a:t>. </a:t>
            </a:r>
          </a:p>
          <a:p>
            <a:pPr algn="just"/>
            <a:endParaRPr lang="en-US" sz="1200" dirty="0"/>
          </a:p>
          <a:p>
            <a:pPr algn="just"/>
            <a:r>
              <a:rPr lang="en-US" sz="1200" dirty="0"/>
              <a:t>If organizations wanting to adopt Scrum would be willing to shift from a project culture to a team culture, they’d find many of the problems associated with project management would disappear. They would reduce (project) management overhead costs, stop calling in consultants to fix whatever the previous consultants screwed up, and they’d see a stream-lined, effective organization emerging right before their eyes. Trust the teams. It’s as simple—and terrifying—as that</a:t>
            </a:r>
            <a:r>
              <a:rPr lang="en-US" sz="1200" dirty="0" smtClean="0"/>
              <a:t>.</a:t>
            </a:r>
            <a:endParaRPr lang="en-US" sz="1200" dirty="0"/>
          </a:p>
        </p:txBody>
      </p:sp>
      <p:sp>
        <p:nvSpPr>
          <p:cNvPr id="7" name="Rectangle 2"/>
          <p:cNvSpPr>
            <a:spLocks/>
          </p:cNvSpPr>
          <p:nvPr/>
        </p:nvSpPr>
        <p:spPr bwMode="auto">
          <a:xfrm>
            <a:off x="2176462" y="8543925"/>
            <a:ext cx="4973355" cy="6422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4"/>
              </a:rPr>
              <a:t>Tobias Mayer</a:t>
            </a:r>
            <a:r>
              <a:rPr lang="en-US" sz="1000" i="1" dirty="0"/>
              <a:t> is a facilitator, guide, and coach, specializing in Agile transformation. His current work explores the concept of </a:t>
            </a:r>
            <a:r>
              <a:rPr lang="en-US" sz="1000" i="1" u="sng" dirty="0">
                <a:hlinkClick r:id="rId4"/>
              </a:rPr>
              <a:t>craftsmanship</a:t>
            </a:r>
            <a:r>
              <a:rPr lang="en-US" sz="1000" i="1" dirty="0"/>
              <a:t> in this context, focusing on the values and principles that foster an Agile mindset.</a:t>
            </a:r>
          </a:p>
        </p:txBody>
      </p:sp>
      <p:sp>
        <p:nvSpPr>
          <p:cNvPr id="9" name="Rounded Rectangle 8">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6484270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extLst>
              <a:ext uri="{28A0092B-C50C-407E-A947-70E740481C1C}">
                <a14:useLocalDpi xmlns:a14="http://schemas.microsoft.com/office/drawing/2010/main" val="0"/>
              </a:ext>
            </a:extLst>
          </a:blip>
          <a:srcRect/>
          <a:stretch>
            <a:fillRect/>
          </a:stretch>
        </p:blipFill>
        <p:spPr bwMode="auto">
          <a:xfrm>
            <a:off x="804860" y="1941512"/>
            <a:ext cx="1146178" cy="1189339"/>
          </a:xfrm>
          <a:prstGeom prst="rect">
            <a:avLst/>
          </a:prstGeom>
          <a:noFill/>
          <a:ln>
            <a:noFill/>
          </a:ln>
        </p:spPr>
      </p:pic>
      <p:sp>
        <p:nvSpPr>
          <p:cNvPr id="15362" name="TextBox 3"/>
          <p:cNvSpPr txBox="1">
            <a:spLocks noChangeArrowheads="1"/>
          </p:cNvSpPr>
          <p:nvPr/>
        </p:nvSpPr>
        <p:spPr bwMode="auto">
          <a:xfrm>
            <a:off x="195263" y="695325"/>
            <a:ext cx="63241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Lean </a:t>
            </a:r>
            <a:r>
              <a:rPr lang="en-US" sz="3600" b="1" dirty="0">
                <a:latin typeface="Palatino Linotype" pitchFamily="18" charset="0"/>
              </a:rPr>
              <a:t>Software Development </a:t>
            </a:r>
            <a:endParaRPr lang="en-US" sz="3600" b="1" dirty="0" smtClean="0">
              <a:latin typeface="Palatino Linotype" pitchFamily="18" charset="0"/>
            </a:endParaRPr>
          </a:p>
          <a:p>
            <a:pPr eaLnBrk="1" hangingPunct="1"/>
            <a:r>
              <a:rPr lang="en-US" sz="3600" b="1" dirty="0" smtClean="0">
                <a:latin typeface="Palatino Linotype" pitchFamily="18" charset="0"/>
              </a:rPr>
              <a:t>in </a:t>
            </a:r>
            <a:r>
              <a:rPr lang="en-US" sz="3600" b="1" dirty="0">
                <a:latin typeface="Palatino Linotype" pitchFamily="18" charset="0"/>
              </a:rPr>
              <a:t>a Nutshell</a:t>
            </a:r>
          </a:p>
        </p:txBody>
      </p:sp>
      <p:sp>
        <p:nvSpPr>
          <p:cNvPr id="15364" name="Rectangle 2"/>
          <p:cNvSpPr>
            <a:spLocks/>
          </p:cNvSpPr>
          <p:nvPr/>
        </p:nvSpPr>
        <p:spPr bwMode="auto">
          <a:xfrm>
            <a:off x="2173288" y="4505325"/>
            <a:ext cx="495617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What causes most of this work?  I’d suggest delays.  In the above cases, respectively:</a:t>
            </a:r>
          </a:p>
          <a:p>
            <a:pPr algn="just"/>
            <a:endParaRPr lang="en-US" sz="1200" dirty="0"/>
          </a:p>
          <a:p>
            <a:pPr marL="171450" indent="-171450" algn="just">
              <a:buFont typeface="Arial" pitchFamily="34" charset="0"/>
              <a:buChar char="•"/>
            </a:pPr>
            <a:r>
              <a:rPr lang="en-US" sz="1200" dirty="0"/>
              <a:t>Delays in the time from getting requirements until using them</a:t>
            </a:r>
          </a:p>
          <a:p>
            <a:pPr marL="171450" indent="-171450" algn="just">
              <a:buFont typeface="Arial" pitchFamily="34" charset="0"/>
              <a:buChar char="•"/>
            </a:pPr>
            <a:r>
              <a:rPr lang="en-US" sz="1200" dirty="0"/>
              <a:t>Delays caused by having to do big batches of work until getting feedback on it</a:t>
            </a:r>
          </a:p>
          <a:p>
            <a:pPr marL="171450" indent="-171450" algn="just">
              <a:buFont typeface="Arial" pitchFamily="34" charset="0"/>
              <a:buChar char="•"/>
            </a:pPr>
            <a:r>
              <a:rPr lang="en-US" sz="1200" dirty="0"/>
              <a:t>The delay from writing the bug until it is discovered (fixing is fast if this delay is short, finding gets exponentially longer the longer this delay is)</a:t>
            </a:r>
          </a:p>
          <a:p>
            <a:pPr marL="171450" indent="-171450" algn="just">
              <a:buFont typeface="Arial" pitchFamily="34" charset="0"/>
              <a:buChar char="•"/>
            </a:pPr>
            <a:r>
              <a:rPr lang="en-US" sz="1200" dirty="0"/>
              <a:t>The delay from testing the synchronization of the two components</a:t>
            </a:r>
          </a:p>
          <a:p>
            <a:pPr algn="just"/>
            <a:endParaRPr lang="en-US" sz="1200" dirty="0" smtClean="0"/>
          </a:p>
          <a:p>
            <a:pPr algn="just"/>
            <a:r>
              <a:rPr lang="en-US" sz="1200" dirty="0" smtClean="0"/>
              <a:t>Not </a:t>
            </a:r>
            <a:r>
              <a:rPr lang="en-US" sz="1200" dirty="0"/>
              <a:t>to mention inefficiencies create by decisions made at the wrong time (too early means a delay from when the decision was made until it should have been made, too late means a delay from when it should have been made to when it was made</a:t>
            </a:r>
            <a:r>
              <a:rPr lang="en-US" sz="1200" dirty="0" smtClean="0"/>
              <a:t>).</a:t>
            </a:r>
          </a:p>
          <a:p>
            <a:pPr algn="just"/>
            <a:endParaRPr lang="en-US" sz="1200" dirty="0"/>
          </a:p>
          <a:p>
            <a:pPr algn="just"/>
            <a:r>
              <a:rPr lang="en-US" sz="1200" dirty="0"/>
              <a:t>One hears a lot about batch size in lean because batches of work are the easiest things to spot.  But it is actually the delays and interruptions we are trying to eliminate when we manage flow.  Managing batches does this because the underlying cause of batches (too much work in progress – WIP) is the same underlying cause of delays and interruptions</a:t>
            </a:r>
            <a:r>
              <a:rPr lang="en-US" sz="1200" dirty="0" smtClean="0"/>
              <a:t>.</a:t>
            </a:r>
          </a:p>
          <a:p>
            <a:pPr algn="just"/>
            <a:endParaRPr lang="en-US" sz="1200" dirty="0"/>
          </a:p>
          <a:p>
            <a:pPr algn="just"/>
            <a:r>
              <a:rPr lang="en-US" sz="1200" dirty="0"/>
              <a:t>Lean’s mantra of “delivering fast” is often misunderstood to mean “go fast.”  It doesn’t mean that.  It means “avoid delays and interruptions in order to get there (delivery) fast.” You avoid delays and interruptions by attending to flow.</a:t>
            </a:r>
          </a:p>
          <a:p>
            <a:endParaRPr lang="en-US" sz="1200" dirty="0"/>
          </a:p>
        </p:txBody>
      </p:sp>
      <p:sp>
        <p:nvSpPr>
          <p:cNvPr id="15365" name="Rectangle 3"/>
          <p:cNvSpPr>
            <a:spLocks/>
          </p:cNvSpPr>
          <p:nvPr/>
        </p:nvSpPr>
        <p:spPr bwMode="auto">
          <a:xfrm>
            <a:off x="3357346" y="1873250"/>
            <a:ext cx="3772116"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err="1" smtClean="0"/>
              <a:t>uch</a:t>
            </a:r>
            <a:r>
              <a:rPr lang="en-US" sz="1400" dirty="0" smtClean="0"/>
              <a:t> </a:t>
            </a:r>
            <a:r>
              <a:rPr lang="en-US" sz="1400" dirty="0"/>
              <a:t>of the work done in software development groups (IT or product) is the result of delays and interruptions.  This sentence sounds funny, doesn’t it?  But on reflection, let’s see where a lot of our time (work) is spent</a:t>
            </a:r>
            <a:r>
              <a:rPr lang="en-US" sz="1400" dirty="0" smtClean="0"/>
              <a:t>:</a:t>
            </a:r>
          </a:p>
          <a:p>
            <a:endParaRPr lang="en-US" sz="1200" dirty="0" smtClean="0"/>
          </a:p>
          <a:p>
            <a:pPr marL="171450" indent="-171450">
              <a:buFont typeface="Arial" pitchFamily="34" charset="0"/>
              <a:buChar char="•"/>
            </a:pPr>
            <a:r>
              <a:rPr lang="en-US" sz="1200" dirty="0" smtClean="0"/>
              <a:t>Reworking requirements</a:t>
            </a:r>
          </a:p>
          <a:p>
            <a:pPr marL="171450" indent="-171450">
              <a:buFont typeface="Arial" pitchFamily="34" charset="0"/>
              <a:buChar char="•"/>
            </a:pPr>
            <a:r>
              <a:rPr lang="en-US" sz="1200" dirty="0" smtClean="0"/>
              <a:t>Building software to satisfy missed or misunderstood requirements</a:t>
            </a:r>
          </a:p>
          <a:p>
            <a:pPr marL="171450" indent="-171450">
              <a:buFont typeface="Arial" pitchFamily="34" charset="0"/>
              <a:buChar char="•"/>
            </a:pPr>
            <a:r>
              <a:rPr lang="en-US" sz="1200" dirty="0" smtClean="0"/>
              <a:t>Finding bugs</a:t>
            </a:r>
          </a:p>
          <a:p>
            <a:pPr marL="171450" indent="-171450">
              <a:buFont typeface="Arial" pitchFamily="34" charset="0"/>
              <a:buChar char="•"/>
            </a:pPr>
            <a:r>
              <a:rPr lang="en-US" sz="1200" dirty="0" smtClean="0"/>
              <a:t>Thrashing while trying to integrate two components that were built semi-independently of each other</a:t>
            </a:r>
            <a:endParaRPr lang="en-US" sz="1200" dirty="0"/>
          </a:p>
        </p:txBody>
      </p:sp>
      <p:sp>
        <p:nvSpPr>
          <p:cNvPr id="15366" name="Rectangle 4"/>
          <p:cNvSpPr>
            <a:spLocks/>
          </p:cNvSpPr>
          <p:nvPr/>
        </p:nvSpPr>
        <p:spPr bwMode="auto">
          <a:xfrm>
            <a:off x="2100262" y="154743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M</a:t>
            </a:r>
            <a:endParaRPr lang="en-US" sz="11600" b="1" dirty="0">
              <a:latin typeface="Helvetica Neue Bold Condensed" charset="0"/>
              <a:sym typeface="Helvetica Neue Bold Condensed" charset="0"/>
            </a:endParaRPr>
          </a:p>
        </p:txBody>
      </p:sp>
      <p:sp>
        <p:nvSpPr>
          <p:cNvPr id="11" name="Rectangle 5"/>
          <p:cNvSpPr>
            <a:spLocks/>
          </p:cNvSpPr>
          <p:nvPr/>
        </p:nvSpPr>
        <p:spPr bwMode="auto">
          <a:xfrm>
            <a:off x="347663" y="3376612"/>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latin typeface="Helvetica" pitchFamily="34" charset="0"/>
                <a:cs typeface="Helvetica" pitchFamily="34" charset="0"/>
                <a:sym typeface="Helvetica" charset="0"/>
              </a:rPr>
              <a:t>Al Shalloway</a:t>
            </a:r>
          </a:p>
          <a:p>
            <a:pPr algn="r"/>
            <a:r>
              <a:rPr lang="en-US" sz="1100" dirty="0"/>
              <a:t>F</a:t>
            </a:r>
            <a:r>
              <a:rPr lang="en-US" sz="1100" dirty="0" smtClean="0"/>
              <a:t>ounder &amp; CEO</a:t>
            </a:r>
          </a:p>
          <a:p>
            <a:pPr algn="r"/>
            <a:r>
              <a:rPr lang="en-US" sz="1100" i="1" dirty="0" smtClean="0">
                <a:solidFill>
                  <a:srgbClr val="4D4D4D"/>
                </a:solidFill>
                <a:latin typeface="Helvetica" charset="0"/>
                <a:cs typeface="Helvetica" charset="0"/>
                <a:sym typeface="Helvetica" charset="0"/>
                <a:hlinkClick r:id="rId3"/>
              </a:rPr>
              <a:t>Net Objectives</a:t>
            </a:r>
            <a:endParaRPr lang="en-US" sz="1100" i="1" dirty="0">
              <a:solidFill>
                <a:srgbClr val="4D4D4D"/>
              </a:solidFill>
              <a:latin typeface="Helvetica" charset="0"/>
              <a:cs typeface="Helvetica" charset="0"/>
              <a:sym typeface="Helvetica" charset="0"/>
            </a:endParaRPr>
          </a:p>
        </p:txBody>
      </p:sp>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AGILE / LEAN</a:t>
            </a:r>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40</a:t>
            </a:fld>
            <a:endParaRPr lang="en-PH" dirty="0"/>
          </a:p>
        </p:txBody>
      </p:sp>
      <p:sp>
        <p:nvSpPr>
          <p:cNvPr id="15" name="Rounded Rectangle 14">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462102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2" y="771525"/>
            <a:ext cx="6400800"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a:t>Push vs. Pull</a:t>
            </a:r>
          </a:p>
          <a:p>
            <a:pPr algn="just"/>
            <a:endParaRPr lang="en-US" sz="1200" dirty="0"/>
          </a:p>
          <a:p>
            <a:pPr algn="just"/>
            <a:r>
              <a:rPr lang="en-US" sz="1200" dirty="0"/>
              <a:t>The essence of effective Lean-Agile development is to deliver the most important capabilities in the timeliest manner. To enable developer groups to respond quickly, they must work without slowing themselves down with delays and interruptions.  This means they need to accept work at their own pace.  This approach is called ‘pull’ because they pull work from a backlog of prioritized work.  This enables a more stable rate of productivity.  This, in turn, creates greater predictability of the rate at which they accomplish their work.  On the other hand, when work is given to them with set schedules, the set schedule typically requires more things being worked on than should be.  This contributes to delays and interruptions causing additional work.  This instability in the development process causes  unpredictability of what they can accomplish.</a:t>
            </a:r>
          </a:p>
          <a:p>
            <a:pPr algn="just"/>
            <a:endParaRPr lang="en-US" sz="1200" dirty="0"/>
          </a:p>
          <a:p>
            <a:pPr algn="just"/>
            <a:r>
              <a:rPr lang="en-US" sz="1400" b="1" dirty="0"/>
              <a:t>Not the Whole Story</a:t>
            </a:r>
          </a:p>
          <a:p>
            <a:pPr algn="just"/>
            <a:endParaRPr lang="en-US" sz="1200" b="1" dirty="0"/>
          </a:p>
          <a:p>
            <a:pPr algn="just"/>
            <a:r>
              <a:rPr lang="en-US" sz="1200" dirty="0"/>
              <a:t>This, of course, is not the whole story of Lean. Lean provides insights into product prioritization,  management, and learning.</a:t>
            </a:r>
          </a:p>
          <a:p>
            <a:pPr algn="just"/>
            <a:endParaRPr lang="en-US" sz="1200" dirty="0"/>
          </a:p>
          <a:p>
            <a:pPr algn="just"/>
            <a:r>
              <a:rPr lang="en-US" sz="1400" b="1" dirty="0" smtClean="0"/>
              <a:t>Summary</a:t>
            </a:r>
          </a:p>
          <a:p>
            <a:pPr algn="just"/>
            <a:endParaRPr lang="en-US" sz="1200" b="1" dirty="0"/>
          </a:p>
          <a:p>
            <a:pPr algn="just"/>
            <a:r>
              <a:rPr lang="en-US" sz="1200" dirty="0"/>
              <a:t>Much of the work done in software development is not value added work but is work caused by delays and interruptions.  Working from old requirements, re-working requirements, the time to find bugs, thrashing due to integration, implementing misunderstood requirements often account for more than half of the work done by a development team.  Delays in, and interruptions to, our workflow is mostly due to working on too many, too large projects.  We must start at the beginning of the value stream by doing proper product portfolio management.  We must create visibility throughout the value stream so we can improve the efficiency of the work being done.  We must manage the workflow across teams when more than one team is involved.  We must shift from focusing on isolated optimizations of efficiency to a holistic view of the entire workflow</a:t>
            </a:r>
            <a:r>
              <a:rPr lang="en-US" sz="1200" dirty="0" smtClean="0"/>
              <a:t>.</a:t>
            </a:r>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a:p>
          <a:p>
            <a:pPr algn="just"/>
            <a:r>
              <a:rPr lang="en-US" sz="1200" i="1" dirty="0"/>
              <a:t>Table 1. Causes of Delay and Actions to Counter </a:t>
            </a:r>
            <a:r>
              <a:rPr lang="en-US" sz="1200" i="1" dirty="0" smtClean="0"/>
              <a:t>Them</a:t>
            </a:r>
            <a:endParaRPr lang="en-US" sz="1200" dirty="0"/>
          </a:p>
          <a:p>
            <a:endParaRPr lang="en-US" sz="1200" dirty="0"/>
          </a:p>
          <a:p>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41</a:t>
            </a:fld>
            <a:endParaRPr lang="en-PH" dirty="0"/>
          </a:p>
        </p:txBody>
      </p:sp>
      <p:graphicFrame>
        <p:nvGraphicFramePr>
          <p:cNvPr id="3" name="Table 2"/>
          <p:cNvGraphicFramePr>
            <a:graphicFrameLocks noGrp="1"/>
          </p:cNvGraphicFramePr>
          <p:nvPr>
            <p:extLst>
              <p:ext uri="{D42A27DB-BD31-4B8C-83A1-F6EECF244321}">
                <p14:modId xmlns:p14="http://schemas.microsoft.com/office/powerpoint/2010/main" val="2900772063"/>
              </p:ext>
            </p:extLst>
          </p:nvPr>
        </p:nvGraphicFramePr>
        <p:xfrm>
          <a:off x="919162" y="6410325"/>
          <a:ext cx="5715000" cy="1127760"/>
        </p:xfrm>
        <a:graphic>
          <a:graphicData uri="http://schemas.openxmlformats.org/drawingml/2006/table">
            <a:tbl>
              <a:tblPr/>
              <a:tblGrid>
                <a:gridCol w="2857500"/>
                <a:gridCol w="2857500"/>
              </a:tblGrid>
              <a:tr h="0">
                <a:tc>
                  <a:txBody>
                    <a:bodyPr/>
                    <a:lstStyle/>
                    <a:p>
                      <a:r>
                        <a:rPr lang="en-US" sz="1400" b="1" dirty="0">
                          <a:effectLst/>
                        </a:rPr>
                        <a:t>Cause of Delay</a:t>
                      </a:r>
                      <a:endParaRPr lang="en-US" sz="1400" dirty="0">
                        <a:effectLst/>
                      </a:endParaRPr>
                    </a:p>
                  </a:txBody>
                  <a:tcPr marL="0" marR="0" marT="0" marB="0" anchor="ctr">
                    <a:lnL>
                      <a:noFill/>
                    </a:lnL>
                    <a:lnR>
                      <a:noFill/>
                    </a:lnR>
                    <a:lnT>
                      <a:noFill/>
                    </a:lnT>
                    <a:lnB>
                      <a:noFill/>
                    </a:lnB>
                  </a:tcPr>
                </a:tc>
                <a:tc>
                  <a:txBody>
                    <a:bodyPr/>
                    <a:lstStyle/>
                    <a:p>
                      <a:r>
                        <a:rPr lang="en-US" sz="1400" b="1" dirty="0">
                          <a:effectLst/>
                        </a:rPr>
                        <a:t>Cause of Efficiency</a:t>
                      </a:r>
                      <a:endParaRPr lang="en-US" sz="1400" dirty="0">
                        <a:effectLst/>
                      </a:endParaRPr>
                    </a:p>
                  </a:txBody>
                  <a:tcPr marL="0" marR="0" marT="0" marB="0" anchor="ctr">
                    <a:lnL>
                      <a:noFill/>
                    </a:lnL>
                    <a:lnR>
                      <a:noFill/>
                    </a:lnR>
                    <a:lnT>
                      <a:noFill/>
                    </a:lnT>
                    <a:lnB>
                      <a:noFill/>
                    </a:lnB>
                  </a:tcPr>
                </a:tc>
              </a:tr>
              <a:tr h="0">
                <a:tc>
                  <a:txBody>
                    <a:bodyPr/>
                    <a:lstStyle/>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Big Planning Cycles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Big projects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Implemented in big Batches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Specialized team members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Validation at end</a:t>
                      </a:r>
                    </a:p>
                  </a:txBody>
                  <a:tcPr marL="0" marR="0" marT="0" marB="0" anchor="ctr">
                    <a:lnL>
                      <a:noFill/>
                    </a:lnL>
                    <a:lnR>
                      <a:noFill/>
                    </a:lnR>
                    <a:lnT>
                      <a:noFill/>
                    </a:lnT>
                    <a:lnB>
                      <a:noFill/>
                    </a:lnB>
                  </a:tcPr>
                </a:tc>
                <a:tc>
                  <a:txBody>
                    <a:bodyPr/>
                    <a:lstStyle/>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Small planning cycles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MMFs</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Incremental development</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Cross-functional, load-balanced</a:t>
                      </a:r>
                    </a:p>
                    <a:p>
                      <a:pPr marL="0" indent="-285750" algn="l" defTabSz="914400" rtl="0" eaLnBrk="1" latinLnBrk="0" hangingPunct="1">
                        <a:buFont typeface="Arial"/>
                        <a:buChar char="•"/>
                      </a:pPr>
                      <a:r>
                        <a:rPr lang="en-US" sz="1200" kern="1200" dirty="0">
                          <a:solidFill>
                            <a:schemeClr val="tx1"/>
                          </a:solidFill>
                          <a:latin typeface="Arial" charset="0"/>
                          <a:ea typeface="+mn-ea"/>
                          <a:cs typeface="Arial" charset="0"/>
                        </a:rPr>
                        <a:t>Quick validation</a:t>
                      </a:r>
                    </a:p>
                  </a:txBody>
                  <a:tcPr marL="0" marR="0" marT="0" marB="0" anchor="ctr">
                    <a:lnL>
                      <a:noFill/>
                    </a:lnL>
                    <a:lnR>
                      <a:noFill/>
                    </a:lnR>
                    <a:lnT>
                      <a:noFill/>
                    </a:lnT>
                    <a:lnB>
                      <a:noFill/>
                    </a:lnB>
                  </a:tcPr>
                </a:tc>
              </a:tr>
            </a:tbl>
          </a:graphicData>
        </a:graphic>
      </p:graphicFrame>
      <p:sp>
        <p:nvSpPr>
          <p:cNvPr id="10" name="Rectangle 2"/>
          <p:cNvSpPr>
            <a:spLocks/>
          </p:cNvSpPr>
          <p:nvPr/>
        </p:nvSpPr>
        <p:spPr bwMode="auto">
          <a:xfrm>
            <a:off x="508169" y="8467725"/>
            <a:ext cx="6468893" cy="8382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dirty="0"/>
              <a:t>Al Shalloway is the founder and CEO of </a:t>
            </a:r>
            <a:r>
              <a:rPr lang="en-US" sz="1000" u="sng" dirty="0">
                <a:hlinkClick r:id="rId2"/>
              </a:rPr>
              <a:t>Net Objectives</a:t>
            </a:r>
            <a:r>
              <a:rPr lang="en-US" sz="1000" dirty="0"/>
              <a:t>. With over 40 years of experience, Al is an industry thought leader in Lean, </a:t>
            </a:r>
            <a:r>
              <a:rPr lang="en-US" sz="1000" dirty="0" err="1"/>
              <a:t>Kanban</a:t>
            </a:r>
            <a:r>
              <a:rPr lang="en-US" sz="1000" dirty="0"/>
              <a:t>, product portfolio management, Scrum and agile design. He helps companies transition to Lean and Agile methods enterprise-wide with consulting and training. Al is a </a:t>
            </a:r>
            <a:r>
              <a:rPr lang="en-US" sz="1000" u="sng" dirty="0" err="1">
                <a:hlinkClick r:id="rId3"/>
              </a:rPr>
              <a:t>SAFe</a:t>
            </a:r>
            <a:r>
              <a:rPr lang="en-US" sz="1000" u="sng">
                <a:hlinkClick r:id="rId3"/>
              </a:rPr>
              <a:t> Program</a:t>
            </a:r>
            <a:r>
              <a:rPr lang="en-US" sz="1000"/>
              <a:t> Consultant the co-author of </a:t>
            </a:r>
            <a:r>
              <a:rPr lang="en-US" sz="1000" u="sng">
                <a:hlinkClick r:id="rId4"/>
              </a:rPr>
              <a:t>four books on Lean, Scrum, Design Patterns and Agile Design</a:t>
            </a:r>
            <a:r>
              <a:rPr lang="en-US" sz="1000"/>
              <a:t>.</a:t>
            </a:r>
            <a:endParaRPr lang="en-US" sz="1000" dirty="0"/>
          </a:p>
        </p:txBody>
      </p:sp>
      <p:sp>
        <p:nvSpPr>
          <p:cNvPr id="11" name="Rounded Rectangle 10"/>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AGILE / LEAN</a:t>
            </a:r>
          </a:p>
        </p:txBody>
      </p:sp>
    </p:spTree>
    <p:extLst>
      <p:ext uri="{BB962C8B-B14F-4D97-AF65-F5344CB8AC3E}">
        <p14:creationId xmlns:p14="http://schemas.microsoft.com/office/powerpoint/2010/main" val="16778616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533805" y="1990725"/>
            <a:ext cx="1388176" cy="1562100"/>
          </a:xfrm>
          <a:prstGeom prst="rect">
            <a:avLst/>
          </a:prstGeom>
        </p:spPr>
      </p:pic>
      <p:sp>
        <p:nvSpPr>
          <p:cNvPr id="12290" name="TextBox 3"/>
          <p:cNvSpPr txBox="1">
            <a:spLocks noChangeArrowheads="1"/>
          </p:cNvSpPr>
          <p:nvPr/>
        </p:nvSpPr>
        <p:spPr bwMode="auto">
          <a:xfrm>
            <a:off x="195263" y="695327"/>
            <a:ext cx="7290778"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400" b="1" dirty="0">
                <a:latin typeface="Palatino Linotype" pitchFamily="18" charset="0"/>
              </a:rPr>
              <a:t>ALM State of the Industry Reports</a:t>
            </a:r>
            <a:r>
              <a:rPr lang="en-US" sz="3400" b="1" dirty="0" smtClean="0">
                <a:latin typeface="Palatino Linotype" pitchFamily="18" charset="0"/>
              </a:rPr>
              <a:t>:</a:t>
            </a:r>
          </a:p>
          <a:p>
            <a:pPr eaLnBrk="1" hangingPunct="1"/>
            <a:r>
              <a:rPr lang="en-US" sz="3400" b="1" dirty="0" smtClean="0">
                <a:latin typeface="Palatino Linotype" pitchFamily="18" charset="0"/>
              </a:rPr>
              <a:t>which </a:t>
            </a:r>
            <a:r>
              <a:rPr lang="en-US" sz="3400" b="1" dirty="0">
                <a:latin typeface="Palatino Linotype" pitchFamily="18" charset="0"/>
              </a:rPr>
              <a:t>one is right?</a:t>
            </a:r>
          </a:p>
        </p:txBody>
      </p:sp>
      <p:sp>
        <p:nvSpPr>
          <p:cNvPr id="12292" name="Rectangle 2"/>
          <p:cNvSpPr>
            <a:spLocks/>
          </p:cNvSpPr>
          <p:nvPr/>
        </p:nvSpPr>
        <p:spPr bwMode="auto">
          <a:xfrm>
            <a:off x="2173288" y="3394452"/>
            <a:ext cx="4956175" cy="557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Forrester’s Wave report is made every two years, and it was comparing the latest version of Rally and Team Concert with Visual Studio/TFS 2010, so naturally TFS is in the second tier as the Agile backlog and planning tools were not considered;</a:t>
            </a:r>
            <a:r>
              <a:rPr lang="en-US" sz="1200" i="1" dirty="0"/>
              <a:t>.</a:t>
            </a:r>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p:txBody>
      </p:sp>
      <p:sp>
        <p:nvSpPr>
          <p:cNvPr id="12293" name="Rectangle 3"/>
          <p:cNvSpPr>
            <a:spLocks/>
          </p:cNvSpPr>
          <p:nvPr/>
        </p:nvSpPr>
        <p:spPr bwMode="auto">
          <a:xfrm>
            <a:off x="3243262" y="1935162"/>
            <a:ext cx="38862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err="1" smtClean="0"/>
              <a:t>ver</a:t>
            </a:r>
            <a:r>
              <a:rPr lang="en-US" sz="1400" dirty="0" smtClean="0"/>
              <a:t> </a:t>
            </a:r>
            <a:r>
              <a:rPr lang="en-US" sz="1400" dirty="0"/>
              <a:t>the last 6 months </a:t>
            </a:r>
            <a:r>
              <a:rPr lang="en-US" sz="1400" dirty="0" smtClean="0"/>
              <a:t>I have </a:t>
            </a:r>
            <a:r>
              <a:rPr lang="en-US" sz="1400" dirty="0"/>
              <a:t>been asked which one is better: TFS, based on the </a:t>
            </a:r>
            <a:r>
              <a:rPr lang="en-US" sz="1400" dirty="0">
                <a:hlinkClick r:id="rId3"/>
              </a:rPr>
              <a:t>latest Gartner report</a:t>
            </a:r>
            <a:r>
              <a:rPr lang="en-US" sz="1400" dirty="0"/>
              <a:t>, or Team Concert and Rally, based on the latest Forrester report (which you get </a:t>
            </a:r>
            <a:r>
              <a:rPr lang="en-US" sz="1400" dirty="0">
                <a:hlinkClick r:id="rId4"/>
              </a:rPr>
              <a:t>here</a:t>
            </a:r>
            <a:r>
              <a:rPr lang="en-US" sz="1400" dirty="0"/>
              <a:t> and </a:t>
            </a:r>
            <a:r>
              <a:rPr lang="en-US" sz="1400" dirty="0">
                <a:hlinkClick r:id="rId5"/>
              </a:rPr>
              <a:t>here</a:t>
            </a:r>
            <a:r>
              <a:rPr lang="en-US" sz="1400" dirty="0"/>
              <a:t>)? The answer is quite simple if you actually read both. Here is the short version</a:t>
            </a:r>
            <a:r>
              <a:rPr lang="en-US" sz="1400" dirty="0" smtClean="0"/>
              <a:t>:</a:t>
            </a:r>
            <a:endParaRPr lang="en-US" sz="14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O</a:t>
            </a: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 / SURVEY</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42</a:t>
            </a:fld>
            <a:endParaRPr lang="en-PH" dirty="0"/>
          </a:p>
        </p:txBody>
      </p:sp>
      <p:sp>
        <p:nvSpPr>
          <p:cNvPr id="17" name="Rectangle 5"/>
          <p:cNvSpPr>
            <a:spLocks/>
          </p:cNvSpPr>
          <p:nvPr/>
        </p:nvSpPr>
        <p:spPr bwMode="auto">
          <a:xfrm>
            <a:off x="344486" y="368141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Clementino de Mendonca</a:t>
            </a:r>
            <a:endParaRPr lang="en-US" sz="1100" i="1" dirty="0">
              <a:solidFill>
                <a:srgbClr val="4D4D4D"/>
              </a:solidFill>
              <a:latin typeface="Helvetica" charset="0"/>
              <a:cs typeface="Helvetica" charset="0"/>
              <a:sym typeface="Helvetica" charset="0"/>
            </a:endParaRPr>
          </a:p>
          <a:p>
            <a:pPr algn="r"/>
            <a:r>
              <a:rPr lang="en-US" sz="1100" i="1" dirty="0">
                <a:solidFill>
                  <a:srgbClr val="4D4D4D"/>
                </a:solidFill>
                <a:latin typeface="Helvetica" charset="0"/>
                <a:cs typeface="Helvetica" charset="0"/>
              </a:rPr>
              <a:t>N</a:t>
            </a:r>
            <a:r>
              <a:rPr lang="en-US" sz="1100" i="1" dirty="0" smtClean="0">
                <a:solidFill>
                  <a:srgbClr val="4D4D4D"/>
                </a:solidFill>
                <a:latin typeface="Helvetica" charset="0"/>
                <a:cs typeface="Helvetica" charset="0"/>
              </a:rPr>
              <a:t>ational ALM Architect</a:t>
            </a:r>
          </a:p>
          <a:p>
            <a:pPr algn="r"/>
            <a:r>
              <a:rPr lang="en-US" sz="1100" i="1" dirty="0" smtClean="0">
                <a:solidFill>
                  <a:srgbClr val="4D4D4D"/>
                </a:solidFill>
                <a:latin typeface="Helvetica" charset="0"/>
                <a:cs typeface="Helvetica" charset="0"/>
                <a:sym typeface="Helvetica" charset="0"/>
                <a:hlinkClick r:id="rId6"/>
              </a:rPr>
              <a:t>Neudesic</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3" name="Rounded Rectangle 1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pic>
        <p:nvPicPr>
          <p:cNvPr id="5122" name="Picture 2" descr="http://www.clearmindsoftware.com/image.axd?picture=image.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5354" y="4541951"/>
            <a:ext cx="5024110" cy="4154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0588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2" y="771525"/>
            <a:ext cx="6400800"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r>
              <a:rPr lang="en-US" sz="1200" dirty="0" smtClean="0"/>
              <a:t>What </a:t>
            </a:r>
            <a:r>
              <a:rPr lang="en-US" sz="1200" dirty="0"/>
              <a:t>I like about this report is its Ovum SLM Solution model, which highlights new trends such as </a:t>
            </a:r>
            <a:r>
              <a:rPr lang="en-US" sz="1200" dirty="0">
                <a:hlinkClick r:id="rId2"/>
              </a:rPr>
              <a:t>DevOps</a:t>
            </a:r>
            <a:r>
              <a:rPr lang="en-US" sz="1200" dirty="0"/>
              <a:t> and the growing overlap of ALM and PLM (Product Lifecycle Management). It also includes a list of vendor profiles such as </a:t>
            </a:r>
            <a:r>
              <a:rPr lang="en-US" sz="1200" dirty="0" err="1">
                <a:hlinkClick r:id="rId3"/>
              </a:rPr>
              <a:t>Seapine</a:t>
            </a:r>
            <a:r>
              <a:rPr lang="en-US" sz="1200" dirty="0"/>
              <a:t> and </a:t>
            </a:r>
            <a:r>
              <a:rPr lang="en-US" sz="1200" dirty="0">
                <a:hlinkClick r:id="rId4"/>
              </a:rPr>
              <a:t>Tasktop</a:t>
            </a:r>
            <a:r>
              <a:rPr lang="en-US" sz="1200" dirty="0"/>
              <a:t>, and their current ALM products. This is very useful if you are trying to understand industry trends as opposed to tracking a single company</a:t>
            </a:r>
            <a:r>
              <a:rPr lang="en-US" sz="1200" dirty="0" smtClean="0"/>
              <a:t>.</a:t>
            </a:r>
          </a:p>
          <a:p>
            <a:pPr algn="just"/>
            <a:endParaRPr lang="en-US" sz="1200" dirty="0"/>
          </a:p>
          <a:p>
            <a:pPr algn="just"/>
            <a:r>
              <a:rPr lang="en-US" sz="1200" dirty="0"/>
              <a:t>Notice how the same company/ALM suite can be in a completely different ranking depending on the report focus. That’s why I recommend paying close attention to the methodology used by each report vendor. The best way to understand the complexity of the ALM industry is to create your own composite view based on many sources. At a minimum you will need these four reports. </a:t>
            </a:r>
            <a:endParaRPr lang="en-US" sz="1200" dirty="0" smtClean="0"/>
          </a:p>
          <a:p>
            <a:pPr algn="just"/>
            <a:endParaRPr lang="en-US" sz="1200" dirty="0"/>
          </a:p>
          <a:p>
            <a:pPr algn="just"/>
            <a:r>
              <a:rPr lang="en-US" sz="1200" dirty="0"/>
              <a:t>Just reading the marketing perspective from each company, which obviously will leverage those reports to provide a biased perspective of they own products, will put you in a position of an uninformed bystander in the ALM world.</a:t>
            </a:r>
          </a:p>
          <a:p>
            <a:pPr algn="just"/>
            <a:endParaRPr lang="en-US" sz="1200" dirty="0"/>
          </a:p>
          <a:p>
            <a:pPr fontAlgn="ctr"/>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43</a:t>
            </a:fld>
            <a:endParaRPr lang="en-PH" dirty="0"/>
          </a:p>
        </p:txBody>
      </p:sp>
      <p:sp>
        <p:nvSpPr>
          <p:cNvPr id="7" name="Rectangle 2"/>
          <p:cNvSpPr>
            <a:spLocks/>
          </p:cNvSpPr>
          <p:nvPr/>
        </p:nvSpPr>
        <p:spPr bwMode="auto">
          <a:xfrm>
            <a:off x="1185864" y="8239125"/>
            <a:ext cx="5410198" cy="914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smtClean="0"/>
              <a:t>Clementino </a:t>
            </a:r>
            <a:r>
              <a:rPr lang="en-US" sz="1000" i="1" dirty="0"/>
              <a:t>de Mendonça is a Professional Scrum Developer Trainer, a </a:t>
            </a:r>
            <a:r>
              <a:rPr lang="en-US" sz="1000" i="1" dirty="0">
                <a:hlinkClick r:id="rId5"/>
              </a:rPr>
              <a:t>Neudesic </a:t>
            </a:r>
            <a:r>
              <a:rPr lang="en-US" sz="1000" i="1" dirty="0"/>
              <a:t>National ALM Architect, a former National Lead for ALM and Testing with Capgemini/Sogeti, and was on the Microsoft Services National ALM Team for 4 years. On the Visual Studio Process Team in 2007, he helped design the Visual Studio 2010 process templates (MSF Agile 5.0 and MSF CMMI 5.0).</a:t>
            </a:r>
          </a:p>
          <a:p>
            <a:endParaRPr lang="en-US" sz="1000" i="1" dirty="0"/>
          </a:p>
        </p:txBody>
      </p:sp>
      <p:pic>
        <p:nvPicPr>
          <p:cNvPr id="10" name="Picture 2">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7553325"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49101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695325"/>
            <a:ext cx="42707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err="1" smtClean="0">
                <a:latin typeface="Palatino Linotype" pitchFamily="18" charset="0"/>
              </a:rPr>
              <a:t>EclipseCon</a:t>
            </a:r>
            <a:r>
              <a:rPr lang="en-US" sz="3600" b="1" dirty="0" smtClean="0">
                <a:latin typeface="Palatino Linotype" pitchFamily="18" charset="0"/>
              </a:rPr>
              <a:t> </a:t>
            </a:r>
            <a:r>
              <a:rPr lang="en-US" sz="3600" b="1" dirty="0">
                <a:latin typeface="Palatino Linotype" pitchFamily="18" charset="0"/>
              </a:rPr>
              <a:t>Review</a:t>
            </a:r>
          </a:p>
        </p:txBody>
      </p:sp>
      <p:sp>
        <p:nvSpPr>
          <p:cNvPr id="12292" name="Rectangle 2"/>
          <p:cNvSpPr>
            <a:spLocks/>
          </p:cNvSpPr>
          <p:nvPr/>
        </p:nvSpPr>
        <p:spPr bwMode="auto">
          <a:xfrm>
            <a:off x="2173288" y="3286125"/>
            <a:ext cx="4956175"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400" b="1" dirty="0" smtClean="0"/>
              <a:t>Lifecycle Integration</a:t>
            </a:r>
          </a:p>
          <a:p>
            <a:endParaRPr lang="en-US" sz="1200" b="1" dirty="0"/>
          </a:p>
          <a:p>
            <a:pPr algn="just"/>
            <a:r>
              <a:rPr lang="en-US" sz="1200" dirty="0"/>
              <a:t>Several sessions also covered integration techniques, including “Lifecycle Integration – The secret sauce of ALM success” by ALM industry veteran Dave West, now with </a:t>
            </a:r>
            <a:r>
              <a:rPr lang="en-US" sz="1200" u="sng" dirty="0">
                <a:hlinkClick r:id="rId2"/>
              </a:rPr>
              <a:t>Tasktop</a:t>
            </a:r>
            <a:r>
              <a:rPr lang="en-US" sz="1200" dirty="0"/>
              <a:t>. Dave’s session described how the common focus on vendor-based tool suites has removed focus from the end-to-end business process, and how the tool silos are becoming more entrenched as developers and teams are empowered to select the tools that make them most productive</a:t>
            </a:r>
            <a:r>
              <a:rPr lang="en-US" sz="1200" dirty="0" smtClean="0"/>
              <a:t>.</a:t>
            </a:r>
          </a:p>
          <a:p>
            <a:pPr algn="just"/>
            <a:endParaRPr lang="en-US" sz="1200" dirty="0"/>
          </a:p>
          <a:p>
            <a:pPr algn="just"/>
            <a:r>
              <a:rPr lang="en-US" sz="1200" dirty="0"/>
              <a:t>A recent survey of 280 customers by Forrester Research asking “Which would you consider as major roadblocks of ALM solutions?” showed that integration has become the #1 problem in ALM</a:t>
            </a:r>
            <a:r>
              <a:rPr lang="en-US" sz="1200" dirty="0" smtClean="0"/>
              <a:t>:</a:t>
            </a:r>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r>
              <a:rPr lang="en-US" sz="1200" dirty="0"/>
              <a:t>Figure 1: Reported ALM Roadblocks</a:t>
            </a:r>
          </a:p>
          <a:p>
            <a:pPr algn="just"/>
            <a:endParaRPr lang="en-US" sz="1200" dirty="0"/>
          </a:p>
        </p:txBody>
      </p:sp>
      <p:sp>
        <p:nvSpPr>
          <p:cNvPr id="12293" name="Rectangle 3"/>
          <p:cNvSpPr>
            <a:spLocks/>
          </p:cNvSpPr>
          <p:nvPr/>
        </p:nvSpPr>
        <p:spPr bwMode="auto">
          <a:xfrm>
            <a:off x="3090863" y="1935162"/>
            <a:ext cx="4038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he </a:t>
            </a:r>
            <a:r>
              <a:rPr lang="en-US" sz="1400" b="1" u="sng" dirty="0">
                <a:hlinkClick r:id="rId3"/>
              </a:rPr>
              <a:t>ALM Connect</a:t>
            </a:r>
            <a:r>
              <a:rPr lang="en-US" sz="1400" dirty="0"/>
              <a:t> conference in March, 2013 – co-located in Boston with </a:t>
            </a:r>
            <a:r>
              <a:rPr lang="en-US" sz="1400" dirty="0" err="1"/>
              <a:t>EclipseCon</a:t>
            </a:r>
            <a:r>
              <a:rPr lang="en-US" sz="1400" dirty="0"/>
              <a:t> – presented a variety of ALM sessions covering topics from Scrum to testing, and focusing on many of the Open Source tools that make up the typical Eclipse-based portfolio.</a:t>
            </a:r>
          </a:p>
        </p:txBody>
      </p:sp>
      <p:sp>
        <p:nvSpPr>
          <p:cNvPr id="12294" name="Rectangle 4"/>
          <p:cNvSpPr>
            <a:spLocks/>
          </p:cNvSpPr>
          <p:nvPr/>
        </p:nvSpPr>
        <p:spPr bwMode="auto">
          <a:xfrm>
            <a:off x="2024063" y="16097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T</a:t>
            </a:r>
          </a:p>
        </p:txBody>
      </p:sp>
      <p:pic>
        <p:nvPicPr>
          <p:cNvPr id="11" name="Picture 10"/>
          <p:cNvPicPr/>
          <p:nvPr/>
        </p:nvPicPr>
        <p:blipFill>
          <a:blip r:embed="rId4">
            <a:extLst>
              <a:ext uri="{28A0092B-C50C-407E-A947-70E740481C1C}">
                <a14:useLocalDpi xmlns:a14="http://schemas.microsoft.com/office/drawing/2010/main" val="0"/>
              </a:ext>
            </a:extLst>
          </a:blip>
          <a:srcRect/>
          <a:stretch>
            <a:fillRect/>
          </a:stretch>
        </p:blipFill>
        <p:spPr bwMode="auto">
          <a:xfrm>
            <a:off x="528638" y="1976437"/>
            <a:ext cx="1427162" cy="1416384"/>
          </a:xfrm>
          <a:prstGeom prst="rect">
            <a:avLst/>
          </a:prstGeom>
          <a:noFill/>
          <a:ln>
            <a:noFill/>
          </a:ln>
        </p:spPr>
      </p:pic>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44</a:t>
            </a:fld>
            <a:endParaRPr lang="en-PH" dirty="0"/>
          </a:p>
        </p:txBody>
      </p:sp>
      <p:sp>
        <p:nvSpPr>
          <p:cNvPr id="17" name="Rectangle 5"/>
          <p:cNvSpPr>
            <a:spLocks/>
          </p:cNvSpPr>
          <p:nvPr/>
        </p:nvSpPr>
        <p:spPr bwMode="auto">
          <a:xfrm>
            <a:off x="344486" y="3590925"/>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Pleas</a:t>
            </a:r>
          </a:p>
          <a:p>
            <a:pPr algn="r"/>
            <a:r>
              <a:rPr lang="en-US" sz="1100" i="1" dirty="0">
                <a:solidFill>
                  <a:srgbClr val="4D4D4D"/>
                </a:solidFill>
                <a:latin typeface="Helvetica" charset="0"/>
                <a:cs typeface="Helvetica" charset="0"/>
              </a:rPr>
              <a:t>Organizer and Conference Chair for the </a:t>
            </a:r>
            <a:r>
              <a:rPr lang="en-US" sz="1100" i="1" dirty="0">
                <a:solidFill>
                  <a:srgbClr val="4D4D4D"/>
                </a:solidFill>
                <a:latin typeface="Helvetica" charset="0"/>
                <a:cs typeface="Helvetica" charset="0"/>
                <a:hlinkClick r:id="rId5"/>
              </a:rPr>
              <a:t>ALM Summit</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6" name="Rounded Rectangle 15">
            <a:hlinkClick r:id="rId6"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graphicFrame>
        <p:nvGraphicFramePr>
          <p:cNvPr id="18" name="Chart 17"/>
          <p:cNvGraphicFramePr/>
          <p:nvPr>
            <p:extLst>
              <p:ext uri="{D42A27DB-BD31-4B8C-83A1-F6EECF244321}">
                <p14:modId xmlns:p14="http://schemas.microsoft.com/office/powerpoint/2010/main" val="840476422"/>
              </p:ext>
            </p:extLst>
          </p:nvPr>
        </p:nvGraphicFramePr>
        <p:xfrm>
          <a:off x="2173288" y="5953125"/>
          <a:ext cx="4994214" cy="2743200"/>
        </p:xfrm>
        <a:graphic>
          <a:graphicData uri="http://schemas.openxmlformats.org/drawingml/2006/chart">
            <c:chart xmlns:c="http://schemas.openxmlformats.org/drawingml/2006/chart" xmlns:r="http://schemas.openxmlformats.org/officeDocument/2006/relationships" r:id="rId7"/>
          </a:graphicData>
        </a:graphic>
      </p:graphicFrame>
      <p:sp>
        <p:nvSpPr>
          <p:cNvPr id="13" name="Rounded Rectangle 12"/>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ALM Event Review</a:t>
            </a:r>
          </a:p>
        </p:txBody>
      </p:sp>
    </p:spTree>
    <p:extLst>
      <p:ext uri="{BB962C8B-B14F-4D97-AF65-F5344CB8AC3E}">
        <p14:creationId xmlns:p14="http://schemas.microsoft.com/office/powerpoint/2010/main" val="36830581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08169" y="771525"/>
            <a:ext cx="6468893"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smtClean="0"/>
          </a:p>
          <a:p>
            <a:pPr algn="ctr"/>
            <a:r>
              <a:rPr lang="en-US" sz="1200" dirty="0"/>
              <a:t>Figure 6: Continuous Delivery Maturity Model</a:t>
            </a:r>
          </a:p>
          <a:p>
            <a:endParaRPr lang="en-US" sz="1200" dirty="0"/>
          </a:p>
          <a:p>
            <a:pPr algn="just"/>
            <a:r>
              <a:rPr lang="en-US" sz="1200" b="1" dirty="0"/>
              <a:t>Summary</a:t>
            </a:r>
          </a:p>
          <a:p>
            <a:pPr algn="just"/>
            <a:endParaRPr lang="en-US" sz="1200" b="1" dirty="0"/>
          </a:p>
          <a:p>
            <a:pPr algn="just"/>
            <a:r>
              <a:rPr lang="en-US" sz="1200" dirty="0"/>
              <a:t>Like the old adage that the only certainty is “death and taxes”, ALM Connect and its Executive Day counterpart made clear that – while there many techniques and tools available to the development community – the forces that face everyone include “complexity and speed”. The most successful businesses will be those that best manage these many options to find the optimum combination of practices and tools that allow them to build – before their competition - the software that their users want.</a:t>
            </a:r>
          </a:p>
          <a:p>
            <a:pPr algn="just"/>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45</a:t>
            </a:fld>
            <a:endParaRPr lang="en-PH" dirty="0"/>
          </a:p>
        </p:txBody>
      </p:sp>
      <p:sp>
        <p:nvSpPr>
          <p:cNvPr id="10" name="Rounded Rectangle 9">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1" name="Rectangle 1"/>
          <p:cNvSpPr>
            <a:spLocks/>
          </p:cNvSpPr>
          <p:nvPr/>
        </p:nvSpPr>
        <p:spPr bwMode="auto">
          <a:xfrm>
            <a:off x="728663" y="7553325"/>
            <a:ext cx="6359524" cy="838200"/>
          </a:xfrm>
          <a:prstGeom prst="rect">
            <a:avLst/>
          </a:prstGeom>
          <a:noFill/>
          <a:ln w="9525">
            <a:solidFill>
              <a:schemeClr val="tx1"/>
            </a:solidFill>
            <a:miter lim="800000"/>
            <a:headEnd/>
            <a:tailEnd/>
          </a:ln>
          <a:extLst/>
        </p:spPr>
        <p:txBody>
          <a:bodyPr lIns="91440" tIns="91440" rIns="91440" bIns="91440"/>
          <a:lstStyle/>
          <a:p>
            <a:pPr algn="just"/>
            <a:r>
              <a:rPr lang="en-US" sz="1000" i="1" dirty="0" smtClean="0"/>
              <a:t>Keith </a:t>
            </a:r>
            <a:r>
              <a:rPr lang="en-US" sz="1000" i="1" dirty="0"/>
              <a:t>Pleas is the Organizer and Conference Chair for the </a:t>
            </a:r>
            <a:r>
              <a:rPr lang="en-US" sz="1000" i="1" u="sng" dirty="0">
                <a:hlinkClick r:id="rId2"/>
              </a:rPr>
              <a:t>ALM Summit</a:t>
            </a:r>
            <a:r>
              <a:rPr lang="en-US" sz="1000" i="1" dirty="0"/>
              <a:t>. Keith is also a software architect, and has worked with the Microsoft </a:t>
            </a:r>
            <a:r>
              <a:rPr lang="en-US" sz="1000" i="1" u="sng" dirty="0">
                <a:hlinkClick r:id="rId3"/>
              </a:rPr>
              <a:t>patterns &amp; practices</a:t>
            </a:r>
            <a:r>
              <a:rPr lang="en-US" sz="1000" i="1" dirty="0"/>
              <a:t>, .NET Framework, and Visual Studio teams. Keith is an internationally known writer, speaker, conference organizer. Keith was a founding board member of INETA and created the </a:t>
            </a:r>
            <a:r>
              <a:rPr lang="en-US" sz="1000" i="1" u="sng" dirty="0">
                <a:hlinkClick r:id="rId4"/>
              </a:rPr>
              <a:t>INETA Speakers Bureau</a:t>
            </a:r>
            <a:r>
              <a:rPr lang="en-US" sz="1000" i="1" dirty="0" smtClean="0"/>
              <a:t>.</a:t>
            </a:r>
            <a:endParaRPr lang="en-US" sz="1000" i="1" dirty="0"/>
          </a:p>
          <a:p>
            <a:pPr algn="just"/>
            <a:endParaRPr lang="en-US" sz="1200" dirty="0">
              <a:latin typeface="Helvetica" charset="0"/>
              <a:cs typeface="Helvetica" charset="0"/>
              <a:sym typeface="Helvetica"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2995025135"/>
              </p:ext>
            </p:extLst>
          </p:nvPr>
        </p:nvGraphicFramePr>
        <p:xfrm>
          <a:off x="750887" y="923925"/>
          <a:ext cx="6051550" cy="3973323"/>
        </p:xfrm>
        <a:graphic>
          <a:graphicData uri="http://schemas.openxmlformats.org/drawingml/2006/table">
            <a:tbl>
              <a:tblPr firstRow="1" bandRow="1">
                <a:tableStyleId>{5C22544A-7EE6-4342-B048-85BDC9FD1C3A}</a:tableStyleId>
              </a:tblPr>
              <a:tblGrid>
                <a:gridCol w="565150"/>
                <a:gridCol w="1143000"/>
                <a:gridCol w="2971800"/>
                <a:gridCol w="1371600"/>
              </a:tblGrid>
              <a:tr h="187325">
                <a:tc>
                  <a:txBody>
                    <a:bodyPr/>
                    <a:lstStyle/>
                    <a:p>
                      <a:pPr marL="0" marR="0">
                        <a:lnSpc>
                          <a:spcPct val="107000"/>
                        </a:lnSpc>
                        <a:spcBef>
                          <a:spcPts val="0"/>
                        </a:spcBef>
                        <a:spcAft>
                          <a:spcPts val="0"/>
                        </a:spcAft>
                      </a:pPr>
                      <a:r>
                        <a:rPr lang="en-US" sz="1200">
                          <a:effectLst/>
                        </a:rPr>
                        <a:t>Level</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200">
                          <a:effectLst/>
                        </a:rPr>
                        <a:t>Focus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200">
                          <a:effectLst/>
                        </a:rPr>
                        <a:t>Characteristics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200">
                          <a:effectLst/>
                        </a:rPr>
                        <a:t>Results</a:t>
                      </a:r>
                      <a:endParaRPr lang="en-US" sz="1100">
                        <a:effectLst/>
                        <a:latin typeface="Calibri"/>
                        <a:ea typeface="Calibri"/>
                        <a:cs typeface="Times New Roman"/>
                      </a:endParaRPr>
                    </a:p>
                  </a:txBody>
                  <a:tcPr/>
                </a:tc>
              </a:tr>
              <a:tr h="654050">
                <a:tc>
                  <a:txBody>
                    <a:bodyPr/>
                    <a:lstStyle/>
                    <a:p>
                      <a:pPr marL="0" marR="0">
                        <a:lnSpc>
                          <a:spcPct val="107000"/>
                        </a:lnSpc>
                        <a:spcBef>
                          <a:spcPts val="0"/>
                        </a:spcBef>
                        <a:spcAft>
                          <a:spcPts val="0"/>
                        </a:spcAft>
                      </a:pPr>
                      <a:r>
                        <a:rPr lang="en-US" sz="1100">
                          <a:effectLst/>
                        </a:rPr>
                        <a:t>5</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Hypothesis-driven delivery</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Requirements include testable metrics</a:t>
                      </a:r>
                    </a:p>
                    <a:p>
                      <a:pPr marL="0" marR="0">
                        <a:lnSpc>
                          <a:spcPct val="107000"/>
                        </a:lnSpc>
                        <a:spcBef>
                          <a:spcPts val="0"/>
                        </a:spcBef>
                        <a:spcAft>
                          <a:spcPts val="0"/>
                        </a:spcAft>
                      </a:pPr>
                      <a:r>
                        <a:rPr lang="en-US" sz="1100">
                          <a:effectLst/>
                        </a:rPr>
                        <a:t>Frequent use of A/B testing</a:t>
                      </a:r>
                    </a:p>
                    <a:p>
                      <a:pPr marL="0" marR="0">
                        <a:lnSpc>
                          <a:spcPct val="107000"/>
                        </a:lnSpc>
                        <a:spcBef>
                          <a:spcPts val="0"/>
                        </a:spcBef>
                        <a:spcAft>
                          <a:spcPts val="0"/>
                        </a:spcAft>
                      </a:pPr>
                      <a:r>
                        <a:rPr lang="en-US" sz="1100">
                          <a:effectLst/>
                        </a:rPr>
                        <a:t>Services designed for CD</a:t>
                      </a:r>
                    </a:p>
                    <a:p>
                      <a:pPr marL="0" marR="0">
                        <a:lnSpc>
                          <a:spcPct val="107000"/>
                        </a:lnSpc>
                        <a:spcBef>
                          <a:spcPts val="0"/>
                        </a:spcBef>
                        <a:spcAft>
                          <a:spcPts val="0"/>
                        </a:spcAft>
                      </a:pPr>
                      <a:r>
                        <a:rPr lang="en-US" sz="1100">
                          <a:effectLst/>
                        </a:rPr>
                        <a:t>DBMS changed decoupled from system changes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Delivery enables business innovation</a:t>
                      </a:r>
                      <a:endParaRPr lang="en-US" sz="1100">
                        <a:effectLst/>
                        <a:latin typeface="Calibri"/>
                        <a:ea typeface="Calibri"/>
                        <a:cs typeface="Times New Roman"/>
                      </a:endParaRPr>
                    </a:p>
                  </a:txBody>
                  <a:tcPr/>
                </a:tc>
              </a:tr>
              <a:tr h="654050">
                <a:tc>
                  <a:txBody>
                    <a:bodyPr/>
                    <a:lstStyle/>
                    <a:p>
                      <a:pPr marL="0" marR="0">
                        <a:lnSpc>
                          <a:spcPct val="107000"/>
                        </a:lnSpc>
                        <a:spcBef>
                          <a:spcPts val="0"/>
                        </a:spcBef>
                        <a:spcAft>
                          <a:spcPts val="0"/>
                        </a:spcAft>
                      </a:pPr>
                      <a:r>
                        <a:rPr lang="en-US" sz="1100">
                          <a:effectLst/>
                        </a:rPr>
                        <a:t>4</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Release on demand</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Teams organized around services</a:t>
                      </a:r>
                    </a:p>
                    <a:p>
                      <a:pPr marL="0" marR="0">
                        <a:lnSpc>
                          <a:spcPct val="107000"/>
                        </a:lnSpc>
                        <a:spcBef>
                          <a:spcPts val="0"/>
                        </a:spcBef>
                        <a:spcAft>
                          <a:spcPts val="0"/>
                        </a:spcAft>
                      </a:pPr>
                      <a:r>
                        <a:rPr lang="en-US" sz="1100">
                          <a:effectLst/>
                        </a:rPr>
                        <a:t>Deployment pipeline rejects bad changes</a:t>
                      </a:r>
                    </a:p>
                    <a:p>
                      <a:pPr marL="0" marR="0">
                        <a:lnSpc>
                          <a:spcPct val="107000"/>
                        </a:lnSpc>
                        <a:spcBef>
                          <a:spcPts val="0"/>
                        </a:spcBef>
                        <a:spcAft>
                          <a:spcPts val="0"/>
                        </a:spcAft>
                      </a:pPr>
                      <a:r>
                        <a:rPr lang="en-US" sz="1100">
                          <a:effectLst/>
                        </a:rPr>
                        <a:t>Work delivered in small batches</a:t>
                      </a:r>
                    </a:p>
                    <a:p>
                      <a:pPr marL="0" marR="0">
                        <a:lnSpc>
                          <a:spcPct val="107000"/>
                        </a:lnSpc>
                        <a:spcBef>
                          <a:spcPts val="0"/>
                        </a:spcBef>
                        <a:spcAft>
                          <a:spcPts val="0"/>
                        </a:spcAft>
                      </a:pPr>
                      <a:r>
                        <a:rPr lang="en-US" sz="1100">
                          <a:effectLst/>
                        </a:rPr>
                        <a:t>Comprehensive test + release automation</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Service always in a releasable state</a:t>
                      </a:r>
                    </a:p>
                    <a:p>
                      <a:pPr marL="0" marR="0">
                        <a:lnSpc>
                          <a:spcPct val="107000"/>
                        </a:lnSpc>
                        <a:spcBef>
                          <a:spcPts val="0"/>
                        </a:spcBef>
                        <a:spcAft>
                          <a:spcPts val="0"/>
                        </a:spcAft>
                      </a:pPr>
                      <a:r>
                        <a:rPr lang="en-US" sz="1100">
                          <a:effectLst/>
                        </a:rPr>
                        <a:t>Capability &gt;= Need</a:t>
                      </a:r>
                      <a:endParaRPr lang="en-US" sz="1100">
                        <a:effectLst/>
                        <a:latin typeface="Calibri"/>
                        <a:ea typeface="Calibri"/>
                        <a:cs typeface="Times New Roman"/>
                      </a:endParaRPr>
                    </a:p>
                  </a:txBody>
                  <a:tcPr/>
                </a:tc>
              </a:tr>
              <a:tr h="244475">
                <a:tc>
                  <a:txBody>
                    <a:bodyPr/>
                    <a:lstStyle/>
                    <a:p>
                      <a:pPr marL="0" marR="0">
                        <a:lnSpc>
                          <a:spcPct val="107000"/>
                        </a:lnSpc>
                        <a:spcBef>
                          <a:spcPts val="0"/>
                        </a:spcBef>
                        <a:spcAft>
                          <a:spcPts val="0"/>
                        </a:spcAft>
                      </a:pPr>
                      <a:r>
                        <a:rPr lang="en-US" sz="1100">
                          <a:effectLst/>
                        </a:rPr>
                        <a:t>3</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Regular releases w/ milestones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CI and trunk-based development</a:t>
                      </a:r>
                    </a:p>
                    <a:p>
                      <a:pPr marL="0" marR="0">
                        <a:lnSpc>
                          <a:spcPct val="107000"/>
                        </a:lnSpc>
                        <a:spcBef>
                          <a:spcPts val="0"/>
                        </a:spcBef>
                        <a:spcAft>
                          <a:spcPts val="0"/>
                        </a:spcAft>
                      </a:pPr>
                      <a:r>
                        <a:rPr lang="en-US" sz="1100">
                          <a:effectLst/>
                        </a:rPr>
                        <a:t>Automating provisioning and testing</a:t>
                      </a:r>
                    </a:p>
                    <a:p>
                      <a:pPr marL="0" marR="0">
                        <a:lnSpc>
                          <a:spcPct val="107000"/>
                        </a:lnSpc>
                        <a:spcBef>
                          <a:spcPts val="0"/>
                        </a:spcBef>
                        <a:spcAft>
                          <a:spcPts val="0"/>
                        </a:spcAft>
                      </a:pPr>
                      <a:r>
                        <a:rPr lang="en-US" sz="1100">
                          <a:effectLst/>
                        </a:rPr>
                        <a:t>“Done” = tested and deployed</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Regular release cadence</a:t>
                      </a:r>
                    </a:p>
                    <a:p>
                      <a:pPr marL="0" marR="0">
                        <a:lnSpc>
                          <a:spcPct val="107000"/>
                        </a:lnSpc>
                        <a:spcBef>
                          <a:spcPts val="0"/>
                        </a:spcBef>
                        <a:spcAft>
                          <a:spcPts val="0"/>
                        </a:spcAft>
                      </a:pPr>
                      <a:r>
                        <a:rPr lang="en-US" sz="1100">
                          <a:effectLst/>
                        </a:rPr>
                        <a:t>Capability &lt; Need</a:t>
                      </a:r>
                      <a:endParaRPr lang="en-US" sz="1100">
                        <a:effectLst/>
                        <a:latin typeface="Calibri"/>
                        <a:ea typeface="Calibri"/>
                        <a:cs typeface="Times New Roman"/>
                      </a:endParaRPr>
                    </a:p>
                  </a:txBody>
                  <a:tcPr/>
                </a:tc>
              </a:tr>
              <a:tr h="654050">
                <a:tc>
                  <a:txBody>
                    <a:bodyPr/>
                    <a:lstStyle/>
                    <a:p>
                      <a:pPr marL="0" marR="0">
                        <a:lnSpc>
                          <a:spcPct val="107000"/>
                        </a:lnSpc>
                        <a:spcBef>
                          <a:spcPts val="0"/>
                        </a:spcBef>
                        <a:spcAft>
                          <a:spcPts val="0"/>
                        </a:spcAft>
                      </a:pPr>
                      <a:r>
                        <a:rPr lang="en-US" sz="1100">
                          <a:effectLst/>
                        </a:rPr>
                        <a:t>2</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Time-boxed releases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Clear product ownership</a:t>
                      </a:r>
                    </a:p>
                    <a:p>
                      <a:pPr marL="0" marR="0">
                        <a:lnSpc>
                          <a:spcPct val="107000"/>
                        </a:lnSpc>
                        <a:spcBef>
                          <a:spcPts val="0"/>
                        </a:spcBef>
                        <a:spcAft>
                          <a:spcPts val="0"/>
                        </a:spcAft>
                      </a:pPr>
                      <a:r>
                        <a:rPr lang="en-US" sz="1100">
                          <a:effectLst/>
                        </a:rPr>
                        <a:t>Change management controls</a:t>
                      </a:r>
                    </a:p>
                    <a:p>
                      <a:pPr marL="0" marR="0">
                        <a:lnSpc>
                          <a:spcPct val="107000"/>
                        </a:lnSpc>
                        <a:spcBef>
                          <a:spcPts val="0"/>
                        </a:spcBef>
                        <a:spcAft>
                          <a:spcPts val="0"/>
                        </a:spcAft>
                      </a:pPr>
                      <a:r>
                        <a:rPr lang="en-US" sz="1100">
                          <a:effectLst/>
                        </a:rPr>
                        <a:t>&lt;1 mo. cycles</a:t>
                      </a:r>
                    </a:p>
                    <a:p>
                      <a:pPr marL="0" marR="0">
                        <a:lnSpc>
                          <a:spcPct val="107000"/>
                        </a:lnSpc>
                        <a:spcBef>
                          <a:spcPts val="0"/>
                        </a:spcBef>
                        <a:spcAft>
                          <a:spcPts val="0"/>
                        </a:spcAft>
                      </a:pPr>
                      <a:r>
                        <a:rPr lang="en-US" sz="1100">
                          <a:effectLst/>
                        </a:rPr>
                        <a:t>Some testing, release automation</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Planned releases</a:t>
                      </a:r>
                    </a:p>
                    <a:p>
                      <a:pPr marL="0" marR="0">
                        <a:lnSpc>
                          <a:spcPct val="107000"/>
                        </a:lnSpc>
                        <a:spcBef>
                          <a:spcPts val="0"/>
                        </a:spcBef>
                        <a:spcAft>
                          <a:spcPts val="0"/>
                        </a:spcAft>
                      </a:pPr>
                      <a:r>
                        <a:rPr lang="en-US" sz="1100">
                          <a:effectLst/>
                        </a:rPr>
                        <a:t>Capability &lt; Need</a:t>
                      </a:r>
                      <a:endParaRPr lang="en-US" sz="1100">
                        <a:effectLst/>
                        <a:latin typeface="Calibri"/>
                        <a:ea typeface="Calibri"/>
                        <a:cs typeface="Times New Roman"/>
                      </a:endParaRPr>
                    </a:p>
                  </a:txBody>
                  <a:tcPr/>
                </a:tc>
              </a:tr>
              <a:tr h="0">
                <a:tc>
                  <a:txBody>
                    <a:bodyPr/>
                    <a:lstStyle/>
                    <a:p>
                      <a:pPr marL="0" marR="0">
                        <a:lnSpc>
                          <a:spcPct val="107000"/>
                        </a:lnSpc>
                        <a:spcBef>
                          <a:spcPts val="0"/>
                        </a:spcBef>
                        <a:spcAft>
                          <a:spcPts val="0"/>
                        </a:spcAft>
                      </a:pPr>
                      <a:r>
                        <a:rPr lang="en-US" sz="1100">
                          <a:effectLst/>
                        </a:rPr>
                        <a:t>1</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Heroic individuals</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a:effectLst/>
                        </a:rPr>
                        <a:t>Manual testing</a:t>
                      </a:r>
                    </a:p>
                    <a:p>
                      <a:pPr marL="0" marR="0">
                        <a:lnSpc>
                          <a:spcPct val="107000"/>
                        </a:lnSpc>
                        <a:spcBef>
                          <a:spcPts val="0"/>
                        </a:spcBef>
                        <a:spcAft>
                          <a:spcPts val="0"/>
                        </a:spcAft>
                      </a:pPr>
                      <a:r>
                        <a:rPr lang="en-US" sz="1100">
                          <a:effectLst/>
                        </a:rPr>
                        <a:t>Integration explosion</a:t>
                      </a:r>
                    </a:p>
                    <a:p>
                      <a:pPr marL="0" marR="0">
                        <a:lnSpc>
                          <a:spcPct val="107000"/>
                        </a:lnSpc>
                        <a:spcBef>
                          <a:spcPts val="0"/>
                        </a:spcBef>
                        <a:spcAft>
                          <a:spcPts val="0"/>
                        </a:spcAft>
                      </a:pPr>
                      <a:r>
                        <a:rPr lang="en-US" sz="1100">
                          <a:effectLst/>
                        </a:rPr>
                        <a:t>Manual provisioning</a:t>
                      </a:r>
                      <a:endParaRPr lang="en-US" sz="1100">
                        <a:effectLst/>
                        <a:latin typeface="Calibri"/>
                        <a:ea typeface="Calibri"/>
                        <a:cs typeface="Times New Roman"/>
                      </a:endParaRPr>
                    </a:p>
                  </a:txBody>
                  <a:tcPr/>
                </a:tc>
                <a:tc>
                  <a:txBody>
                    <a:bodyPr/>
                    <a:lstStyle/>
                    <a:p>
                      <a:pPr marL="0" marR="0">
                        <a:lnSpc>
                          <a:spcPct val="107000"/>
                        </a:lnSpc>
                        <a:spcBef>
                          <a:spcPts val="0"/>
                        </a:spcBef>
                        <a:spcAft>
                          <a:spcPts val="0"/>
                        </a:spcAft>
                      </a:pPr>
                      <a:r>
                        <a:rPr lang="en-US" sz="1100" dirty="0">
                          <a:effectLst/>
                        </a:rPr>
                        <a:t>Ad-hoc releases</a:t>
                      </a:r>
                      <a:endParaRPr lang="en-US" sz="1100" dirty="0">
                        <a:effectLst/>
                        <a:latin typeface="Calibri"/>
                        <a:ea typeface="Calibri"/>
                        <a:cs typeface="Times New Roman"/>
                      </a:endParaRPr>
                    </a:p>
                  </a:txBody>
                  <a:tcPr/>
                </a:tc>
              </a:tr>
            </a:tbl>
          </a:graphicData>
        </a:graphic>
      </p:graphicFrame>
      <p:sp>
        <p:nvSpPr>
          <p:cNvPr id="12" name="Rounded Rectangle 11"/>
          <p:cNvSpPr/>
          <p:nvPr/>
        </p:nvSpPr>
        <p:spPr>
          <a:xfrm>
            <a:off x="211967"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 Event Review</a:t>
            </a:r>
            <a:endParaRPr lang="en-US" dirty="0"/>
          </a:p>
        </p:txBody>
      </p:sp>
    </p:spTree>
    <p:extLst>
      <p:ext uri="{BB962C8B-B14F-4D97-AF65-F5344CB8AC3E}">
        <p14:creationId xmlns:p14="http://schemas.microsoft.com/office/powerpoint/2010/main" val="13322886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195263" y="714196"/>
            <a:ext cx="708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b="1" dirty="0" smtClean="0">
                <a:latin typeface="Palatino Linotype" pitchFamily="18" charset="0"/>
              </a:rPr>
              <a:t>TFS </a:t>
            </a:r>
            <a:r>
              <a:rPr lang="en-US" sz="3600" b="1" dirty="0">
                <a:latin typeface="Palatino Linotype" pitchFamily="18" charset="0"/>
              </a:rPr>
              <a:t>Admin Reports </a:t>
            </a:r>
            <a:endParaRPr lang="en-US" sz="3600" b="1" dirty="0" smtClean="0">
              <a:latin typeface="Palatino Linotype" pitchFamily="18" charset="0"/>
            </a:endParaRPr>
          </a:p>
          <a:p>
            <a:r>
              <a:rPr lang="en-US" sz="3600" b="1" dirty="0" smtClean="0">
                <a:latin typeface="Palatino Linotype" pitchFamily="18" charset="0"/>
              </a:rPr>
              <a:t>delivered </a:t>
            </a:r>
            <a:r>
              <a:rPr lang="en-US" sz="3600" b="1" dirty="0">
                <a:latin typeface="Palatino Linotype" pitchFamily="18" charset="0"/>
              </a:rPr>
              <a:t>to your inbox daily</a:t>
            </a:r>
          </a:p>
        </p:txBody>
      </p:sp>
      <p:sp>
        <p:nvSpPr>
          <p:cNvPr id="18436" name="Rectangle 2"/>
          <p:cNvSpPr>
            <a:spLocks/>
          </p:cNvSpPr>
          <p:nvPr/>
        </p:nvSpPr>
        <p:spPr bwMode="auto">
          <a:xfrm>
            <a:off x="2173288" y="3298089"/>
            <a:ext cx="4956175" cy="562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It's really easy to setup Reporting Services to automatically email you the TFS Admin reports so that you are proactively managing the TFS server</a:t>
            </a:r>
            <a:r>
              <a:rPr lang="en-US" sz="1200" dirty="0" smtClean="0"/>
              <a:t>.</a:t>
            </a:r>
          </a:p>
          <a:p>
            <a:pPr algn="just"/>
            <a:endParaRPr lang="en-US" sz="1200" dirty="0"/>
          </a:p>
          <a:p>
            <a:pPr marL="228600" indent="-228600" algn="just" fontAlgn="ctr">
              <a:buFont typeface="+mj-lt"/>
              <a:buAutoNum type="arabicPeriod"/>
            </a:pPr>
            <a:r>
              <a:rPr lang="en-US" sz="1200" dirty="0"/>
              <a:t>Navigate to Microsoft SQL Server &gt; Configuration Tools &gt; Reporting Services Configuration Manager </a:t>
            </a:r>
          </a:p>
          <a:p>
            <a:pPr marL="228600" indent="-228600" algn="just" fontAlgn="ctr">
              <a:buFont typeface="+mj-lt"/>
              <a:buAutoNum type="arabicPeriod"/>
            </a:pPr>
            <a:r>
              <a:rPr lang="en-US" sz="1200" dirty="0"/>
              <a:t>Fill out the Sender Address and SMTP </a:t>
            </a:r>
            <a:r>
              <a:rPr lang="en-US" sz="1200" dirty="0" smtClean="0"/>
              <a:t>Server</a:t>
            </a:r>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marL="228600" indent="-228600" fontAlgn="ctr">
              <a:buFont typeface="+mj-lt"/>
              <a:buAutoNum type="arabicPeriod"/>
            </a:pPr>
            <a:endParaRPr lang="en-US" sz="1200" dirty="0"/>
          </a:p>
          <a:p>
            <a:pPr marL="228600" indent="-228600" fontAlgn="ctr">
              <a:buFont typeface="+mj-lt"/>
              <a:buAutoNum type="arabicPeriod"/>
            </a:pPr>
            <a:endParaRPr lang="en-US" sz="1200" dirty="0" smtClean="0"/>
          </a:p>
          <a:p>
            <a:pPr fontAlgn="ctr"/>
            <a:r>
              <a:rPr lang="en-US" sz="1200" b="1" i="1" dirty="0" smtClean="0"/>
              <a:t>EDITOR’S NOTE! For additional information on TFS Admin Reports click on the following link for an MSDN article by Grant Holliday</a:t>
            </a:r>
          </a:p>
          <a:p>
            <a:pPr fontAlgn="ctr"/>
            <a:r>
              <a:rPr lang="en-US" sz="1200" dirty="0">
                <a:hlinkClick r:id="rId2"/>
              </a:rPr>
              <a:t>http://blogs.msdn.com/b/granth/archive/2010/07/12/administrative-report-pack-for-team-foundation-server-2010.aspx</a:t>
            </a:r>
            <a:endParaRPr lang="en-US" sz="1200" dirty="0"/>
          </a:p>
          <a:p>
            <a:r>
              <a:rPr lang="en-US" sz="1200" dirty="0"/>
              <a:t/>
            </a:r>
            <a:br>
              <a:rPr lang="en-US" sz="1200" dirty="0"/>
            </a:br>
            <a:r>
              <a:rPr lang="en-US" sz="1200" dirty="0"/>
              <a:t/>
            </a:r>
            <a:br>
              <a:rPr lang="en-US" sz="1200" dirty="0"/>
            </a:br>
            <a:endParaRPr lang="en-US" sz="1200" dirty="0" smtClean="0"/>
          </a:p>
          <a:p>
            <a:endParaRPr lang="en-US" sz="1200" dirty="0"/>
          </a:p>
        </p:txBody>
      </p:sp>
      <p:sp>
        <p:nvSpPr>
          <p:cNvPr id="18437" name="Rectangle 3"/>
          <p:cNvSpPr>
            <a:spLocks/>
          </p:cNvSpPr>
          <p:nvPr/>
        </p:nvSpPr>
        <p:spPr bwMode="auto">
          <a:xfrm>
            <a:off x="2709862" y="2027715"/>
            <a:ext cx="4419601" cy="116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came </a:t>
            </a:r>
            <a:r>
              <a:rPr lang="en-US" sz="1400" dirty="0"/>
              <a:t>across a TFS cube error while troubleshooting another issue that was reported to me.  Now if every TFS Admin had the </a:t>
            </a:r>
            <a:r>
              <a:rPr lang="en-US" sz="1400" dirty="0">
                <a:hlinkClick r:id="rId2"/>
              </a:rPr>
              <a:t>TFS Admin Reports</a:t>
            </a:r>
            <a:r>
              <a:rPr lang="en-US" sz="1400" dirty="0"/>
              <a:t> emailed to them daily, then they would have seen the cube status error and responded accordingly.</a:t>
            </a:r>
          </a:p>
        </p:txBody>
      </p:sp>
      <p:sp>
        <p:nvSpPr>
          <p:cNvPr id="18438" name="Rectangle 4"/>
          <p:cNvSpPr>
            <a:spLocks/>
          </p:cNvSpPr>
          <p:nvPr/>
        </p:nvSpPr>
        <p:spPr bwMode="auto">
          <a:xfrm>
            <a:off x="2024063" y="16732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I</a:t>
            </a:r>
          </a:p>
        </p:txBody>
      </p:sp>
      <p:sp>
        <p:nvSpPr>
          <p:cNvPr id="18440" name="Rectangle 5"/>
          <p:cNvSpPr>
            <a:spLocks/>
          </p:cNvSpPr>
          <p:nvPr/>
        </p:nvSpPr>
        <p:spPr bwMode="auto">
          <a:xfrm>
            <a:off x="347663" y="3363912"/>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Anna Russo</a:t>
            </a:r>
          </a:p>
          <a:p>
            <a:pPr algn="r"/>
            <a:r>
              <a:rPr lang="fr-FR" sz="1100" i="1" dirty="0">
                <a:solidFill>
                  <a:srgbClr val="4D4D4D"/>
                </a:solidFill>
                <a:latin typeface="Helvetica" charset="0"/>
                <a:cs typeface="Helvetica" charset="0"/>
              </a:rPr>
              <a:t>ALM Consultant </a:t>
            </a:r>
          </a:p>
          <a:p>
            <a:pPr algn="r"/>
            <a:r>
              <a:rPr lang="fr-FR" sz="1100" dirty="0">
                <a:hlinkClick r:id="rId3"/>
              </a:rPr>
              <a:t>Imaginet</a:t>
            </a:r>
            <a:endParaRPr lang="fr-FR" sz="1100" dirty="0"/>
          </a:p>
          <a:p>
            <a:pPr algn="r"/>
            <a:endParaRPr lang="en-US" sz="1100" i="1" dirty="0" smtClean="0">
              <a:solidFill>
                <a:srgbClr val="4D4D4D"/>
              </a:solidFill>
              <a:latin typeface="Helvetica" charset="0"/>
              <a:cs typeface="Helvetica" charset="0"/>
              <a:sym typeface="Helvetica" charset="0"/>
            </a:endParaRPr>
          </a:p>
        </p:txBody>
      </p:sp>
      <p:pic>
        <p:nvPicPr>
          <p:cNvPr id="2" name="Picture 2" descr="E:\My Documents\_Work Related\_ALM Mag\Admin\Contributors\Anna Russo\AnnaRussoCloseUpSmaller-25k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0" y="2054225"/>
            <a:ext cx="1146178" cy="1243864"/>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46</a:t>
            </a:fld>
            <a:endParaRPr lang="en-PH" dirty="0"/>
          </a:p>
        </p:txBody>
      </p:sp>
      <p:sp>
        <p:nvSpPr>
          <p:cNvPr id="16" name="Rounded Rectangle 15">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pic>
        <p:nvPicPr>
          <p:cNvPr id="92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73287" y="4505325"/>
            <a:ext cx="4956175" cy="37675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ounded Rectangle 1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2278899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228600" indent="-228600" fontAlgn="ctr">
              <a:buFont typeface="+mj-lt"/>
              <a:buAutoNum type="arabicPeriod" startAt="3"/>
            </a:pPr>
            <a:r>
              <a:rPr lang="en-US" sz="1200" dirty="0"/>
              <a:t>Go to the each one of the TFS Admin Reports and select Subscribe</a:t>
            </a:r>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marL="228600" indent="-228600" fontAlgn="ctr">
              <a:buFont typeface="+mj-lt"/>
              <a:buAutoNum type="arabicPeriod" startAt="4"/>
            </a:pPr>
            <a:r>
              <a:rPr lang="en-US" sz="1200" dirty="0"/>
              <a:t>Enter your email address and time of day you would like to have your report emailed.</a:t>
            </a:r>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endParaRPr lang="en-US" sz="1200" dirty="0"/>
          </a:p>
          <a:p>
            <a:pPr algn="just" fontAlgn="ctr"/>
            <a:r>
              <a:rPr lang="en-US" sz="1200" dirty="0"/>
              <a:t>The TFS Admin Reports will be emailed to you (now if you set up an Outlook rule and ignore these emails, it </a:t>
            </a:r>
            <a:r>
              <a:rPr lang="en-US" sz="1200" dirty="0" err="1"/>
              <a:t>kinda</a:t>
            </a:r>
            <a:r>
              <a:rPr lang="en-US" sz="1200" dirty="0"/>
              <a:t> defeats the purpose of proactively managing the TFS server, just saying) </a:t>
            </a:r>
          </a:p>
          <a:p>
            <a:pPr algn="just"/>
            <a:r>
              <a:rPr lang="en-US" sz="1200" dirty="0"/>
              <a:t> </a:t>
            </a:r>
          </a:p>
          <a:p>
            <a:pPr algn="just"/>
            <a:r>
              <a:rPr lang="en-US" sz="1200" dirty="0"/>
              <a:t>BTW, this also works for any of your other TFS SSRS reports that you would like automatically emailed </a:t>
            </a:r>
            <a:r>
              <a:rPr lang="en-US" sz="1200" dirty="0" smtClean="0"/>
              <a:t>out.</a:t>
            </a:r>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47</a:t>
            </a:fld>
            <a:endParaRPr lang="en-PH" dirty="0"/>
          </a:p>
        </p:txBody>
      </p:sp>
      <p:sp>
        <p:nvSpPr>
          <p:cNvPr id="10" name="Rectangle 2"/>
          <p:cNvSpPr>
            <a:spLocks/>
          </p:cNvSpPr>
          <p:nvPr/>
        </p:nvSpPr>
        <p:spPr bwMode="auto">
          <a:xfrm>
            <a:off x="576261" y="8696325"/>
            <a:ext cx="6477001" cy="762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hlinkClick r:id="rId2"/>
              </a:rPr>
              <a:t>Anna Russo</a:t>
            </a:r>
            <a:r>
              <a:rPr lang="en-US" sz="1000" i="1" dirty="0"/>
              <a:t> is an ALM Consultant and MVP with </a:t>
            </a:r>
            <a:r>
              <a:rPr lang="en-US" sz="1000" i="1" dirty="0">
                <a:hlinkClick r:id="rId3"/>
              </a:rPr>
              <a:t>Imaginet</a:t>
            </a:r>
            <a:r>
              <a:rPr lang="en-US" sz="1000" i="1" dirty="0"/>
              <a:t>, a firm that specializes in helping companies improve software development process with TFS. She has worked with a variety of clients and upgraded/installed TFS, provided training, created custom processes, implemented release strategies, and automated build scripts. Visit Anna's blog </a:t>
            </a:r>
            <a:r>
              <a:rPr lang="en-US" sz="1000" i="1" dirty="0">
                <a:hlinkClick r:id="rId2"/>
              </a:rPr>
              <a:t>ImprovingSoftwareQuality.com</a:t>
            </a:r>
            <a:endParaRPr lang="en-US" sz="1000" i="1" cap="small" baseline="30000" dirty="0"/>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5199" y="1000126"/>
            <a:ext cx="1677263"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9262" y="3660037"/>
            <a:ext cx="3962400" cy="389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Tree>
    <p:extLst>
      <p:ext uri="{BB962C8B-B14F-4D97-AF65-F5344CB8AC3E}">
        <p14:creationId xmlns:p14="http://schemas.microsoft.com/office/powerpoint/2010/main" val="14899495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5"/>
            <a:ext cx="1417235" cy="1423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0" name="TextBox 3"/>
          <p:cNvSpPr txBox="1">
            <a:spLocks noChangeArrowheads="1"/>
          </p:cNvSpPr>
          <p:nvPr/>
        </p:nvSpPr>
        <p:spPr bwMode="auto">
          <a:xfrm>
            <a:off x="107581" y="810996"/>
            <a:ext cx="7445744"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smtClean="0">
                <a:latin typeface="Palatino Linotype" pitchFamily="18" charset="0"/>
              </a:rPr>
              <a:t>Countering </a:t>
            </a:r>
            <a:r>
              <a:rPr lang="en-US" sz="3200" b="1" dirty="0">
                <a:latin typeface="Palatino Linotype" pitchFamily="18" charset="0"/>
              </a:rPr>
              <a:t>6 typical arguments against Agile/Lean approach</a:t>
            </a:r>
            <a:r>
              <a:rPr lang="en-AU" sz="3200" b="1" dirty="0" smtClean="0">
                <a:latin typeface="Palatino Linotype" pitchFamily="18" charset="0"/>
              </a:rPr>
              <a:t> </a:t>
            </a:r>
            <a:endParaRPr lang="en-US" sz="3200" b="1" dirty="0">
              <a:latin typeface="Palatino Linotype" pitchFamily="18" charset="0"/>
            </a:endParaRPr>
          </a:p>
        </p:txBody>
      </p:sp>
      <p:sp>
        <p:nvSpPr>
          <p:cNvPr id="12292" name="Rectangle 2"/>
          <p:cNvSpPr>
            <a:spLocks/>
          </p:cNvSpPr>
          <p:nvPr/>
        </p:nvSpPr>
        <p:spPr bwMode="auto">
          <a:xfrm>
            <a:off x="2176462" y="3148011"/>
            <a:ext cx="4956175" cy="53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50" lvl="0" indent="-171450">
              <a:spcAft>
                <a:spcPts val="600"/>
              </a:spcAft>
              <a:buFont typeface="Arial" pitchFamily="34" charset="0"/>
              <a:buChar char="•"/>
            </a:pPr>
            <a:r>
              <a:rPr lang="en-US" sz="1200" b="1" dirty="0"/>
              <a:t>Time</a:t>
            </a:r>
            <a:r>
              <a:rPr lang="en-US" sz="1200" dirty="0"/>
              <a:t> – “We don’t have time to be involved in the development too much”</a:t>
            </a:r>
          </a:p>
          <a:p>
            <a:pPr marL="171450" lvl="0" indent="-171450">
              <a:spcAft>
                <a:spcPts val="600"/>
              </a:spcAft>
              <a:buFont typeface="Arial" pitchFamily="34" charset="0"/>
              <a:buChar char="•"/>
            </a:pPr>
            <a:r>
              <a:rPr lang="en-US" sz="1200" b="1" dirty="0"/>
              <a:t>Fixed price</a:t>
            </a:r>
            <a:r>
              <a:rPr lang="en-US" sz="1200" dirty="0"/>
              <a:t> – “We need to know the cost of the solution upfront”</a:t>
            </a:r>
          </a:p>
          <a:p>
            <a:pPr marL="171450" lvl="0" indent="-171450">
              <a:spcAft>
                <a:spcPts val="600"/>
              </a:spcAft>
              <a:buFont typeface="Arial" pitchFamily="34" charset="0"/>
              <a:buChar char="•"/>
            </a:pPr>
            <a:r>
              <a:rPr lang="en-US" sz="1200" b="1" dirty="0"/>
              <a:t>Fixed scope</a:t>
            </a:r>
            <a:r>
              <a:rPr lang="en-US" sz="1200" dirty="0"/>
              <a:t> – “We need to know what we are buying”</a:t>
            </a:r>
          </a:p>
          <a:p>
            <a:pPr marL="171450" lvl="0" indent="-171450">
              <a:spcAft>
                <a:spcPts val="600"/>
              </a:spcAft>
              <a:buFont typeface="Arial" pitchFamily="34" charset="0"/>
              <a:buChar char="•"/>
            </a:pPr>
            <a:r>
              <a:rPr lang="en-US" sz="1200" b="1" dirty="0"/>
              <a:t>Delivery date</a:t>
            </a:r>
            <a:r>
              <a:rPr lang="en-US" sz="1200" dirty="0"/>
              <a:t> – “How can you fix a delivery date if everything keeps on changing?”</a:t>
            </a:r>
          </a:p>
          <a:p>
            <a:pPr marL="171450" lvl="0" indent="-171450">
              <a:spcAft>
                <a:spcPts val="600"/>
              </a:spcAft>
              <a:buFont typeface="Arial" pitchFamily="34" charset="0"/>
              <a:buChar char="•"/>
            </a:pPr>
            <a:r>
              <a:rPr lang="en-US" sz="1200" b="1" dirty="0"/>
              <a:t>Risks</a:t>
            </a:r>
            <a:r>
              <a:rPr lang="en-US" sz="1200" dirty="0"/>
              <a:t> – “You are trying to transfer the risks to us by that open scope model”</a:t>
            </a:r>
          </a:p>
          <a:p>
            <a:pPr marL="171450" lvl="0" indent="-171450">
              <a:spcAft>
                <a:spcPts val="600"/>
              </a:spcAft>
              <a:buFont typeface="Arial" pitchFamily="34" charset="0"/>
              <a:buChar char="•"/>
            </a:pPr>
            <a:r>
              <a:rPr lang="en-US" sz="1200" b="1" dirty="0"/>
              <a:t>Tenders</a:t>
            </a:r>
            <a:endParaRPr lang="en-US" sz="1200" dirty="0"/>
          </a:p>
          <a:p>
            <a:pPr algn="just"/>
            <a:endParaRPr lang="en-US" sz="1200" dirty="0" smtClean="0"/>
          </a:p>
          <a:p>
            <a:pPr algn="just"/>
            <a:r>
              <a:rPr lang="en-US" sz="1200" dirty="0" smtClean="0"/>
              <a:t>Agile </a:t>
            </a:r>
            <a:r>
              <a:rPr lang="en-US" sz="1200" dirty="0"/>
              <a:t>and lean contracts solve one of the root causes of tension between customer and supplier as noted </a:t>
            </a:r>
            <a:r>
              <a:rPr lang="en-US" sz="1200" dirty="0" smtClean="0"/>
              <a:t>here in </a:t>
            </a:r>
            <a:r>
              <a:rPr lang="en-US" sz="1200" dirty="0">
                <a:hlinkClick r:id="rId3"/>
              </a:rPr>
              <a:t>removing tension between customer and supplier</a:t>
            </a:r>
            <a:r>
              <a:rPr lang="en-US" sz="1200" dirty="0" smtClean="0"/>
              <a:t>.</a:t>
            </a:r>
          </a:p>
          <a:p>
            <a:pPr algn="just"/>
            <a:endParaRPr lang="en-US" sz="1200" dirty="0"/>
          </a:p>
          <a:p>
            <a:pPr marL="228600" indent="-228600" algn="just">
              <a:buAutoNum type="arabicPeriod"/>
            </a:pPr>
            <a:r>
              <a:rPr lang="en-US" sz="1400" b="1" dirty="0" smtClean="0"/>
              <a:t>Time</a:t>
            </a:r>
          </a:p>
          <a:p>
            <a:pPr marL="228600" indent="-228600" algn="just">
              <a:buAutoNum type="arabicPeriod"/>
            </a:pPr>
            <a:endParaRPr lang="en-US" sz="1200" dirty="0"/>
          </a:p>
          <a:p>
            <a:pPr marL="171450" lvl="0" indent="-171450" algn="just">
              <a:spcAft>
                <a:spcPts val="600"/>
              </a:spcAft>
              <a:buFont typeface="Arial" pitchFamily="34" charset="0"/>
              <a:buChar char="•"/>
            </a:pPr>
            <a:r>
              <a:rPr lang="en-US" sz="1200" dirty="0"/>
              <a:t>We don’t have time to be involved in the development so much</a:t>
            </a:r>
            <a:r>
              <a:rPr lang="en-US" sz="1200" dirty="0" smtClean="0"/>
              <a:t>”</a:t>
            </a:r>
            <a:endParaRPr lang="en-US" sz="1200" dirty="0"/>
          </a:p>
          <a:p>
            <a:pPr marL="171450" lvl="0" indent="-171450" algn="just">
              <a:spcAft>
                <a:spcPts val="600"/>
              </a:spcAft>
              <a:buFont typeface="Arial" pitchFamily="34" charset="0"/>
              <a:buChar char="•"/>
            </a:pPr>
            <a:r>
              <a:rPr lang="en-US" sz="1200" dirty="0"/>
              <a:t>“Our people are very busy; they cannot attend demos and spend time with you on phone</a:t>
            </a:r>
            <a:r>
              <a:rPr lang="en-US" sz="1200" dirty="0" smtClean="0"/>
              <a:t>”</a:t>
            </a:r>
          </a:p>
          <a:p>
            <a:pPr lvl="0" algn="just"/>
            <a:endParaRPr lang="en-US" sz="1200" dirty="0"/>
          </a:p>
          <a:p>
            <a:pPr algn="just"/>
            <a:r>
              <a:rPr lang="en-US" sz="1200" dirty="0"/>
              <a:t>Well, what to say. Surely customers do not have time when they spend months in writing down very detailed requirements specifications at the beginning and then spend weeks or months on acceptance testing at the end to be sure that they got actually what they requested for. And after they find a result, they spend few more months on rework, arguing and in error corrections. Whether you like it or not, this is the most common work flow of traditional projects; blue parts in the picture below emphasize work of customer people during a project.</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052761" y="1949450"/>
            <a:ext cx="4076703"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he </a:t>
            </a:r>
            <a:r>
              <a:rPr lang="en-US" sz="1400" dirty="0"/>
              <a:t>ambiguous nature of software development and thus the need for a different contracting approach – Agile/Lean contract. Let’s now take a look at what the </a:t>
            </a:r>
            <a:r>
              <a:rPr lang="en-US" sz="1400" b="1" dirty="0"/>
              <a:t>typical arguments</a:t>
            </a:r>
            <a:r>
              <a:rPr lang="en-US" sz="1400" dirty="0"/>
              <a:t> against it are and how do we react to them.</a:t>
            </a:r>
            <a:endParaRPr lang="en-US" sz="1400" i="1" dirty="0"/>
          </a:p>
        </p:txBody>
      </p:sp>
      <p:sp>
        <p:nvSpPr>
          <p:cNvPr id="12294" name="Rectangle 4"/>
          <p:cNvSpPr>
            <a:spLocks/>
          </p:cNvSpPr>
          <p:nvPr/>
        </p:nvSpPr>
        <p:spPr bwMode="auto">
          <a:xfrm>
            <a:off x="2024063" y="1623633"/>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271462" y="3590925"/>
            <a:ext cx="167957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GB" sz="1100" i="1" dirty="0" err="1"/>
              <a:t>Tomáš</a:t>
            </a:r>
            <a:r>
              <a:rPr lang="en-GB" sz="1100" i="1" dirty="0"/>
              <a:t> </a:t>
            </a:r>
            <a:r>
              <a:rPr lang="en-GB" sz="1100" i="1" dirty="0" err="1"/>
              <a:t>Tureček</a:t>
            </a:r>
            <a:endParaRPr lang="en-GB" sz="1100" i="1" dirty="0"/>
          </a:p>
          <a:p>
            <a:pPr algn="r"/>
            <a:r>
              <a:rPr lang="en-GB" sz="1100" i="1" dirty="0"/>
              <a:t>Lean/Agile C</a:t>
            </a:r>
            <a:r>
              <a:rPr lang="en-GB" sz="1100" i="1" dirty="0" smtClean="0"/>
              <a:t>oach</a:t>
            </a:r>
            <a:r>
              <a:rPr lang="en-AU" sz="1100" i="1" dirty="0" smtClean="0"/>
              <a:t> </a:t>
            </a:r>
          </a:p>
          <a:p>
            <a:pPr algn="r"/>
            <a:r>
              <a:rPr lang="en-GB" sz="1100" i="1" u="sng" dirty="0" err="1">
                <a:hlinkClick r:id="rId4"/>
              </a:rPr>
              <a:t>Tieto</a:t>
            </a:r>
            <a:r>
              <a:rPr lang="en-GB" sz="1100" i="1" u="sng" dirty="0">
                <a:hlinkClick r:id="rId4"/>
              </a:rPr>
              <a:t> Corporation</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48</a:t>
            </a:fld>
            <a:endParaRPr lang="en-PH" dirty="0"/>
          </a:p>
        </p:txBody>
      </p:sp>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ounded Rectangle 12"/>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AGILE / LEAN</a:t>
            </a:r>
          </a:p>
        </p:txBody>
      </p:sp>
    </p:spTree>
    <p:extLst>
      <p:ext uri="{BB962C8B-B14F-4D97-AF65-F5344CB8AC3E}">
        <p14:creationId xmlns:p14="http://schemas.microsoft.com/office/powerpoint/2010/main" val="356033310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50" lvl="0" indent="-171450" algn="just">
              <a:spcAft>
                <a:spcPts val="600"/>
              </a:spcAft>
              <a:buFont typeface="Arial" pitchFamily="34" charset="0"/>
              <a:buChar char="•"/>
            </a:pPr>
            <a:r>
              <a:rPr lang="en-US" sz="1200" dirty="0" smtClean="0"/>
              <a:t>Tender </a:t>
            </a:r>
            <a:r>
              <a:rPr lang="en-US" sz="1200" dirty="0"/>
              <a:t>approach might be enforced by law, especially in public sector</a:t>
            </a:r>
          </a:p>
          <a:p>
            <a:pPr algn="just"/>
            <a:endParaRPr lang="en-US" sz="1200" dirty="0" smtClean="0"/>
          </a:p>
          <a:p>
            <a:pPr algn="just"/>
            <a:r>
              <a:rPr lang="en-US" sz="1200" dirty="0" smtClean="0"/>
              <a:t>All </a:t>
            </a:r>
            <a:r>
              <a:rPr lang="en-US" sz="1200" dirty="0"/>
              <a:t>my </a:t>
            </a:r>
            <a:r>
              <a:rPr lang="en-US" sz="1200" dirty="0" smtClean="0"/>
              <a:t>articles </a:t>
            </a:r>
            <a:r>
              <a:rPr lang="en-US" sz="1200" dirty="0"/>
              <a:t>about Agile/Lean contracts are mostly about one simple thing – we </a:t>
            </a:r>
            <a:r>
              <a:rPr lang="en-US" sz="1200" b="1" dirty="0"/>
              <a:t>should not commit to something we do not know</a:t>
            </a:r>
            <a:r>
              <a:rPr lang="en-US" sz="1200" dirty="0"/>
              <a:t> because then everyone loses if the situation gets more complicated than we expect (which usually does as there are always some </a:t>
            </a:r>
            <a:r>
              <a:rPr lang="en-US" sz="1200" b="1" dirty="0"/>
              <a:t>unknown unknowns</a:t>
            </a:r>
            <a:r>
              <a:rPr lang="en-US" sz="1200" dirty="0"/>
              <a:t>, </a:t>
            </a:r>
            <a:r>
              <a:rPr lang="en-US" sz="1200" dirty="0">
                <a:hlinkClick r:id="rId2"/>
              </a:rPr>
              <a:t>black swans</a:t>
            </a:r>
            <a:r>
              <a:rPr lang="en-US" sz="1200" dirty="0"/>
              <a:t>). And before we actually code some proof of concepts and tackle business and technical obstacles, we must admit that we have only limited clue about the future. This is why we should not promise something that we do not know we can deliver. Trust is hard to build but very easy to lose. So how to reduce negative impact of a tender approach?</a:t>
            </a:r>
          </a:p>
          <a:p>
            <a:pPr lvl="0" algn="just"/>
            <a:endParaRPr lang="en-US" sz="1200" dirty="0" smtClean="0"/>
          </a:p>
          <a:p>
            <a:pPr marL="171450" lvl="0" indent="-171450" algn="just">
              <a:spcAft>
                <a:spcPts val="600"/>
              </a:spcAft>
              <a:buFont typeface="Arial" pitchFamily="34" charset="0"/>
              <a:buChar char="•"/>
            </a:pPr>
            <a:r>
              <a:rPr lang="en-US" sz="1200" dirty="0" smtClean="0"/>
              <a:t>Can </a:t>
            </a:r>
            <a:r>
              <a:rPr lang="en-US" sz="1200" dirty="0"/>
              <a:t>we convince the customer to use a different supplier choosing method than the tender approach? I mean, if it is not enforced-by-law?</a:t>
            </a:r>
          </a:p>
          <a:p>
            <a:pPr marL="171450" lvl="0" indent="-171450" algn="just">
              <a:spcAft>
                <a:spcPts val="600"/>
              </a:spcAft>
              <a:buFont typeface="Arial" pitchFamily="34" charset="0"/>
              <a:buChar char="•"/>
            </a:pPr>
            <a:r>
              <a:rPr lang="en-US" sz="1200" dirty="0"/>
              <a:t>Can we do something in order to not commit blindly in this tender? Some proof of concept, prototype for the tender already? Can we get in touch with customer before the decision date and involve them into prototype creation? To learn more before it is too late? Working prototype might be actually a nice advantage against tender competitors. And proof of supplier competences in the area?</a:t>
            </a:r>
          </a:p>
          <a:p>
            <a:pPr marL="171450" lvl="0" indent="-171450" algn="just">
              <a:spcAft>
                <a:spcPts val="600"/>
              </a:spcAft>
              <a:buFont typeface="Arial" pitchFamily="34" charset="0"/>
              <a:buChar char="•"/>
            </a:pPr>
            <a:r>
              <a:rPr lang="en-US" sz="1200" dirty="0"/>
              <a:t>Can we do a semi-commitment? To </a:t>
            </a:r>
            <a:r>
              <a:rPr lang="en-US" sz="1200" dirty="0" smtClean="0"/>
              <a:t>fulfill </a:t>
            </a:r>
            <a:r>
              <a:rPr lang="en-US" sz="1200" dirty="0"/>
              <a:t>tender requirements, but not to fix everything? Like agreeing on fulfilling the business objectives but at the same time agreeing on needed support from Customer, their involvement and future easy change management?</a:t>
            </a:r>
          </a:p>
          <a:p>
            <a:pPr marL="171450" lvl="0" indent="-171450" algn="just">
              <a:spcAft>
                <a:spcPts val="600"/>
              </a:spcAft>
              <a:buFont typeface="Arial" pitchFamily="34" charset="0"/>
              <a:buChar char="•"/>
            </a:pPr>
            <a:r>
              <a:rPr lang="en-US" sz="1200" dirty="0"/>
              <a:t>Tenders are not won by price only. There are many indicators that contribute to the decision about which supplier should be chosen. We can use our Agile/Lean approach as an advantage against competitors in the tender.</a:t>
            </a:r>
          </a:p>
          <a:p>
            <a:pPr marL="171450" lvl="0" indent="-171450" algn="just">
              <a:spcAft>
                <a:spcPts val="600"/>
              </a:spcAft>
              <a:buFont typeface="Arial" pitchFamily="34" charset="0"/>
              <a:buChar char="•"/>
            </a:pPr>
            <a:r>
              <a:rPr lang="en-US" sz="1200" dirty="0"/>
              <a:t>The tender approach must be applied only when a certain threshold is reached. Can we agree with the customer about breaking down the functionality into smaller and cheaper chunks to avoid it</a:t>
            </a:r>
            <a:r>
              <a:rPr lang="en-US" sz="1200" dirty="0" smtClean="0"/>
              <a:t>?</a:t>
            </a:r>
          </a:p>
          <a:p>
            <a:pPr lvl="0" algn="just"/>
            <a:endParaRPr lang="en-US" sz="1200" dirty="0"/>
          </a:p>
          <a:p>
            <a:pPr algn="just"/>
            <a:r>
              <a:rPr lang="en-US" sz="1200" dirty="0"/>
              <a:t>Recently I had a discussion with a couple of customer people from one certain public sector, and they were really </a:t>
            </a:r>
            <a:r>
              <a:rPr lang="en-US" sz="1200" b="1" dirty="0"/>
              <a:t>sad about the law and public tenders</a:t>
            </a:r>
            <a:r>
              <a:rPr lang="en-US" sz="1200" dirty="0"/>
              <a:t>. They have great experience with the Agile way of working, and the current supplier (after encountering many years of failure with the traditional approach) – but the </a:t>
            </a:r>
            <a:r>
              <a:rPr lang="en-US" sz="1200" b="1" dirty="0"/>
              <a:t>public tender approach goes against it</a:t>
            </a:r>
            <a:r>
              <a:rPr lang="en-US" sz="1200" dirty="0"/>
              <a:t>. They try to avoid tendering by prolonging the current agreement they already have with supplier they are happy with</a:t>
            </a:r>
            <a:r>
              <a:rPr lang="en-US" sz="1200" dirty="0" smtClean="0"/>
              <a:t>.</a:t>
            </a:r>
          </a:p>
          <a:p>
            <a:pPr algn="just"/>
            <a:endParaRPr lang="en-US" sz="1200" dirty="0"/>
          </a:p>
          <a:p>
            <a:pPr algn="just"/>
            <a:r>
              <a:rPr lang="en-US" sz="1200" dirty="0"/>
              <a:t>I understand a tender is here to save costs and prevent illegal partnerships, but on the other hand it generates huge inefficiency in areas like custom software development. Hopefully the legislative will come up with an alternate option to tender someday.</a:t>
            </a:r>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dirty="0"/>
          </a:p>
          <a:p>
            <a:pPr algn="just"/>
            <a:endParaRPr lang="en-US" sz="1200" dirty="0"/>
          </a:p>
          <a:p>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49</a:t>
            </a:fld>
            <a:endParaRPr lang="en-PH" dirty="0"/>
          </a:p>
        </p:txBody>
      </p:sp>
      <p:sp>
        <p:nvSpPr>
          <p:cNvPr id="7" name="Rectangle 2"/>
          <p:cNvSpPr>
            <a:spLocks/>
          </p:cNvSpPr>
          <p:nvPr/>
        </p:nvSpPr>
        <p:spPr bwMode="auto">
          <a:xfrm>
            <a:off x="1033462" y="8391525"/>
            <a:ext cx="5486400"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u="sng" dirty="0" err="1">
                <a:hlinkClick r:id="rId3"/>
              </a:rPr>
              <a:t>Tomáš</a:t>
            </a:r>
            <a:r>
              <a:rPr lang="en-GB" sz="1000" i="1" u="sng" dirty="0">
                <a:hlinkClick r:id="rId3"/>
              </a:rPr>
              <a:t> </a:t>
            </a:r>
            <a:r>
              <a:rPr lang="en-GB" sz="1000" i="1" u="sng" dirty="0" err="1">
                <a:hlinkClick r:id="rId3"/>
              </a:rPr>
              <a:t>Tureček</a:t>
            </a:r>
            <a:r>
              <a:rPr lang="en-GB" sz="1000" i="1" dirty="0"/>
              <a:t> PhD, an Lean/Agile coach in </a:t>
            </a:r>
            <a:r>
              <a:rPr lang="en-GB" sz="1000" i="1" u="sng" dirty="0" err="1">
                <a:hlinkClick r:id="rId4"/>
              </a:rPr>
              <a:t>Tieto</a:t>
            </a:r>
            <a:r>
              <a:rPr lang="en-GB" sz="1000" i="1" u="sng" dirty="0">
                <a:hlinkClick r:id="rId4"/>
              </a:rPr>
              <a:t> Corporation</a:t>
            </a:r>
            <a:r>
              <a:rPr lang="en-GB" sz="1000" i="1" dirty="0"/>
              <a:t>, has been working in IT industry for more than 15 years in various roles from development to management. He has more than 6 years of experience from coaching and mentoring deliveries in distributed environments. </a:t>
            </a:r>
            <a:r>
              <a:rPr lang="en-GB" sz="1000" i="1" dirty="0" err="1"/>
              <a:t>Tomáš</a:t>
            </a:r>
            <a:r>
              <a:rPr lang="en-GB" sz="1000" i="1" dirty="0"/>
              <a:t> contributes to IT communities, </a:t>
            </a:r>
            <a:r>
              <a:rPr lang="en-GB" sz="1000" i="1" u="sng" dirty="0">
                <a:hlinkClick r:id="rId5"/>
              </a:rPr>
              <a:t>blogs here</a:t>
            </a:r>
            <a:r>
              <a:rPr lang="en-GB" sz="1000" i="1" dirty="0"/>
              <a:t> and speaks at prestigious international conferences.</a:t>
            </a:r>
            <a:endParaRPr lang="en-US" sz="1000" i="1" dirty="0"/>
          </a:p>
        </p:txBody>
      </p:sp>
      <p:sp>
        <p:nvSpPr>
          <p:cNvPr id="9" name="Rounded Rectangle 8"/>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 </a:t>
            </a:r>
            <a:r>
              <a:rPr lang="en-US" dirty="0"/>
              <a:t>/ </a:t>
            </a:r>
            <a:r>
              <a:rPr lang="en-US" dirty="0" smtClean="0"/>
              <a:t>LEAN</a:t>
            </a:r>
            <a:endParaRPr lang="en-US" dirty="0"/>
          </a:p>
        </p:txBody>
      </p:sp>
    </p:spTree>
    <p:extLst>
      <p:ext uri="{BB962C8B-B14F-4D97-AF65-F5344CB8AC3E}">
        <p14:creationId xmlns:p14="http://schemas.microsoft.com/office/powerpoint/2010/main" val="2582285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50</a:t>
            </a:fld>
            <a:endParaRPr lang="en-PH" dirty="0"/>
          </a:p>
        </p:txBody>
      </p:sp>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 y="-219075"/>
            <a:ext cx="758190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ounded Rectangle 27">
            <a:hlinkClick r:id="rId3"/>
          </p:cNvPr>
          <p:cNvSpPr/>
          <p:nvPr/>
        </p:nvSpPr>
        <p:spPr>
          <a:xfrm>
            <a:off x="2405062" y="1838325"/>
            <a:ext cx="2743200" cy="381000"/>
          </a:xfrm>
          <a:prstGeom prst="round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189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Click for more Details…</a:t>
            </a:r>
            <a:endParaRPr lang="en-US" dirty="0"/>
          </a:p>
        </p:txBody>
      </p:sp>
      <p:sp>
        <p:nvSpPr>
          <p:cNvPr id="3" name="Rectangle 2"/>
          <p:cNvSpPr/>
          <p:nvPr/>
        </p:nvSpPr>
        <p:spPr>
          <a:xfrm>
            <a:off x="347662" y="2447925"/>
            <a:ext cx="6934201" cy="4031873"/>
          </a:xfrm>
          <a:prstGeom prst="rect">
            <a:avLst/>
          </a:prstGeom>
        </p:spPr>
        <p:txBody>
          <a:bodyPr wrap="square">
            <a:spAutoFit/>
          </a:bodyPr>
          <a:lstStyle/>
          <a:p>
            <a:r>
              <a:rPr lang="en-US" sz="1400" b="1" dirty="0" smtClean="0"/>
              <a:t>ALM Mag Brings You Each </a:t>
            </a:r>
            <a:r>
              <a:rPr lang="en-US" sz="1400" b="1" dirty="0"/>
              <a:t>Month</a:t>
            </a:r>
            <a:r>
              <a:rPr lang="en-US" sz="1400" b="1" dirty="0" smtClean="0"/>
              <a:t>:</a:t>
            </a:r>
          </a:p>
          <a:p>
            <a:endParaRPr lang="en-US" sz="800" b="1" dirty="0"/>
          </a:p>
          <a:p>
            <a:pPr marL="171450" indent="-171450" fontAlgn="ctr">
              <a:buFont typeface="Arial" pitchFamily="34" charset="0"/>
              <a:buChar char="•"/>
            </a:pPr>
            <a:r>
              <a:rPr lang="en-US" sz="1200" b="1" dirty="0"/>
              <a:t>Articles, Whitepapers, Case Studies and Videos and Audio</a:t>
            </a:r>
            <a:r>
              <a:rPr lang="en-US" sz="1200" dirty="0"/>
              <a:t> providing:</a:t>
            </a:r>
          </a:p>
          <a:p>
            <a:pPr marL="628650" lvl="1" indent="-171450">
              <a:buFont typeface="Arial" pitchFamily="34" charset="0"/>
              <a:buChar char="•"/>
            </a:pPr>
            <a:r>
              <a:rPr lang="en-US" sz="1200" dirty="0"/>
              <a:t>Advance notice and Previews of new versions,</a:t>
            </a:r>
          </a:p>
          <a:p>
            <a:pPr marL="628650" lvl="1" indent="-171450">
              <a:buFont typeface="Arial" pitchFamily="34" charset="0"/>
              <a:buChar char="•"/>
            </a:pPr>
            <a:r>
              <a:rPr lang="en-US" sz="1200" b="1" dirty="0"/>
              <a:t>Reviews</a:t>
            </a:r>
            <a:r>
              <a:rPr lang="en-US" sz="1200" dirty="0"/>
              <a:t> of new versions </a:t>
            </a:r>
            <a:r>
              <a:rPr lang="en-US" sz="1200" dirty="0" smtClean="0"/>
              <a:t>and </a:t>
            </a:r>
            <a:r>
              <a:rPr lang="en-US" sz="1200" dirty="0"/>
              <a:t>updates,</a:t>
            </a:r>
          </a:p>
          <a:p>
            <a:pPr marL="628650" lvl="1" indent="-171450">
              <a:buFont typeface="Arial" pitchFamily="34" charset="0"/>
              <a:buChar char="•"/>
            </a:pPr>
            <a:r>
              <a:rPr lang="en-US" sz="1200" b="1" dirty="0"/>
              <a:t>How To </a:t>
            </a:r>
            <a:r>
              <a:rPr lang="en-US" sz="1200" dirty="0"/>
              <a:t>and </a:t>
            </a:r>
            <a:r>
              <a:rPr lang="en-US" sz="1200" b="1" dirty="0"/>
              <a:t>Step-by-Step </a:t>
            </a:r>
            <a:r>
              <a:rPr lang="en-US" sz="1200" b="1" dirty="0" smtClean="0"/>
              <a:t>Guides</a:t>
            </a:r>
            <a:r>
              <a:rPr lang="en-US" sz="1200" dirty="0"/>
              <a:t>,</a:t>
            </a:r>
          </a:p>
          <a:p>
            <a:pPr marL="628650" lvl="1" indent="-171450">
              <a:buFont typeface="Arial" pitchFamily="34" charset="0"/>
              <a:buChar char="•"/>
            </a:pPr>
            <a:r>
              <a:rPr lang="en-US" sz="1200" b="1" dirty="0"/>
              <a:t>Tips</a:t>
            </a:r>
            <a:r>
              <a:rPr lang="en-US" sz="1200" dirty="0"/>
              <a:t> highlighting </a:t>
            </a:r>
            <a:r>
              <a:rPr lang="en-US" sz="1200" b="1" dirty="0"/>
              <a:t>Primary Tools </a:t>
            </a:r>
            <a:r>
              <a:rPr lang="en-US" sz="1200" dirty="0"/>
              <a:t>and</a:t>
            </a:r>
          </a:p>
          <a:p>
            <a:pPr marL="628650" lvl="1" indent="-171450">
              <a:buFont typeface="Arial" pitchFamily="34" charset="0"/>
              <a:buChar char="•"/>
            </a:pPr>
            <a:r>
              <a:rPr lang="en-US" sz="1200" b="1" dirty="0"/>
              <a:t>3rd Party Integrated or Bridging Tools</a:t>
            </a:r>
            <a:r>
              <a:rPr lang="en-US" sz="1200" dirty="0"/>
              <a:t>,</a:t>
            </a:r>
          </a:p>
          <a:p>
            <a:pPr marL="628650" lvl="1" indent="-171450">
              <a:buFont typeface="Arial" pitchFamily="34" charset="0"/>
              <a:buChar char="•"/>
            </a:pPr>
            <a:r>
              <a:rPr lang="en-US" sz="1200" b="1" dirty="0"/>
              <a:t>Processes, Books and Events</a:t>
            </a:r>
          </a:p>
          <a:p>
            <a:pPr marL="171450" indent="-171450" fontAlgn="ctr">
              <a:buFont typeface="Arial" pitchFamily="34" charset="0"/>
              <a:buChar char="•"/>
            </a:pPr>
            <a:r>
              <a:rPr lang="en-US" sz="1200" b="1" dirty="0"/>
              <a:t>Surveys</a:t>
            </a:r>
            <a:r>
              <a:rPr lang="en-US" sz="1200" dirty="0"/>
              <a:t> to discover more about the types of content that interest </a:t>
            </a:r>
            <a:r>
              <a:rPr lang="en-US" sz="1200" dirty="0" smtClean="0"/>
              <a:t>you so </a:t>
            </a:r>
            <a:r>
              <a:rPr lang="en-US" sz="1200" dirty="0"/>
              <a:t>we can serve you better</a:t>
            </a:r>
          </a:p>
          <a:p>
            <a:pPr marL="171450" indent="-171450" fontAlgn="ctr">
              <a:buFont typeface="Arial" pitchFamily="34" charset="0"/>
              <a:buChar char="•"/>
            </a:pPr>
            <a:r>
              <a:rPr lang="en-US" sz="1200" b="1" dirty="0"/>
              <a:t>Industry Study and Survey </a:t>
            </a:r>
            <a:r>
              <a:rPr lang="en-US" sz="1200" b="1" dirty="0" smtClean="0"/>
              <a:t>Results</a:t>
            </a:r>
            <a:r>
              <a:rPr lang="en-US" sz="1200" dirty="0" smtClean="0"/>
              <a:t> </a:t>
            </a:r>
            <a:r>
              <a:rPr lang="en-US" sz="1200" dirty="0"/>
              <a:t>to provide you more insight </a:t>
            </a:r>
            <a:r>
              <a:rPr lang="en-US" sz="1200" dirty="0" smtClean="0"/>
              <a:t>into what </a:t>
            </a:r>
            <a:r>
              <a:rPr lang="en-US" sz="1200" dirty="0"/>
              <a:t>others in your community are doing</a:t>
            </a:r>
          </a:p>
          <a:p>
            <a:pPr marL="171450" indent="-171450" fontAlgn="ctr">
              <a:buFont typeface="Arial" pitchFamily="34" charset="0"/>
              <a:buChar char="•"/>
            </a:pPr>
            <a:r>
              <a:rPr lang="en-US" sz="1200" b="1" dirty="0"/>
              <a:t>Interviews with top ALM Leaders</a:t>
            </a:r>
            <a:r>
              <a:rPr lang="en-US" sz="1200" dirty="0"/>
              <a:t> to help you discover </a:t>
            </a:r>
            <a:r>
              <a:rPr lang="en-US" sz="1200" dirty="0" smtClean="0"/>
              <a:t>what’s coming </a:t>
            </a:r>
            <a:r>
              <a:rPr lang="en-US" sz="1200" dirty="0"/>
              <a:t>and how you can get there</a:t>
            </a:r>
          </a:p>
          <a:p>
            <a:pPr marL="171450" indent="-171450" fontAlgn="ctr">
              <a:buFont typeface="Arial" pitchFamily="34" charset="0"/>
              <a:buChar char="•"/>
            </a:pPr>
            <a:r>
              <a:rPr lang="en-US" sz="1200" b="1" dirty="0"/>
              <a:t>Tutorials and Training Courses</a:t>
            </a:r>
            <a:r>
              <a:rPr lang="en-US" sz="1200" dirty="0"/>
              <a:t> to increase your knowledge </a:t>
            </a:r>
            <a:r>
              <a:rPr lang="en-US" sz="1200" dirty="0" smtClean="0"/>
              <a:t>and leverage </a:t>
            </a:r>
            <a:r>
              <a:rPr lang="en-US" sz="1200" dirty="0"/>
              <a:t>your career</a:t>
            </a:r>
          </a:p>
          <a:p>
            <a:pPr marL="171450" indent="-171450" fontAlgn="ctr">
              <a:buFont typeface="Arial" pitchFamily="34" charset="0"/>
              <a:buChar char="•"/>
            </a:pPr>
            <a:r>
              <a:rPr lang="en-US" sz="1200" b="1" dirty="0"/>
              <a:t>Event and Conference </a:t>
            </a:r>
            <a:r>
              <a:rPr lang="en-US" sz="1200" b="1" dirty="0" smtClean="0"/>
              <a:t>Information</a:t>
            </a:r>
            <a:r>
              <a:rPr lang="en-US" sz="1200" dirty="0" smtClean="0"/>
              <a:t> </a:t>
            </a:r>
            <a:r>
              <a:rPr lang="en-US" sz="1200" dirty="0"/>
              <a:t>with a spotlight on Details</a:t>
            </a:r>
            <a:r>
              <a:rPr lang="en-US" sz="1200" dirty="0" smtClean="0"/>
              <a:t>, Agenda </a:t>
            </a:r>
            <a:r>
              <a:rPr lang="en-US" sz="1200" dirty="0"/>
              <a:t>and Calendar so you are aware of what you want to </a:t>
            </a:r>
            <a:r>
              <a:rPr lang="en-US" sz="1200" dirty="0" smtClean="0"/>
              <a:t>attend to </a:t>
            </a:r>
            <a:r>
              <a:rPr lang="en-US" sz="1200" dirty="0"/>
              <a:t>increase your career potential</a:t>
            </a:r>
          </a:p>
          <a:p>
            <a:pPr marL="171450" indent="-171450" fontAlgn="ctr">
              <a:buFont typeface="Arial" pitchFamily="34" charset="0"/>
              <a:buChar char="•"/>
            </a:pPr>
            <a:r>
              <a:rPr lang="en-US" sz="1200" dirty="0"/>
              <a:t>...and finally </a:t>
            </a:r>
            <a:r>
              <a:rPr lang="en-US" sz="1200" b="1" dirty="0"/>
              <a:t>IT Humor</a:t>
            </a:r>
            <a:r>
              <a:rPr lang="en-US" sz="1200" dirty="0"/>
              <a:t> (yes it does exist ) including </a:t>
            </a:r>
            <a:r>
              <a:rPr lang="en-US" sz="1200" b="1" dirty="0"/>
              <a:t>Cartoons</a:t>
            </a:r>
          </a:p>
          <a:p>
            <a:endParaRPr lang="en-US" sz="800" dirty="0" smtClean="0"/>
          </a:p>
          <a:p>
            <a:r>
              <a:rPr lang="en-US" sz="1200" dirty="0" smtClean="0"/>
              <a:t>and </a:t>
            </a:r>
            <a:r>
              <a:rPr lang="en-US" sz="1200" dirty="0"/>
              <a:t>more...</a:t>
            </a:r>
          </a:p>
          <a:p>
            <a:r>
              <a:rPr lang="en-US" sz="1200" dirty="0"/>
              <a:t> </a:t>
            </a:r>
          </a:p>
        </p:txBody>
      </p:sp>
      <p:sp>
        <p:nvSpPr>
          <p:cNvPr id="5" name="Rectangle 4"/>
          <p:cNvSpPr/>
          <p:nvPr/>
        </p:nvSpPr>
        <p:spPr>
          <a:xfrm>
            <a:off x="4761" y="6181725"/>
            <a:ext cx="7548563" cy="3895725"/>
          </a:xfrm>
          <a:prstGeom prst="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endParaRPr lang="en-US" sz="200" b="1" dirty="0" smtClean="0"/>
          </a:p>
          <a:p>
            <a:pPr>
              <a:spcBef>
                <a:spcPts val="600"/>
              </a:spcBef>
            </a:pPr>
            <a:r>
              <a:rPr lang="en-US" sz="2000" b="1" dirty="0" smtClean="0"/>
              <a:t>        This Magazine For You If You Are:</a:t>
            </a:r>
          </a:p>
          <a:p>
            <a:pPr>
              <a:spcBef>
                <a:spcPts val="0"/>
              </a:spcBef>
            </a:pPr>
            <a:r>
              <a:rPr lang="en-US" sz="1200" dirty="0" smtClean="0"/>
              <a:t> </a:t>
            </a:r>
          </a:p>
          <a:p>
            <a:pPr marL="628650" lvl="1" indent="-171450" fontAlgn="ctr">
              <a:spcBef>
                <a:spcPts val="0"/>
              </a:spcBef>
              <a:buFont typeface="Arial" pitchFamily="34" charset="0"/>
              <a:buChar char="•"/>
            </a:pPr>
            <a:r>
              <a:rPr lang="en-US" sz="1600" dirty="0" smtClean="0"/>
              <a:t>a CEO, CIO, COO</a:t>
            </a:r>
          </a:p>
          <a:p>
            <a:pPr marL="628650" lvl="1" indent="-171450" fontAlgn="ctr">
              <a:spcBef>
                <a:spcPts val="0"/>
              </a:spcBef>
              <a:buFont typeface="Arial" pitchFamily="34" charset="0"/>
              <a:buChar char="•"/>
            </a:pPr>
            <a:r>
              <a:rPr lang="en-US" sz="1600" dirty="0" smtClean="0"/>
              <a:t>an Application or Development or QA or DBA Manager or Architect</a:t>
            </a:r>
          </a:p>
          <a:p>
            <a:pPr marL="628650" lvl="1" indent="-171450" fontAlgn="ctr">
              <a:spcBef>
                <a:spcPts val="0"/>
              </a:spcBef>
              <a:buFont typeface="Arial" pitchFamily="34" charset="0"/>
              <a:buChar char="•"/>
            </a:pPr>
            <a:r>
              <a:rPr lang="en-US" sz="1600" dirty="0" smtClean="0"/>
              <a:t>a Development or QA Lead</a:t>
            </a:r>
          </a:p>
          <a:p>
            <a:pPr marL="628650" lvl="1" indent="-171450" fontAlgn="ctr">
              <a:spcBef>
                <a:spcPts val="0"/>
              </a:spcBef>
              <a:buFont typeface="Arial" pitchFamily="34" charset="0"/>
              <a:buChar char="•"/>
            </a:pPr>
            <a:r>
              <a:rPr lang="en-US" sz="1600" dirty="0" smtClean="0"/>
              <a:t>a Product Owner</a:t>
            </a:r>
          </a:p>
          <a:p>
            <a:pPr marL="628650" lvl="1" indent="-171450" fontAlgn="ctr">
              <a:spcBef>
                <a:spcPts val="0"/>
              </a:spcBef>
              <a:buFont typeface="Arial" pitchFamily="34" charset="0"/>
              <a:buChar char="•"/>
            </a:pPr>
            <a:r>
              <a:rPr lang="en-US" sz="1600" dirty="0" smtClean="0"/>
              <a:t>a Project Manager</a:t>
            </a:r>
          </a:p>
          <a:p>
            <a:pPr marL="628650" lvl="1" indent="-171450" fontAlgn="ctr">
              <a:spcBef>
                <a:spcPts val="0"/>
              </a:spcBef>
              <a:buFont typeface="Arial" pitchFamily="34" charset="0"/>
              <a:buChar char="•"/>
            </a:pPr>
            <a:r>
              <a:rPr lang="en-US" sz="1600" dirty="0" smtClean="0"/>
              <a:t>a Scrum Master</a:t>
            </a:r>
          </a:p>
          <a:p>
            <a:pPr marL="628650" lvl="1" indent="-171450" fontAlgn="ctr">
              <a:spcBef>
                <a:spcPts val="0"/>
              </a:spcBef>
              <a:buFont typeface="Arial" pitchFamily="34" charset="0"/>
              <a:buChar char="•"/>
            </a:pPr>
            <a:r>
              <a:rPr lang="en-US" sz="1600" dirty="0" smtClean="0"/>
              <a:t>a Business Analyst</a:t>
            </a:r>
          </a:p>
          <a:p>
            <a:pPr marL="628650" lvl="1" indent="-171450" fontAlgn="ctr">
              <a:spcBef>
                <a:spcPts val="0"/>
              </a:spcBef>
              <a:buFont typeface="Arial" pitchFamily="34" charset="0"/>
              <a:buChar char="•"/>
            </a:pPr>
            <a:r>
              <a:rPr lang="en-US" sz="1600" dirty="0" smtClean="0"/>
              <a:t>a Tester</a:t>
            </a:r>
          </a:p>
          <a:p>
            <a:pPr marL="628650" lvl="1" indent="-171450" fontAlgn="ctr">
              <a:spcBef>
                <a:spcPts val="0"/>
              </a:spcBef>
              <a:buFont typeface="Arial" pitchFamily="34" charset="0"/>
              <a:buChar char="•"/>
            </a:pPr>
            <a:r>
              <a:rPr lang="en-US" sz="1600" dirty="0" smtClean="0"/>
              <a:t>a Developer </a:t>
            </a:r>
          </a:p>
          <a:p>
            <a:pPr marL="628650" lvl="1" indent="-171450" fontAlgn="ctr">
              <a:spcBef>
                <a:spcPts val="0"/>
              </a:spcBef>
              <a:buFont typeface="Arial" pitchFamily="34" charset="0"/>
              <a:buChar char="•"/>
            </a:pPr>
            <a:r>
              <a:rPr lang="en-US" sz="1600" dirty="0" smtClean="0"/>
              <a:t>...Or anyone involved in software Planning, Development, Testing, </a:t>
            </a:r>
          </a:p>
          <a:p>
            <a:pPr lvl="1" fontAlgn="ctr">
              <a:spcBef>
                <a:spcPts val="0"/>
              </a:spcBef>
            </a:pPr>
            <a:r>
              <a:rPr lang="en-US" sz="1600" dirty="0" smtClean="0"/>
              <a:t>   Infrastructure Provisioning or Deployment</a:t>
            </a:r>
            <a:endParaRPr lang="en-US" sz="1600" dirty="0"/>
          </a:p>
        </p:txBody>
      </p:sp>
      <p:sp>
        <p:nvSpPr>
          <p:cNvPr id="10" name="Rounded Rectangle 9">
            <a:hlinkClick r:id="rId4"/>
          </p:cNvPr>
          <p:cNvSpPr/>
          <p:nvPr/>
        </p:nvSpPr>
        <p:spPr>
          <a:xfrm>
            <a:off x="5160644" y="7858125"/>
            <a:ext cx="1740218" cy="609600"/>
          </a:xfrm>
          <a:prstGeom prst="roundRect">
            <a:avLst/>
          </a:prstGeom>
          <a:gradFill flip="none" rotWithShape="1">
            <a:gsLst>
              <a:gs pos="0">
                <a:srgbClr val="FEAB00">
                  <a:shade val="30000"/>
                  <a:satMod val="115000"/>
                </a:srgbClr>
              </a:gs>
              <a:gs pos="50000">
                <a:srgbClr val="FEAB00">
                  <a:shade val="67500"/>
                  <a:satMod val="115000"/>
                </a:srgbClr>
              </a:gs>
              <a:gs pos="100000">
                <a:srgbClr val="FEAB00">
                  <a:shade val="100000"/>
                  <a:satMod val="115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Subscribe</a:t>
            </a:r>
            <a:endParaRPr lang="en-US" b="1" dirty="0"/>
          </a:p>
        </p:txBody>
      </p:sp>
      <p:sp>
        <p:nvSpPr>
          <p:cNvPr id="9" name="Rounded Rectangle 8">
            <a:hlinkClick r:id="rId5"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128985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txBox="1">
            <a:spLocks noChangeArrowheads="1"/>
          </p:cNvSpPr>
          <p:nvPr/>
        </p:nvSpPr>
        <p:spPr bwMode="auto">
          <a:xfrm>
            <a:off x="195263" y="734794"/>
            <a:ext cx="6465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ea typeface="Tahoma" pitchFamily="34" charset="0"/>
                <a:cs typeface="EucrosiaUPC" pitchFamily="18" charset="-34"/>
              </a:rPr>
              <a:t>The History and Back Story…</a:t>
            </a:r>
          </a:p>
        </p:txBody>
      </p:sp>
      <p:cxnSp>
        <p:nvCxnSpPr>
          <p:cNvPr id="58" name="Straight Connector 5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436" name="Rectangle 2"/>
          <p:cNvSpPr>
            <a:spLocks/>
          </p:cNvSpPr>
          <p:nvPr/>
        </p:nvSpPr>
        <p:spPr bwMode="auto">
          <a:xfrm>
            <a:off x="2173288" y="2819400"/>
            <a:ext cx="4956175" cy="595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Scrum </a:t>
            </a:r>
            <a:r>
              <a:rPr lang="en-US" sz="1200" dirty="0"/>
              <a:t>and chickens and pigs, “Yeah right,” </a:t>
            </a:r>
            <a:r>
              <a:rPr lang="en-US" sz="1200" dirty="0" smtClean="0"/>
              <a:t>I thought</a:t>
            </a:r>
            <a:r>
              <a:rPr lang="en-US" sz="1200" dirty="0"/>
              <a:t>. What does that have to do with </a:t>
            </a:r>
            <a:r>
              <a:rPr lang="en-US" sz="1200" i="1" dirty="0"/>
              <a:t>anything </a:t>
            </a:r>
            <a:r>
              <a:rPr lang="en-US" sz="1200" dirty="0"/>
              <a:t>about Scrum and Agile</a:t>
            </a:r>
            <a:r>
              <a:rPr lang="en-US" sz="1200" dirty="0" smtClean="0"/>
              <a:t>?</a:t>
            </a:r>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pPr algn="just"/>
            <a:r>
              <a:rPr lang="en-US" sz="1200" dirty="0"/>
              <a:t>Zoom ahead almost ten years </a:t>
            </a:r>
            <a:r>
              <a:rPr lang="en-US" sz="1200" dirty="0" smtClean="0"/>
              <a:t>later </a:t>
            </a:r>
            <a:r>
              <a:rPr lang="en-US" sz="1200" dirty="0"/>
              <a:t>and I look back at what a powerful </a:t>
            </a:r>
            <a:r>
              <a:rPr lang="en-US" sz="1200" dirty="0" smtClean="0"/>
              <a:t>impact this </a:t>
            </a:r>
            <a:r>
              <a:rPr lang="en-US" sz="1200" dirty="0"/>
              <a:t>little story actually would have in my life. Like most people, this story </a:t>
            </a:r>
            <a:r>
              <a:rPr lang="en-US" sz="1200" dirty="0" smtClean="0"/>
              <a:t>will pass </a:t>
            </a:r>
            <a:r>
              <a:rPr lang="en-US" sz="1200" dirty="0"/>
              <a:t>you by like the rest of the noise in our great big universe. Unlike </a:t>
            </a:r>
            <a:r>
              <a:rPr lang="en-US" sz="1200" dirty="0" smtClean="0"/>
              <a:t>many people</a:t>
            </a:r>
            <a:r>
              <a:rPr lang="en-US" sz="1200" dirty="0"/>
              <a:t>, take a breath here. Pause. And think about some time in your life </a:t>
            </a:r>
            <a:r>
              <a:rPr lang="en-US" sz="1200" dirty="0" smtClean="0"/>
              <a:t>that things </a:t>
            </a:r>
            <a:r>
              <a:rPr lang="en-US" sz="1200" dirty="0"/>
              <a:t>took a major </a:t>
            </a:r>
            <a:r>
              <a:rPr lang="en-US" sz="1200" i="1" dirty="0"/>
              <a:t>shift</a:t>
            </a:r>
            <a:r>
              <a:rPr lang="en-US" sz="1200" dirty="0" smtClean="0"/>
              <a:t>.</a:t>
            </a:r>
          </a:p>
          <a:p>
            <a:pPr algn="just"/>
            <a:endParaRPr lang="en-US" sz="1200" dirty="0"/>
          </a:p>
          <a:p>
            <a:pPr algn="just"/>
            <a:r>
              <a:rPr lang="en-US" sz="1200" dirty="0"/>
              <a:t>Let’s get the story out of the way first (I actually screw this up most of the</a:t>
            </a:r>
          </a:p>
          <a:p>
            <a:pPr algn="just"/>
            <a:r>
              <a:rPr lang="en-US" sz="1200" dirty="0"/>
              <a:t>times I actually </a:t>
            </a:r>
            <a:r>
              <a:rPr lang="en-US" sz="1200" i="1" dirty="0"/>
              <a:t>tell </a:t>
            </a:r>
            <a:r>
              <a:rPr lang="en-US" sz="1200" dirty="0"/>
              <a:t>this story, but through the magic of writing I should be </a:t>
            </a:r>
            <a:r>
              <a:rPr lang="en-US" sz="1200" dirty="0" smtClean="0"/>
              <a:t>able to </a:t>
            </a:r>
            <a:r>
              <a:rPr lang="en-US" sz="1200" dirty="0"/>
              <a:t>get it right (even if the editors want to hack away at the actual punch line</a:t>
            </a:r>
            <a:r>
              <a:rPr lang="en-US" sz="1200" dirty="0" smtClean="0"/>
              <a:t>!).</a:t>
            </a:r>
          </a:p>
          <a:p>
            <a:pPr algn="just"/>
            <a:endParaRPr lang="en-US" sz="1200" dirty="0"/>
          </a:p>
          <a:p>
            <a:pPr algn="just"/>
            <a:r>
              <a:rPr lang="en-US" sz="1200" dirty="0"/>
              <a:t>A Chicken and Pig were walking down the street one day and talked </a:t>
            </a:r>
            <a:r>
              <a:rPr lang="en-US" sz="1200" dirty="0" smtClean="0"/>
              <a:t>about opening </a:t>
            </a:r>
            <a:r>
              <a:rPr lang="en-US" sz="1200" dirty="0"/>
              <a:t>a morning place for breakfast. Being really entrepreneurial and </a:t>
            </a:r>
            <a:r>
              <a:rPr lang="en-US" sz="1200" dirty="0" smtClean="0"/>
              <a:t>pretty open </a:t>
            </a:r>
            <a:r>
              <a:rPr lang="en-US" sz="1200" dirty="0"/>
              <a:t>to trying new ideas (think about the Lean Concept ideas heading </a:t>
            </a:r>
            <a:r>
              <a:rPr lang="en-US" sz="1200" dirty="0" smtClean="0"/>
              <a:t>into 2013</a:t>
            </a:r>
            <a:r>
              <a:rPr lang="en-US" sz="1200" dirty="0"/>
              <a:t>) they decided it would be a great idea. The Chicken had a great idea for </a:t>
            </a:r>
            <a:r>
              <a:rPr lang="en-US" sz="1200" dirty="0" smtClean="0"/>
              <a:t>a name </a:t>
            </a:r>
            <a:r>
              <a:rPr lang="en-US" sz="1200" dirty="0"/>
              <a:t>and of course was anxious to try out the idea on his friend The Pig. “</a:t>
            </a:r>
            <a:r>
              <a:rPr lang="en-US" sz="1200" dirty="0" smtClean="0"/>
              <a:t>Ham ’n </a:t>
            </a:r>
            <a:r>
              <a:rPr lang="en-US" sz="1200" dirty="0"/>
              <a:t>Eggs”. The Pig looked at him with an astonished look and told the Chicken</a:t>
            </a:r>
            <a:r>
              <a:rPr lang="en-US" sz="1200" dirty="0" smtClean="0"/>
              <a:t>, “</a:t>
            </a:r>
            <a:r>
              <a:rPr lang="en-US" sz="1200" dirty="0"/>
              <a:t>No Thanks, I’d be committed you’d only be involved</a:t>
            </a:r>
            <a:r>
              <a:rPr lang="en-US" sz="1200" dirty="0" smtClean="0"/>
              <a:t>!”</a:t>
            </a:r>
          </a:p>
          <a:p>
            <a:endParaRPr lang="en-US" sz="1200" dirty="0"/>
          </a:p>
          <a:p>
            <a:r>
              <a:rPr lang="en-US" sz="1200" dirty="0" smtClean="0"/>
              <a:t>Wow. Right?</a:t>
            </a:r>
          </a:p>
          <a:p>
            <a:endParaRPr lang="en-US" sz="1200" dirty="0" smtClean="0"/>
          </a:p>
        </p:txBody>
      </p:sp>
      <p:sp>
        <p:nvSpPr>
          <p:cNvPr id="18437" name="Rectangle 3"/>
          <p:cNvSpPr>
            <a:spLocks/>
          </p:cNvSpPr>
          <p:nvPr/>
        </p:nvSpPr>
        <p:spPr bwMode="auto">
          <a:xfrm>
            <a:off x="3319461" y="1541463"/>
            <a:ext cx="3810001"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y </a:t>
            </a:r>
            <a:r>
              <a:rPr lang="en-US" sz="1200" dirty="0"/>
              <a:t>name is </a:t>
            </a:r>
            <a:r>
              <a:rPr lang="en-US" sz="1200" dirty="0">
                <a:hlinkClick r:id="rId3"/>
              </a:rPr>
              <a:t>Michael </a:t>
            </a:r>
            <a:r>
              <a:rPr lang="en-US" sz="1200" dirty="0" smtClean="0">
                <a:hlinkClick r:id="rId3"/>
              </a:rPr>
              <a:t>Vizdos</a:t>
            </a:r>
            <a:r>
              <a:rPr lang="en-US" sz="1200" dirty="0" smtClean="0"/>
              <a:t> </a:t>
            </a:r>
            <a:r>
              <a:rPr lang="en-US" sz="1200" dirty="0"/>
              <a:t>and you may not have heard of me (it’s a big world). Back in 2004 when I received my Certified ScrumMaster Certificate from Ken Schwaber, he told a story in his class about a chicken and a pig. As many people during that time, I ignored the story and it slipped my mind for a long time.</a:t>
            </a:r>
          </a:p>
        </p:txBody>
      </p:sp>
      <p:sp>
        <p:nvSpPr>
          <p:cNvPr id="18438" name="Rectangle 4"/>
          <p:cNvSpPr>
            <a:spLocks/>
          </p:cNvSpPr>
          <p:nvPr/>
        </p:nvSpPr>
        <p:spPr bwMode="auto">
          <a:xfrm>
            <a:off x="2024063" y="1216025"/>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M</a:t>
            </a:r>
            <a:endParaRPr lang="en-US" sz="11600" b="1" dirty="0">
              <a:latin typeface="Helvetica Neue Bold Condensed" charset="0"/>
              <a:sym typeface="Helvetica Neue Bold Condensed" charset="0"/>
            </a:endParaRPr>
          </a:p>
        </p:txBody>
      </p:sp>
      <p:sp>
        <p:nvSpPr>
          <p:cNvPr id="18440" name="Rectangle 5"/>
          <p:cNvSpPr>
            <a:spLocks/>
          </p:cNvSpPr>
          <p:nvPr/>
        </p:nvSpPr>
        <p:spPr bwMode="auto">
          <a:xfrm>
            <a:off x="347663" y="2892425"/>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Mike Vizdos</a:t>
            </a:r>
          </a:p>
          <a:p>
            <a:pPr algn="r"/>
            <a:r>
              <a:rPr lang="en-US" sz="1100" i="1" dirty="0" smtClean="0">
                <a:solidFill>
                  <a:srgbClr val="4D4D4D"/>
                </a:solidFill>
                <a:latin typeface="Helvetica" charset="0"/>
                <a:cs typeface="Helvetica" charset="0"/>
                <a:sym typeface="Helvetica" charset="0"/>
              </a:rPr>
              <a:t>Certified Scrum Trainer</a:t>
            </a:r>
          </a:p>
          <a:p>
            <a:pPr algn="r"/>
            <a:r>
              <a:rPr lang="en-US" sz="1100" i="1" dirty="0" smtClean="0">
                <a:solidFill>
                  <a:srgbClr val="4D4D4D"/>
                </a:solidFill>
                <a:latin typeface="Helvetica" charset="0"/>
                <a:cs typeface="Helvetica" charset="0"/>
                <a:sym typeface="Helvetica" charset="0"/>
              </a:rPr>
              <a:t>Agile Consultant &amp; Coach</a:t>
            </a:r>
          </a:p>
          <a:p>
            <a:pPr algn="r"/>
            <a:r>
              <a:rPr lang="en-US" sz="1100" i="1" u="sng" dirty="0">
                <a:hlinkClick r:id="rId4"/>
              </a:rPr>
              <a:t>implementingscrum.com</a:t>
            </a:r>
            <a:endParaRPr lang="en-US" sz="1100" i="1" dirty="0">
              <a:solidFill>
                <a:srgbClr val="4D4D4D"/>
              </a:solidFill>
              <a:latin typeface="Helvetica" charset="0"/>
              <a:cs typeface="Helvetica" charset="0"/>
              <a:sym typeface="Helvetica"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3287" y="3317418"/>
            <a:ext cx="5070475" cy="1784807"/>
          </a:xfrm>
          <a:prstGeom prst="rect">
            <a:avLst/>
          </a:prstGeom>
        </p:spPr>
      </p:pic>
      <p:pic>
        <p:nvPicPr>
          <p:cNvPr id="2050" name="Picture 2" descr="E:\Pictures\ALM Mag - Contributors\Mike Vizdo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863" y="1597025"/>
            <a:ext cx="1143000" cy="1066800"/>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Scrum</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51</a:t>
            </a:fld>
            <a:endParaRPr lang="en-PH" dirty="0"/>
          </a:p>
        </p:txBody>
      </p:sp>
      <p:sp>
        <p:nvSpPr>
          <p:cNvPr id="13" name="Rounded Rectangle 12">
            <a:hlinkClick r:id="rId7"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80627596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3894138" y="771525"/>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What I am finding though is that sometimes </a:t>
            </a:r>
            <a:r>
              <a:rPr lang="en-US" sz="1200" i="1" dirty="0"/>
              <a:t>free </a:t>
            </a:r>
            <a:r>
              <a:rPr lang="en-US" sz="1200" dirty="0"/>
              <a:t>is the most expensive thing you will ever do.</a:t>
            </a:r>
          </a:p>
          <a:p>
            <a:pPr algn="just"/>
            <a:endParaRPr lang="en-US" sz="1200" dirty="0" smtClean="0"/>
          </a:p>
          <a:p>
            <a:pPr algn="just"/>
            <a:r>
              <a:rPr lang="en-US" sz="1200" dirty="0" smtClean="0"/>
              <a:t>Thanks </a:t>
            </a:r>
            <a:r>
              <a:rPr lang="en-US" sz="1200" dirty="0"/>
              <a:t>for taking the time to read this overview and “my story” of where I</a:t>
            </a:r>
          </a:p>
          <a:p>
            <a:pPr algn="just"/>
            <a:r>
              <a:rPr lang="en-US" sz="1200" dirty="0"/>
              <a:t>have been. Let us know what you’d like to see examined more within the pages of this magazine that will help you move a little forward each day.</a:t>
            </a:r>
          </a:p>
          <a:p>
            <a:pPr algn="just"/>
            <a:endParaRPr lang="en-US" sz="1200" dirty="0"/>
          </a:p>
        </p:txBody>
      </p:sp>
      <p:sp>
        <p:nvSpPr>
          <p:cNvPr id="22531" name="Rectangle 2"/>
          <p:cNvSpPr>
            <a:spLocks/>
          </p:cNvSpPr>
          <p:nvPr/>
        </p:nvSpPr>
        <p:spPr bwMode="auto">
          <a:xfrm>
            <a:off x="423863" y="771525"/>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as wrong as that </a:t>
            </a:r>
            <a:r>
              <a:rPr lang="en-US" sz="1200" i="1" dirty="0"/>
              <a:t>perceived </a:t>
            </a:r>
            <a:r>
              <a:rPr lang="en-US" sz="1200" dirty="0"/>
              <a:t>fact is!). Some people actually have this visceral reaction to the story of the Chickens and Pigs. </a:t>
            </a:r>
            <a:r>
              <a:rPr lang="en-US" sz="1200" dirty="0" smtClean="0"/>
              <a:t>Some </a:t>
            </a:r>
            <a:r>
              <a:rPr lang="en-US" sz="1200" dirty="0"/>
              <a:t>people hear it and laugh it off. Some people are just learning about it (still). The story is not just associated with Scrum (much like Agile does not equal Scrum); however, it is pretty well known by now. And the story will continue to throughout the years. It’s fun. It causes reactions in people. Some people laugh. Some people cry (well, actually now that I think of it I have never seen anyone actually cry over this cartoon).</a:t>
            </a:r>
          </a:p>
          <a:p>
            <a:pPr algn="just"/>
            <a:endParaRPr lang="en-US" sz="1200" dirty="0"/>
          </a:p>
          <a:p>
            <a:pPr algn="just"/>
            <a:r>
              <a:rPr lang="en-US" sz="1200" dirty="0"/>
              <a:t>Here is the important thing: The story (and cartoons) about Chickens and</a:t>
            </a:r>
          </a:p>
          <a:p>
            <a:pPr algn="just"/>
            <a:r>
              <a:rPr lang="en-US" sz="1200" dirty="0"/>
              <a:t>Pigs get people talking. Over the years the tagline for the site has evolved into, “Starting Tough Conversations about Software Development.”</a:t>
            </a:r>
          </a:p>
          <a:p>
            <a:pPr algn="just"/>
            <a:endParaRPr lang="en-US" sz="1200" dirty="0"/>
          </a:p>
          <a:p>
            <a:pPr algn="just"/>
            <a:r>
              <a:rPr lang="en-US" sz="1200" dirty="0"/>
              <a:t>And that is something that is important for us to examine in this magazine — and beyond.</a:t>
            </a:r>
          </a:p>
          <a:p>
            <a:pPr algn="just"/>
            <a:endParaRPr lang="en-US" sz="1200" dirty="0"/>
          </a:p>
          <a:p>
            <a:pPr algn="just"/>
            <a:r>
              <a:rPr lang="en-US" sz="1200" dirty="0"/>
              <a:t>Within these pages (or on your screen most likely) you’ll learn some new</a:t>
            </a:r>
          </a:p>
          <a:p>
            <a:pPr algn="just"/>
            <a:r>
              <a:rPr lang="en-US" sz="1200" dirty="0"/>
              <a:t>things. Maybe some of them are not so new. Here is my challenge to you</a:t>
            </a:r>
          </a:p>
          <a:p>
            <a:pPr algn="just"/>
            <a:r>
              <a:rPr lang="en-US" sz="1200" dirty="0"/>
              <a:t>(especially if you want to gloss over something because it </a:t>
            </a:r>
            <a:r>
              <a:rPr lang="en-US" sz="1200" i="1" dirty="0"/>
              <a:t>is </a:t>
            </a:r>
            <a:r>
              <a:rPr lang="en-US" sz="1200" dirty="0"/>
              <a:t>familiar to you — keep an open and beginners mind and let’s see just what is possible. Take something from this magazine and apply it </a:t>
            </a:r>
            <a:r>
              <a:rPr lang="en-US" sz="1200" i="1" dirty="0"/>
              <a:t>today</a:t>
            </a:r>
            <a:r>
              <a:rPr lang="en-US" sz="1200" dirty="0"/>
              <a:t>.</a:t>
            </a:r>
          </a:p>
          <a:p>
            <a:pPr algn="just"/>
            <a:endParaRPr lang="en-US" sz="1200" dirty="0"/>
          </a:p>
          <a:p>
            <a:pPr algn="just"/>
            <a:r>
              <a:rPr lang="en-US" sz="1200" dirty="0" smtClean="0"/>
              <a:t>Also, feel free to join me at www.implementingscrum.com if this is a topic</a:t>
            </a:r>
          </a:p>
          <a:p>
            <a:pPr algn="just"/>
            <a:r>
              <a:rPr lang="en-US" sz="1200" dirty="0" smtClean="0"/>
              <a:t>that interests you. There are over a hundred comic strips out there and over six years of blog postings about various topics (mostly related to Scrum although sometimes I get off topic — life!). Heading into 2013 people there will join me on a new journey. Interested in joining me on this journey? The content is free.</a:t>
            </a:r>
          </a:p>
          <a:p>
            <a:pPr algn="just"/>
            <a:endParaRPr lang="en-US" sz="1200" dirty="0"/>
          </a:p>
        </p:txBody>
      </p:sp>
      <p:sp>
        <p:nvSpPr>
          <p:cNvPr id="7" name="Rectangle 2"/>
          <p:cNvSpPr>
            <a:spLocks/>
          </p:cNvSpPr>
          <p:nvPr/>
        </p:nvSpPr>
        <p:spPr bwMode="auto">
          <a:xfrm>
            <a:off x="3919659" y="3133725"/>
            <a:ext cx="3315569" cy="685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2"/>
              </a:rPr>
              <a:t>Michael Vizdos</a:t>
            </a:r>
            <a:r>
              <a:rPr lang="en-US" sz="1000" i="1" dirty="0"/>
              <a:t> is a world traveler, author, </a:t>
            </a:r>
            <a:r>
              <a:rPr lang="en-US" sz="1000" i="1" dirty="0" smtClean="0"/>
              <a:t>Scrum </a:t>
            </a:r>
            <a:r>
              <a:rPr lang="en-US" sz="1000" i="1" dirty="0"/>
              <a:t>&amp; </a:t>
            </a:r>
            <a:r>
              <a:rPr lang="en-US" sz="1000" i="1" dirty="0" smtClean="0"/>
              <a:t>Agile </a:t>
            </a:r>
            <a:r>
              <a:rPr lang="en-US" sz="1000" i="1" dirty="0"/>
              <a:t>C</a:t>
            </a:r>
            <a:r>
              <a:rPr lang="en-US" sz="1000" i="1" dirty="0" smtClean="0"/>
              <a:t>onsultant</a:t>
            </a:r>
            <a:r>
              <a:rPr lang="en-US" sz="1000" i="1" dirty="0"/>
              <a:t>, speaker, and the person behind </a:t>
            </a:r>
            <a:r>
              <a:rPr lang="en-US" sz="1000" i="1" u="sng" dirty="0">
                <a:hlinkClick r:id="rId3"/>
              </a:rPr>
              <a:t>implementingscrum.com</a:t>
            </a:r>
            <a:r>
              <a:rPr lang="en-US" sz="1000" i="1" dirty="0"/>
              <a:t>.</a:t>
            </a:r>
            <a:endParaRPr lang="en-US" sz="1000" dirty="0"/>
          </a:p>
        </p:txBody>
      </p:sp>
      <p:cxnSp>
        <p:nvCxnSpPr>
          <p:cNvPr id="10" name="Straight Connector 9"/>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Scrum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52</a:t>
            </a:fld>
            <a:endParaRPr lang="en-PH" dirty="0"/>
          </a:p>
        </p:txBody>
      </p:sp>
      <p:sp>
        <p:nvSpPr>
          <p:cNvPr id="9" name="Rounded Rectangle 8">
            <a:hlinkClick r:id="rId4" action="ppaction://hlinksldjump"/>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4735975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4"/>
          <p:cNvSpPr>
            <a:spLocks/>
          </p:cNvSpPr>
          <p:nvPr/>
        </p:nvSpPr>
        <p:spPr bwMode="auto">
          <a:xfrm>
            <a:off x="2024063" y="1000125"/>
            <a:ext cx="838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9600" b="1" dirty="0">
                <a:latin typeface="Helvetica Neue Bold Condensed" charset="0"/>
                <a:sym typeface="Helvetica Neue Bold Condensed" charset="0"/>
              </a:rPr>
              <a:t>W</a:t>
            </a:r>
          </a:p>
        </p:txBody>
      </p:sp>
      <p:sp>
        <p:nvSpPr>
          <p:cNvPr id="15" name="Rectangle 2"/>
          <p:cNvSpPr>
            <a:spLocks/>
          </p:cNvSpPr>
          <p:nvPr/>
        </p:nvSpPr>
        <p:spPr bwMode="auto">
          <a:xfrm>
            <a:off x="2024063" y="8086725"/>
            <a:ext cx="5181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defRPr/>
            </a:pPr>
            <a:r>
              <a:rPr lang="en-US" sz="1200" dirty="0" smtClean="0"/>
              <a:t>Warmest </a:t>
            </a:r>
            <a:r>
              <a:rPr lang="en-US" sz="1200" dirty="0"/>
              <a:t>Regards,</a:t>
            </a:r>
          </a:p>
          <a:p>
            <a:pPr>
              <a:defRPr/>
            </a:pPr>
            <a:r>
              <a:rPr lang="en-US" sz="1200" dirty="0"/>
              <a:t>Keith </a:t>
            </a:r>
            <a:r>
              <a:rPr lang="en-US" sz="1200" dirty="0" smtClean="0"/>
              <a:t>Denham</a:t>
            </a:r>
          </a:p>
          <a:p>
            <a:pPr>
              <a:defRPr/>
            </a:pPr>
            <a:endParaRPr lang="en-US" sz="1200" dirty="0"/>
          </a:p>
          <a:p>
            <a:pPr>
              <a:defRPr/>
            </a:pPr>
            <a:endParaRPr lang="en-US" sz="1200" dirty="0" smtClean="0"/>
          </a:p>
          <a:p>
            <a:pPr>
              <a:defRPr/>
            </a:pPr>
            <a:r>
              <a:rPr lang="en-US" sz="1100" i="1" dirty="0" smtClean="0"/>
              <a:t>P.S. Don’t forget, this is an interactive magazine, tap on the audios and videos and tap on the highlighted links to see additional related content. </a:t>
            </a:r>
          </a:p>
          <a:p>
            <a:pPr>
              <a:defRPr/>
            </a:pPr>
            <a:r>
              <a:rPr lang="en-US" sz="1100" i="1" dirty="0" smtClean="0"/>
              <a:t>Tap on the Index Page Button at the foot of any page to return to the Index.</a:t>
            </a:r>
            <a:endParaRPr lang="en-US" sz="1100" i="1" dirty="0"/>
          </a:p>
        </p:txBody>
      </p:sp>
      <p:sp>
        <p:nvSpPr>
          <p:cNvPr id="6146" name="TextBox 3"/>
          <p:cNvSpPr txBox="1">
            <a:spLocks noChangeArrowheads="1"/>
          </p:cNvSpPr>
          <p:nvPr/>
        </p:nvSpPr>
        <p:spPr bwMode="auto">
          <a:xfrm>
            <a:off x="423862" y="619125"/>
            <a:ext cx="20996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Welcome</a:t>
            </a:r>
          </a:p>
        </p:txBody>
      </p:sp>
      <p:cxnSp>
        <p:nvCxnSpPr>
          <p:cNvPr id="58" name="Straight Connector 57"/>
          <p:cNvCxnSpPr/>
          <p:nvPr/>
        </p:nvCxnSpPr>
        <p:spPr>
          <a:xfrm>
            <a:off x="271462" y="542925"/>
            <a:ext cx="7003732"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0244" name="Rectangle 2"/>
          <p:cNvSpPr>
            <a:spLocks/>
          </p:cNvSpPr>
          <p:nvPr/>
        </p:nvSpPr>
        <p:spPr bwMode="auto">
          <a:xfrm>
            <a:off x="2024063" y="2843213"/>
            <a:ext cx="5181600" cy="493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smtClean="0"/>
              <a:t>This February issue of ALM Mag has a definite DevOps flavor with articles from Andrew Stevens of XebiaLabs, Dr. Jacob Ukelson of Nolio and Eric Minick of UrbanCode all presenting articles on deployment strategies </a:t>
            </a:r>
            <a:r>
              <a:rPr lang="en-US" sz="1200" dirty="0"/>
              <a:t>a</a:t>
            </a:r>
            <a:r>
              <a:rPr lang="en-US" sz="1200" dirty="0" smtClean="0"/>
              <a:t>nd processes.</a:t>
            </a:r>
          </a:p>
          <a:p>
            <a:pPr algn="just">
              <a:defRPr/>
            </a:pPr>
            <a:endParaRPr lang="en-US" sz="1200" dirty="0" smtClean="0"/>
          </a:p>
          <a:p>
            <a:pPr algn="just">
              <a:defRPr/>
            </a:pPr>
            <a:r>
              <a:rPr lang="en-US" sz="1200" dirty="0" smtClean="0"/>
              <a:t>The March issue is shaping up to have an even stronger Testing focus but in true Agile spirit we’ll see how that plays out.</a:t>
            </a:r>
          </a:p>
          <a:p>
            <a:pPr algn="just">
              <a:defRPr/>
            </a:pPr>
            <a:endParaRPr lang="en-US" sz="1200" dirty="0"/>
          </a:p>
          <a:p>
            <a:pPr algn="just">
              <a:defRPr/>
            </a:pPr>
            <a:r>
              <a:rPr lang="en-US" sz="1200" dirty="0" smtClean="0"/>
              <a:t>Several alliances were formed during the Summit that, while allowing ALM Mag to retain its independent position, will bring a continuity of more of the great content that we trust will be of value to your and your organizations in the months and years ahead.</a:t>
            </a:r>
          </a:p>
          <a:p>
            <a:pPr algn="just">
              <a:defRPr/>
            </a:pPr>
            <a:endParaRPr lang="en-US" sz="1200" dirty="0"/>
          </a:p>
          <a:p>
            <a:pPr algn="just">
              <a:defRPr/>
            </a:pPr>
            <a:r>
              <a:rPr lang="en-US" sz="1200" dirty="0" smtClean="0"/>
              <a:t>For our international readers know that following the success at the Summit we have already begun to talk to conference organizers in Europe, the South Pacific and Asia about sponsoring their events in an ongoing effort to bring ALM Mag closer to you.</a:t>
            </a:r>
          </a:p>
          <a:p>
            <a:pPr algn="just">
              <a:defRPr/>
            </a:pPr>
            <a:endParaRPr lang="en-US" sz="1200" dirty="0"/>
          </a:p>
          <a:p>
            <a:pPr algn="just">
              <a:defRPr/>
            </a:pPr>
            <a:r>
              <a:rPr lang="en-US" sz="1200" dirty="0" smtClean="0"/>
              <a:t>Our membership is growing rapidly and already in these early stages and while strong in the US, it has taken on a marked international reach.</a:t>
            </a:r>
          </a:p>
          <a:p>
            <a:pPr algn="just">
              <a:defRPr/>
            </a:pPr>
            <a:endParaRPr lang="en-US" sz="1200" dirty="0"/>
          </a:p>
          <a:p>
            <a:pPr algn="just">
              <a:defRPr/>
            </a:pPr>
            <a:r>
              <a:rPr lang="en-US" sz="1200" dirty="0" smtClean="0"/>
              <a:t>For those of you reading this issue and who are not yet members it is not too late to take advantage of </a:t>
            </a:r>
            <a:r>
              <a:rPr lang="en-US" sz="1200" dirty="0"/>
              <a:t>our early bird Founding </a:t>
            </a:r>
            <a:r>
              <a:rPr lang="en-US" sz="1200" dirty="0" smtClean="0"/>
              <a:t>Member Offer… click this link for more details.</a:t>
            </a:r>
          </a:p>
          <a:p>
            <a:pPr algn="just">
              <a:defRPr/>
            </a:pPr>
            <a:endParaRPr lang="en-US" sz="1200" dirty="0"/>
          </a:p>
          <a:p>
            <a:pPr algn="just">
              <a:defRPr/>
            </a:pPr>
            <a:r>
              <a:rPr lang="en-US" sz="1200" dirty="0" smtClean="0"/>
              <a:t>	</a:t>
            </a:r>
            <a:r>
              <a:rPr lang="en-US" sz="1200" dirty="0" smtClean="0">
                <a:hlinkClick r:id="rId2"/>
              </a:rPr>
              <a:t>http</a:t>
            </a:r>
            <a:r>
              <a:rPr lang="en-US" sz="1200" dirty="0">
                <a:hlinkClick r:id="rId2"/>
              </a:rPr>
              <a:t>://</a:t>
            </a:r>
            <a:r>
              <a:rPr lang="en-US" sz="1200" dirty="0" smtClean="0">
                <a:hlinkClick r:id="rId2"/>
              </a:rPr>
              <a:t>www.member.almmag.com/goto/foundingmember</a:t>
            </a:r>
            <a:endParaRPr lang="en-US" sz="1200" dirty="0" smtClean="0"/>
          </a:p>
          <a:p>
            <a:pPr algn="just">
              <a:defRPr/>
            </a:pPr>
            <a:endParaRPr lang="en-US" sz="1200" dirty="0"/>
          </a:p>
          <a:p>
            <a:pPr algn="just">
              <a:defRPr/>
            </a:pPr>
            <a:r>
              <a:rPr lang="en-US" sz="1200" dirty="0" smtClean="0"/>
              <a:t>Enjoy!</a:t>
            </a:r>
            <a:endParaRPr lang="en-US" sz="1200" dirty="0"/>
          </a:p>
        </p:txBody>
      </p:sp>
      <p:sp>
        <p:nvSpPr>
          <p:cNvPr id="6149" name="Rectangle 3"/>
          <p:cNvSpPr>
            <a:spLocks/>
          </p:cNvSpPr>
          <p:nvPr/>
        </p:nvSpPr>
        <p:spPr bwMode="auto">
          <a:xfrm>
            <a:off x="3319462" y="1304925"/>
            <a:ext cx="3886201"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a:t>e</a:t>
            </a:r>
            <a:r>
              <a:rPr lang="en-US" sz="1200" i="1" dirty="0" smtClean="0"/>
              <a:t>’re back from a very successful and enjoyable ALM Summit held in the Microsoft Conference Center on the campus in Redmond, WA. Five days and nights of terrific presentations, workshops, social events and networking with many of the brightest minds in our space.</a:t>
            </a:r>
          </a:p>
          <a:p>
            <a:pPr algn="just"/>
            <a:endParaRPr lang="en-US" sz="1200" i="1" dirty="0"/>
          </a:p>
          <a:p>
            <a:pPr algn="just"/>
            <a:r>
              <a:rPr lang="en-US" sz="1200" i="1" dirty="0" smtClean="0"/>
              <a:t>We will be looking to bring you some commentary on the Summit in the next issue.</a:t>
            </a:r>
            <a:endParaRPr lang="en-US" sz="1200" i="1" dirty="0"/>
          </a:p>
        </p:txBody>
      </p:sp>
      <p:sp>
        <p:nvSpPr>
          <p:cNvPr id="6151" name="Rectangle 5"/>
          <p:cNvSpPr>
            <a:spLocks/>
          </p:cNvSpPr>
          <p:nvPr/>
        </p:nvSpPr>
        <p:spPr bwMode="auto">
          <a:xfrm>
            <a:off x="195263" y="2843213"/>
            <a:ext cx="1679576"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Denham</a:t>
            </a:r>
          </a:p>
          <a:p>
            <a:pPr algn="r"/>
            <a:r>
              <a:rPr lang="en-US" sz="1100" i="1" dirty="0" smtClean="0">
                <a:solidFill>
                  <a:srgbClr val="4D4D4D"/>
                </a:solidFill>
                <a:latin typeface="Helvetica" charset="0"/>
                <a:cs typeface="Helvetica" charset="0"/>
                <a:sym typeface="Helvetica" charset="0"/>
              </a:rPr>
              <a:t>Publisher</a:t>
            </a:r>
          </a:p>
          <a:p>
            <a:pPr algn="r"/>
            <a:endParaRPr lang="en-US" sz="1100" i="1" dirty="0" smtClean="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rPr>
              <a:t>Treasure Cove Publishing</a:t>
            </a:r>
          </a:p>
          <a:p>
            <a:pPr algn="r"/>
            <a:r>
              <a:rPr lang="en-US" sz="1100" i="1" dirty="0" smtClean="0">
                <a:solidFill>
                  <a:srgbClr val="4D4D4D"/>
                </a:solidFill>
                <a:latin typeface="Helvetica" charset="0"/>
                <a:cs typeface="Helvetica" charset="0"/>
                <a:sym typeface="Helvetica" charset="0"/>
              </a:rPr>
              <a:t>Volume 1 – Issue 2</a:t>
            </a:r>
          </a:p>
          <a:p>
            <a:pPr algn="r"/>
            <a:r>
              <a:rPr lang="en-US" sz="1100" i="1" dirty="0" smtClean="0">
                <a:solidFill>
                  <a:srgbClr val="4D4D4D"/>
                </a:solidFill>
                <a:latin typeface="Helvetica" charset="0"/>
                <a:cs typeface="Helvetica" charset="0"/>
                <a:sym typeface="Helvetica" charset="0"/>
              </a:rPr>
              <a:t>February 2013 </a:t>
            </a:r>
          </a:p>
        </p:txBody>
      </p:sp>
      <p:pic>
        <p:nvPicPr>
          <p:cNvPr id="6152" name="Picture 4" descr="E:\Pictures\ALM Mag - Contributors\KD-Headshot-Sq-145x14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95400"/>
            <a:ext cx="13811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91039" y="8505825"/>
            <a:ext cx="1768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p:cNvSpPr>
            <a:spLocks/>
          </p:cNvSpPr>
          <p:nvPr/>
        </p:nvSpPr>
        <p:spPr bwMode="auto">
          <a:xfrm>
            <a:off x="195262" y="4014788"/>
            <a:ext cx="1686243" cy="54435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endParaRPr lang="en-US" sz="4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ADVISORY BOARD:</a:t>
            </a:r>
          </a:p>
          <a:p>
            <a:pPr algn="ctr"/>
            <a:r>
              <a:rPr lang="en-US" sz="1100" i="1" dirty="0" smtClean="0">
                <a:solidFill>
                  <a:srgbClr val="4D4D4D"/>
                </a:solidFill>
                <a:latin typeface="Helvetica" charset="0"/>
                <a:cs typeface="Helvetica" charset="0"/>
                <a:sym typeface="Helvetica" charset="0"/>
              </a:rPr>
              <a:t>Sam Guckenheimer</a:t>
            </a:r>
          </a:p>
          <a:p>
            <a:pPr algn="ctr"/>
            <a:r>
              <a:rPr lang="en-US" sz="1000" i="1" dirty="0">
                <a:solidFill>
                  <a:srgbClr val="4D4D4D"/>
                </a:solidFill>
                <a:latin typeface="Helvetica" charset="0"/>
                <a:cs typeface="Helvetica" charset="0"/>
              </a:rPr>
              <a:t>Group Product Planner for Visual </a:t>
            </a:r>
            <a:r>
              <a:rPr lang="en-US" sz="1000" i="1" dirty="0" smtClean="0">
                <a:solidFill>
                  <a:srgbClr val="4D4D4D"/>
                </a:solidFill>
                <a:latin typeface="Helvetica" charset="0"/>
                <a:cs typeface="Helvetica" charset="0"/>
              </a:rPr>
              <a:t>Studio &amp; Author</a:t>
            </a:r>
            <a:endParaRPr lang="en-US" sz="1000" i="1" dirty="0">
              <a:solidFill>
                <a:srgbClr val="4D4D4D"/>
              </a:solidFill>
              <a:latin typeface="Helvetica" charset="0"/>
              <a:cs typeface="Helvetica" charset="0"/>
              <a:sym typeface="Helvetica" charset="0"/>
            </a:endParaRPr>
          </a:p>
          <a:p>
            <a:pPr algn="ctr"/>
            <a:r>
              <a:rPr lang="en-US" sz="1000" i="1" dirty="0" smtClean="0">
                <a:solidFill>
                  <a:srgbClr val="4D4D4D"/>
                </a:solidFill>
                <a:latin typeface="Helvetica" charset="0"/>
                <a:cs typeface="Helvetica" charset="0"/>
                <a:sym typeface="Helvetica" charset="0"/>
              </a:rPr>
              <a:t>- Microsoft</a:t>
            </a:r>
          </a:p>
          <a:p>
            <a:pPr algn="ctr"/>
            <a:endParaRPr lang="en-US" sz="400" i="1" dirty="0" smtClean="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Keith Pleas</a:t>
            </a:r>
          </a:p>
          <a:p>
            <a:pPr algn="ctr"/>
            <a:r>
              <a:rPr lang="en-US" sz="1000" i="1" dirty="0">
                <a:solidFill>
                  <a:srgbClr val="4D4D4D"/>
                </a:solidFill>
                <a:latin typeface="Helvetica" charset="0"/>
                <a:cs typeface="Helvetica" charset="0"/>
              </a:rPr>
              <a:t>Organizer &amp; Conference Chair - ALM Summit</a:t>
            </a:r>
            <a:endParaRPr lang="en-US" sz="1000" i="1" dirty="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EDITORIAL REVIEW:</a:t>
            </a:r>
          </a:p>
          <a:p>
            <a:pPr algn="ctr"/>
            <a:r>
              <a:rPr lang="en-US" sz="1100" i="1" dirty="0" smtClean="0">
                <a:solidFill>
                  <a:srgbClr val="4D4D4D"/>
                </a:solidFill>
                <a:latin typeface="Helvetica" charset="0"/>
                <a:cs typeface="Helvetica" charset="0"/>
                <a:sym typeface="Helvetica" charset="0"/>
              </a:rPr>
              <a:t>Anthony Borton</a:t>
            </a:r>
          </a:p>
          <a:p>
            <a:pPr algn="ctr"/>
            <a:r>
              <a:rPr lang="en-US" sz="1100" i="1" dirty="0" smtClean="0">
                <a:solidFill>
                  <a:srgbClr val="4D4D4D"/>
                </a:solidFill>
                <a:latin typeface="Helvetica" charset="0"/>
                <a:cs typeface="Helvetica" charset="0"/>
                <a:sym typeface="Helvetica" charset="0"/>
              </a:rPr>
              <a:t>ALM Ranger</a:t>
            </a:r>
          </a:p>
          <a:p>
            <a:pPr algn="ctr"/>
            <a:r>
              <a:rPr lang="en-US" sz="1100" i="1" dirty="0">
                <a:solidFill>
                  <a:srgbClr val="4D4D4D"/>
                </a:solidFill>
                <a:latin typeface="Helvetica" charset="0"/>
                <a:cs typeface="Helvetica" charset="0"/>
              </a:rPr>
              <a:t>ALM Trainer &amp; Consultant</a:t>
            </a:r>
          </a:p>
          <a:p>
            <a:pPr algn="ctr"/>
            <a:r>
              <a:rPr lang="en-US" sz="1100" i="1" dirty="0">
                <a:solidFill>
                  <a:srgbClr val="4D4D4D"/>
                </a:solidFill>
                <a:latin typeface="Helvetica" charset="0"/>
                <a:cs typeface="Helvetica" charset="0"/>
              </a:rPr>
              <a:t> - Enhance ALM Pty, Ltd.</a:t>
            </a: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Mike Vizdos</a:t>
            </a:r>
          </a:p>
          <a:p>
            <a:pPr algn="ctr"/>
            <a:r>
              <a:rPr lang="en-US" sz="1000" i="1" dirty="0">
                <a:solidFill>
                  <a:srgbClr val="4D4D4D"/>
                </a:solidFill>
                <a:latin typeface="Helvetica" charset="0"/>
                <a:cs typeface="Helvetica" charset="0"/>
              </a:rPr>
              <a:t>Agile </a:t>
            </a:r>
            <a:r>
              <a:rPr lang="en-US" sz="1000" i="1" dirty="0" smtClean="0">
                <a:solidFill>
                  <a:srgbClr val="4D4D4D"/>
                </a:solidFill>
                <a:latin typeface="Helvetica" charset="0"/>
                <a:cs typeface="Helvetica" charset="0"/>
              </a:rPr>
              <a:t>Coach</a:t>
            </a:r>
          </a:p>
          <a:p>
            <a:pPr algn="ctr"/>
            <a:r>
              <a:rPr lang="en-US" sz="1000" i="1" dirty="0" smtClean="0">
                <a:solidFill>
                  <a:srgbClr val="4D4D4D"/>
                </a:solidFill>
                <a:latin typeface="Helvetica" charset="0"/>
                <a:cs typeface="Helvetica" charset="0"/>
              </a:rPr>
              <a:t>Certified Scrum Trainer</a:t>
            </a:r>
            <a:endParaRPr lang="en-US" sz="1000" i="1" dirty="0">
              <a:solidFill>
                <a:srgbClr val="4D4D4D"/>
              </a:solidFill>
              <a:latin typeface="Helvetica" charset="0"/>
              <a:cs typeface="Helvetica" charset="0"/>
              <a:sym typeface="Helvetica" charset="0"/>
            </a:endParaRP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Clementino de Mendonca</a:t>
            </a:r>
          </a:p>
          <a:p>
            <a:pPr algn="ctr"/>
            <a:r>
              <a:rPr lang="en-US" sz="1000" i="1" dirty="0" smtClean="0">
                <a:solidFill>
                  <a:srgbClr val="4D4D4D"/>
                </a:solidFill>
                <a:latin typeface="Helvetica" charset="0"/>
                <a:cs typeface="Helvetica" charset="0"/>
                <a:sym typeface="Helvetica" charset="0"/>
              </a:rPr>
              <a:t>National ALM Architect</a:t>
            </a:r>
          </a:p>
          <a:p>
            <a:pPr algn="ctr"/>
            <a:r>
              <a:rPr lang="en-US" sz="1000" i="1" dirty="0" smtClean="0">
                <a:solidFill>
                  <a:srgbClr val="4D4D4D"/>
                </a:solidFill>
                <a:latin typeface="Helvetica" charset="0"/>
                <a:cs typeface="Helvetica" charset="0"/>
                <a:sym typeface="Helvetica" charset="0"/>
              </a:rPr>
              <a:t>- Neudesic</a:t>
            </a: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Subscriptions:</a:t>
            </a:r>
          </a:p>
          <a:p>
            <a:pPr algn="ctr"/>
            <a:r>
              <a:rPr lang="en-US" sz="1100" i="1" dirty="0" smtClean="0">
                <a:solidFill>
                  <a:srgbClr val="4D4D4D"/>
                </a:solidFill>
                <a:latin typeface="Helvetica" charset="0"/>
                <a:cs typeface="Helvetica" charset="0"/>
                <a:sym typeface="Helvetica" charset="0"/>
              </a:rPr>
              <a:t>almmag.com/subscribe</a:t>
            </a:r>
          </a:p>
          <a:p>
            <a:pPr algn="ctr"/>
            <a:endParaRPr lang="en-US" sz="4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Email Address Changes:</a:t>
            </a:r>
          </a:p>
          <a:p>
            <a:pPr algn="ctr"/>
            <a:r>
              <a:rPr lang="en-US" sz="1100" i="1" dirty="0" smtClean="0">
                <a:solidFill>
                  <a:srgbClr val="4D4D4D"/>
                </a:solidFill>
                <a:latin typeface="Helvetica" charset="0"/>
                <a:cs typeface="Helvetica" charset="0"/>
                <a:sym typeface="Helvetica" charset="0"/>
                <a:hlinkClick r:id="rId5"/>
              </a:rPr>
              <a:t>support@almmag.com</a:t>
            </a: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Mission Statement:</a:t>
            </a:r>
          </a:p>
          <a:p>
            <a:pPr algn="ctr"/>
            <a:r>
              <a:rPr lang="en-US" sz="1100" i="1" dirty="0" smtClean="0">
                <a:solidFill>
                  <a:srgbClr val="4D4D4D"/>
                </a:solidFill>
                <a:latin typeface="Helvetica" charset="0"/>
                <a:cs typeface="Helvetica" charset="0"/>
                <a:sym typeface="Helvetica" charset="0"/>
              </a:rPr>
              <a:t>“Our mission is to promote,  support and empower rapid delivery of quality software.” </a:t>
            </a:r>
            <a:endParaRPr lang="en-US" sz="1100" i="1" dirty="0">
              <a:solidFill>
                <a:srgbClr val="4D4D4D"/>
              </a:solidFill>
              <a:latin typeface="Helvetica" charset="0"/>
              <a:cs typeface="Helvetica" charset="0"/>
              <a:sym typeface="Helvetica" charset="0"/>
            </a:endParaRPr>
          </a:p>
        </p:txBody>
      </p:sp>
      <p:sp>
        <p:nvSpPr>
          <p:cNvPr id="2" name="Rounded Rectangle 1"/>
          <p:cNvSpPr/>
          <p:nvPr/>
        </p:nvSpPr>
        <p:spPr>
          <a:xfrm>
            <a:off x="271462" y="1619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Editor’s Note </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53</a:t>
            </a:fld>
            <a:endParaRPr lang="en-PH" dirty="0"/>
          </a:p>
        </p:txBody>
      </p:sp>
      <p:sp>
        <p:nvSpPr>
          <p:cNvPr id="16" name="Rounded Rectangle 15">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8815362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87316"/>
            <a:ext cx="1388176" cy="1371600"/>
          </a:xfrm>
          <a:prstGeom prst="rect">
            <a:avLst/>
          </a:prstGeom>
          <a:noFill/>
          <a:ln>
            <a:noFill/>
          </a:ln>
        </p:spPr>
      </p:pic>
      <p:sp>
        <p:nvSpPr>
          <p:cNvPr id="12290" name="TextBox 3"/>
          <p:cNvSpPr txBox="1">
            <a:spLocks noChangeArrowheads="1"/>
          </p:cNvSpPr>
          <p:nvPr/>
        </p:nvSpPr>
        <p:spPr bwMode="auto">
          <a:xfrm>
            <a:off x="195263" y="695327"/>
            <a:ext cx="708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The ALM Architect – </a:t>
            </a:r>
            <a:endParaRPr lang="en-US" sz="3600" b="1" dirty="0" smtClean="0">
              <a:latin typeface="Palatino Linotype" pitchFamily="18" charset="0"/>
            </a:endParaRPr>
          </a:p>
          <a:p>
            <a:pPr eaLnBrk="1" hangingPunct="1"/>
            <a:r>
              <a:rPr lang="en-US" sz="3600" b="1" dirty="0" smtClean="0">
                <a:latin typeface="Palatino Linotype" pitchFamily="18" charset="0"/>
              </a:rPr>
              <a:t>balancing freedom </a:t>
            </a:r>
            <a:r>
              <a:rPr lang="en-US" sz="3600" b="1" dirty="0">
                <a:latin typeface="Palatino Linotype" pitchFamily="18" charset="0"/>
              </a:rPr>
              <a:t>with control</a:t>
            </a:r>
          </a:p>
        </p:txBody>
      </p:sp>
      <p:sp>
        <p:nvSpPr>
          <p:cNvPr id="12292" name="Rectangle 2"/>
          <p:cNvSpPr>
            <a:spLocks/>
          </p:cNvSpPr>
          <p:nvPr/>
        </p:nvSpPr>
        <p:spPr bwMode="auto">
          <a:xfrm>
            <a:off x="2173288" y="3286125"/>
            <a:ext cx="4956175" cy="568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But </a:t>
            </a:r>
            <a:r>
              <a:rPr lang="en-US" sz="1200" dirty="0"/>
              <a:t>for many organizations, the support for this ‘key’ business process is fragmented with process, practice and tool decisions being made by development teams, departments or even individual developers. </a:t>
            </a:r>
            <a:r>
              <a:rPr lang="en-US" sz="1200" u="sng" dirty="0">
                <a:hlinkClick r:id="rId3"/>
              </a:rPr>
              <a:t>Developer tech </a:t>
            </a:r>
            <a:r>
              <a:rPr lang="en-US" sz="1200" u="sng" dirty="0" smtClean="0">
                <a:hlinkClick r:id="rId3"/>
              </a:rPr>
              <a:t>populism</a:t>
            </a:r>
            <a:r>
              <a:rPr lang="en-US" sz="1200" u="sng" dirty="0" smtClean="0"/>
              <a:t> </a:t>
            </a:r>
            <a:r>
              <a:rPr lang="en-US" sz="1200" dirty="0"/>
              <a:t>is a growing </a:t>
            </a:r>
            <a:r>
              <a:rPr lang="en-US" sz="1200" dirty="0" smtClean="0"/>
              <a:t>trend </a:t>
            </a:r>
            <a:r>
              <a:rPr lang="en-US" sz="1200" dirty="0"/>
              <a:t>where software developers </a:t>
            </a:r>
            <a:endParaRPr lang="en-US" sz="1200" u="sng" dirty="0" smtClean="0"/>
          </a:p>
          <a:p>
            <a:pPr algn="just"/>
            <a:r>
              <a:rPr lang="en-US" sz="1200" u="sng" dirty="0" smtClean="0">
                <a:hlinkClick r:id="rId3"/>
              </a:rPr>
              <a:t>(http://blogs.forrester.com/application_development/2010/01/forrester-databyte-developer-scm-tool-adoption-and-use.html</a:t>
            </a:r>
            <a:r>
              <a:rPr lang="en-US" sz="1200" dirty="0" smtClean="0"/>
              <a:t>) are increasingly bringing in their own tools and making decisions on process and even platform. Empowered developers and teams is a key tenant of Agile methods, allowing teams to respond to the situation, selecting the best tools, process and practices for the situation</a:t>
            </a:r>
            <a:r>
              <a:rPr lang="en-US" sz="1200" baseline="30000" dirty="0" smtClean="0"/>
              <a:t>1</a:t>
            </a:r>
            <a:r>
              <a:rPr lang="en-US" sz="1200" dirty="0" smtClean="0"/>
              <a:t>. But as software increases in importance to people and departments outside of IT, its status becomes worthy of management attention and has to adapt to integrate with a broader set of business processes. And there lies the rub: to be effective, software teams need freedom, but businesses who are now relying on software for competitive advantage need control, visibility and integration. </a:t>
            </a:r>
          </a:p>
          <a:p>
            <a:endParaRPr lang="en-US" sz="1200" dirty="0" smtClean="0"/>
          </a:p>
          <a:p>
            <a:r>
              <a:rPr lang="en-US" sz="1400" b="1" dirty="0"/>
              <a:t>ALM is the </a:t>
            </a:r>
            <a:r>
              <a:rPr lang="en-US" sz="1400" b="1" dirty="0" smtClean="0"/>
              <a:t>foundation</a:t>
            </a:r>
          </a:p>
          <a:p>
            <a:pPr algn="just"/>
            <a:r>
              <a:rPr lang="en-US" sz="1200" dirty="0" smtClean="0"/>
              <a:t>Application Lifecycle Management (ALM) is the application of business discipline to the practice of software engineering. It is enabled by the integration of the software development tools, processes and practices in the context of management reporting. At its heart, ALM is about automating the process of software engineering, enabling everyone on a software delivery team to work effectively together. For many organizations, ALM is a dream rather than a reality, an aspiration to their tool purchasing decisions. At best, organizations have connected their Source Code Management (SCM) with their Change Management (CM), allowing change information to provide context to file changes.</a:t>
            </a:r>
          </a:p>
          <a:p>
            <a:pPr algn="just"/>
            <a:endParaRPr lang="en-US" sz="1200" dirty="0" smtClean="0"/>
          </a:p>
          <a:p>
            <a:pPr algn="just"/>
            <a:r>
              <a:rPr lang="en-US" sz="1200" dirty="0" smtClean="0"/>
              <a:t>Requirements, test, design and planning are still separate artifacts with limited automated integration. Management still relies on spreadsheets</a:t>
            </a:r>
            <a:endParaRPr lang="en-US" sz="1200" dirty="0"/>
          </a:p>
        </p:txBody>
      </p:sp>
      <p:sp>
        <p:nvSpPr>
          <p:cNvPr id="12293" name="Rectangle 3"/>
          <p:cNvSpPr>
            <a:spLocks/>
          </p:cNvSpPr>
          <p:nvPr/>
        </p:nvSpPr>
        <p:spPr bwMode="auto">
          <a:xfrm>
            <a:off x="2633662" y="1935162"/>
            <a:ext cx="4495801"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n </a:t>
            </a:r>
            <a:r>
              <a:rPr lang="en-US" sz="1200" dirty="0"/>
              <a:t>his industry shaping comment, Marc Andreessen declared that </a:t>
            </a:r>
            <a:r>
              <a:rPr lang="en-US" sz="1200" u="sng" dirty="0">
                <a:hlinkClick r:id="rId4"/>
              </a:rPr>
              <a:t>software is </a:t>
            </a:r>
            <a:r>
              <a:rPr lang="en-US" sz="1200" u="sng" dirty="0" smtClean="0">
                <a:hlinkClick r:id="rId4"/>
              </a:rPr>
              <a:t>eating</a:t>
            </a:r>
            <a:r>
              <a:rPr lang="en-US" sz="1200" dirty="0"/>
              <a:t> the </a:t>
            </a:r>
            <a:r>
              <a:rPr lang="en-US" sz="1200" dirty="0" smtClean="0"/>
              <a:t>world. </a:t>
            </a:r>
            <a:r>
              <a:rPr lang="en-US" sz="1200" u="sng" dirty="0" smtClean="0">
                <a:hlinkClick r:id="rId4"/>
              </a:rPr>
              <a:t>http</a:t>
            </a:r>
            <a:r>
              <a:rPr lang="en-US" sz="1200" u="sng" dirty="0">
                <a:hlinkClick r:id="rId4"/>
              </a:rPr>
              <a:t>://</a:t>
            </a:r>
            <a:r>
              <a:rPr lang="en-US" sz="1200" u="sng" dirty="0" smtClean="0">
                <a:hlinkClick r:id=""/>
              </a:rPr>
              <a:t>online.wsj.com/article/</a:t>
            </a:r>
          </a:p>
          <a:p>
            <a:pPr algn="just"/>
            <a:r>
              <a:rPr lang="en-US" sz="1200" u="sng" dirty="0" smtClean="0">
                <a:hlinkClick r:id=""/>
              </a:rPr>
              <a:t>SB10001424053111903480904576512250915629460.html</a:t>
            </a:r>
            <a:r>
              <a:rPr lang="en-US" sz="1200" dirty="0" smtClean="0"/>
              <a:t> Never </a:t>
            </a:r>
            <a:r>
              <a:rPr lang="en-US" sz="1200" dirty="0"/>
              <a:t>before have so many industries, markets and services depended on software to be competitive, efficient or even useful</a:t>
            </a:r>
            <a:r>
              <a:rPr lang="en-US" sz="1200" dirty="0" smtClean="0"/>
              <a:t>. </a:t>
            </a:r>
            <a:r>
              <a:rPr lang="en-US" sz="1200" dirty="0"/>
              <a:t>Software, in traditional and </a:t>
            </a:r>
            <a:r>
              <a:rPr lang="en-US" sz="1200" dirty="0" smtClean="0"/>
              <a:t>high-tech </a:t>
            </a:r>
            <a:r>
              <a:rPr lang="en-US" sz="1200" dirty="0"/>
              <a:t>organizations alike, has gone from an ancillary service to a key business process</a:t>
            </a:r>
            <a:r>
              <a:rPr lang="en-US" sz="1200" dirty="0" smtClean="0"/>
              <a:t>.</a:t>
            </a:r>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sp>
        <p:nvSpPr>
          <p:cNvPr id="12" name="Rectangle 2"/>
          <p:cNvSpPr>
            <a:spLocks/>
          </p:cNvSpPr>
          <p:nvPr/>
        </p:nvSpPr>
        <p:spPr bwMode="auto">
          <a:xfrm>
            <a:off x="344489" y="9229725"/>
            <a:ext cx="6784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cap="small" baseline="30000" dirty="0" smtClean="0"/>
              <a:t>1</a:t>
            </a:r>
            <a:r>
              <a:rPr lang="en-US" sz="1000" cap="small" dirty="0" smtClean="0"/>
              <a:t> </a:t>
            </a:r>
            <a:r>
              <a:rPr lang="en-US" sz="1000" dirty="0"/>
              <a:t>The Agile manifesto can be found at  </a:t>
            </a:r>
            <a:r>
              <a:rPr lang="en-US" sz="1000" u="sng" dirty="0">
                <a:hlinkClick r:id="rId5"/>
              </a:rPr>
              <a:t>http://agilemanifesto.org/</a:t>
            </a:r>
            <a:endParaRPr lang="en-US" sz="1000" cap="small" baseline="30000" dirty="0"/>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300662"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54</a:t>
            </a:fld>
            <a:endParaRPr lang="en-PH" dirty="0"/>
          </a:p>
        </p:txBody>
      </p:sp>
      <p:sp>
        <p:nvSpPr>
          <p:cNvPr id="17" name="Rectangle 5"/>
          <p:cNvSpPr>
            <a:spLocks/>
          </p:cNvSpPr>
          <p:nvPr/>
        </p:nvSpPr>
        <p:spPr bwMode="auto">
          <a:xfrm>
            <a:off x="344486" y="3590926"/>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Dave </a:t>
            </a:r>
            <a:r>
              <a:rPr lang="en-US" sz="1100" i="1" dirty="0" smtClean="0">
                <a:solidFill>
                  <a:srgbClr val="4D4D4D"/>
                </a:solidFill>
                <a:latin typeface="Helvetica" charset="0"/>
                <a:cs typeface="Helvetica" charset="0"/>
              </a:rPr>
              <a:t>West</a:t>
            </a:r>
          </a:p>
          <a:p>
            <a:pPr algn="r"/>
            <a:r>
              <a:rPr lang="en-US" sz="1100" i="1" dirty="0" smtClean="0">
                <a:solidFill>
                  <a:srgbClr val="4D4D4D"/>
                </a:solidFill>
                <a:latin typeface="Helvetica" charset="0"/>
                <a:cs typeface="Helvetica" charset="0"/>
              </a:rPr>
              <a:t>Chief </a:t>
            </a:r>
            <a:r>
              <a:rPr lang="en-US" sz="1100" i="1" dirty="0">
                <a:solidFill>
                  <a:srgbClr val="4D4D4D"/>
                </a:solidFill>
                <a:latin typeface="Helvetica" charset="0"/>
                <a:cs typeface="Helvetica" charset="0"/>
              </a:rPr>
              <a:t>Product Officer</a:t>
            </a:r>
          </a:p>
          <a:p>
            <a:pPr algn="r"/>
            <a:r>
              <a:rPr lang="en-US" sz="1100" i="1" dirty="0" smtClean="0">
                <a:hlinkClick r:id="rId6"/>
              </a:rPr>
              <a:t>Tasktop</a:t>
            </a:r>
            <a:endParaRPr lang="en-US" sz="1100" i="1" dirty="0"/>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3" name="Rounded Rectangle 1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42014956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3894139" y="771526"/>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400" b="1" dirty="0"/>
              <a:t>Conclusion</a:t>
            </a:r>
          </a:p>
          <a:p>
            <a:pPr algn="just"/>
            <a:r>
              <a:rPr lang="en-US" sz="1200" dirty="0"/>
              <a:t>If your organization thinks that software delivery and maintenance is a key business process, it is crucial that they invest in the role of the ALM architect. That role provides ownership of the practical implementation and long term view of ALM within the organization. The architect should be measured by the success of ALM in delivering both management discipline to the practice of software delivery and maintenance and by realizing faster time to market or reduced cost. </a:t>
            </a:r>
            <a:endParaRPr lang="en-US" sz="1200" dirty="0" smtClean="0"/>
          </a:p>
          <a:p>
            <a:pPr algn="just"/>
            <a:endParaRPr lang="en-US" sz="1200" dirty="0"/>
          </a:p>
          <a:p>
            <a:pPr algn="just"/>
            <a:r>
              <a:rPr lang="en-US" sz="1200" dirty="0" smtClean="0"/>
              <a:t>By </a:t>
            </a:r>
            <a:r>
              <a:rPr lang="en-US" sz="1200" dirty="0"/>
              <a:t>applying classical architectural skills, the ALM architect can build a roadmap and implementation plan that provides short-term benefits whilst moving the organization onto a more formal, integrated, transparent delivery and maintenance organization. This would allow executive management to make decisions in real time and plan and respond to market opportunities faster. For many organizations, software delivery slows down business change. By improving the business process of software, organizations will be better equipped to deliver and compete in the 21</a:t>
            </a:r>
            <a:r>
              <a:rPr lang="en-US" sz="1200" baseline="30000" dirty="0"/>
              <a:t>st</a:t>
            </a:r>
            <a:r>
              <a:rPr lang="en-US" sz="1200" dirty="0"/>
              <a:t> century, which for many is the age of software…</a:t>
            </a:r>
          </a:p>
        </p:txBody>
      </p:sp>
      <p:sp>
        <p:nvSpPr>
          <p:cNvPr id="22531" name="Rectangle 2"/>
          <p:cNvSpPr>
            <a:spLocks/>
          </p:cNvSpPr>
          <p:nvPr/>
        </p:nvSpPr>
        <p:spPr bwMode="auto">
          <a:xfrm>
            <a:off x="423864" y="771526"/>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The ALM architect needs to review each area, looking to standardize a subset of tools and define standards such reports, methods of estimation, defined schemas, and the data interchange and workflow supporting the overall process. The ALM architect should concentrate on</a:t>
            </a:r>
            <a:r>
              <a:rPr lang="en-US" sz="1200" dirty="0" smtClean="0"/>
              <a:t>:-</a:t>
            </a:r>
          </a:p>
          <a:p>
            <a:endParaRPr lang="en-US" sz="1200" dirty="0"/>
          </a:p>
          <a:p>
            <a:pPr marL="171450" lvl="0" indent="-171450">
              <a:buFont typeface="Arial" pitchFamily="34" charset="0"/>
              <a:buChar char="•"/>
            </a:pPr>
            <a:r>
              <a:rPr lang="en-US" sz="1200" b="1" dirty="0"/>
              <a:t>Management disciplines</a:t>
            </a:r>
            <a:r>
              <a:rPr lang="en-US" sz="1200" dirty="0"/>
              <a:t> – Look to the overall processes being used by the organization to gain understanding of the reporting and management needs. By following the same route as other business processes, such as sales and procurement, many organizations attempt to create a standardized data warehouse for software delivery. This warehouse supports the capturing of historic data over time, allowing analytics to be performed. </a:t>
            </a:r>
          </a:p>
          <a:p>
            <a:pPr marL="171450" indent="-171450">
              <a:buFont typeface="Arial" pitchFamily="34" charset="0"/>
              <a:buChar char="•"/>
            </a:pPr>
            <a:r>
              <a:rPr lang="en-US" sz="1200" b="1" dirty="0"/>
              <a:t>Integration</a:t>
            </a:r>
            <a:r>
              <a:rPr lang="en-US" sz="1200" dirty="0"/>
              <a:t> – Automating the connection between engineering and management disciplines and between the different tools within each is important for streamlining the business process. Traditional manual processes that connect disciplines, such as a spreadsheet between testing and development or documents being emailed from requirements to development, do not scale or enable management reporting to be created.  ALM tool platforms, such as IBM Jazz and MS Visual Studio, go some of the way to provide this interchange platform, but for the majority of organizations with heterogeneous tools, it will require looking into lifecycle integration technology</a:t>
            </a:r>
            <a:r>
              <a:rPr lang="en-US" sz="1200" dirty="0" smtClean="0"/>
              <a:t>.</a:t>
            </a:r>
          </a:p>
          <a:p>
            <a:pPr marL="171450" lvl="0" indent="-171450">
              <a:buFont typeface="Arial" pitchFamily="34" charset="0"/>
              <a:buChar char="•"/>
            </a:pPr>
            <a:r>
              <a:rPr lang="en-US" sz="1200" b="1" dirty="0"/>
              <a:t>Engineering discipline</a:t>
            </a:r>
            <a:r>
              <a:rPr lang="en-US" sz="1200" dirty="0"/>
              <a:t> – It would be true to say that not all disciplines are created equal, that  certain engineering disciplines are more ready for an ALM approach. In particular, focus on the biggest areas of pain or areas where change is already happening because of other initiatives, such as continuous delivery or Agile development. </a:t>
            </a:r>
          </a:p>
          <a:p>
            <a:endParaRPr lang="en-US" sz="1200" dirty="0"/>
          </a:p>
        </p:txBody>
      </p:sp>
      <p:cxnSp>
        <p:nvCxnSpPr>
          <p:cNvPr id="7" name="Straight Connector 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ALM</a:t>
            </a:r>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55</a:t>
            </a:fld>
            <a:endParaRPr lang="en-PH" dirty="0"/>
          </a:p>
        </p:txBody>
      </p:sp>
      <p:sp>
        <p:nvSpPr>
          <p:cNvPr id="10" name="Rectangle 2"/>
          <p:cNvSpPr>
            <a:spLocks/>
          </p:cNvSpPr>
          <p:nvPr/>
        </p:nvSpPr>
        <p:spPr bwMode="auto">
          <a:xfrm>
            <a:off x="3776663" y="6105524"/>
            <a:ext cx="3352800" cy="16764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t>Dave West is the Chief Product Officer at </a:t>
            </a:r>
            <a:r>
              <a:rPr lang="en-US" sz="1000" i="1" u="sng" dirty="0">
                <a:hlinkClick r:id="rId2"/>
              </a:rPr>
              <a:t>Tasktop</a:t>
            </a:r>
            <a:r>
              <a:rPr lang="en-US" sz="1000" i="1" dirty="0"/>
              <a:t>, where he engages with customers and partners to drive </a:t>
            </a:r>
            <a:r>
              <a:rPr lang="en-US" sz="1000" i="1" dirty="0" err="1"/>
              <a:t>Tasktop’s</a:t>
            </a:r>
            <a:r>
              <a:rPr lang="en-US" sz="1000" i="1" dirty="0"/>
              <a:t> product roadmap and market positioning. Recently David served four years as vice president, research director at Forrester Research. Previously David led the development of the Rational Unified Process (RUP) for IBM/Rational. David authored the acclaimed book: </a:t>
            </a:r>
            <a:r>
              <a:rPr lang="en-US" sz="1000" i="1" u="sng" dirty="0">
                <a:hlinkClick r:id="rId3"/>
              </a:rPr>
              <a:t>Head First Object-Oriented Analysis and Design</a:t>
            </a:r>
            <a:r>
              <a:rPr lang="en-US" sz="1000" i="1" dirty="0"/>
              <a:t>. </a:t>
            </a:r>
            <a:r>
              <a:rPr lang="en-US" sz="1000" i="1" dirty="0" smtClean="0"/>
              <a:t>On </a:t>
            </a:r>
            <a:r>
              <a:rPr lang="en-US" sz="1000" i="1" dirty="0"/>
              <a:t>Twitter </a:t>
            </a:r>
            <a:r>
              <a:rPr lang="en-US" sz="1000" i="1" dirty="0" smtClean="0"/>
              <a:t>follow </a:t>
            </a:r>
            <a:r>
              <a:rPr lang="en-US" sz="1000" i="1" dirty="0"/>
              <a:t>Tasktop </a:t>
            </a:r>
            <a:r>
              <a:rPr lang="en-US" sz="1000" i="1" u="sng" dirty="0" smtClean="0">
                <a:hlinkClick r:id="rId4"/>
              </a:rPr>
              <a:t>@</a:t>
            </a:r>
            <a:r>
              <a:rPr lang="en-US" sz="1000" i="1" u="sng" dirty="0">
                <a:hlinkClick r:id="rId4"/>
              </a:rPr>
              <a:t>Tasktop</a:t>
            </a:r>
            <a:r>
              <a:rPr lang="en-US" sz="1000" i="1" dirty="0"/>
              <a:t> or follow Dave West </a:t>
            </a:r>
            <a:r>
              <a:rPr lang="en-US" sz="1000" i="1" u="sng" dirty="0">
                <a:hlinkClick r:id="rId5"/>
              </a:rPr>
              <a:t>@</a:t>
            </a:r>
            <a:r>
              <a:rPr lang="en-US" sz="1000" i="1" u="sng" dirty="0" err="1">
                <a:hlinkClick r:id="rId5"/>
              </a:rPr>
              <a:t>DavidJWest</a:t>
            </a:r>
            <a:endParaRPr lang="en-US" sz="1000" i="1" dirty="0"/>
          </a:p>
        </p:txBody>
      </p:sp>
      <p:sp>
        <p:nvSpPr>
          <p:cNvPr id="9" name="Rounded Rectangle 8">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29552734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3878" y="7639050"/>
            <a:ext cx="1354437" cy="1743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E:\Pictures\ALM Mag - Potential Contributors\Richard Hundhause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518" y="1965702"/>
            <a:ext cx="1428750" cy="1428750"/>
          </a:xfrm>
          <a:prstGeom prst="rect">
            <a:avLst/>
          </a:prstGeom>
          <a:noFill/>
          <a:extLst>
            <a:ext uri="{909E8E84-426E-40DD-AFC4-6F175D3DCCD1}">
              <a14:hiddenFill xmlns:a14="http://schemas.microsoft.com/office/drawing/2010/main">
                <a:solidFill>
                  <a:srgbClr val="FFFFFF"/>
                </a:solidFill>
              </a14:hiddenFill>
            </a:ext>
          </a:extLst>
        </p:spPr>
      </p:pic>
      <p:sp>
        <p:nvSpPr>
          <p:cNvPr id="12290" name="TextBox 3"/>
          <p:cNvSpPr txBox="1">
            <a:spLocks noChangeArrowheads="1"/>
          </p:cNvSpPr>
          <p:nvPr/>
        </p:nvSpPr>
        <p:spPr bwMode="auto">
          <a:xfrm>
            <a:off x="195263" y="695327"/>
            <a:ext cx="73773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Professional Scrum Development </a:t>
            </a:r>
            <a:endParaRPr lang="en-US" sz="3600" b="1" dirty="0" smtClean="0">
              <a:latin typeface="Palatino Linotype" pitchFamily="18" charset="0"/>
            </a:endParaRPr>
          </a:p>
          <a:p>
            <a:pPr eaLnBrk="1" hangingPunct="1"/>
            <a:r>
              <a:rPr lang="en-US" sz="3600" b="1" dirty="0" smtClean="0">
                <a:latin typeface="Palatino Linotype" pitchFamily="18" charset="0"/>
              </a:rPr>
              <a:t>with </a:t>
            </a:r>
            <a:r>
              <a:rPr lang="en-US" sz="3600" b="1" dirty="0">
                <a:latin typeface="Palatino Linotype" pitchFamily="18" charset="0"/>
              </a:rPr>
              <a:t>Visual Studio 2012</a:t>
            </a:r>
          </a:p>
        </p:txBody>
      </p:sp>
      <p:sp>
        <p:nvSpPr>
          <p:cNvPr id="12292" name="Rectangle 2"/>
          <p:cNvSpPr>
            <a:spLocks/>
          </p:cNvSpPr>
          <p:nvPr/>
        </p:nvSpPr>
        <p:spPr bwMode="auto">
          <a:xfrm>
            <a:off x="2173288" y="3286125"/>
            <a:ext cx="4956175" cy="568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b="1" dirty="0" smtClean="0">
              <a:latin typeface="Arial" pitchFamily="34" charset="0"/>
              <a:cs typeface="Arial" pitchFamily="34" charset="0"/>
            </a:endParaRPr>
          </a:p>
          <a:p>
            <a:r>
              <a:rPr lang="en-US" sz="1200" b="1" dirty="0" smtClean="0">
                <a:latin typeface="Arial" pitchFamily="34" charset="0"/>
                <a:cs typeface="Arial" pitchFamily="34" charset="0"/>
              </a:rPr>
              <a:t>Recommended </a:t>
            </a:r>
            <a:r>
              <a:rPr lang="en-US" sz="1200" b="1" dirty="0">
                <a:latin typeface="Arial" pitchFamily="34" charset="0"/>
                <a:cs typeface="Arial" pitchFamily="34" charset="0"/>
              </a:rPr>
              <a:t>Audiences</a:t>
            </a:r>
            <a:endParaRPr lang="en-US" sz="1200" dirty="0">
              <a:latin typeface="Arial" pitchFamily="34" charset="0"/>
              <a:cs typeface="Arial" pitchFamily="34" charset="0"/>
            </a:endParaRPr>
          </a:p>
          <a:p>
            <a:r>
              <a:rPr lang="en-US" sz="1200" dirty="0">
                <a:latin typeface="Arial" pitchFamily="34" charset="0"/>
                <a:cs typeface="Arial" pitchFamily="34" charset="0"/>
              </a:rPr>
              <a:t>Business Decision Makers, Developers, Technical Decision Makers</a:t>
            </a:r>
          </a:p>
        </p:txBody>
      </p:sp>
      <p:sp>
        <p:nvSpPr>
          <p:cNvPr id="12293" name="Rectangle 3"/>
          <p:cNvSpPr>
            <a:spLocks/>
          </p:cNvSpPr>
          <p:nvPr/>
        </p:nvSpPr>
        <p:spPr bwMode="auto">
          <a:xfrm>
            <a:off x="3090863" y="1935162"/>
            <a:ext cx="4038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smtClean="0"/>
              <a:t>crum </a:t>
            </a:r>
            <a:r>
              <a:rPr lang="en-US" sz="1200" i="1" dirty="0"/>
              <a:t>and Visual Studio 2012 make for a powerful combination. Organizations that can leverage both will see an increase in the quality of their products as well as the velocity of their teams. In this webcast we will explore the Scrum framework, the Visual Studio Scrum process template, and the planning and tracking tools in Team Foundation Server 2012.</a:t>
            </a:r>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S</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Scrum / VS 2012</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56</a:t>
            </a:fld>
            <a:endParaRPr lang="en-PH" dirty="0"/>
          </a:p>
        </p:txBody>
      </p:sp>
      <p:sp>
        <p:nvSpPr>
          <p:cNvPr id="17" name="Rectangle 5"/>
          <p:cNvSpPr>
            <a:spLocks/>
          </p:cNvSpPr>
          <p:nvPr/>
        </p:nvSpPr>
        <p:spPr bwMode="auto">
          <a:xfrm>
            <a:off x="344486" y="3590926"/>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Richard Hundhausen</a:t>
            </a:r>
            <a:r>
              <a:rPr lang="en-US" sz="1100" i="1" dirty="0" smtClean="0">
                <a:solidFill>
                  <a:srgbClr val="4D4D4D"/>
                </a:solidFill>
                <a:latin typeface="Helvetica" charset="0"/>
                <a:cs typeface="Helvetica" charset="0"/>
              </a:rPr>
              <a:t> </a:t>
            </a:r>
          </a:p>
          <a:p>
            <a:pPr algn="r"/>
            <a:r>
              <a:rPr lang="en-US" sz="1100" i="1" dirty="0" smtClean="0">
                <a:solidFill>
                  <a:srgbClr val="4D4D4D"/>
                </a:solidFill>
                <a:latin typeface="Helvetica" charset="0"/>
                <a:cs typeface="Helvetica" charset="0"/>
              </a:rPr>
              <a:t>President</a:t>
            </a:r>
          </a:p>
          <a:p>
            <a:pPr algn="r"/>
            <a:r>
              <a:rPr lang="en-US" sz="1100" i="1" dirty="0" smtClean="0">
                <a:hlinkClick r:id="rId4"/>
              </a:rPr>
              <a:t>Accentient</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3" name="Rectangle 2"/>
          <p:cNvSpPr>
            <a:spLocks/>
          </p:cNvSpPr>
          <p:nvPr/>
        </p:nvSpPr>
        <p:spPr bwMode="auto">
          <a:xfrm>
            <a:off x="4005261" y="7639051"/>
            <a:ext cx="3124201" cy="159067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smtClean="0">
                <a:hlinkClick r:id="rId5"/>
              </a:rPr>
              <a:t>Richard Hundhausen </a:t>
            </a:r>
            <a:r>
              <a:rPr lang="en-US" sz="1000" i="1" dirty="0"/>
              <a:t>is the president of </a:t>
            </a:r>
            <a:r>
              <a:rPr lang="en-US" sz="1000" i="1" dirty="0">
                <a:hlinkClick r:id="rId4"/>
              </a:rPr>
              <a:t>Accentient</a:t>
            </a:r>
            <a:r>
              <a:rPr lang="en-US" sz="1000" i="1" dirty="0"/>
              <a:t>, a company that helps software development teams understand and leverage Microsoft ALM tools and Scrum. He has over 30 years of software development experience and over 20 years of training experience. Richard is a Microsoft Regional Director, a Visual Studio ALM MVP, and author of Professional Scrum Development with Microsoft Visual Studio 2012 by Microsoft Press.</a:t>
            </a:r>
          </a:p>
        </p:txBody>
      </p:sp>
      <p:pic>
        <p:nvPicPr>
          <p:cNvPr id="3" name="Picture 2" descr="http://akamaicovers.oreilly.com/images/0790145320902/cat.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2" y="7639050"/>
            <a:ext cx="1295571" cy="159067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hlinkClick r:id="rId7"/>
          </p:cNvPr>
          <p:cNvSpPr/>
          <p:nvPr/>
        </p:nvSpPr>
        <p:spPr>
          <a:xfrm>
            <a:off x="513519" y="7639050"/>
            <a:ext cx="1281944" cy="1590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hlinkClick r:id="rId8"/>
          </p:cNvPr>
          <p:cNvSpPr/>
          <p:nvPr/>
        </p:nvSpPr>
        <p:spPr>
          <a:xfrm>
            <a:off x="2252662" y="7629525"/>
            <a:ext cx="1330312" cy="1743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7325" y="4200525"/>
            <a:ext cx="4956175" cy="301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a:hlinkClick r:id="rId9"/>
          </p:cNvPr>
          <p:cNvSpPr txBox="1"/>
          <p:nvPr/>
        </p:nvSpPr>
        <p:spPr>
          <a:xfrm>
            <a:off x="2147325" y="4429125"/>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24" name="TextBox 23">
            <a:hlinkClick r:id="rId9"/>
          </p:cNvPr>
          <p:cNvSpPr txBox="1"/>
          <p:nvPr/>
        </p:nvSpPr>
        <p:spPr>
          <a:xfrm>
            <a:off x="2147323" y="6257923"/>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0" name="Rounded Rectangle 19">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38596115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ndrew Clear (Mug Shot)"/>
          <p:cNvPicPr/>
          <p:nvPr/>
        </p:nvPicPr>
        <p:blipFill>
          <a:blip r:embed="rId2">
            <a:extLst>
              <a:ext uri="{28A0092B-C50C-407E-A947-70E740481C1C}">
                <a14:useLocalDpi xmlns:a14="http://schemas.microsoft.com/office/drawing/2010/main" val="0"/>
              </a:ext>
            </a:extLst>
          </a:blip>
          <a:srcRect/>
          <a:stretch>
            <a:fillRect/>
          </a:stretch>
        </p:blipFill>
        <p:spPr bwMode="auto">
          <a:xfrm>
            <a:off x="533805" y="1519617"/>
            <a:ext cx="1388176" cy="1371600"/>
          </a:xfrm>
          <a:prstGeom prst="rect">
            <a:avLst/>
          </a:prstGeom>
          <a:noFill/>
          <a:ln>
            <a:noFill/>
          </a:ln>
        </p:spPr>
      </p:pic>
      <p:sp>
        <p:nvSpPr>
          <p:cNvPr id="12290" name="TextBox 3"/>
          <p:cNvSpPr txBox="1">
            <a:spLocks noChangeArrowheads="1"/>
          </p:cNvSpPr>
          <p:nvPr/>
        </p:nvSpPr>
        <p:spPr bwMode="auto">
          <a:xfrm>
            <a:off x="107581" y="810996"/>
            <a:ext cx="7309996"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000" b="1" dirty="0">
                <a:latin typeface="Palatino Linotype" pitchFamily="18" charset="0"/>
              </a:rPr>
              <a:t>Why Small Companies Need ALM More</a:t>
            </a:r>
          </a:p>
        </p:txBody>
      </p:sp>
      <p:sp>
        <p:nvSpPr>
          <p:cNvPr id="12292" name="Rectangle 2"/>
          <p:cNvSpPr>
            <a:spLocks/>
          </p:cNvSpPr>
          <p:nvPr/>
        </p:nvSpPr>
        <p:spPr bwMode="auto">
          <a:xfrm>
            <a:off x="2176462" y="2829305"/>
            <a:ext cx="4956175" cy="563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You’re a project manager at </a:t>
            </a:r>
            <a:r>
              <a:rPr lang="en-US" sz="1200" dirty="0"/>
              <a:t>a Fortune 500 company worth a couple hundred million dollars. You’re about to budget $200,000 on a six month software project and you’re going to use a typical waterfall methodology. When that project falls flat on its face and gets scrapped without ever delivering anything of actual value you’ll hem and haw, point out that this or that made the project unfeasible to begin with and point out that the other three projects you’re managing are going great. No one is really happy about the project failing at the moment, but a few months from now no one will remember it anyways</a:t>
            </a:r>
            <a:r>
              <a:rPr lang="en-US" sz="1200" dirty="0" smtClean="0"/>
              <a:t>.</a:t>
            </a:r>
          </a:p>
          <a:p>
            <a:pPr algn="just"/>
            <a:endParaRPr lang="en-US" sz="1200" dirty="0"/>
          </a:p>
          <a:p>
            <a:pPr algn="just"/>
            <a:r>
              <a:rPr lang="en-US" sz="1200" dirty="0"/>
              <a:t>Now, consider you’re a member of a small startup. You only have five developers (in fact the startup only has six employees), and you’re about to budget that same $200,000 on a six month software project. Of course, your company doesn’t actually have a net value at the moment, and the money you’re spending is directly from one of your primary investors who also has an interest in the project itself. What happens if this project fails without delivering anything of value? The investor backs out, the company goes belly up, and you all get to play the employment game</a:t>
            </a:r>
            <a:r>
              <a:rPr lang="en-US" sz="1200" dirty="0" smtClean="0"/>
              <a:t>.</a:t>
            </a:r>
          </a:p>
          <a:p>
            <a:pPr algn="just"/>
            <a:endParaRPr lang="en-US" sz="1200" dirty="0"/>
          </a:p>
          <a:p>
            <a:pPr algn="just"/>
            <a:r>
              <a:rPr lang="en-US" sz="1200" dirty="0"/>
              <a:t>These scenarios, while obviously exaggerated, are not all that far fetched. A project failing without delivering any value can be </a:t>
            </a:r>
            <a:r>
              <a:rPr lang="en-US" sz="1200" i="1" dirty="0"/>
              <a:t>devastating</a:t>
            </a:r>
            <a:r>
              <a:rPr lang="en-US" sz="1200" dirty="0"/>
              <a:t> to a small to mid-sized company. The </a:t>
            </a:r>
            <a:r>
              <a:rPr lang="en-US" sz="1200" dirty="0">
                <a:hlinkClick r:id="rId3"/>
              </a:rPr>
              <a:t>statistics tell a grisly tale</a:t>
            </a:r>
            <a:r>
              <a:rPr lang="en-US" sz="1200" dirty="0"/>
              <a:t>: most software projects fail. Most of those that fail do so because of communication and requirements gathering issues. Most of the budget is spent fixing “self inflicted” problems, and most bugs are found by the end users. Stakeholder feedback comes too late to do anything about it</a:t>
            </a:r>
            <a:r>
              <a:rPr lang="en-US" sz="1200" dirty="0" smtClean="0"/>
              <a:t>.</a:t>
            </a:r>
          </a:p>
          <a:p>
            <a:pPr algn="just"/>
            <a:endParaRPr lang="en-US" sz="1200" dirty="0"/>
          </a:p>
          <a:p>
            <a:pPr algn="just"/>
            <a:r>
              <a:rPr lang="en-US" sz="1200" dirty="0"/>
              <a:t>These are </a:t>
            </a:r>
            <a:r>
              <a:rPr lang="en-US" sz="1200" i="1" dirty="0"/>
              <a:t>exactly the issues that ALM addresses</a:t>
            </a:r>
            <a:r>
              <a:rPr lang="en-US" sz="1200" dirty="0"/>
              <a:t>. Work item tracking increases communication and visibility. A prioritized backlog allows stakeholders to provide feedback </a:t>
            </a:r>
            <a:r>
              <a:rPr lang="en-US" sz="1200" i="1" dirty="0"/>
              <a:t>before</a:t>
            </a:r>
            <a:r>
              <a:rPr lang="en-US" sz="1200" dirty="0"/>
              <a:t> requirements are implemented. Unit testing, automated coded UI testing, repeatable test cases, and continuous integration help find bugs before they get into production. A tool like Visual Studio’s Feedback Client allow stakeholder feedback during development</a:t>
            </a:r>
            <a:r>
              <a:rPr lang="en-US" sz="1200" dirty="0" smtClean="0"/>
              <a:t>.</a:t>
            </a:r>
            <a:endParaRPr lang="en-US" sz="1200" dirty="0"/>
          </a:p>
        </p:txBody>
      </p:sp>
      <p:sp>
        <p:nvSpPr>
          <p:cNvPr id="12293" name="Rectangle 3"/>
          <p:cNvSpPr>
            <a:spLocks/>
          </p:cNvSpPr>
          <p:nvPr/>
        </p:nvSpPr>
        <p:spPr bwMode="auto">
          <a:xfrm>
            <a:off x="3548062" y="1478341"/>
            <a:ext cx="3581402"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smtClean="0"/>
              <a:t>e </a:t>
            </a:r>
            <a:r>
              <a:rPr lang="en-US" sz="1200" i="1" dirty="0"/>
              <a:t>hear it a lot. “Oh, we’re too small to need all that.” But the truth of the matter is that, in all likelihood, you </a:t>
            </a:r>
            <a:r>
              <a:rPr lang="en-US" sz="1200" dirty="0"/>
              <a:t>do</a:t>
            </a:r>
            <a:r>
              <a:rPr lang="en-US" sz="1200" i="1" dirty="0"/>
              <a:t> need that. You see, modern ALM best practices are all about one thing: keeping your project from failing</a:t>
            </a:r>
            <a:r>
              <a:rPr lang="en-US" sz="1200" i="1" dirty="0" smtClean="0"/>
              <a:t>.</a:t>
            </a:r>
          </a:p>
          <a:p>
            <a:pPr algn="just"/>
            <a:endParaRPr lang="en-US" sz="1200" i="1" dirty="0">
              <a:latin typeface="Arial" pitchFamily="34" charset="0"/>
              <a:cs typeface="Arial" pitchFamily="34" charset="0"/>
            </a:endParaRPr>
          </a:p>
          <a:p>
            <a:pPr algn="just"/>
            <a:r>
              <a:rPr lang="en-US" sz="1200" i="1" dirty="0"/>
              <a:t>Let me run a couple scenarios by you.</a:t>
            </a:r>
            <a:endParaRPr lang="en-US" sz="1200" i="1" dirty="0">
              <a:latin typeface="Arial" pitchFamily="34" charset="0"/>
              <a:cs typeface="Arial" pitchFamily="34" charset="0"/>
            </a:endParaRPr>
          </a:p>
        </p:txBody>
      </p:sp>
      <p:sp>
        <p:nvSpPr>
          <p:cNvPr id="12294" name="Rectangle 4"/>
          <p:cNvSpPr>
            <a:spLocks/>
          </p:cNvSpPr>
          <p:nvPr/>
        </p:nvSpPr>
        <p:spPr bwMode="auto">
          <a:xfrm>
            <a:off x="2024064" y="11525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298170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Andrew Clear</a:t>
            </a:r>
            <a:endParaRPr lang="en-US" sz="1100" i="1" dirty="0">
              <a:latin typeface="Helvetica" pitchFamily="34" charset="0"/>
              <a:cs typeface="Helvetica" pitchFamily="34" charset="0"/>
            </a:endParaRPr>
          </a:p>
          <a:p>
            <a:pPr algn="r"/>
            <a:r>
              <a:rPr lang="en-US" sz="1100" i="1" dirty="0">
                <a:latin typeface="Helvetica" pitchFamily="34" charset="0"/>
                <a:cs typeface="Helvetica" pitchFamily="34" charset="0"/>
              </a:rPr>
              <a:t>ALM Consultant</a:t>
            </a:r>
          </a:p>
          <a:p>
            <a:pPr algn="r"/>
            <a:r>
              <a:rPr lang="en-US" sz="1100" i="1" dirty="0">
                <a:latin typeface="Helvetica" pitchFamily="34" charset="0"/>
                <a:cs typeface="Helvetica" pitchFamily="34" charset="0"/>
                <a:hlinkClick r:id="rId4"/>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95262"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57</a:t>
            </a:fld>
            <a:endParaRPr lang="en-PH" dirty="0"/>
          </a:p>
        </p:txBody>
      </p:sp>
      <p:sp>
        <p:nvSpPr>
          <p:cNvPr id="4" name="TextBox 3">
            <a:hlinkClick r:id="rId5"/>
          </p:cNvPr>
          <p:cNvSpPr txBox="1"/>
          <p:nvPr/>
        </p:nvSpPr>
        <p:spPr>
          <a:xfrm>
            <a:off x="2147325" y="4505325"/>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90271565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p:cNvSpPr>
          <p:nvPr/>
        </p:nvSpPr>
        <p:spPr bwMode="auto">
          <a:xfrm>
            <a:off x="2176462" y="771525"/>
            <a:ext cx="4956175" cy="607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 name="Rectangle 2"/>
          <p:cNvSpPr>
            <a:spLocks/>
          </p:cNvSpPr>
          <p:nvPr/>
        </p:nvSpPr>
        <p:spPr bwMode="auto">
          <a:xfrm>
            <a:off x="344490" y="8834914"/>
            <a:ext cx="6784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000" b="1" i="1" u="sng" dirty="0">
                <a:latin typeface="Arial" pitchFamily="34" charset="0"/>
                <a:cs typeface="Arial" pitchFamily="34" charset="0"/>
                <a:hlinkClick r:id="rId2"/>
              </a:rPr>
              <a:t>Northwest Cadence, Inc.</a:t>
            </a:r>
            <a:r>
              <a:rPr lang="en-US" sz="1000" i="1" dirty="0">
                <a:latin typeface="Arial" pitchFamily="34" charset="0"/>
                <a:cs typeface="Arial" pitchFamily="34" charset="0"/>
                <a:hlinkClick r:id="rId2"/>
              </a:rPr>
              <a:t> </a:t>
            </a:r>
            <a:r>
              <a:rPr lang="en-US" sz="1000" i="1" dirty="0" smtClean="0">
                <a:latin typeface="Arial" pitchFamily="34" charset="0"/>
                <a:cs typeface="Arial" pitchFamily="34" charset="0"/>
              </a:rPr>
              <a:t> </a:t>
            </a:r>
            <a:r>
              <a:rPr lang="en-US" sz="1000" i="1" dirty="0" smtClean="0"/>
              <a:t>provides </a:t>
            </a:r>
            <a:r>
              <a:rPr lang="en-US" sz="1000" i="1" dirty="0"/>
              <a:t>training and consulting services across the United States. The exclusive focus on Software Process and Microsoft ALM tools ensures clients benefit from deep technical expertise, sound process acumen, and hundreds of practical experiences on ALM projects.  They partner with software development teams to improve processes and business results.</a:t>
            </a:r>
            <a:endParaRPr lang="en-US" sz="1000" i="1" dirty="0">
              <a:latin typeface="Arial" pitchFamily="34" charset="0"/>
              <a:cs typeface="Arial" pitchFamily="34" charset="0"/>
            </a:endParaRPr>
          </a:p>
        </p:txBody>
      </p:sp>
      <p:pic>
        <p:nvPicPr>
          <p:cNvPr id="1026" name="Picture 2" descr="E:\My Documents\_Work Related\_ALM Mag\Admin\Contributors\NW Cadence\nwc_logo_tagline-250x80.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3" y="8172959"/>
            <a:ext cx="1752600" cy="560831"/>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p:cNvSpPr>
            <a:spLocks/>
          </p:cNvSpPr>
          <p:nvPr/>
        </p:nvSpPr>
        <p:spPr bwMode="auto">
          <a:xfrm>
            <a:off x="3894139" y="7553325"/>
            <a:ext cx="2930523" cy="609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t>Andrew Clear</a:t>
            </a:r>
            <a:r>
              <a:rPr lang="en-US" sz="1000" i="1" dirty="0" smtClean="0">
                <a:latin typeface="Arial" pitchFamily="34" charset="0"/>
                <a:cs typeface="Arial" pitchFamily="34" charset="0"/>
              </a:rPr>
              <a:t>, </a:t>
            </a:r>
            <a:r>
              <a:rPr lang="en-US" sz="1000" i="1" dirty="0">
                <a:latin typeface="Arial" pitchFamily="34" charset="0"/>
                <a:cs typeface="Arial" pitchFamily="34" charset="0"/>
              </a:rPr>
              <a:t>ALM Consultant at </a:t>
            </a:r>
            <a:r>
              <a:rPr lang="en-US" sz="1000" i="1" dirty="0">
                <a:solidFill>
                  <a:srgbClr val="FF0000"/>
                </a:solidFill>
                <a:latin typeface="Arial" pitchFamily="34" charset="0"/>
                <a:cs typeface="Arial" pitchFamily="34" charset="0"/>
                <a:hlinkClick r:id="rId2"/>
              </a:rPr>
              <a:t>Northwest Cadence</a:t>
            </a:r>
            <a:r>
              <a:rPr lang="en-US" sz="1000" i="1" dirty="0">
                <a:latin typeface="Arial" pitchFamily="34" charset="0"/>
                <a:cs typeface="Arial" pitchFamily="34" charset="0"/>
              </a:rPr>
              <a:t>, is </a:t>
            </a:r>
            <a:r>
              <a:rPr lang="en-US" sz="1000" i="1" dirty="0" smtClean="0"/>
              <a:t>dedicated </a:t>
            </a:r>
            <a:r>
              <a:rPr lang="en-US" sz="1000" i="1" dirty="0"/>
              <a:t>to bringing agile to the </a:t>
            </a:r>
            <a:endParaRPr lang="en-US" sz="1000" i="1" dirty="0" smtClean="0"/>
          </a:p>
          <a:p>
            <a:pPr algn="just"/>
            <a:r>
              <a:rPr lang="en-US" sz="1000" i="1" dirty="0" smtClean="0"/>
              <a:t>agile-less</a:t>
            </a:r>
            <a:r>
              <a:rPr lang="en-US" sz="1000" i="1" dirty="0"/>
              <a:t>.</a:t>
            </a:r>
          </a:p>
          <a:p>
            <a:endParaRPr lang="en-US" sz="1000" i="1" dirty="0">
              <a:solidFill>
                <a:srgbClr val="FF0000"/>
              </a:solidFill>
              <a:latin typeface="Arial" pitchFamily="34" charset="0"/>
              <a:cs typeface="Arial" pitchFamily="34"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58</a:t>
            </a:fld>
            <a:endParaRPr lang="en-PH" dirty="0"/>
          </a:p>
        </p:txBody>
      </p:sp>
      <p:sp>
        <p:nvSpPr>
          <p:cNvPr id="25" name="Rectangle 1"/>
          <p:cNvSpPr>
            <a:spLocks/>
          </p:cNvSpPr>
          <p:nvPr/>
        </p:nvSpPr>
        <p:spPr bwMode="auto">
          <a:xfrm>
            <a:off x="3894139" y="771526"/>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a:t>
            </a:r>
            <a:r>
              <a:rPr lang="en-US" sz="1200" dirty="0"/>
              <a:t>complete.” Then if (when) you need to pivot, you don’t have to start back at square one, and all that work wasn’t a complete waste.</a:t>
            </a:r>
          </a:p>
          <a:p>
            <a:pPr algn="just"/>
            <a:endParaRPr lang="en-US" sz="1200" dirty="0" smtClean="0"/>
          </a:p>
          <a:p>
            <a:pPr algn="just"/>
            <a:r>
              <a:rPr lang="en-US" sz="1200" dirty="0" smtClean="0"/>
              <a:t>One </a:t>
            </a:r>
            <a:r>
              <a:rPr lang="en-US" sz="1200" dirty="0"/>
              <a:t>final aspect of ALM utopia to discuss. Tech startups quite often become victims of their own success. Someone has a great idea, a team of development ninjas throw it together as quickly as possible. Cash starts flowing in, as do the customers. But then the customers start clamoring for new functionality. And they want it now. So your dev team grows, throwing legacy code on top of legacy code to keep that feature deployment rate high. The original ninjas start whispering that the infrastructure can’t support the weight, but the process is more or less still working. Right up until it stops working. And in another month you end up another </a:t>
            </a:r>
            <a:r>
              <a:rPr lang="en-US" sz="1200" dirty="0">
                <a:hlinkClick r:id="rId4"/>
              </a:rPr>
              <a:t>MySpace</a:t>
            </a:r>
            <a:r>
              <a:rPr lang="en-US" sz="1200" dirty="0"/>
              <a:t> because you are unable to pivot. Unable to control the exponential growth of technical debt</a:t>
            </a:r>
            <a:r>
              <a:rPr lang="en-US" sz="1200" dirty="0" smtClean="0"/>
              <a:t>.</a:t>
            </a:r>
          </a:p>
          <a:p>
            <a:pPr algn="just"/>
            <a:endParaRPr lang="en-US" sz="1200" dirty="0"/>
          </a:p>
          <a:p>
            <a:pPr algn="just"/>
            <a:r>
              <a:rPr lang="en-US" sz="1200" dirty="0"/>
              <a:t>The easiest time to implement the complete set of ALM best practices is </a:t>
            </a:r>
            <a:r>
              <a:rPr lang="en-US" sz="1200" i="1" dirty="0"/>
              <a:t>before</a:t>
            </a:r>
            <a:r>
              <a:rPr lang="en-US" sz="1200" b="1" i="1" dirty="0"/>
              <a:t> </a:t>
            </a:r>
            <a:r>
              <a:rPr lang="en-US" sz="1200" dirty="0"/>
              <a:t>you start your project. Or as close to the beginning as possible. The longer you’ve been piling legacy code on top of legacy code the harder it is to implement process changes. So the next time you hear yourself saying, “we’re too small for that” take a step back and reconsider. No matter where you are in your development life, </a:t>
            </a:r>
            <a:r>
              <a:rPr lang="en-US" sz="1200" i="1" dirty="0"/>
              <a:t>there won’t ever be a “better” time to modernize you practices and processes.</a:t>
            </a:r>
            <a:r>
              <a:rPr lang="en-US" sz="1200" dirty="0"/>
              <a:t> It won’t get any easier, it will only get harder. Of course, wait too long and it won’t be an issue at all.</a:t>
            </a:r>
          </a:p>
          <a:p>
            <a:pPr algn="just"/>
            <a:endParaRPr lang="en-US" sz="1200" dirty="0"/>
          </a:p>
        </p:txBody>
      </p:sp>
      <p:sp>
        <p:nvSpPr>
          <p:cNvPr id="26" name="Rectangle 2"/>
          <p:cNvSpPr>
            <a:spLocks/>
          </p:cNvSpPr>
          <p:nvPr/>
        </p:nvSpPr>
        <p:spPr bwMode="auto">
          <a:xfrm>
            <a:off x="423864" y="771526"/>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Perhaps most importantly, the “best practices” associated with modern ALM ensure that we aren’t </a:t>
            </a:r>
            <a:r>
              <a:rPr lang="en-US" sz="1200" i="1" dirty="0"/>
              <a:t>creating legacy code. </a:t>
            </a:r>
            <a:r>
              <a:rPr lang="en-US" sz="1200" dirty="0"/>
              <a:t>Maintenance is a huge cost that is rarely adequately planned for. Taking short cuts, and writing code </a:t>
            </a:r>
            <a:r>
              <a:rPr lang="en-US" sz="1200" dirty="0" smtClean="0"/>
              <a:t>that </a:t>
            </a:r>
            <a:r>
              <a:rPr lang="en-US" sz="1200" dirty="0"/>
              <a:t>“just works” almost ensures that whatever you budgeted for maintenance won’t be enough, because skipping things like unit tests and code reviews practically ensures that you are actively creating legacy code.</a:t>
            </a:r>
          </a:p>
          <a:p>
            <a:pPr algn="just"/>
            <a:endParaRPr lang="en-US" sz="1200" dirty="0"/>
          </a:p>
          <a:p>
            <a:pPr algn="just"/>
            <a:r>
              <a:rPr lang="en-US" sz="1200" dirty="0"/>
              <a:t>But all of those little bits are easy to skip when you’re part of a small company. Creating that initial product is faster, and in most cases “easier” when you skip them. Landing that venture capital cash is all important, so you create content as quickly as possible. You think “we need to land this VC quick – then </a:t>
            </a:r>
            <a:r>
              <a:rPr lang="en-US" sz="1200" i="1" dirty="0"/>
              <a:t>after</a:t>
            </a:r>
            <a:r>
              <a:rPr lang="en-US" sz="1200" dirty="0"/>
              <a:t> we get the funding we’ll be able to rewrite it properly and fix all those problems”. In that situation you’re almost </a:t>
            </a:r>
            <a:r>
              <a:rPr lang="en-US" sz="1200" i="1" dirty="0"/>
              <a:t>worse</a:t>
            </a:r>
            <a:r>
              <a:rPr lang="en-US" sz="1200" dirty="0"/>
              <a:t> off if you </a:t>
            </a:r>
            <a:r>
              <a:rPr lang="en-US" sz="1200" i="1" dirty="0"/>
              <a:t>do</a:t>
            </a:r>
            <a:r>
              <a:rPr lang="en-US" sz="1200" dirty="0"/>
              <a:t> get the funding. No VC is going to give you $1M to rewrite the same thing you just showed them. You can’t go to your investors and admit that the thing you just sold them doesn’t actually work. They expect that you’re going to </a:t>
            </a:r>
            <a:r>
              <a:rPr lang="en-US" sz="1200" i="1" dirty="0"/>
              <a:t>build upon</a:t>
            </a:r>
            <a:r>
              <a:rPr lang="en-US" sz="1200" dirty="0"/>
              <a:t> what they’ve seen, not </a:t>
            </a:r>
            <a:r>
              <a:rPr lang="en-US" sz="1200" i="1" dirty="0"/>
              <a:t>rebuild</a:t>
            </a:r>
            <a:r>
              <a:rPr lang="en-US" sz="1200" dirty="0"/>
              <a:t> it.</a:t>
            </a:r>
          </a:p>
          <a:p>
            <a:pPr algn="just"/>
            <a:endParaRPr lang="en-US" sz="1200" dirty="0"/>
          </a:p>
          <a:p>
            <a:pPr algn="just"/>
            <a:r>
              <a:rPr lang="en-US" sz="1200" dirty="0"/>
              <a:t>Let me return to a point I glossed over previously. Software projects that fail </a:t>
            </a:r>
            <a:r>
              <a:rPr lang="en-US" sz="1200" i="1" dirty="0"/>
              <a:t>without delivering any value</a:t>
            </a:r>
            <a:r>
              <a:rPr lang="en-US" sz="1200" dirty="0"/>
              <a:t> are devastating to small companies. The resources just aren’t there to scrap an entire project and start over. But modern ALM espouses </a:t>
            </a:r>
            <a:r>
              <a:rPr lang="en-US" sz="1200" i="1" dirty="0"/>
              <a:t>continuous value delivery; </a:t>
            </a:r>
            <a:r>
              <a:rPr lang="en-US" sz="1200" dirty="0"/>
              <a:t>implementing requirements incrementally, the completion of which </a:t>
            </a:r>
            <a:r>
              <a:rPr lang="en-US" sz="1200" dirty="0" smtClean="0"/>
              <a:t>creates </a:t>
            </a:r>
            <a:r>
              <a:rPr lang="en-US" sz="1200" dirty="0"/>
              <a:t>a unit of value. This means you can start seeing returns on your project before it is </a:t>
            </a: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09130674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533805" y="1990725"/>
            <a:ext cx="1388176" cy="1562100"/>
          </a:xfrm>
          <a:prstGeom prst="rect">
            <a:avLst/>
          </a:prstGeom>
        </p:spPr>
      </p:pic>
      <p:sp>
        <p:nvSpPr>
          <p:cNvPr id="12290" name="TextBox 3"/>
          <p:cNvSpPr txBox="1">
            <a:spLocks noChangeArrowheads="1"/>
          </p:cNvSpPr>
          <p:nvPr/>
        </p:nvSpPr>
        <p:spPr bwMode="auto">
          <a:xfrm>
            <a:off x="195263" y="695327"/>
            <a:ext cx="579998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Enacting Scrum and </a:t>
            </a:r>
            <a:r>
              <a:rPr lang="en-US" sz="3600" b="1" dirty="0" smtClean="0">
                <a:latin typeface="Palatino Linotype" pitchFamily="18" charset="0"/>
              </a:rPr>
              <a:t>Agile</a:t>
            </a:r>
          </a:p>
          <a:p>
            <a:pPr eaLnBrk="1" hangingPunct="1"/>
            <a:r>
              <a:rPr lang="en-US" sz="3600" b="1" dirty="0" smtClean="0">
                <a:latin typeface="Palatino Linotype" pitchFamily="18" charset="0"/>
              </a:rPr>
              <a:t>with </a:t>
            </a:r>
            <a:r>
              <a:rPr lang="en-US" sz="3600" b="1" dirty="0">
                <a:latin typeface="Palatino Linotype" pitchFamily="18" charset="0"/>
              </a:rPr>
              <a:t>Visual Studio 2012</a:t>
            </a:r>
          </a:p>
        </p:txBody>
      </p:sp>
      <p:sp>
        <p:nvSpPr>
          <p:cNvPr id="12292" name="Rectangle 2"/>
          <p:cNvSpPr>
            <a:spLocks/>
          </p:cNvSpPr>
          <p:nvPr/>
        </p:nvSpPr>
        <p:spPr bwMode="auto">
          <a:xfrm>
            <a:off x="2173288" y="4338639"/>
            <a:ext cx="4956175" cy="463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pPr algn="just"/>
            <a:r>
              <a:rPr lang="en-US" sz="1200" dirty="0" smtClean="0"/>
              <a:t>I want to emphasize the last phrase: “That is, while there is value in the items on the right, we value the items on the left more.” So there </a:t>
            </a:r>
            <a:r>
              <a:rPr lang="en-US" sz="1200" u="sng" dirty="0" smtClean="0"/>
              <a:t>is</a:t>
            </a:r>
            <a:r>
              <a:rPr lang="en-US" sz="1200" dirty="0" smtClean="0"/>
              <a:t> value on the items on the right. I have seen in several conversations with my Agile peers that they tend to sometimes forget that there is value in processes and tools, in doing some documentation, in negotiating a contract and in following a plan. It is just that when push comes to shove, if you have to make a decision, you have to value more the input that you get from individuals and interactions, from “kicking the tires” of working software, from collaborating with a customer and finding out face to face what they want exactly, and finally being flexible to respond to change when the time comes.</a:t>
            </a:r>
          </a:p>
          <a:p>
            <a:pPr algn="just"/>
            <a:endParaRPr lang="en-US" sz="1200" dirty="0" smtClean="0"/>
          </a:p>
          <a:p>
            <a:pPr algn="just"/>
            <a:r>
              <a:rPr lang="en-US" sz="1200" dirty="0" smtClean="0"/>
              <a:t>But how does TFS enable us to follow the Manifesto, to being Agile?</a:t>
            </a:r>
          </a:p>
        </p:txBody>
      </p:sp>
      <p:sp>
        <p:nvSpPr>
          <p:cNvPr id="12293" name="Rectangle 3"/>
          <p:cNvSpPr>
            <a:spLocks/>
          </p:cNvSpPr>
          <p:nvPr/>
        </p:nvSpPr>
        <p:spPr bwMode="auto">
          <a:xfrm>
            <a:off x="2633662" y="1935162"/>
            <a:ext cx="4495801" cy="202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smtClean="0"/>
              <a:t>n </a:t>
            </a:r>
            <a:r>
              <a:rPr lang="en-US" sz="1200" dirty="0"/>
              <a:t>any conversation about Agile, it’s always a good idea to set the ground by first revisiting the Agile </a:t>
            </a:r>
            <a:r>
              <a:rPr lang="en-US" sz="1200" dirty="0" smtClean="0"/>
              <a:t>Manifesto:</a:t>
            </a:r>
          </a:p>
          <a:p>
            <a:endParaRPr lang="en-US" sz="1200" dirty="0" smtClean="0"/>
          </a:p>
          <a:p>
            <a:pPr lvl="1"/>
            <a:r>
              <a:rPr lang="en-US" sz="1200" i="1" dirty="0" smtClean="0"/>
              <a:t>We </a:t>
            </a:r>
            <a:r>
              <a:rPr lang="en-US" sz="1200" i="1" dirty="0"/>
              <a:t>are uncovering better ways of developing software by doing it and helping others to do it. Through this work we have come to value</a:t>
            </a:r>
            <a:r>
              <a:rPr lang="en-US" sz="1200" i="1" dirty="0" smtClean="0"/>
              <a:t>:</a:t>
            </a:r>
          </a:p>
          <a:p>
            <a:pPr lvl="1"/>
            <a:endParaRPr lang="en-US" sz="1200" dirty="0"/>
          </a:p>
          <a:p>
            <a:pPr marL="628650" lvl="1" indent="-171450">
              <a:buFont typeface="Arial" pitchFamily="34" charset="0"/>
              <a:buChar char="•"/>
            </a:pPr>
            <a:r>
              <a:rPr lang="en-US" sz="1200" i="1" dirty="0"/>
              <a:t>Individuals and interactions over processes and tools</a:t>
            </a:r>
            <a:endParaRPr lang="en-US" sz="1200" dirty="0"/>
          </a:p>
          <a:p>
            <a:pPr marL="628650" lvl="1" indent="-171450">
              <a:buFont typeface="Arial" pitchFamily="34" charset="0"/>
              <a:buChar char="•"/>
            </a:pPr>
            <a:r>
              <a:rPr lang="en-US" sz="1200" i="1" dirty="0"/>
              <a:t>Working software over comprehensive documentation</a:t>
            </a:r>
            <a:endParaRPr lang="en-US" sz="1200" dirty="0"/>
          </a:p>
          <a:p>
            <a:pPr marL="628650" lvl="1" indent="-171450">
              <a:buFont typeface="Arial" pitchFamily="34" charset="0"/>
              <a:buChar char="•"/>
            </a:pPr>
            <a:r>
              <a:rPr lang="en-US" sz="1200" i="1" dirty="0"/>
              <a:t>Customer collaboration over contract negotiation</a:t>
            </a:r>
            <a:endParaRPr lang="en-US" sz="1200" dirty="0"/>
          </a:p>
          <a:p>
            <a:pPr marL="628650" lvl="1" indent="-171450">
              <a:buFont typeface="Arial" pitchFamily="34" charset="0"/>
              <a:buChar char="•"/>
            </a:pPr>
            <a:r>
              <a:rPr lang="en-US" sz="1200" i="1" dirty="0"/>
              <a:t>Responding to change over following a </a:t>
            </a:r>
            <a:r>
              <a:rPr lang="en-US" sz="1200" i="1" dirty="0" smtClean="0"/>
              <a:t>plan</a:t>
            </a:r>
          </a:p>
          <a:p>
            <a:pPr lvl="1"/>
            <a:endParaRPr lang="en-US" sz="1200" i="1" dirty="0" smtClean="0"/>
          </a:p>
          <a:p>
            <a:pPr lvl="1"/>
            <a:r>
              <a:rPr lang="en-US" sz="1200" i="1" dirty="0" smtClean="0"/>
              <a:t>That </a:t>
            </a:r>
            <a:r>
              <a:rPr lang="en-US" sz="1200" i="1" dirty="0"/>
              <a:t>is, while there is value in the items on the right, we value the items on the left more.</a:t>
            </a:r>
          </a:p>
          <a:p>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Scrum / VS 2012</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59</a:t>
            </a:fld>
            <a:endParaRPr lang="en-PH" dirty="0"/>
          </a:p>
        </p:txBody>
      </p:sp>
      <p:sp>
        <p:nvSpPr>
          <p:cNvPr id="17" name="Rectangle 5"/>
          <p:cNvSpPr>
            <a:spLocks/>
          </p:cNvSpPr>
          <p:nvPr/>
        </p:nvSpPr>
        <p:spPr bwMode="auto">
          <a:xfrm>
            <a:off x="344486" y="368141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Clementino de Mendonca</a:t>
            </a:r>
            <a:endParaRPr lang="en-US" sz="1100" i="1" dirty="0">
              <a:solidFill>
                <a:srgbClr val="4D4D4D"/>
              </a:solidFill>
              <a:latin typeface="Helvetica" charset="0"/>
              <a:cs typeface="Helvetica" charset="0"/>
              <a:sym typeface="Helvetica" charset="0"/>
            </a:endParaRPr>
          </a:p>
          <a:p>
            <a:pPr algn="r"/>
            <a:r>
              <a:rPr lang="en-US" sz="1100" i="1" dirty="0">
                <a:solidFill>
                  <a:srgbClr val="4D4D4D"/>
                </a:solidFill>
                <a:latin typeface="Helvetica" charset="0"/>
                <a:cs typeface="Helvetica" charset="0"/>
              </a:rPr>
              <a:t>N</a:t>
            </a:r>
            <a:r>
              <a:rPr lang="en-US" sz="1100" i="1" dirty="0" smtClean="0">
                <a:solidFill>
                  <a:srgbClr val="4D4D4D"/>
                </a:solidFill>
                <a:latin typeface="Helvetica" charset="0"/>
                <a:cs typeface="Helvetica" charset="0"/>
              </a:rPr>
              <a:t>ational ALM Architect</a:t>
            </a:r>
          </a:p>
          <a:p>
            <a:pPr algn="r"/>
            <a:r>
              <a:rPr lang="en-US" sz="1100" i="1" dirty="0" smtClean="0">
                <a:solidFill>
                  <a:srgbClr val="4D4D4D"/>
                </a:solidFill>
                <a:latin typeface="Helvetica" charset="0"/>
                <a:cs typeface="Helvetica" charset="0"/>
                <a:sym typeface="Helvetica" charset="0"/>
                <a:hlinkClick r:id="rId3"/>
              </a:rPr>
              <a:t>Neudesic</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pic>
        <p:nvPicPr>
          <p:cNvPr id="12" name="Picture 11"/>
          <p:cNvPicPr/>
          <p:nvPr/>
        </p:nvPicPr>
        <p:blipFill>
          <a:blip r:embed="rId4">
            <a:extLst>
              <a:ext uri="{28A0092B-C50C-407E-A947-70E740481C1C}">
                <a14:useLocalDpi xmlns:a14="http://schemas.microsoft.com/office/drawing/2010/main" val="0"/>
              </a:ext>
            </a:extLst>
          </a:blip>
          <a:stretch>
            <a:fillRect/>
          </a:stretch>
        </p:blipFill>
        <p:spPr>
          <a:xfrm>
            <a:off x="2709862" y="4581525"/>
            <a:ext cx="3886200" cy="2209800"/>
          </a:xfrm>
          <a:prstGeom prst="rect">
            <a:avLst/>
          </a:prstGeom>
          <a:effectLst>
            <a:outerShdw blurRad="50800" dist="38100" dir="8100000" algn="tr" rotWithShape="0">
              <a:prstClr val="black">
                <a:alpha val="40000"/>
              </a:prstClr>
            </a:outerShdw>
          </a:effectLst>
        </p:spPr>
      </p:pic>
      <p:sp>
        <p:nvSpPr>
          <p:cNvPr id="13" name="Rounded Rectangle 1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15705951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4733925"/>
            <a:ext cx="65245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200" b="1" dirty="0" smtClean="0">
                <a:latin typeface="Palatino Linotype" pitchFamily="18" charset="0"/>
              </a:rPr>
              <a:t>Interviews with Agile Evangelists</a:t>
            </a:r>
            <a:endParaRPr lang="en-PH" sz="3200" b="1" dirty="0">
              <a:latin typeface="Palatino Linotype" pitchFamily="18" charset="0"/>
            </a:endParaRPr>
          </a:p>
        </p:txBody>
      </p:sp>
      <p:sp>
        <p:nvSpPr>
          <p:cNvPr id="12292" name="Rectangle 6"/>
          <p:cNvSpPr>
            <a:spLocks/>
          </p:cNvSpPr>
          <p:nvPr/>
        </p:nvSpPr>
        <p:spPr bwMode="auto">
          <a:xfrm>
            <a:off x="354014" y="6713539"/>
            <a:ext cx="1603375" cy="68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t"/>
          <a:lstStyle/>
          <a:p>
            <a:pPr algn="r"/>
            <a:r>
              <a:rPr lang="en-US" sz="1100" i="1" dirty="0" smtClean="0">
                <a:solidFill>
                  <a:srgbClr val="4D4D4D"/>
                </a:solidFill>
                <a:latin typeface="Helvetica" charset="0"/>
                <a:cs typeface="Helvetica" charset="0"/>
                <a:sym typeface="Helvetica" charset="0"/>
              </a:rPr>
              <a:t>Derek Neighbors</a:t>
            </a:r>
          </a:p>
          <a:p>
            <a:pPr algn="r"/>
            <a:r>
              <a:rPr lang="en-US" sz="1100" i="1" u="sng" dirty="0">
                <a:hlinkClick r:id="rId2"/>
              </a:rPr>
              <a:t>Integrum Technologies</a:t>
            </a:r>
            <a:endParaRPr lang="en-US" sz="1100" i="1" dirty="0">
              <a:solidFill>
                <a:srgbClr val="4D4D4D"/>
              </a:solidFill>
              <a:latin typeface="Helvetica" charset="0"/>
              <a:cs typeface="Helvetica" charset="0"/>
              <a:sym typeface="Helvetica" charset="0"/>
            </a:endParaRPr>
          </a:p>
        </p:txBody>
      </p:sp>
      <p:sp>
        <p:nvSpPr>
          <p:cNvPr id="12296" name="Rectangle 10"/>
          <p:cNvSpPr>
            <a:spLocks/>
          </p:cNvSpPr>
          <p:nvPr/>
        </p:nvSpPr>
        <p:spPr bwMode="auto">
          <a:xfrm>
            <a:off x="2173288" y="5343525"/>
            <a:ext cx="49561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600" dirty="0" smtClean="0">
                <a:latin typeface="Helvetica" charset="0"/>
                <a:cs typeface="Helvetica" charset="0"/>
                <a:sym typeface="Helvetica" charset="0"/>
                <a:hlinkClick r:id="rId3"/>
              </a:rPr>
              <a:t>Agile Weekly PodCast</a:t>
            </a:r>
            <a:endParaRPr lang="en-US" sz="1600" dirty="0" smtClean="0">
              <a:latin typeface="Helvetica" charset="0"/>
              <a:cs typeface="Helvetica" charset="0"/>
              <a:sym typeface="Helvetica" charset="0"/>
            </a:endParaRPr>
          </a:p>
          <a:p>
            <a:pPr algn="just"/>
            <a:endParaRPr lang="en-US" sz="1200" dirty="0" smtClean="0">
              <a:hlinkClick r:id="rId4" tooltip="Permalink to Episode #83 – Agile Manifesto with James Grenning"/>
            </a:endParaRPr>
          </a:p>
          <a:p>
            <a:pPr algn="just"/>
            <a:r>
              <a:rPr lang="en-US" sz="1200" b="1" dirty="0"/>
              <a:t>Episode #95 – Moving to a Team Room</a:t>
            </a:r>
            <a:endParaRPr lang="en-US" sz="1200" dirty="0" smtClean="0">
              <a:latin typeface="Helvetica" charset="0"/>
              <a:cs typeface="Helvetica" charset="0"/>
              <a:sym typeface="Helvetica" charset="0"/>
            </a:endParaRPr>
          </a:p>
          <a:p>
            <a:endParaRPr lang="en-US" sz="1200" dirty="0" smtClean="0"/>
          </a:p>
          <a:p>
            <a:endParaRPr lang="en-US" sz="1200" dirty="0" smtClean="0"/>
          </a:p>
          <a:p>
            <a:endParaRPr lang="en-US" sz="1200" dirty="0" smtClean="0"/>
          </a:p>
          <a:p>
            <a:endParaRPr lang="en-US" sz="1200" dirty="0"/>
          </a:p>
          <a:p>
            <a:endParaRPr lang="en-US" sz="1200" dirty="0" smtClean="0"/>
          </a:p>
          <a:p>
            <a:endParaRPr lang="en-US" sz="1200" dirty="0" smtClean="0"/>
          </a:p>
          <a:p>
            <a:r>
              <a:rPr lang="en-US" sz="1200" dirty="0" smtClean="0"/>
              <a:t>Clayton </a:t>
            </a:r>
            <a:r>
              <a:rPr lang="en-US" sz="1200" dirty="0" err="1"/>
              <a:t>Lengel-Zigich</a:t>
            </a:r>
            <a:r>
              <a:rPr lang="en-US" sz="1200" dirty="0"/>
              <a:t>, Roy van de Water, Isaac, </a:t>
            </a:r>
            <a:r>
              <a:rPr lang="en-US" sz="1200" dirty="0" err="1"/>
              <a:t>Deepa</a:t>
            </a:r>
            <a:r>
              <a:rPr lang="en-US" sz="1200" dirty="0"/>
              <a:t> </a:t>
            </a:r>
            <a:r>
              <a:rPr lang="en-US" sz="1200" dirty="0" smtClean="0"/>
              <a:t>&amp; Ryan </a:t>
            </a:r>
            <a:r>
              <a:rPr lang="en-US" sz="1200" dirty="0"/>
              <a:t>discuss: </a:t>
            </a:r>
            <a:endParaRPr lang="en-US" sz="1200" dirty="0" smtClean="0"/>
          </a:p>
          <a:p>
            <a:r>
              <a:rPr lang="en-US" sz="1200" dirty="0"/>
              <a:t>	</a:t>
            </a:r>
            <a:endParaRPr lang="en-US" sz="1200" dirty="0" smtClean="0"/>
          </a:p>
          <a:p>
            <a:r>
              <a:rPr lang="en-US" sz="1200" dirty="0"/>
              <a:t>	</a:t>
            </a:r>
            <a:r>
              <a:rPr lang="en-US" sz="1400" b="1" dirty="0" smtClean="0"/>
              <a:t>Moving </a:t>
            </a:r>
            <a:r>
              <a:rPr lang="en-US" sz="1400" b="1" dirty="0"/>
              <a:t>from cubes to team rooms</a:t>
            </a:r>
            <a:endParaRPr lang="en-US" sz="1400" b="1" u="sng" dirty="0" smtClean="0">
              <a:hlinkClick r:id="rId4"/>
            </a:endParaRPr>
          </a:p>
          <a:p>
            <a:endParaRPr lang="en-US" sz="1200" dirty="0" smtClean="0"/>
          </a:p>
          <a:p>
            <a:pPr algn="just"/>
            <a:endParaRPr lang="en-US" sz="1200" dirty="0">
              <a:latin typeface="Helvetica" charset="0"/>
              <a:cs typeface="Helvetica" charset="0"/>
              <a:sym typeface="Helvetica" charset="0"/>
            </a:endParaRPr>
          </a:p>
        </p:txBody>
      </p:sp>
      <p:pic>
        <p:nvPicPr>
          <p:cNvPr id="12301" name="Picture 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338" y="6486525"/>
            <a:ext cx="18129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2" name="Rectangle 10"/>
          <p:cNvSpPr>
            <a:spLocks/>
          </p:cNvSpPr>
          <p:nvPr/>
        </p:nvSpPr>
        <p:spPr bwMode="auto">
          <a:xfrm>
            <a:off x="2176463" y="3590926"/>
            <a:ext cx="4956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a:latin typeface="Helvetica" charset="0"/>
              <a:cs typeface="Helvetica" charset="0"/>
              <a:sym typeface="Helvetica" charset="0"/>
            </a:endParaRPr>
          </a:p>
        </p:txBody>
      </p:sp>
      <p:pic>
        <p:nvPicPr>
          <p:cNvPr id="16" name="Picture 15"/>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4386" y="5375276"/>
            <a:ext cx="1143003" cy="1150465"/>
          </a:xfrm>
          <a:prstGeom prst="rect">
            <a:avLst/>
          </a:prstGeom>
          <a:noFill/>
          <a:ln>
            <a:noFill/>
          </a:ln>
        </p:spPr>
      </p:pic>
      <p:cxnSp>
        <p:nvCxnSpPr>
          <p:cNvPr id="11" name="Straight Connector 10"/>
          <p:cNvCxnSpPr/>
          <p:nvPr/>
        </p:nvCxnSpPr>
        <p:spPr>
          <a:xfrm>
            <a:off x="195263" y="46577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207647" y="4298590"/>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Podcast Podium</a:t>
            </a:r>
            <a:endParaRPr lang="en-US" dirty="0"/>
          </a:p>
        </p:txBody>
      </p:sp>
      <p:sp>
        <p:nvSpPr>
          <p:cNvPr id="14" name="Rectangle 2"/>
          <p:cNvSpPr>
            <a:spLocks/>
          </p:cNvSpPr>
          <p:nvPr/>
        </p:nvSpPr>
        <p:spPr bwMode="auto">
          <a:xfrm>
            <a:off x="2176462" y="8391523"/>
            <a:ext cx="4956176" cy="91440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8"/>
              </a:rPr>
              <a:t>Derek Neighbors</a:t>
            </a:r>
            <a:r>
              <a:rPr lang="en-US" sz="1000" i="1" dirty="0"/>
              <a:t> is a serial entrepreneur who helps people bring ideas to reality. Derek co-founded </a:t>
            </a:r>
            <a:r>
              <a:rPr lang="en-US" sz="1000" i="1" u="sng" dirty="0">
                <a:hlinkClick r:id="rId9"/>
              </a:rPr>
              <a:t>Gangplank</a:t>
            </a:r>
            <a:r>
              <a:rPr lang="en-US" sz="1000" i="1" dirty="0"/>
              <a:t>, a collaborative workspace, in 2008 to encourage local </a:t>
            </a:r>
            <a:r>
              <a:rPr lang="en-US" sz="1000" i="1" dirty="0" smtClean="0"/>
              <a:t>“creatives” to </a:t>
            </a:r>
            <a:r>
              <a:rPr lang="en-US" sz="1000" i="1" dirty="0"/>
              <a:t>explore innovative ideas.  A partner at </a:t>
            </a:r>
            <a:r>
              <a:rPr lang="en-US" sz="1000" i="1" u="sng" dirty="0">
                <a:hlinkClick r:id="rId2"/>
              </a:rPr>
              <a:t>Integrum Technologies</a:t>
            </a:r>
            <a:r>
              <a:rPr lang="en-US" sz="1000" i="1" dirty="0"/>
              <a:t>, a consulting services </a:t>
            </a:r>
            <a:r>
              <a:rPr lang="en-US" sz="1000" i="1" dirty="0" smtClean="0"/>
              <a:t>firm </a:t>
            </a:r>
            <a:r>
              <a:rPr lang="en-US" sz="1000" i="1" dirty="0"/>
              <a:t>helping companies build high performing teams, Derek teaches entrepreneurship at </a:t>
            </a:r>
            <a:r>
              <a:rPr lang="en-US" sz="1000" i="1" u="sng" dirty="0">
                <a:hlinkClick r:id="rId10"/>
              </a:rPr>
              <a:t>Arizona State University</a:t>
            </a:r>
            <a:r>
              <a:rPr lang="en-US" sz="1000" i="1" dirty="0"/>
              <a:t>.</a:t>
            </a:r>
          </a:p>
        </p:txBody>
      </p:sp>
      <p:sp>
        <p:nvSpPr>
          <p:cNvPr id="22" name="Slide Number Placeholder 2"/>
          <p:cNvSpPr>
            <a:spLocks noGrp="1"/>
          </p:cNvSpPr>
          <p:nvPr>
            <p:ph type="sldNum" sz="quarter" idx="12"/>
          </p:nvPr>
        </p:nvSpPr>
        <p:spPr>
          <a:xfrm>
            <a:off x="5413376" y="9340850"/>
            <a:ext cx="1762125" cy="536575"/>
          </a:xfrm>
        </p:spPr>
        <p:txBody>
          <a:bodyPr/>
          <a:lstStyle/>
          <a:p>
            <a:pPr>
              <a:defRPr/>
            </a:pPr>
            <a:fld id="{EA30B413-8FC0-44D3-9979-403CCACD0588}" type="slidenum">
              <a:rPr lang="en-PH" smtClean="0"/>
              <a:pPr>
                <a:defRPr/>
              </a:pPr>
              <a:t>60</a:t>
            </a:fld>
            <a:endParaRPr lang="en-PH" dirty="0"/>
          </a:p>
        </p:txBody>
      </p:sp>
      <p:sp>
        <p:nvSpPr>
          <p:cNvPr id="23" name="Rounded Rectangle 2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cxnSp>
        <p:nvCxnSpPr>
          <p:cNvPr id="24" name="Straight Connector 2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ounded Rectangle 24"/>
          <p:cNvSpPr/>
          <p:nvPr/>
        </p:nvSpPr>
        <p:spPr>
          <a:xfrm>
            <a:off x="195263" y="255366"/>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Scrum / VS 2012</a:t>
            </a:r>
          </a:p>
        </p:txBody>
      </p:sp>
      <p:sp>
        <p:nvSpPr>
          <p:cNvPr id="26" name="Rectangle 1"/>
          <p:cNvSpPr>
            <a:spLocks/>
          </p:cNvSpPr>
          <p:nvPr/>
        </p:nvSpPr>
        <p:spPr bwMode="auto">
          <a:xfrm>
            <a:off x="3894139" y="771526"/>
            <a:ext cx="3159125" cy="373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b="1" dirty="0" smtClean="0"/>
          </a:p>
          <a:p>
            <a:r>
              <a:rPr lang="en-US" sz="1100" b="1" i="1" dirty="0" smtClean="0"/>
              <a:t>Acknowledgement:</a:t>
            </a:r>
            <a:endParaRPr lang="en-US" sz="1100" i="1" dirty="0" smtClean="0"/>
          </a:p>
          <a:p>
            <a:r>
              <a:rPr lang="en-US" sz="1100" i="1" dirty="0" smtClean="0"/>
              <a:t>My thanks to </a:t>
            </a:r>
            <a:r>
              <a:rPr lang="en-US" sz="1100" i="1" dirty="0"/>
              <a:t>William Salazar, Wayne </a:t>
            </a:r>
            <a:r>
              <a:rPr lang="en-US" sz="1100" i="1" dirty="0" smtClean="0"/>
              <a:t>McDonald </a:t>
            </a:r>
            <a:r>
              <a:rPr lang="en-US" sz="1100" i="1" dirty="0"/>
              <a:t>and Gary </a:t>
            </a:r>
            <a:r>
              <a:rPr lang="en-US" sz="1100" i="1" dirty="0" err="1"/>
              <a:t>Pedretti</a:t>
            </a:r>
            <a:r>
              <a:rPr lang="en-US" sz="1100" i="1" dirty="0"/>
              <a:t> for </a:t>
            </a:r>
            <a:r>
              <a:rPr lang="en-US" sz="1100" i="1" dirty="0" smtClean="0"/>
              <a:t>conversations </a:t>
            </a:r>
            <a:r>
              <a:rPr lang="en-US" sz="1100" i="1" dirty="0"/>
              <a:t>which influenced this article</a:t>
            </a:r>
            <a:r>
              <a:rPr lang="en-US" sz="1200" dirty="0"/>
              <a:t>.</a:t>
            </a:r>
          </a:p>
          <a:p>
            <a:pPr lvl="0"/>
            <a:endParaRPr lang="en-US" sz="1200" dirty="0"/>
          </a:p>
        </p:txBody>
      </p:sp>
      <p:sp>
        <p:nvSpPr>
          <p:cNvPr id="27" name="Rectangle 2"/>
          <p:cNvSpPr>
            <a:spLocks/>
          </p:cNvSpPr>
          <p:nvPr/>
        </p:nvSpPr>
        <p:spPr bwMode="auto">
          <a:xfrm>
            <a:off x="423864" y="771526"/>
            <a:ext cx="3127375" cy="373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through </a:t>
            </a:r>
            <a:r>
              <a:rPr lang="en-US" sz="1200" dirty="0"/>
              <a:t>the help of tools such as Visual Studio 2012, which is currently the best ALM tool suite available.</a:t>
            </a:r>
          </a:p>
          <a:p>
            <a:pPr algn="just"/>
            <a:endParaRPr lang="en-US" sz="1200" dirty="0"/>
          </a:p>
          <a:p>
            <a:pPr algn="just"/>
            <a:r>
              <a:rPr lang="en-US" sz="1200" dirty="0"/>
              <a:t>Tools cannot make your team work in an Agile manner. Only after the ideas contained in Agile and Scrum are understood and learned is that your team will achieve proficiency, and will be able to consciously use the tools for their intended purpose. Until then tools will help you get started through some of the built-in processes they enable, but their best use will be as canvasses to your team’s creativity and ongoing improvement efforts, not as silver bullets that would somehow take your team out of the morass of waterfall.</a:t>
            </a:r>
          </a:p>
          <a:p>
            <a:endParaRPr lang="en-US" sz="1200" dirty="0"/>
          </a:p>
          <a:p>
            <a:pPr algn="just"/>
            <a:endParaRPr lang="en-US" sz="1200" dirty="0"/>
          </a:p>
        </p:txBody>
      </p:sp>
      <p:sp>
        <p:nvSpPr>
          <p:cNvPr id="28" name="Rectangle 2"/>
          <p:cNvSpPr>
            <a:spLocks/>
          </p:cNvSpPr>
          <p:nvPr/>
        </p:nvSpPr>
        <p:spPr bwMode="auto">
          <a:xfrm>
            <a:off x="3776662" y="2219325"/>
            <a:ext cx="3352800" cy="1447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smtClean="0"/>
              <a:t>Clementino </a:t>
            </a:r>
            <a:r>
              <a:rPr lang="en-US" sz="1000" i="1" dirty="0"/>
              <a:t>de Mendonça is a Professional Scrum Developer Trainer, a </a:t>
            </a:r>
            <a:r>
              <a:rPr lang="en-US" sz="1000" i="1" dirty="0">
                <a:hlinkClick r:id="rId11"/>
              </a:rPr>
              <a:t>Neudesic </a:t>
            </a:r>
            <a:r>
              <a:rPr lang="en-US" sz="1000" i="1" dirty="0"/>
              <a:t>National ALM Architect, a former National Lead for ALM and Testing with Capgemini/Sogeti, and was on the Microsoft Services National ALM Team for 4 years. On the Visual Studio Process Team in 2007, he helped design the Visual Studio 2010 process templates (MSF Agile 5.0 and MSF CMMI 5.0).</a:t>
            </a:r>
          </a:p>
          <a:p>
            <a:endParaRPr lang="en-US" sz="1000" i="1" dirty="0"/>
          </a:p>
        </p:txBody>
      </p:sp>
    </p:spTree>
    <p:extLst>
      <p:ext uri="{BB962C8B-B14F-4D97-AF65-F5344CB8AC3E}">
        <p14:creationId xmlns:p14="http://schemas.microsoft.com/office/powerpoint/2010/main" val="15447978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695327"/>
            <a:ext cx="706796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Enterprise Application Delivery </a:t>
            </a:r>
            <a:endParaRPr lang="en-US" sz="3600" b="1" dirty="0" smtClean="0">
              <a:latin typeface="Palatino Linotype" pitchFamily="18" charset="0"/>
            </a:endParaRPr>
          </a:p>
          <a:p>
            <a:pPr eaLnBrk="1" hangingPunct="1"/>
            <a:r>
              <a:rPr lang="en-US" sz="3600" b="1" dirty="0" smtClean="0">
                <a:latin typeface="Palatino Linotype" pitchFamily="18" charset="0"/>
              </a:rPr>
              <a:t>and </a:t>
            </a:r>
            <a:r>
              <a:rPr lang="en-US" sz="3600" b="1" dirty="0">
                <a:latin typeface="Palatino Linotype" pitchFamily="18" charset="0"/>
              </a:rPr>
              <a:t>the Cloud</a:t>
            </a:r>
          </a:p>
        </p:txBody>
      </p:sp>
      <p:sp>
        <p:nvSpPr>
          <p:cNvPr id="12292" name="Rectangle 2"/>
          <p:cNvSpPr>
            <a:spLocks/>
          </p:cNvSpPr>
          <p:nvPr/>
        </p:nvSpPr>
        <p:spPr bwMode="auto">
          <a:xfrm>
            <a:off x="2173288" y="3057525"/>
            <a:ext cx="4956175" cy="591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deploy </a:t>
            </a:r>
            <a:r>
              <a:rPr lang="en-US" sz="1200" dirty="0"/>
              <a:t>an app, the other looks more at everything that needs to be done to deploy an app and monitor it afterwards. The line between them is really fuzzy – and as the cloud becomes more production oriented it will become even fuzzier</a:t>
            </a:r>
            <a:r>
              <a:rPr lang="en-US" sz="1200" dirty="0" smtClean="0"/>
              <a:t>.</a:t>
            </a:r>
          </a:p>
          <a:p>
            <a:pPr algn="just"/>
            <a:endParaRPr lang="en-US" sz="1200" dirty="0"/>
          </a:p>
          <a:p>
            <a:pPr algn="just"/>
            <a:r>
              <a:rPr lang="en-US" sz="1200" dirty="0"/>
              <a:t>What I found is that actual enterprise production applications in the cloud (not SaaS applications) are few and far between - so not a lot of attention has been paid to the lifecycle issues of managing enterprise production applications in the cloud. Dev and QA are the kings of cloud in the enterprise at the moment. I also found that as opposed to the </a:t>
            </a:r>
            <a:r>
              <a:rPr lang="en-US" sz="1200" u="sng" dirty="0">
                <a:hlinkClick r:id="rId2"/>
              </a:rPr>
              <a:t>NIST definition of cloud computing</a:t>
            </a:r>
            <a:r>
              <a:rPr lang="en-US" sz="1200" dirty="0"/>
              <a:t> – IaaS (Infrastructure as a Service), PaaS (Platform as a Service) and SaaS (Software as a Service) which seem to describe a nice progression of functionality for the cloud – the real world is much messier. SaaS came first and most SaaS providers didn’t build their applications on IaaS or PaaS - they built their own homebrew "Private PaaS" tailored to their specific application using a mixture of bespoke and off-the-shelf tooling. I think that enterprise production applications will look very similar - just that they will use off-the-shelf IaaS for infrastructure provisioning and off-the-shelf PaaS for specific components in their application stack</a:t>
            </a:r>
            <a:r>
              <a:rPr lang="en-US" sz="1200" dirty="0" smtClean="0"/>
              <a:t>.</a:t>
            </a:r>
          </a:p>
          <a:p>
            <a:pPr algn="just"/>
            <a:endParaRPr lang="en-US" sz="1200" dirty="0"/>
          </a:p>
          <a:p>
            <a:pPr algn="just"/>
            <a:r>
              <a:rPr lang="en-US" sz="1200" dirty="0"/>
              <a:t>As I was learning all this I think I finally understood why the cloud matters – way beyond its value as a cheaper delivery model, or a way to save on infrastructure costs. Cloud will enable IT to provide application delivery as an agile production line from dev to delivery.  I use the term production line, but the cloud actually holds the promise of being able to provide much more than a physical production line </a:t>
            </a:r>
            <a:r>
              <a:rPr lang="en-US" sz="1200" dirty="0" smtClean="0"/>
              <a:t>– application </a:t>
            </a:r>
            <a:r>
              <a:rPr lang="en-US" sz="1200" dirty="0"/>
              <a:t>update lifecycles of days or hours, not months or years. I think as this picture becomes whole – it will drastically change the way we think about applications</a:t>
            </a:r>
            <a:r>
              <a:rPr lang="en-US" sz="1200" dirty="0" smtClean="0"/>
              <a:t>.</a:t>
            </a:r>
          </a:p>
        </p:txBody>
      </p:sp>
      <p:sp>
        <p:nvSpPr>
          <p:cNvPr id="12293" name="Rectangle 3"/>
          <p:cNvSpPr>
            <a:spLocks/>
          </p:cNvSpPr>
          <p:nvPr/>
        </p:nvSpPr>
        <p:spPr bwMode="auto">
          <a:xfrm>
            <a:off x="2557462" y="1935162"/>
            <a:ext cx="4572001"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have </a:t>
            </a:r>
            <a:r>
              <a:rPr lang="en-US" sz="1200" dirty="0"/>
              <a:t>been spending a lot of time lately looking at the cloud from an operational perspective with respect to applications – I guess it would fall under the general banner that some analysts would call DevOps and others would call AppOps. I see the difference between the two as either looking at applications from the perspective of everything that needs to be done before you </a:t>
            </a:r>
            <a:r>
              <a:rPr lang="en-US" sz="1200" dirty="0" smtClean="0"/>
              <a:t>can</a:t>
            </a:r>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61</a:t>
            </a:fld>
            <a:endParaRPr lang="en-PH" dirty="0"/>
          </a:p>
        </p:txBody>
      </p:sp>
      <p:sp>
        <p:nvSpPr>
          <p:cNvPr id="17" name="Rectangle 5"/>
          <p:cNvSpPr>
            <a:spLocks/>
          </p:cNvSpPr>
          <p:nvPr/>
        </p:nvSpPr>
        <p:spPr bwMode="auto">
          <a:xfrm>
            <a:off x="344486" y="3743325"/>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Dr. Jacob Ukelson</a:t>
            </a:r>
          </a:p>
          <a:p>
            <a:pPr algn="r"/>
            <a:r>
              <a:rPr lang="en-US" sz="1100" i="1" dirty="0">
                <a:solidFill>
                  <a:srgbClr val="4D4D4D"/>
                </a:solidFill>
                <a:latin typeface="Helvetica" charset="0"/>
                <a:cs typeface="Helvetica" charset="0"/>
              </a:rPr>
              <a:t>VP Product Strategy</a:t>
            </a:r>
          </a:p>
          <a:p>
            <a:pPr algn="r"/>
            <a:r>
              <a:rPr lang="en-US" sz="1100" i="1" dirty="0" smtClean="0">
                <a:solidFill>
                  <a:srgbClr val="FF0000"/>
                </a:solidFill>
                <a:latin typeface="Helvetica" charset="0"/>
                <a:cs typeface="Helvetica" charset="0"/>
              </a:rPr>
              <a:t>Nolio</a:t>
            </a:r>
            <a:endParaRPr lang="en-US" sz="1100" i="1" dirty="0">
              <a:solidFill>
                <a:srgbClr val="FF0000"/>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713" y="1987316"/>
            <a:ext cx="1322149" cy="1603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2" name="Rectangle 2"/>
          <p:cNvSpPr>
            <a:spLocks/>
          </p:cNvSpPr>
          <p:nvPr/>
        </p:nvSpPr>
        <p:spPr bwMode="auto">
          <a:xfrm>
            <a:off x="3894139" y="8391525"/>
            <a:ext cx="3159126" cy="1219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4" tooltip="Dr. Jacob Ukelson"/>
              </a:rPr>
              <a:t>Dr. Jacob Ukelson</a:t>
            </a:r>
            <a:r>
              <a:rPr lang="en-US" sz="1000" i="1" dirty="0"/>
              <a:t> is an expert in developing innovative solutions to real-world customer challenges. He is VP of Product Strategy at </a:t>
            </a:r>
            <a:r>
              <a:rPr lang="en-US" sz="1000" i="1" u="sng" dirty="0">
                <a:hlinkClick r:id="rId5"/>
              </a:rPr>
              <a:t>Nolio</a:t>
            </a:r>
            <a:r>
              <a:rPr lang="en-US" sz="1000" i="1" dirty="0"/>
              <a:t> - the Zero Touch Deployment™ company.  Nolio’s Application Release Operations platform reduces time-to-market and makes enterprise operations cloud ready. </a:t>
            </a:r>
            <a:r>
              <a:rPr lang="en-US" sz="1000" i="1" u="sng" dirty="0">
                <a:hlinkClick r:id="rId6"/>
              </a:rPr>
              <a:t>Click here</a:t>
            </a:r>
            <a:r>
              <a:rPr lang="en-US" sz="1000" i="1" dirty="0"/>
              <a:t> to read Nolio’s Blog. </a:t>
            </a:r>
          </a:p>
        </p:txBody>
      </p:sp>
    </p:spTree>
    <p:extLst>
      <p:ext uri="{BB962C8B-B14F-4D97-AF65-F5344CB8AC3E}">
        <p14:creationId xmlns:p14="http://schemas.microsoft.com/office/powerpoint/2010/main" val="358884990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15423" y="2508333"/>
            <a:ext cx="1424940" cy="1424940"/>
          </a:xfrm>
          <a:prstGeom prst="rect">
            <a:avLst/>
          </a:prstGeom>
          <a:noFill/>
          <a:ln>
            <a:noFill/>
          </a:ln>
        </p:spPr>
      </p:pic>
      <p:sp>
        <p:nvSpPr>
          <p:cNvPr id="12290" name="TextBox 3"/>
          <p:cNvSpPr txBox="1">
            <a:spLocks noChangeArrowheads="1"/>
          </p:cNvSpPr>
          <p:nvPr/>
        </p:nvSpPr>
        <p:spPr bwMode="auto">
          <a:xfrm>
            <a:off x="195263" y="695327"/>
            <a:ext cx="693901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Bridging Language Gaps and </a:t>
            </a:r>
            <a:endParaRPr lang="en-US" sz="3600" b="1" dirty="0" smtClean="0">
              <a:latin typeface="Palatino Linotype" pitchFamily="18" charset="0"/>
            </a:endParaRPr>
          </a:p>
          <a:p>
            <a:pPr eaLnBrk="1" hangingPunct="1"/>
            <a:r>
              <a:rPr lang="en-US" sz="3600" b="1" dirty="0" smtClean="0">
                <a:latin typeface="Palatino Linotype" pitchFamily="18" charset="0"/>
              </a:rPr>
              <a:t>Creating </a:t>
            </a:r>
            <a:r>
              <a:rPr lang="en-US" sz="3600" b="1" dirty="0">
                <a:latin typeface="Palatino Linotype" pitchFamily="18" charset="0"/>
              </a:rPr>
              <a:t>Executive Summaries </a:t>
            </a:r>
            <a:endParaRPr lang="en-US" sz="3600" b="1" dirty="0" smtClean="0">
              <a:latin typeface="Palatino Linotype" pitchFamily="18" charset="0"/>
            </a:endParaRPr>
          </a:p>
          <a:p>
            <a:pPr eaLnBrk="1" hangingPunct="1"/>
            <a:r>
              <a:rPr lang="en-US" sz="3600" b="1" dirty="0" smtClean="0">
                <a:latin typeface="Palatino Linotype" pitchFamily="18" charset="0"/>
              </a:rPr>
              <a:t>Using VS Test </a:t>
            </a:r>
            <a:r>
              <a:rPr lang="en-US" sz="3600" b="1" dirty="0">
                <a:latin typeface="Palatino Linotype" pitchFamily="18" charset="0"/>
              </a:rPr>
              <a:t>Professional 2012</a:t>
            </a:r>
          </a:p>
        </p:txBody>
      </p:sp>
      <p:sp>
        <p:nvSpPr>
          <p:cNvPr id="12292" name="Rectangle 2"/>
          <p:cNvSpPr>
            <a:spLocks/>
          </p:cNvSpPr>
          <p:nvPr/>
        </p:nvSpPr>
        <p:spPr bwMode="auto">
          <a:xfrm>
            <a:off x="2173288" y="3743325"/>
            <a:ext cx="4956175" cy="522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In </a:t>
            </a:r>
            <a:r>
              <a:rPr lang="en-US" sz="1200" i="1" dirty="0"/>
              <a:t>Seven Steps to Mastering Business </a:t>
            </a:r>
            <a:r>
              <a:rPr lang="en-US" sz="1200" i="1" dirty="0" smtClean="0"/>
              <a:t>Analysis</a:t>
            </a:r>
            <a:r>
              <a:rPr lang="en-US" sz="1200" dirty="0"/>
              <a:t>, one developer reveals frustration with the business analysis process</a:t>
            </a:r>
            <a:r>
              <a:rPr lang="en-US" sz="1200" dirty="0" smtClean="0"/>
              <a:t>:</a:t>
            </a:r>
          </a:p>
          <a:p>
            <a:pPr lvl="1"/>
            <a:r>
              <a:rPr lang="en-US" sz="1200" dirty="0"/>
              <a:t>I began my career as a developer and was successful. I found that not only did I enjoy solving problems but enjoyed finding them and learning about business processes from the business experts. I remember the first time that I was programming based on requests and specifications from a BA. I felt frustrated because I wasn’t tasked with talking with the users directly. I wanted to know exactly what went on in the business and why they had requested this software functionality. (Carkenord, 2009, B2T Training</a:t>
            </a:r>
            <a:r>
              <a:rPr lang="en-US" sz="1200" dirty="0" smtClean="0"/>
              <a:t>)</a:t>
            </a:r>
          </a:p>
          <a:p>
            <a:endParaRPr lang="en-US" sz="1200" dirty="0" smtClean="0"/>
          </a:p>
          <a:p>
            <a:pPr algn="just"/>
            <a:r>
              <a:rPr lang="en-US" sz="1200" dirty="0"/>
              <a:t>One of the most common communication challenges and often a barrier to delivering excellence on a project is the ability to speak multiple languages. As a business analyst or product owner, I must speak several languages throughout the day depending on my audience.</a:t>
            </a:r>
          </a:p>
          <a:p>
            <a:pPr algn="just"/>
            <a:r>
              <a:rPr lang="en-US" sz="1200" dirty="0"/>
              <a:t> </a:t>
            </a:r>
          </a:p>
          <a:p>
            <a:pPr algn="just"/>
            <a:r>
              <a:rPr lang="en-US" sz="1200" dirty="0"/>
              <a:t>Each time I communicate, I must tailor my communication to my audience to avoid communicating ineffectively and wasting valuable time. And the language for each needs to be appropriate to their levels of expertise and understanding. Communicating with the developers must be crystal clear thus enabling the developers to create the system or application required by the company (</a:t>
            </a:r>
            <a:r>
              <a:rPr lang="en-US" sz="1200" dirty="0">
                <a:hlinkClick r:id="rId4"/>
              </a:rPr>
              <a:t>Project Community, Louise Ledbrook, November 18, 2011</a:t>
            </a:r>
            <a:r>
              <a:rPr lang="en-US" sz="1200" dirty="0"/>
              <a:t>).</a:t>
            </a:r>
          </a:p>
          <a:p>
            <a:pPr algn="just"/>
            <a:endParaRPr lang="en-US" sz="1200" dirty="0" smtClean="0"/>
          </a:p>
          <a:p>
            <a:pPr algn="just"/>
            <a:r>
              <a:rPr lang="en-US" sz="1200" dirty="0"/>
              <a:t>Microsoft Visual Studio Team Foundation Server (TFS) 2012 </a:t>
            </a:r>
            <a:r>
              <a:rPr lang="en-US" sz="1200" dirty="0" smtClean="0"/>
              <a:t>provides</a:t>
            </a:r>
            <a:endParaRPr lang="en-US" sz="1200" dirty="0"/>
          </a:p>
        </p:txBody>
      </p:sp>
      <p:sp>
        <p:nvSpPr>
          <p:cNvPr id="12293" name="Rectangle 3"/>
          <p:cNvSpPr>
            <a:spLocks/>
          </p:cNvSpPr>
          <p:nvPr/>
        </p:nvSpPr>
        <p:spPr bwMode="auto">
          <a:xfrm>
            <a:off x="2557462" y="2468940"/>
            <a:ext cx="4572001" cy="1121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i="1" dirty="0" smtClean="0"/>
              <a:t>feel </a:t>
            </a:r>
            <a:r>
              <a:rPr lang="en-US" sz="1400" i="1" dirty="0"/>
              <a:t>like I’m speaking two different languages when I deal with the company itself and the developers working within the company. I also think developers become frustrated with me when they can’t immediately determine the origin of a requirement</a:t>
            </a:r>
            <a:r>
              <a:rPr lang="en-US" sz="1400" i="1" dirty="0" smtClean="0"/>
              <a:t>.</a:t>
            </a:r>
            <a:endParaRPr lang="en-US" sz="1400" i="1" dirty="0"/>
          </a:p>
        </p:txBody>
      </p:sp>
      <p:sp>
        <p:nvSpPr>
          <p:cNvPr id="12294" name="Rectangle 4"/>
          <p:cNvSpPr>
            <a:spLocks/>
          </p:cNvSpPr>
          <p:nvPr/>
        </p:nvSpPr>
        <p:spPr bwMode="auto">
          <a:xfrm>
            <a:off x="2024063" y="21431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62</a:t>
            </a:fld>
            <a:endParaRPr lang="en-PH" dirty="0"/>
          </a:p>
        </p:txBody>
      </p:sp>
      <p:sp>
        <p:nvSpPr>
          <p:cNvPr id="17" name="Rectangle 5"/>
          <p:cNvSpPr>
            <a:spLocks/>
          </p:cNvSpPr>
          <p:nvPr/>
        </p:nvSpPr>
        <p:spPr bwMode="auto">
          <a:xfrm>
            <a:off x="271462" y="4138613"/>
            <a:ext cx="167640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Tara Charter</a:t>
            </a:r>
            <a:endParaRPr lang="en-US" sz="1100" i="1" dirty="0">
              <a:solidFill>
                <a:srgbClr val="4D4D4D"/>
              </a:solidFill>
              <a:latin typeface="Helvetica" charset="0"/>
              <a:cs typeface="Helvetica" charset="0"/>
              <a:sym typeface="Helvetica" charset="0"/>
            </a:endParaRPr>
          </a:p>
          <a:p>
            <a:pPr algn="r"/>
            <a:r>
              <a:rPr lang="en-US" sz="1100" i="1" dirty="0">
                <a:solidFill>
                  <a:srgbClr val="4D4D4D"/>
                </a:solidFill>
                <a:latin typeface="Helvetica" charset="0"/>
                <a:cs typeface="Helvetica" charset="0"/>
              </a:rPr>
              <a:t>Sr. Agile Business Analyst</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2" name="Rectangle 2"/>
          <p:cNvSpPr>
            <a:spLocks/>
          </p:cNvSpPr>
          <p:nvPr/>
        </p:nvSpPr>
        <p:spPr bwMode="auto">
          <a:xfrm>
            <a:off x="1317907" y="8772525"/>
            <a:ext cx="4973355" cy="685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smtClean="0">
                <a:hlinkClick r:id="rId5"/>
              </a:rPr>
              <a:t>Tara Charter</a:t>
            </a:r>
            <a:r>
              <a:rPr lang="en-US" sz="1000" i="1" dirty="0" smtClean="0"/>
              <a:t>, a Sr</a:t>
            </a:r>
            <a:r>
              <a:rPr lang="en-US" sz="1000" i="1" dirty="0"/>
              <a:t>. Agile Business Analyst,</a:t>
            </a:r>
            <a:r>
              <a:rPr lang="en-US" sz="1000" i="1" dirty="0" smtClean="0"/>
              <a:t> </a:t>
            </a:r>
            <a:r>
              <a:rPr lang="en-US" sz="1000" i="1" dirty="0"/>
              <a:t>greets every new business challenge as an opportunity to make a difference. </a:t>
            </a:r>
            <a:r>
              <a:rPr lang="en-US" sz="1000" i="1" dirty="0" smtClean="0"/>
              <a:t>Tara </a:t>
            </a:r>
            <a:r>
              <a:rPr lang="en-US" sz="1000" i="1" dirty="0"/>
              <a:t>knows the only way to truly solve </a:t>
            </a:r>
            <a:r>
              <a:rPr lang="en-US" sz="1000" i="1" dirty="0" smtClean="0"/>
              <a:t>a business’ unique problems </a:t>
            </a:r>
            <a:r>
              <a:rPr lang="en-US" sz="1000" i="1" dirty="0"/>
              <a:t>is to really </a:t>
            </a:r>
            <a:r>
              <a:rPr lang="en-US" sz="1000" i="1" dirty="0" smtClean="0"/>
              <a:t>understand </a:t>
            </a:r>
            <a:r>
              <a:rPr lang="en-US" sz="1000" i="1" dirty="0"/>
              <a:t>what the customer </a:t>
            </a:r>
            <a:r>
              <a:rPr lang="en-US" sz="1000" i="1" dirty="0" smtClean="0"/>
              <a:t>really wants.</a:t>
            </a:r>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40603100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14375"/>
            <a:ext cx="493846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Testing in the modern </a:t>
            </a:r>
          </a:p>
          <a:p>
            <a:pPr eaLnBrk="1" hangingPunct="1"/>
            <a:r>
              <a:rPr lang="en-US" sz="3600" b="1" dirty="0" smtClean="0">
                <a:latin typeface="Palatino Linotype" pitchFamily="18" charset="0"/>
              </a:rPr>
              <a:t>application </a:t>
            </a:r>
            <a:r>
              <a:rPr lang="en-US" sz="3600" b="1" dirty="0">
                <a:latin typeface="Palatino Linotype" pitchFamily="18" charset="0"/>
              </a:rPr>
              <a:t>lifecycle</a:t>
            </a:r>
          </a:p>
        </p:txBody>
      </p:sp>
      <p:sp>
        <p:nvSpPr>
          <p:cNvPr id="12292" name="Rectangle 2"/>
          <p:cNvSpPr>
            <a:spLocks/>
          </p:cNvSpPr>
          <p:nvPr/>
        </p:nvSpPr>
        <p:spPr bwMode="auto">
          <a:xfrm>
            <a:off x="2173288" y="3209925"/>
            <a:ext cx="495617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As we move into, or you might already be there, the era of agile and the delivery timetable shrinks to only a few weeks we can no longer do all of our testing in isolation. We need to work with the Engineers, Analysts and Operations on Development Teams and effectively swarm to solve the problems. </a:t>
            </a:r>
            <a:r>
              <a:rPr lang="en-US" sz="1200" dirty="0" smtClean="0"/>
              <a:t>Whether </a:t>
            </a:r>
            <a:r>
              <a:rPr lang="en-US" sz="1200" dirty="0"/>
              <a:t>that problem is adding new features, fixing a bug or deploying to an environment it is now </a:t>
            </a:r>
            <a:r>
              <a:rPr lang="en-US" sz="1200" dirty="0" smtClean="0"/>
              <a:t>in </a:t>
            </a:r>
            <a:r>
              <a:rPr lang="en-US" sz="1200" dirty="0"/>
              <a:t>the scope of all the departments and this new world does not </a:t>
            </a:r>
            <a:r>
              <a:rPr lang="en-US" sz="1200" dirty="0" smtClean="0"/>
              <a:t>recognize </a:t>
            </a:r>
            <a:r>
              <a:rPr lang="en-US" sz="1200" dirty="0"/>
              <a:t>even the idea of the silo</a:t>
            </a:r>
            <a:r>
              <a:rPr lang="en-US" sz="1200" dirty="0" smtClean="0"/>
              <a:t>.</a:t>
            </a:r>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r>
              <a:rPr lang="en-US" sz="1200" b="1" dirty="0"/>
              <a:t>Figure: Manual Test makes sure that we build what we need and no </a:t>
            </a:r>
            <a:r>
              <a:rPr lang="en-US" sz="1200" b="1" dirty="0" smtClean="0"/>
              <a:t>more</a:t>
            </a:r>
          </a:p>
          <a:p>
            <a:endParaRPr lang="en-US" sz="1200" dirty="0"/>
          </a:p>
          <a:p>
            <a:pPr algn="just"/>
            <a:r>
              <a:rPr lang="en-US" sz="1200" dirty="0"/>
              <a:t>It is no longer acceptable to “</a:t>
            </a:r>
            <a:r>
              <a:rPr lang="en-US" sz="1200" i="1" dirty="0"/>
              <a:t>test quality In</a:t>
            </a:r>
            <a:r>
              <a:rPr lang="en-US" sz="1200" dirty="0"/>
              <a:t>” as this is far too </a:t>
            </a:r>
            <a:r>
              <a:rPr lang="en-US" sz="1200" dirty="0" smtClean="0"/>
              <a:t>expensive</a:t>
            </a:r>
            <a:endParaRPr lang="en-US" sz="1200" dirty="0">
              <a:effectLst/>
            </a:endParaRPr>
          </a:p>
        </p:txBody>
      </p:sp>
      <p:sp>
        <p:nvSpPr>
          <p:cNvPr id="12293" name="Rectangle 3"/>
          <p:cNvSpPr>
            <a:spLocks/>
          </p:cNvSpPr>
          <p:nvPr/>
        </p:nvSpPr>
        <p:spPr bwMode="auto">
          <a:xfrm>
            <a:off x="3243261" y="2012950"/>
            <a:ext cx="3886201"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anual </a:t>
            </a:r>
            <a:r>
              <a:rPr lang="en-US" sz="1200" dirty="0"/>
              <a:t>Testing in this new age of the modern application lifecycle has taken on new complexities that make it even more difficult to track and identify which tests are passing, which are failing and to which environment that data should be associated. </a:t>
            </a:r>
          </a:p>
        </p:txBody>
      </p:sp>
      <p:sp>
        <p:nvSpPr>
          <p:cNvPr id="12294" name="Rectangle 4"/>
          <p:cNvSpPr>
            <a:spLocks/>
          </p:cNvSpPr>
          <p:nvPr/>
        </p:nvSpPr>
        <p:spPr bwMode="auto">
          <a:xfrm>
            <a:off x="2024063" y="1687513"/>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M</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3" y="36687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Martin </a:t>
            </a:r>
            <a:r>
              <a:rPr lang="en-US" sz="1100" i="1" dirty="0" smtClean="0">
                <a:solidFill>
                  <a:srgbClr val="4D4D4D"/>
                </a:solidFill>
                <a:latin typeface="Helvetica" charset="0"/>
                <a:cs typeface="Helvetica" charset="0"/>
                <a:sym typeface="Helvetica" charset="0"/>
              </a:rPr>
              <a:t>Hinshelwood</a:t>
            </a:r>
          </a:p>
          <a:p>
            <a:pPr algn="r"/>
            <a:r>
              <a:rPr lang="en-US" sz="1100" i="1" dirty="0">
                <a:solidFill>
                  <a:srgbClr val="4D4D4D"/>
                </a:solidFill>
                <a:latin typeface="Helvetica" charset="0"/>
                <a:cs typeface="Helvetica" charset="0"/>
              </a:rPr>
              <a:t>ALM Consultant</a:t>
            </a:r>
          </a:p>
          <a:p>
            <a:pPr algn="r"/>
            <a:r>
              <a:rPr lang="en-US" sz="1100" i="1" dirty="0">
                <a:latin typeface="Helvetica" pitchFamily="34" charset="0"/>
                <a:cs typeface="Helvetica" pitchFamily="34" charset="0"/>
                <a:hlinkClick r:id="rId2"/>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p:txBody>
      </p:sp>
      <p:pic>
        <p:nvPicPr>
          <p:cNvPr id="12297" name="Picture 9" descr="Martin Hinshelwo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2054225"/>
            <a:ext cx="1427162"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63</a:t>
            </a:fld>
            <a:endParaRPr lang="en-PH" dirty="0"/>
          </a:p>
        </p:txBody>
      </p:sp>
      <p:pic>
        <p:nvPicPr>
          <p:cNvPr id="1026" name="Picture 2" descr="http://blog.hinshelwood.com/files/2012/09/image_thumb5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289" y="4581525"/>
            <a:ext cx="5167250" cy="2979242"/>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5" name="Rectangle 2"/>
          <p:cNvSpPr>
            <a:spLocks/>
          </p:cNvSpPr>
          <p:nvPr/>
        </p:nvSpPr>
        <p:spPr bwMode="auto">
          <a:xfrm>
            <a:off x="1385326" y="8533039"/>
            <a:ext cx="4973355" cy="9252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dirty="0" smtClean="0"/>
              <a:t>Martin Hinshelwood is an </a:t>
            </a:r>
            <a:r>
              <a:rPr lang="en-GB" sz="1000" i="1" dirty="0"/>
              <a:t>ALM Consultant at </a:t>
            </a:r>
            <a:r>
              <a:rPr lang="en-GB" sz="1000" i="1" u="sng" dirty="0">
                <a:hlinkClick r:id="rId5"/>
              </a:rPr>
              <a:t>Northwest Cadence</a:t>
            </a:r>
            <a:r>
              <a:rPr lang="en-GB" sz="1000" i="1" dirty="0"/>
              <a:t>, and </a:t>
            </a:r>
            <a:r>
              <a:rPr lang="en-GB" sz="1000" i="1" u="sng" dirty="0">
                <a:hlinkClick r:id="rId6"/>
              </a:rPr>
              <a:t>Visual Studio ALM MVP (2013)</a:t>
            </a:r>
            <a:r>
              <a:rPr lang="en-GB" sz="1000" i="1" dirty="0"/>
              <a:t>. He was named </a:t>
            </a:r>
            <a:r>
              <a:rPr lang="en-GB" sz="1000" i="1" u="sng" dirty="0">
                <a:hlinkClick r:id="rId6"/>
              </a:rPr>
              <a:t>ALM MVP of the year 2011</a:t>
            </a:r>
            <a:r>
              <a:rPr lang="en-GB" sz="1000" i="1" dirty="0"/>
              <a:t>, </a:t>
            </a:r>
            <a:r>
              <a:rPr lang="en-GB" sz="1000" i="1" u="sng" dirty="0">
                <a:hlinkClick r:id="rId7"/>
              </a:rPr>
              <a:t>ALM Ranger Champion for 2011</a:t>
            </a:r>
            <a:r>
              <a:rPr lang="en-GB" sz="1000" i="1" dirty="0"/>
              <a:t> and was one of the first </a:t>
            </a:r>
            <a:r>
              <a:rPr lang="en-GB" sz="1000" i="1" u="sng" dirty="0">
                <a:hlinkClick r:id="rId8"/>
              </a:rPr>
              <a:t>Professional Scrum Trainers</a:t>
            </a:r>
            <a:r>
              <a:rPr lang="en-GB" sz="1000" i="1" dirty="0"/>
              <a:t> with Scrum.org. </a:t>
            </a:r>
            <a:r>
              <a:rPr lang="en-GB" sz="1000" i="1" dirty="0" smtClean="0"/>
              <a:t>Martin </a:t>
            </a:r>
            <a:r>
              <a:rPr lang="en-GB" sz="1000" i="1" dirty="0"/>
              <a:t>regularly delivers consulting and training while writing for his </a:t>
            </a:r>
            <a:r>
              <a:rPr lang="en-GB" sz="1000" i="1" u="sng" dirty="0">
                <a:hlinkClick r:id="rId9"/>
              </a:rPr>
              <a:t>Visual Studio ALM blog</a:t>
            </a:r>
            <a:r>
              <a:rPr lang="en-GB" sz="1000" i="1" dirty="0"/>
              <a:t>, and is a sought-after speaker. </a:t>
            </a:r>
            <a:endParaRPr lang="en-US" sz="1000" i="1" dirty="0"/>
          </a:p>
          <a:p>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29969724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525"/>
            <a:ext cx="7129462" cy="1009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a:xfrm>
            <a:off x="5617209" y="9226550"/>
            <a:ext cx="1762125" cy="536575"/>
          </a:xfrm>
        </p:spPr>
        <p:txBody>
          <a:bodyPr/>
          <a:lstStyle/>
          <a:p>
            <a:pPr>
              <a:defRPr/>
            </a:pPr>
            <a:fld id="{EA30B413-8FC0-44D3-9979-403CCACD0588}" type="slidenum">
              <a:rPr lang="en-PH" smtClean="0"/>
              <a:pPr>
                <a:defRPr/>
              </a:pPr>
              <a:t>64</a:t>
            </a:fld>
            <a:endParaRPr lang="en-PH" dirty="0"/>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7592" y="0"/>
            <a:ext cx="181440" cy="1010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60" y="0"/>
            <a:ext cx="181440" cy="1010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1440" cy="1010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a:hlinkClick r:id="rId4"/>
          </p:cNvPr>
          <p:cNvSpPr/>
          <p:nvPr/>
        </p:nvSpPr>
        <p:spPr>
          <a:xfrm>
            <a:off x="1262062" y="314325"/>
            <a:ext cx="5029200" cy="12954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hlinkClick r:id="rId5"/>
          </p:cNvPr>
          <p:cNvSpPr/>
          <p:nvPr/>
        </p:nvSpPr>
        <p:spPr>
          <a:xfrm>
            <a:off x="652462" y="2879090"/>
            <a:ext cx="5029200" cy="381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Click r:id="rId6"/>
          </p:cNvPr>
          <p:cNvSpPr/>
          <p:nvPr/>
        </p:nvSpPr>
        <p:spPr>
          <a:xfrm>
            <a:off x="4157662" y="4352925"/>
            <a:ext cx="1600200" cy="4572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hlinkClick r:id="rId7"/>
          </p:cNvPr>
          <p:cNvSpPr/>
          <p:nvPr/>
        </p:nvSpPr>
        <p:spPr>
          <a:xfrm>
            <a:off x="957262" y="5267325"/>
            <a:ext cx="2514600" cy="685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hlinkClick r:id="rId7"/>
          </p:cNvPr>
          <p:cNvSpPr/>
          <p:nvPr/>
        </p:nvSpPr>
        <p:spPr>
          <a:xfrm>
            <a:off x="4157662" y="5815330"/>
            <a:ext cx="2209800" cy="685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hlinkClick r:id="rId8"/>
          </p:cNvPr>
          <p:cNvSpPr/>
          <p:nvPr/>
        </p:nvSpPr>
        <p:spPr>
          <a:xfrm>
            <a:off x="3235324" y="7133590"/>
            <a:ext cx="3657600" cy="381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hlinkClick r:id="rId9"/>
          </p:cNvPr>
          <p:cNvSpPr/>
          <p:nvPr/>
        </p:nvSpPr>
        <p:spPr>
          <a:xfrm>
            <a:off x="4500562" y="9534525"/>
            <a:ext cx="2781300" cy="304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hlinkClick r:id="rId10"/>
          </p:cNvPr>
          <p:cNvSpPr/>
          <p:nvPr/>
        </p:nvSpPr>
        <p:spPr>
          <a:xfrm>
            <a:off x="4500562" y="9173210"/>
            <a:ext cx="1866900" cy="304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hlinkClick r:id="rId11"/>
          </p:cNvPr>
          <p:cNvSpPr/>
          <p:nvPr/>
        </p:nvSpPr>
        <p:spPr>
          <a:xfrm>
            <a:off x="4500562" y="8848725"/>
            <a:ext cx="1866900" cy="304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hlinkClick r:id="rId12"/>
          </p:cNvPr>
          <p:cNvSpPr/>
          <p:nvPr/>
        </p:nvSpPr>
        <p:spPr>
          <a:xfrm>
            <a:off x="713104" y="9446260"/>
            <a:ext cx="1996758" cy="3048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hlinkClick r:id="rId13"/>
          </p:cNvPr>
          <p:cNvSpPr/>
          <p:nvPr/>
        </p:nvSpPr>
        <p:spPr>
          <a:xfrm>
            <a:off x="713104" y="8924925"/>
            <a:ext cx="1996758" cy="4572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hlinkClick r:id="rId14"/>
          </p:cNvPr>
          <p:cNvSpPr/>
          <p:nvPr/>
        </p:nvSpPr>
        <p:spPr>
          <a:xfrm>
            <a:off x="652462" y="3286125"/>
            <a:ext cx="5029200" cy="381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hlinkClick r:id="rId15"/>
          </p:cNvPr>
          <p:cNvSpPr/>
          <p:nvPr/>
        </p:nvSpPr>
        <p:spPr>
          <a:xfrm>
            <a:off x="3243262" y="7553325"/>
            <a:ext cx="3657600" cy="381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3289501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http://go.xebialabs.com/rs/xebialabs/images/Andrew_Phillips.jpg"/>
          <p:cNvPicPr/>
          <p:nvPr/>
        </p:nvPicPr>
        <p:blipFill>
          <a:blip r:link="rId2">
            <a:extLst>
              <a:ext uri="{28A0092B-C50C-407E-A947-70E740481C1C}">
                <a14:useLocalDpi xmlns:a14="http://schemas.microsoft.com/office/drawing/2010/main" val="0"/>
              </a:ext>
            </a:extLst>
          </a:blip>
          <a:srcRect/>
          <a:stretch>
            <a:fillRect/>
          </a:stretch>
        </p:blipFill>
        <p:spPr bwMode="auto">
          <a:xfrm>
            <a:off x="533805" y="1911493"/>
            <a:ext cx="1414057" cy="1371600"/>
          </a:xfrm>
          <a:prstGeom prst="rect">
            <a:avLst/>
          </a:prstGeom>
          <a:noFill/>
          <a:ln>
            <a:noFill/>
          </a:ln>
        </p:spPr>
      </p:pic>
      <p:sp>
        <p:nvSpPr>
          <p:cNvPr id="12290" name="TextBox 3"/>
          <p:cNvSpPr txBox="1">
            <a:spLocks noChangeArrowheads="1"/>
          </p:cNvSpPr>
          <p:nvPr/>
        </p:nvSpPr>
        <p:spPr bwMode="auto">
          <a:xfrm>
            <a:off x="195263" y="695327"/>
            <a:ext cx="726032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Continuous Delivery: Delivering </a:t>
            </a:r>
            <a:endParaRPr lang="en-US" sz="3600" b="1" dirty="0" smtClean="0">
              <a:latin typeface="Palatino Linotype" pitchFamily="18" charset="0"/>
            </a:endParaRPr>
          </a:p>
          <a:p>
            <a:pPr eaLnBrk="1" hangingPunct="1"/>
            <a:r>
              <a:rPr lang="en-US" sz="3600" b="1" dirty="0" smtClean="0">
                <a:latin typeface="Palatino Linotype" pitchFamily="18" charset="0"/>
              </a:rPr>
              <a:t>IT to </a:t>
            </a:r>
            <a:r>
              <a:rPr lang="en-US" sz="3600" b="1" dirty="0">
                <a:latin typeface="Palatino Linotype" pitchFamily="18" charset="0"/>
              </a:rPr>
              <a:t>the Always Up-to-date User</a:t>
            </a:r>
          </a:p>
        </p:txBody>
      </p:sp>
      <p:sp>
        <p:nvSpPr>
          <p:cNvPr id="12292" name="Rectangle 2"/>
          <p:cNvSpPr>
            <a:spLocks/>
          </p:cNvSpPr>
          <p:nvPr/>
        </p:nvSpPr>
        <p:spPr bwMode="auto">
          <a:xfrm>
            <a:off x="2173288" y="3134102"/>
            <a:ext cx="4956175" cy="5762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With today’s always-connected user, able to access your services all the time, everywhere, and to evaluate your competitors’ offerings with a few taps or clicks, the business of service delivery is never “done”. Your service is expected to be always available and continuously improving</a:t>
            </a:r>
            <a:r>
              <a:rPr lang="en-US" sz="1200" dirty="0" smtClean="0"/>
              <a:t>.</a:t>
            </a:r>
          </a:p>
          <a:p>
            <a:pPr algn="just"/>
            <a:endParaRPr lang="en-US" sz="1200" dirty="0"/>
          </a:p>
          <a:p>
            <a:pPr algn="just"/>
            <a:r>
              <a:rPr lang="en-US" sz="1200" dirty="0"/>
              <a:t>Businesses understand that they need to be “always-on”. This requires constant, consistent application and service delivery to ensure a </a:t>
            </a:r>
            <a:r>
              <a:rPr lang="en-US" sz="1200" dirty="0" smtClean="0"/>
              <a:t>positive, seamless</a:t>
            </a:r>
            <a:r>
              <a:rPr lang="en-US" sz="1200" dirty="0"/>
              <a:t>, rich customer experience</a:t>
            </a:r>
            <a:r>
              <a:rPr lang="en-US" sz="1200" dirty="0" smtClean="0"/>
              <a:t>.</a:t>
            </a:r>
          </a:p>
          <a:p>
            <a:pPr algn="just"/>
            <a:r>
              <a:rPr lang="en-US" sz="1200" dirty="0"/>
              <a:t/>
            </a:r>
            <a:br>
              <a:rPr lang="en-US" sz="1200" dirty="0"/>
            </a:br>
            <a:r>
              <a:rPr lang="en-US" sz="1200" dirty="0"/>
              <a:t>Certain software delivery and integration strategies are central to allowing your organization’s offering to be reliable and engaging, meeting and exceeding the high expectations of today’s audience that demands its content and applications be constantly available and instantly gratifying</a:t>
            </a:r>
            <a:r>
              <a:rPr lang="en-US" sz="1200" dirty="0" smtClean="0"/>
              <a:t>.</a:t>
            </a:r>
          </a:p>
          <a:p>
            <a:pPr algn="just"/>
            <a:endParaRPr lang="en-US" sz="1200" dirty="0"/>
          </a:p>
          <a:p>
            <a:pPr algn="just"/>
            <a:r>
              <a:rPr lang="en-US" sz="1200" dirty="0"/>
              <a:t>Expanding on from the widespread adoption of Agile development practices in the enterprise, the leading strategy to achieve this today is </a:t>
            </a:r>
            <a:r>
              <a:rPr lang="en-US" sz="1200" i="1" dirty="0"/>
              <a:t>Continuous Delivery</a:t>
            </a:r>
            <a:r>
              <a:rPr lang="en-US" sz="1200" dirty="0" smtClean="0"/>
              <a:t>.</a:t>
            </a:r>
          </a:p>
          <a:p>
            <a:pPr algn="just"/>
            <a:endParaRPr lang="en-US" sz="1200" dirty="0"/>
          </a:p>
          <a:p>
            <a:pPr algn="just"/>
            <a:r>
              <a:rPr lang="en-US" sz="1400" b="1" dirty="0"/>
              <a:t>Continuous vs. Traditional Manual </a:t>
            </a:r>
            <a:r>
              <a:rPr lang="en-US" sz="1400" b="1" dirty="0" smtClean="0"/>
              <a:t>Delivery</a:t>
            </a:r>
          </a:p>
          <a:p>
            <a:pPr algn="just"/>
            <a:r>
              <a:rPr lang="en-US" sz="1200" dirty="0" smtClean="0"/>
              <a:t>In </a:t>
            </a:r>
            <a:r>
              <a:rPr lang="en-US" sz="1200" dirty="0"/>
              <a:t>most organizations, the software delivery process today involves many manual or semi-automated steps, requiring a significant investment in terms of scripting and troubleshooting. Further, the delivery and release process followed varies widely across departments, applications and technologies, leading to error-prone, non-transferable activities and costs that increase in direct proportion to the release volume</a:t>
            </a:r>
            <a:r>
              <a:rPr lang="en-US" sz="1200" dirty="0" smtClean="0"/>
              <a:t>.</a:t>
            </a:r>
          </a:p>
          <a:p>
            <a:pPr algn="just"/>
            <a:endParaRPr lang="en-US" sz="1200" dirty="0"/>
          </a:p>
          <a:p>
            <a:pPr algn="just"/>
            <a:r>
              <a:rPr lang="en-US" sz="1200" dirty="0"/>
              <a:t>Continuous Delivery is a fundamental shift in the software development and delivery process, based on a simplified release management practice that unifies development, production testing, QA, testing and </a:t>
            </a:r>
            <a:r>
              <a:rPr lang="en-US" sz="1200" dirty="0" smtClean="0"/>
              <a:t>operations</a:t>
            </a:r>
            <a:endParaRPr lang="en-US" sz="1200" dirty="0"/>
          </a:p>
        </p:txBody>
      </p:sp>
      <p:sp>
        <p:nvSpPr>
          <p:cNvPr id="12293" name="Rectangle 3"/>
          <p:cNvSpPr>
            <a:spLocks/>
          </p:cNvSpPr>
          <p:nvPr/>
        </p:nvSpPr>
        <p:spPr bwMode="auto">
          <a:xfrm>
            <a:off x="3090863" y="1900615"/>
            <a:ext cx="4038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smtClean="0"/>
              <a:t>rying </a:t>
            </a:r>
            <a:r>
              <a:rPr lang="en-US" sz="1200" i="1" dirty="0"/>
              <a:t>to serve today’s always connected, always updated IT user with anything less than a fully automated application delivery process makes no sense.</a:t>
            </a:r>
            <a:r>
              <a:rPr lang="en-US" sz="1200" dirty="0"/>
              <a:t> </a:t>
            </a:r>
            <a:r>
              <a:rPr lang="en-US" sz="1200" i="1" dirty="0"/>
              <a:t> Software Delivery is evolving from an effort-intensive, error-prone “big bang” activity to a seamless, incremental and continuous process that is proving to be faster, more reliable and more efficient.</a:t>
            </a:r>
            <a:r>
              <a:rPr lang="en-US" sz="1200" dirty="0" smtClean="0"/>
              <a:t> </a:t>
            </a:r>
            <a:endParaRPr lang="en-US" sz="1200" dirty="0"/>
          </a:p>
        </p:txBody>
      </p:sp>
      <p:sp>
        <p:nvSpPr>
          <p:cNvPr id="12294" name="Rectangle 4"/>
          <p:cNvSpPr>
            <a:spLocks/>
          </p:cNvSpPr>
          <p:nvPr/>
        </p:nvSpPr>
        <p:spPr bwMode="auto">
          <a:xfrm>
            <a:off x="2024063" y="15335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65</a:t>
            </a:fld>
            <a:endParaRPr lang="en-PH" dirty="0"/>
          </a:p>
        </p:txBody>
      </p:sp>
      <p:sp>
        <p:nvSpPr>
          <p:cNvPr id="17" name="Rectangle 5"/>
          <p:cNvSpPr>
            <a:spLocks/>
          </p:cNvSpPr>
          <p:nvPr/>
        </p:nvSpPr>
        <p:spPr bwMode="auto">
          <a:xfrm>
            <a:off x="344486" y="351510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Andrew Phillips</a:t>
            </a:r>
          </a:p>
          <a:p>
            <a:pPr algn="r"/>
            <a:r>
              <a:rPr lang="en-US" sz="1100" i="1" dirty="0">
                <a:solidFill>
                  <a:srgbClr val="4D4D4D"/>
                </a:solidFill>
                <a:latin typeface="Helvetica" charset="0"/>
                <a:cs typeface="Helvetica" charset="0"/>
              </a:rPr>
              <a:t>XebiaLabs</a:t>
            </a:r>
          </a:p>
          <a:p>
            <a:pPr algn="r"/>
            <a:endParaRPr lang="en-US" sz="1100" i="1" dirty="0">
              <a:solidFill>
                <a:srgbClr val="4D4D4D"/>
              </a:solidFill>
              <a:latin typeface="Helvetica" charset="0"/>
              <a:cs typeface="Helvetica" charset="0"/>
              <a:sym typeface="Helvetica"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42135371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66</a:t>
            </a:fld>
            <a:endParaRPr lang="en-PH" dirty="0"/>
          </a:p>
        </p:txBody>
      </p:sp>
      <p:pic>
        <p:nvPicPr>
          <p:cNvPr id="205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4" y="0"/>
            <a:ext cx="7548081" cy="496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p:cNvSpPr>
            <a:spLocks/>
          </p:cNvSpPr>
          <p:nvPr/>
        </p:nvSpPr>
        <p:spPr bwMode="auto">
          <a:xfrm>
            <a:off x="3894139" y="5038725"/>
            <a:ext cx="3159125" cy="396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will </a:t>
            </a:r>
            <a:r>
              <a:rPr lang="en-US" sz="1200" dirty="0"/>
              <a:t>their insight and experience be invaluable for understanding the challenges you have to overcome, their participation is required to accurately determine the best strategies for optimizing a new process.</a:t>
            </a:r>
          </a:p>
          <a:p>
            <a:endParaRPr lang="en-US" sz="1200" dirty="0"/>
          </a:p>
          <a:p>
            <a:pPr algn="just"/>
            <a:r>
              <a:rPr lang="en-US" sz="1200" dirty="0"/>
              <a:t>The next step is to review technologies that underpin a move to Continuous Delivery, including tools for Continuous Integration, automated testing, provisioning and automated deployment. Oftentimes, organizations are finding they have some of these tools in-house already, and it is a matter of adding some final pieces to make the move to Continuous Delivery.</a:t>
            </a:r>
          </a:p>
          <a:p>
            <a:pPr algn="just"/>
            <a:endParaRPr lang="en-US" sz="1200" dirty="0" smtClean="0"/>
          </a:p>
          <a:p>
            <a:pPr algn="just"/>
            <a:r>
              <a:rPr lang="en-US" sz="1200" dirty="0" smtClean="0"/>
              <a:t>Once </a:t>
            </a:r>
            <a:r>
              <a:rPr lang="en-US" sz="1200" dirty="0"/>
              <a:t>the elements are all capable of working together in order to deliver improved functionality, continuous application delivery becomes the new </a:t>
            </a:r>
            <a:r>
              <a:rPr lang="en-US" sz="1200" dirty="0" smtClean="0"/>
              <a:t>standard.</a:t>
            </a:r>
            <a:endParaRPr lang="en-US" sz="1200" dirty="0"/>
          </a:p>
        </p:txBody>
      </p:sp>
      <p:sp>
        <p:nvSpPr>
          <p:cNvPr id="6" name="Rectangle 2"/>
          <p:cNvSpPr>
            <a:spLocks/>
          </p:cNvSpPr>
          <p:nvPr/>
        </p:nvSpPr>
        <p:spPr bwMode="auto">
          <a:xfrm>
            <a:off x="423864" y="5038725"/>
            <a:ext cx="3127375" cy="396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faster </a:t>
            </a:r>
            <a:r>
              <a:rPr lang="en-US" sz="1200" dirty="0"/>
              <a:t>pace, features will land in your customers’ hands much more quickly, and with a far lower failure rate. This delivers not only the latest and greatest your company has to offer, but also aligns the continuous delivery of software with today’s connected culture giving rise to a seamless customer experience and greater innovation.</a:t>
            </a:r>
          </a:p>
          <a:p>
            <a:endParaRPr lang="en-US" sz="1200" dirty="0"/>
          </a:p>
          <a:p>
            <a:r>
              <a:rPr lang="en-US" sz="1400" b="1" dirty="0"/>
              <a:t>Making the </a:t>
            </a:r>
            <a:r>
              <a:rPr lang="en-US" sz="1400" b="1" dirty="0" smtClean="0"/>
              <a:t>Transition</a:t>
            </a:r>
          </a:p>
          <a:p>
            <a:pPr algn="just"/>
            <a:r>
              <a:rPr lang="en-US" sz="1200" dirty="0" smtClean="0"/>
              <a:t>Beginning </a:t>
            </a:r>
            <a:r>
              <a:rPr lang="en-US" sz="1200" dirty="0"/>
              <a:t>the process of changing over to Continuous Delivery begins with an honest assessment of your existing model and your future needs. This will help you determine the best order and approach for your implementation, and give rise to realistic expectations and deadlines</a:t>
            </a:r>
            <a:r>
              <a:rPr lang="en-US" sz="1200" dirty="0" smtClean="0"/>
              <a:t>.</a:t>
            </a:r>
          </a:p>
          <a:p>
            <a:endParaRPr lang="en-US" sz="1200" dirty="0" smtClean="0"/>
          </a:p>
          <a:p>
            <a:r>
              <a:rPr lang="en-US" sz="1200" dirty="0"/>
              <a:t>Engaging your development team is </a:t>
            </a:r>
            <a:r>
              <a:rPr lang="en-US" sz="1200" dirty="0" smtClean="0"/>
              <a:t>an </a:t>
            </a:r>
            <a:r>
              <a:rPr lang="en-US" sz="1200" dirty="0"/>
              <a:t>essential element to ensuring a positive shift into automated application delivery. Not only </a:t>
            </a:r>
          </a:p>
        </p:txBody>
      </p:sp>
      <p:sp>
        <p:nvSpPr>
          <p:cNvPr id="7" name="Rectangle 2"/>
          <p:cNvSpPr>
            <a:spLocks/>
          </p:cNvSpPr>
          <p:nvPr/>
        </p:nvSpPr>
        <p:spPr bwMode="auto">
          <a:xfrm>
            <a:off x="652462" y="9001126"/>
            <a:ext cx="6172200" cy="6095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4"/>
              </a:rPr>
              <a:t>Andrew Phillips</a:t>
            </a:r>
            <a:r>
              <a:rPr lang="en-US" sz="1000" i="1" dirty="0"/>
              <a:t> is Vice President, Product </a:t>
            </a:r>
            <a:r>
              <a:rPr lang="en-US" sz="1000" i="1" dirty="0" smtClean="0"/>
              <a:t>Management at </a:t>
            </a:r>
            <a:r>
              <a:rPr lang="en-US" sz="1000" i="1" u="sng" dirty="0">
                <a:hlinkClick r:id="rId2"/>
              </a:rPr>
              <a:t>XebiaLabs</a:t>
            </a:r>
            <a:r>
              <a:rPr lang="en-US" sz="1000" i="1" dirty="0"/>
              <a:t>. </a:t>
            </a:r>
            <a:r>
              <a:rPr lang="en-US" sz="1000" i="1" dirty="0" smtClean="0"/>
              <a:t>a </a:t>
            </a:r>
            <a:r>
              <a:rPr lang="en-US" sz="1000" i="1" dirty="0"/>
              <a:t>global provider of Application Release Automation </a:t>
            </a:r>
            <a:r>
              <a:rPr lang="en-US" sz="1000" i="1" dirty="0" smtClean="0"/>
              <a:t>offering </a:t>
            </a:r>
            <a:r>
              <a:rPr lang="en-US" sz="1000" i="1" dirty="0"/>
              <a:t>a Continuous Delivery platform to help enterprises improve and accelerate the application delivery process. To </a:t>
            </a:r>
            <a:r>
              <a:rPr lang="en-US" sz="1000" i="1" dirty="0" smtClean="0"/>
              <a:t>get </a:t>
            </a:r>
            <a:r>
              <a:rPr lang="en-US" sz="1000" i="1" dirty="0"/>
              <a:t>started moving to Continuous Delivery, </a:t>
            </a:r>
            <a:r>
              <a:rPr lang="en-US" sz="1000" i="1" u="sng" dirty="0">
                <a:hlinkClick r:id="rId5"/>
              </a:rPr>
              <a:t>Read the new white paper</a:t>
            </a:r>
            <a:r>
              <a:rPr lang="en-US" sz="1000" i="1" dirty="0"/>
              <a:t>.</a:t>
            </a:r>
          </a:p>
        </p:txBody>
      </p:sp>
      <p:sp>
        <p:nvSpPr>
          <p:cNvPr id="8" name="Rounded Rectangle 7">
            <a:hlinkClick r:id="" action="ppaction://noaction"/>
          </p:cNvPr>
          <p:cNvSpPr/>
          <p:nvPr/>
        </p:nvSpPr>
        <p:spPr>
          <a:xfrm>
            <a:off x="3052761" y="9610725"/>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8357023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67</a:t>
            </a:fld>
            <a:endParaRPr lang="en-PH" dirty="0"/>
          </a:p>
        </p:txBody>
      </p:sp>
      <p:sp>
        <p:nvSpPr>
          <p:cNvPr id="5" name="Title 1"/>
          <p:cNvSpPr>
            <a:spLocks noGrp="1"/>
          </p:cNvSpPr>
          <p:nvPr/>
        </p:nvSpPr>
        <p:spPr bwMode="auto">
          <a:xfrm>
            <a:off x="407987" y="334645"/>
            <a:ext cx="6797675" cy="58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algn="ctr" eaLnBrk="0" fontAlgn="base" hangingPunct="0">
              <a:spcBef>
                <a:spcPts val="0"/>
              </a:spcBef>
              <a:spcAft>
                <a:spcPts val="0"/>
              </a:spcAft>
            </a:pPr>
            <a:r>
              <a:rPr lang="en-US" sz="3200" kern="1200" dirty="0">
                <a:solidFill>
                  <a:srgbClr val="000000"/>
                </a:solidFill>
                <a:effectLst/>
                <a:latin typeface="Cambria"/>
                <a:ea typeface="Times New Roman"/>
                <a:cs typeface="Times New Roman"/>
              </a:rPr>
              <a:t>Modern Requirements Management</a:t>
            </a:r>
            <a:endParaRPr lang="en-US" sz="1200" dirty="0">
              <a:effectLst/>
              <a:latin typeface="Times New Roman"/>
              <a:ea typeface="Times New Roman"/>
            </a:endParaRPr>
          </a:p>
        </p:txBody>
      </p:sp>
      <p:pic>
        <p:nvPicPr>
          <p:cNvPr id="2054" name="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2" y="7470775"/>
            <a:ext cx="6667500" cy="19939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5"/>
          <p:cNvSpPr txBox="1"/>
          <p:nvPr/>
        </p:nvSpPr>
        <p:spPr>
          <a:xfrm>
            <a:off x="423862" y="7027545"/>
            <a:ext cx="6781800" cy="297180"/>
          </a:xfrm>
          <a:prstGeom prst="rect">
            <a:avLst/>
          </a:prstGeom>
          <a:noFill/>
        </p:spPr>
        <p:txBody>
          <a:bodyPr wrap="square" rtlCol="0">
            <a:spAutoFit/>
          </a:bodyPr>
          <a:lstStyle/>
          <a:p>
            <a:pPr marL="0" marR="0" algn="ctr" fontAlgn="base">
              <a:spcBef>
                <a:spcPts val="0"/>
              </a:spcBef>
              <a:spcAft>
                <a:spcPts val="0"/>
              </a:spcAft>
            </a:pPr>
            <a:r>
              <a:rPr lang="en-US" sz="1400" b="1" kern="1200" dirty="0">
                <a:solidFill>
                  <a:srgbClr val="000000"/>
                </a:solidFill>
                <a:effectLst/>
                <a:latin typeface="Arial"/>
                <a:ea typeface="Times New Roman"/>
              </a:rPr>
              <a:t>Key Features that extend TFS capabilities</a:t>
            </a:r>
            <a:endParaRPr lang="en-US" sz="1200" dirty="0">
              <a:effectLst/>
              <a:latin typeface="Times New Roman"/>
              <a:ea typeface="Times New Roman"/>
            </a:endParaRPr>
          </a:p>
        </p:txBody>
      </p:sp>
      <p:sp>
        <p:nvSpPr>
          <p:cNvPr id="8" name="TextBox 6"/>
          <p:cNvSpPr txBox="1"/>
          <p:nvPr/>
        </p:nvSpPr>
        <p:spPr>
          <a:xfrm>
            <a:off x="461962" y="6516370"/>
            <a:ext cx="6705600" cy="400110"/>
          </a:xfrm>
          <a:prstGeom prst="rect">
            <a:avLst/>
          </a:prstGeom>
          <a:noFill/>
        </p:spPr>
        <p:txBody>
          <a:bodyPr wrap="square" rtlCol="0">
            <a:spAutoFit/>
          </a:bodyPr>
          <a:lstStyle/>
          <a:p>
            <a:pPr marL="0" marR="0" algn="ctr" fontAlgn="base">
              <a:spcBef>
                <a:spcPts val="0"/>
              </a:spcBef>
              <a:spcAft>
                <a:spcPts val="0"/>
              </a:spcAft>
            </a:pPr>
            <a:r>
              <a:rPr lang="en-US" sz="2000" kern="1200" dirty="0">
                <a:solidFill>
                  <a:srgbClr val="4F81BD"/>
                </a:solidFill>
                <a:effectLst/>
                <a:latin typeface="Arial"/>
                <a:ea typeface="Times New Roman"/>
              </a:rPr>
              <a:t>inteGREAT &amp; TFS share a single database</a:t>
            </a:r>
            <a:endParaRPr lang="en-US" sz="1200" dirty="0">
              <a:effectLst/>
              <a:latin typeface="Times New Roman"/>
              <a:ea typeface="Times New Roman"/>
            </a:endParaRPr>
          </a:p>
        </p:txBody>
      </p:sp>
      <p:pic>
        <p:nvPicPr>
          <p:cNvPr id="2051" name="Picture 1" descr="alm-im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98" y="2676525"/>
            <a:ext cx="7068864" cy="368744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eGREAT-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7887" y="1175459"/>
            <a:ext cx="3457575" cy="13486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7"/>
          <p:cNvSpPr>
            <a:spLocks noChangeArrowheads="1"/>
          </p:cNvSpPr>
          <p:nvPr/>
        </p:nvSpPr>
        <p:spPr bwMode="auto">
          <a:xfrm>
            <a:off x="0" y="828675"/>
            <a:ext cx="755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Flowchart: Alternate Process 11">
            <a:hlinkClick r:id="rId5"/>
          </p:cNvPr>
          <p:cNvSpPr/>
          <p:nvPr/>
        </p:nvSpPr>
        <p:spPr>
          <a:xfrm>
            <a:off x="4919662" y="5267325"/>
            <a:ext cx="2209800" cy="685800"/>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lowchart: Alternate Process 13">
            <a:hlinkClick r:id="rId6"/>
          </p:cNvPr>
          <p:cNvSpPr/>
          <p:nvPr/>
        </p:nvSpPr>
        <p:spPr>
          <a:xfrm>
            <a:off x="2024062" y="1057275"/>
            <a:ext cx="3581400" cy="1466850"/>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1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94350132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5"/>
            <a:ext cx="1417235" cy="1423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0" name="TextBox 3"/>
          <p:cNvSpPr txBox="1">
            <a:spLocks noChangeArrowheads="1"/>
          </p:cNvSpPr>
          <p:nvPr/>
        </p:nvSpPr>
        <p:spPr bwMode="auto">
          <a:xfrm>
            <a:off x="107581" y="810996"/>
            <a:ext cx="7445744"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smtClean="0">
                <a:latin typeface="Palatino Linotype" pitchFamily="18" charset="0"/>
              </a:rPr>
              <a:t>Countering </a:t>
            </a:r>
            <a:r>
              <a:rPr lang="en-US" sz="3200" b="1" dirty="0">
                <a:latin typeface="Palatino Linotype" pitchFamily="18" charset="0"/>
              </a:rPr>
              <a:t>6 typical arguments against Agile/Lean approach</a:t>
            </a:r>
            <a:r>
              <a:rPr lang="en-AU" sz="3200" b="1" dirty="0" smtClean="0">
                <a:latin typeface="Palatino Linotype" pitchFamily="18" charset="0"/>
              </a:rPr>
              <a:t> </a:t>
            </a:r>
            <a:endParaRPr lang="en-US" sz="3200" b="1" dirty="0">
              <a:latin typeface="Palatino Linotype" pitchFamily="18" charset="0"/>
            </a:endParaRPr>
          </a:p>
        </p:txBody>
      </p:sp>
      <p:sp>
        <p:nvSpPr>
          <p:cNvPr id="12292" name="Rectangle 2"/>
          <p:cNvSpPr>
            <a:spLocks/>
          </p:cNvSpPr>
          <p:nvPr/>
        </p:nvSpPr>
        <p:spPr bwMode="auto">
          <a:xfrm>
            <a:off x="2176462" y="3148011"/>
            <a:ext cx="4956175" cy="53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50" lvl="0" indent="-171450">
              <a:spcAft>
                <a:spcPts val="600"/>
              </a:spcAft>
              <a:buFont typeface="Arial" pitchFamily="34" charset="0"/>
              <a:buChar char="•"/>
            </a:pPr>
            <a:r>
              <a:rPr lang="en-US" sz="1200" b="1" dirty="0"/>
              <a:t>Time</a:t>
            </a:r>
            <a:r>
              <a:rPr lang="en-US" sz="1200" dirty="0"/>
              <a:t> – “We don’t have time to be involved in the development too much”</a:t>
            </a:r>
          </a:p>
          <a:p>
            <a:pPr marL="171450" lvl="0" indent="-171450">
              <a:spcAft>
                <a:spcPts val="600"/>
              </a:spcAft>
              <a:buFont typeface="Arial" pitchFamily="34" charset="0"/>
              <a:buChar char="•"/>
            </a:pPr>
            <a:r>
              <a:rPr lang="en-US" sz="1200" b="1" dirty="0"/>
              <a:t>Fixed price</a:t>
            </a:r>
            <a:r>
              <a:rPr lang="en-US" sz="1200" dirty="0"/>
              <a:t> – “We need to know the cost of the solution upfront”</a:t>
            </a:r>
          </a:p>
          <a:p>
            <a:pPr marL="171450" lvl="0" indent="-171450">
              <a:spcAft>
                <a:spcPts val="600"/>
              </a:spcAft>
              <a:buFont typeface="Arial" pitchFamily="34" charset="0"/>
              <a:buChar char="•"/>
            </a:pPr>
            <a:r>
              <a:rPr lang="en-US" sz="1200" b="1" dirty="0"/>
              <a:t>Fixed scope</a:t>
            </a:r>
            <a:r>
              <a:rPr lang="en-US" sz="1200" dirty="0"/>
              <a:t> – “We need to know what we are buying”</a:t>
            </a:r>
          </a:p>
          <a:p>
            <a:pPr marL="171450" lvl="0" indent="-171450">
              <a:spcAft>
                <a:spcPts val="600"/>
              </a:spcAft>
              <a:buFont typeface="Arial" pitchFamily="34" charset="0"/>
              <a:buChar char="•"/>
            </a:pPr>
            <a:r>
              <a:rPr lang="en-US" sz="1200" b="1" dirty="0"/>
              <a:t>Delivery date</a:t>
            </a:r>
            <a:r>
              <a:rPr lang="en-US" sz="1200" dirty="0"/>
              <a:t> – “How can you fix a delivery date if everything keeps on changing?”</a:t>
            </a:r>
          </a:p>
          <a:p>
            <a:pPr marL="171450" lvl="0" indent="-171450">
              <a:spcAft>
                <a:spcPts val="600"/>
              </a:spcAft>
              <a:buFont typeface="Arial" pitchFamily="34" charset="0"/>
              <a:buChar char="•"/>
            </a:pPr>
            <a:r>
              <a:rPr lang="en-US" sz="1200" b="1" dirty="0"/>
              <a:t>Risks</a:t>
            </a:r>
            <a:r>
              <a:rPr lang="en-US" sz="1200" dirty="0"/>
              <a:t> – “You are trying to transfer the risks to us by that open scope model”</a:t>
            </a:r>
          </a:p>
          <a:p>
            <a:pPr marL="171450" lvl="0" indent="-171450">
              <a:spcAft>
                <a:spcPts val="600"/>
              </a:spcAft>
              <a:buFont typeface="Arial" pitchFamily="34" charset="0"/>
              <a:buChar char="•"/>
            </a:pPr>
            <a:r>
              <a:rPr lang="en-US" sz="1200" b="1" dirty="0"/>
              <a:t>Tenders</a:t>
            </a:r>
            <a:endParaRPr lang="en-US" sz="1200" dirty="0"/>
          </a:p>
          <a:p>
            <a:pPr algn="just"/>
            <a:endParaRPr lang="en-US" sz="1200" dirty="0" smtClean="0"/>
          </a:p>
          <a:p>
            <a:pPr algn="just"/>
            <a:r>
              <a:rPr lang="en-US" sz="1200" dirty="0" smtClean="0"/>
              <a:t>Agile </a:t>
            </a:r>
            <a:r>
              <a:rPr lang="en-US" sz="1200" dirty="0"/>
              <a:t>and lean contracts solve one of the root causes of tension between customer and supplier as noted </a:t>
            </a:r>
            <a:r>
              <a:rPr lang="en-US" sz="1200" dirty="0" smtClean="0"/>
              <a:t>here in </a:t>
            </a:r>
            <a:r>
              <a:rPr lang="en-US" sz="1200" dirty="0">
                <a:hlinkClick r:id="rId3"/>
              </a:rPr>
              <a:t>removing tension between customer and supplier</a:t>
            </a:r>
            <a:r>
              <a:rPr lang="en-US" sz="1200" dirty="0" smtClean="0"/>
              <a:t>.</a:t>
            </a:r>
          </a:p>
          <a:p>
            <a:pPr algn="just"/>
            <a:endParaRPr lang="en-US" sz="1200" dirty="0"/>
          </a:p>
          <a:p>
            <a:pPr marL="228600" indent="-228600" algn="just">
              <a:buAutoNum type="arabicPeriod"/>
            </a:pPr>
            <a:r>
              <a:rPr lang="en-US" sz="1400" b="1" dirty="0" smtClean="0"/>
              <a:t>Time</a:t>
            </a:r>
          </a:p>
          <a:p>
            <a:pPr marL="228600" indent="-228600" algn="just">
              <a:buAutoNum type="arabicPeriod"/>
            </a:pPr>
            <a:endParaRPr lang="en-US" sz="1200" dirty="0"/>
          </a:p>
          <a:p>
            <a:pPr marL="171450" lvl="0" indent="-171450" algn="just">
              <a:spcAft>
                <a:spcPts val="600"/>
              </a:spcAft>
              <a:buFont typeface="Arial" pitchFamily="34" charset="0"/>
              <a:buChar char="•"/>
            </a:pPr>
            <a:r>
              <a:rPr lang="en-US" sz="1200" dirty="0"/>
              <a:t>We don’t have time to be involved in the development so much</a:t>
            </a:r>
            <a:r>
              <a:rPr lang="en-US" sz="1200" dirty="0" smtClean="0"/>
              <a:t>”</a:t>
            </a:r>
            <a:endParaRPr lang="en-US" sz="1200" dirty="0"/>
          </a:p>
          <a:p>
            <a:pPr marL="171450" lvl="0" indent="-171450" algn="just">
              <a:spcAft>
                <a:spcPts val="600"/>
              </a:spcAft>
              <a:buFont typeface="Arial" pitchFamily="34" charset="0"/>
              <a:buChar char="•"/>
            </a:pPr>
            <a:r>
              <a:rPr lang="en-US" sz="1200" dirty="0"/>
              <a:t>“Our people are very busy; they cannot attend demos and spend time with you on phone</a:t>
            </a:r>
            <a:r>
              <a:rPr lang="en-US" sz="1200" dirty="0" smtClean="0"/>
              <a:t>”</a:t>
            </a:r>
          </a:p>
          <a:p>
            <a:pPr lvl="0" algn="just"/>
            <a:endParaRPr lang="en-US" sz="1200" dirty="0"/>
          </a:p>
          <a:p>
            <a:pPr algn="just"/>
            <a:r>
              <a:rPr lang="en-US" sz="1200" dirty="0"/>
              <a:t>Well, what to say. Surely customers do not have time when they spend months in writing down very detailed requirements specifications at the beginning and then spend weeks or months on acceptance testing at the end to be sure that they got actually what they requested for. And after they find a result, they spend few more months on rework, arguing and in error corrections. Whether you like it or not, this is the most common work flow of traditional projects; blue parts in the picture below emphasize work of customer people during a project.</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052761" y="1949450"/>
            <a:ext cx="4076703"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he </a:t>
            </a:r>
            <a:r>
              <a:rPr lang="en-US" sz="1400" dirty="0"/>
              <a:t>ambiguous nature of software development and thus the need for a different contracting approach – Agile/Lean contract. Let’s now take a look at what the </a:t>
            </a:r>
            <a:r>
              <a:rPr lang="en-US" sz="1400" b="1" dirty="0"/>
              <a:t>typical arguments</a:t>
            </a:r>
            <a:r>
              <a:rPr lang="en-US" sz="1400" dirty="0"/>
              <a:t> against it are and how do we react to them.</a:t>
            </a:r>
            <a:endParaRPr lang="en-US" sz="1400" i="1" dirty="0"/>
          </a:p>
        </p:txBody>
      </p:sp>
      <p:sp>
        <p:nvSpPr>
          <p:cNvPr id="12294" name="Rectangle 4"/>
          <p:cNvSpPr>
            <a:spLocks/>
          </p:cNvSpPr>
          <p:nvPr/>
        </p:nvSpPr>
        <p:spPr bwMode="auto">
          <a:xfrm>
            <a:off x="2024063" y="1623633"/>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271462" y="3590925"/>
            <a:ext cx="167957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GB" sz="1100" i="1" dirty="0" err="1"/>
              <a:t>Tomáš</a:t>
            </a:r>
            <a:r>
              <a:rPr lang="en-GB" sz="1100" i="1" dirty="0"/>
              <a:t> </a:t>
            </a:r>
            <a:r>
              <a:rPr lang="en-GB" sz="1100" i="1" dirty="0" err="1"/>
              <a:t>Tureček</a:t>
            </a:r>
            <a:endParaRPr lang="en-GB" sz="1100" i="1" dirty="0"/>
          </a:p>
          <a:p>
            <a:pPr algn="r"/>
            <a:r>
              <a:rPr lang="en-GB" sz="1100" i="1" dirty="0"/>
              <a:t>Lean/Agile C</a:t>
            </a:r>
            <a:r>
              <a:rPr lang="en-GB" sz="1100" i="1" dirty="0" smtClean="0"/>
              <a:t>oach</a:t>
            </a:r>
            <a:r>
              <a:rPr lang="en-AU" sz="1100" i="1" dirty="0" smtClean="0"/>
              <a:t> </a:t>
            </a:r>
          </a:p>
          <a:p>
            <a:pPr algn="r"/>
            <a:r>
              <a:rPr lang="en-GB" sz="1100" i="1" u="sng" dirty="0" err="1">
                <a:hlinkClick r:id="rId4"/>
              </a:rPr>
              <a:t>Tieto</a:t>
            </a:r>
            <a:r>
              <a:rPr lang="en-GB" sz="1100" i="1" u="sng" dirty="0">
                <a:hlinkClick r:id="rId4"/>
              </a:rPr>
              <a:t> Corporation</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68</a:t>
            </a:fld>
            <a:endParaRPr lang="en-PH" dirty="0"/>
          </a:p>
        </p:txBody>
      </p:sp>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ounded Rectangle 12"/>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AGILE / LEAN</a:t>
            </a:r>
          </a:p>
        </p:txBody>
      </p:sp>
    </p:spTree>
    <p:extLst>
      <p:ext uri="{BB962C8B-B14F-4D97-AF65-F5344CB8AC3E}">
        <p14:creationId xmlns:p14="http://schemas.microsoft.com/office/powerpoint/2010/main" val="341822855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50" lvl="0" indent="-171450" algn="just">
              <a:spcAft>
                <a:spcPts val="600"/>
              </a:spcAft>
              <a:buFont typeface="Arial" pitchFamily="34" charset="0"/>
              <a:buChar char="•"/>
            </a:pPr>
            <a:r>
              <a:rPr lang="en-US" sz="1200" dirty="0" smtClean="0"/>
              <a:t>Tender </a:t>
            </a:r>
            <a:r>
              <a:rPr lang="en-US" sz="1200" dirty="0"/>
              <a:t>approach might be enforced by law, especially in public sector</a:t>
            </a:r>
          </a:p>
          <a:p>
            <a:pPr algn="just"/>
            <a:endParaRPr lang="en-US" sz="1200" dirty="0" smtClean="0"/>
          </a:p>
          <a:p>
            <a:pPr algn="just"/>
            <a:r>
              <a:rPr lang="en-US" sz="1200" dirty="0" smtClean="0"/>
              <a:t>All </a:t>
            </a:r>
            <a:r>
              <a:rPr lang="en-US" sz="1200" dirty="0"/>
              <a:t>my </a:t>
            </a:r>
            <a:r>
              <a:rPr lang="en-US" sz="1200" dirty="0" smtClean="0"/>
              <a:t>articles </a:t>
            </a:r>
            <a:r>
              <a:rPr lang="en-US" sz="1200" dirty="0"/>
              <a:t>about Agile/Lean contracts are mostly about one simple thing – we </a:t>
            </a:r>
            <a:r>
              <a:rPr lang="en-US" sz="1200" b="1" dirty="0"/>
              <a:t>should not commit to something we do not know</a:t>
            </a:r>
            <a:r>
              <a:rPr lang="en-US" sz="1200" dirty="0"/>
              <a:t> because then everyone loses if the situation gets more complicated than we expect (which usually does as there are always some </a:t>
            </a:r>
            <a:r>
              <a:rPr lang="en-US" sz="1200" b="1" dirty="0"/>
              <a:t>unknown unknowns</a:t>
            </a:r>
            <a:r>
              <a:rPr lang="en-US" sz="1200" dirty="0"/>
              <a:t>, </a:t>
            </a:r>
            <a:r>
              <a:rPr lang="en-US" sz="1200" dirty="0">
                <a:hlinkClick r:id="rId2"/>
              </a:rPr>
              <a:t>black swans</a:t>
            </a:r>
            <a:r>
              <a:rPr lang="en-US" sz="1200" dirty="0"/>
              <a:t>). And before we actually code some proof of concepts and tackle business and technical obstacles, we must admit that we have only limited clue about the future. This is why we should not promise something that we do not know we can deliver. Trust is hard to build but very easy to lose. So how to reduce negative impact of a tender approach?</a:t>
            </a:r>
          </a:p>
          <a:p>
            <a:pPr lvl="0" algn="just"/>
            <a:endParaRPr lang="en-US" sz="1200" dirty="0" smtClean="0"/>
          </a:p>
          <a:p>
            <a:pPr marL="171450" lvl="0" indent="-171450" algn="just">
              <a:spcAft>
                <a:spcPts val="600"/>
              </a:spcAft>
              <a:buFont typeface="Arial" pitchFamily="34" charset="0"/>
              <a:buChar char="•"/>
            </a:pPr>
            <a:r>
              <a:rPr lang="en-US" sz="1200" dirty="0" smtClean="0"/>
              <a:t>Can </a:t>
            </a:r>
            <a:r>
              <a:rPr lang="en-US" sz="1200" dirty="0"/>
              <a:t>we convince the customer to use a different supplier choosing method than the tender approach? I mean, if it is not enforced-by-law?</a:t>
            </a:r>
          </a:p>
          <a:p>
            <a:pPr marL="171450" lvl="0" indent="-171450" algn="just">
              <a:spcAft>
                <a:spcPts val="600"/>
              </a:spcAft>
              <a:buFont typeface="Arial" pitchFamily="34" charset="0"/>
              <a:buChar char="•"/>
            </a:pPr>
            <a:r>
              <a:rPr lang="en-US" sz="1200" dirty="0"/>
              <a:t>Can we do something in order to not commit blindly in this tender? Some proof of concept, prototype for the tender already? Can we get in touch with customer before the decision date and involve them into prototype creation? To learn more before it is too late? Working prototype might be actually a nice advantage against tender competitors. And proof of supplier competences in the area?</a:t>
            </a:r>
          </a:p>
          <a:p>
            <a:pPr marL="171450" lvl="0" indent="-171450" algn="just">
              <a:spcAft>
                <a:spcPts val="600"/>
              </a:spcAft>
              <a:buFont typeface="Arial" pitchFamily="34" charset="0"/>
              <a:buChar char="•"/>
            </a:pPr>
            <a:r>
              <a:rPr lang="en-US" sz="1200" dirty="0"/>
              <a:t>Can we do a semi-commitment? To </a:t>
            </a:r>
            <a:r>
              <a:rPr lang="en-US" sz="1200" dirty="0" smtClean="0"/>
              <a:t>fulfill </a:t>
            </a:r>
            <a:r>
              <a:rPr lang="en-US" sz="1200" dirty="0"/>
              <a:t>tender requirements, but not to fix everything? Like agreeing on fulfilling the business objectives but at the same time agreeing on needed support from Customer, their involvement and future easy change management?</a:t>
            </a:r>
          </a:p>
          <a:p>
            <a:pPr marL="171450" lvl="0" indent="-171450" algn="just">
              <a:spcAft>
                <a:spcPts val="600"/>
              </a:spcAft>
              <a:buFont typeface="Arial" pitchFamily="34" charset="0"/>
              <a:buChar char="•"/>
            </a:pPr>
            <a:r>
              <a:rPr lang="en-US" sz="1200" dirty="0"/>
              <a:t>Tenders are not won by price only. There are many indicators that contribute to the decision about which supplier should be chosen. We can use our Agile/Lean approach as an advantage against competitors in the tender.</a:t>
            </a:r>
          </a:p>
          <a:p>
            <a:pPr marL="171450" lvl="0" indent="-171450" algn="just">
              <a:spcAft>
                <a:spcPts val="600"/>
              </a:spcAft>
              <a:buFont typeface="Arial" pitchFamily="34" charset="0"/>
              <a:buChar char="•"/>
            </a:pPr>
            <a:r>
              <a:rPr lang="en-US" sz="1200" dirty="0"/>
              <a:t>The tender approach must be applied only when a certain threshold is reached. Can we agree with the customer about breaking down the functionality into smaller and cheaper chunks to avoid it</a:t>
            </a:r>
            <a:r>
              <a:rPr lang="en-US" sz="1200" dirty="0" smtClean="0"/>
              <a:t>?</a:t>
            </a:r>
          </a:p>
          <a:p>
            <a:pPr lvl="0" algn="just"/>
            <a:endParaRPr lang="en-US" sz="1200" dirty="0"/>
          </a:p>
          <a:p>
            <a:pPr algn="just"/>
            <a:r>
              <a:rPr lang="en-US" sz="1200" dirty="0"/>
              <a:t>Recently I had a discussion with a couple of customer people from one certain public sector, and they were really </a:t>
            </a:r>
            <a:r>
              <a:rPr lang="en-US" sz="1200" b="1" dirty="0"/>
              <a:t>sad about the law and public tenders</a:t>
            </a:r>
            <a:r>
              <a:rPr lang="en-US" sz="1200" dirty="0"/>
              <a:t>. They have great experience with the Agile way of working, and the current supplier (after encountering many years of failure with the traditional approach) – but the </a:t>
            </a:r>
            <a:r>
              <a:rPr lang="en-US" sz="1200" b="1" dirty="0"/>
              <a:t>public tender approach goes against it</a:t>
            </a:r>
            <a:r>
              <a:rPr lang="en-US" sz="1200" dirty="0"/>
              <a:t>. They try to avoid tendering by prolonging the current agreement they already have with supplier they are happy with</a:t>
            </a:r>
            <a:r>
              <a:rPr lang="en-US" sz="1200" dirty="0" smtClean="0"/>
              <a:t>.</a:t>
            </a:r>
          </a:p>
          <a:p>
            <a:pPr algn="just"/>
            <a:endParaRPr lang="en-US" sz="1200" dirty="0"/>
          </a:p>
          <a:p>
            <a:pPr algn="just"/>
            <a:r>
              <a:rPr lang="en-US" sz="1200" dirty="0"/>
              <a:t>I understand a tender is here to save costs and prevent illegal partnerships, but on the other hand it generates huge inefficiency in areas like custom software development. Hopefully the legislative will come up with an alternate option to tender someday.</a:t>
            </a:r>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b="1" dirty="0"/>
          </a:p>
          <a:p>
            <a:endParaRPr lang="en-US" sz="1200"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b="1" dirty="0"/>
          </a:p>
          <a:p>
            <a:endParaRPr lang="en-US" sz="1200" b="1" dirty="0" smtClean="0"/>
          </a:p>
          <a:p>
            <a:endParaRPr lang="en-US" sz="1200" dirty="0"/>
          </a:p>
          <a:p>
            <a:pPr algn="just"/>
            <a:endParaRPr lang="en-US" sz="1200" dirty="0"/>
          </a:p>
          <a:p>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69</a:t>
            </a:fld>
            <a:endParaRPr lang="en-PH" dirty="0"/>
          </a:p>
        </p:txBody>
      </p:sp>
      <p:sp>
        <p:nvSpPr>
          <p:cNvPr id="7" name="Rectangle 2"/>
          <p:cNvSpPr>
            <a:spLocks/>
          </p:cNvSpPr>
          <p:nvPr/>
        </p:nvSpPr>
        <p:spPr bwMode="auto">
          <a:xfrm>
            <a:off x="1033462" y="8391525"/>
            <a:ext cx="5486400"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u="sng" dirty="0" err="1">
                <a:hlinkClick r:id="rId3"/>
              </a:rPr>
              <a:t>Tomáš</a:t>
            </a:r>
            <a:r>
              <a:rPr lang="en-GB" sz="1000" i="1" u="sng" dirty="0">
                <a:hlinkClick r:id="rId3"/>
              </a:rPr>
              <a:t> </a:t>
            </a:r>
            <a:r>
              <a:rPr lang="en-GB" sz="1000" i="1" u="sng" dirty="0" err="1">
                <a:hlinkClick r:id="rId3"/>
              </a:rPr>
              <a:t>Tureček</a:t>
            </a:r>
            <a:r>
              <a:rPr lang="en-GB" sz="1000" i="1" dirty="0"/>
              <a:t> PhD, an Lean/Agile coach in </a:t>
            </a:r>
            <a:r>
              <a:rPr lang="en-GB" sz="1000" i="1" u="sng" dirty="0" err="1">
                <a:hlinkClick r:id="rId4"/>
              </a:rPr>
              <a:t>Tieto</a:t>
            </a:r>
            <a:r>
              <a:rPr lang="en-GB" sz="1000" i="1" u="sng" dirty="0">
                <a:hlinkClick r:id="rId4"/>
              </a:rPr>
              <a:t> Corporation</a:t>
            </a:r>
            <a:r>
              <a:rPr lang="en-GB" sz="1000" i="1" dirty="0"/>
              <a:t>, has been working in IT industry for more than 15 years in various roles from development to management. He has more than 6 years of experience from coaching and mentoring deliveries in distributed environments. </a:t>
            </a:r>
            <a:r>
              <a:rPr lang="en-GB" sz="1000" i="1" dirty="0" err="1"/>
              <a:t>Tomáš</a:t>
            </a:r>
            <a:r>
              <a:rPr lang="en-GB" sz="1000" i="1" dirty="0"/>
              <a:t> contributes to IT communities, </a:t>
            </a:r>
            <a:r>
              <a:rPr lang="en-GB" sz="1000" i="1" u="sng" dirty="0">
                <a:hlinkClick r:id="rId5"/>
              </a:rPr>
              <a:t>blogs here</a:t>
            </a:r>
            <a:r>
              <a:rPr lang="en-GB" sz="1000" i="1" dirty="0"/>
              <a:t> and speaks at prestigious international conferences.</a:t>
            </a:r>
            <a:endParaRPr lang="en-US" sz="1000" i="1" dirty="0"/>
          </a:p>
        </p:txBody>
      </p:sp>
      <p:sp>
        <p:nvSpPr>
          <p:cNvPr id="9" name="Rounded Rectangle 8"/>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 </a:t>
            </a:r>
            <a:r>
              <a:rPr lang="en-US" dirty="0"/>
              <a:t>/ </a:t>
            </a:r>
            <a:r>
              <a:rPr lang="en-US" dirty="0" smtClean="0"/>
              <a:t>LEAN</a:t>
            </a:r>
            <a:endParaRPr lang="en-US" dirty="0"/>
          </a:p>
        </p:txBody>
      </p:sp>
    </p:spTree>
    <p:extLst>
      <p:ext uri="{BB962C8B-B14F-4D97-AF65-F5344CB8AC3E}">
        <p14:creationId xmlns:p14="http://schemas.microsoft.com/office/powerpoint/2010/main" val="219680508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804861" y="1719579"/>
            <a:ext cx="1143001" cy="1150143"/>
          </a:xfrm>
          <a:prstGeom prst="rect">
            <a:avLst/>
          </a:prstGeom>
          <a:noFill/>
          <a:ln>
            <a:noFill/>
          </a:ln>
        </p:spPr>
      </p:pic>
      <p:sp>
        <p:nvSpPr>
          <p:cNvPr id="18434" name="TextBox 3"/>
          <p:cNvSpPr txBox="1">
            <a:spLocks noChangeArrowheads="1"/>
          </p:cNvSpPr>
          <p:nvPr/>
        </p:nvSpPr>
        <p:spPr bwMode="auto">
          <a:xfrm>
            <a:off x="195263" y="686395"/>
            <a:ext cx="7086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b="1" dirty="0" smtClean="0">
                <a:latin typeface="Palatino Linotype" pitchFamily="18" charset="0"/>
              </a:rPr>
              <a:t>Deployment Automation Basics</a:t>
            </a:r>
            <a:br>
              <a:rPr lang="en-US" sz="3600" b="1" dirty="0" smtClean="0">
                <a:latin typeface="Palatino Linotype" pitchFamily="18" charset="0"/>
              </a:rPr>
            </a:br>
            <a:r>
              <a:rPr lang="en-US" b="1" dirty="0">
                <a:latin typeface="Palatino Linotype" pitchFamily="18" charset="0"/>
              </a:rPr>
              <a:t>Implementing Consistent </a:t>
            </a:r>
            <a:r>
              <a:rPr lang="en-US" b="1" dirty="0" smtClean="0">
                <a:latin typeface="Palatino Linotype" pitchFamily="18" charset="0"/>
              </a:rPr>
              <a:t>Deployments Across </a:t>
            </a:r>
            <a:r>
              <a:rPr lang="en-US" b="1" dirty="0">
                <a:latin typeface="Palatino Linotype" pitchFamily="18" charset="0"/>
              </a:rPr>
              <a:t>Environments</a:t>
            </a:r>
          </a:p>
        </p:txBody>
      </p:sp>
      <p:sp>
        <p:nvSpPr>
          <p:cNvPr id="18436" name="Rectangle 2"/>
          <p:cNvSpPr>
            <a:spLocks/>
          </p:cNvSpPr>
          <p:nvPr/>
        </p:nvSpPr>
        <p:spPr bwMode="auto">
          <a:xfrm>
            <a:off x="2173288" y="2869722"/>
            <a:ext cx="4956175" cy="577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a:t>Key Findings</a:t>
            </a:r>
          </a:p>
          <a:p>
            <a:pPr algn="just"/>
            <a:r>
              <a:rPr lang="en-US" sz="1200" dirty="0" smtClean="0"/>
              <a:t>Manual </a:t>
            </a:r>
            <a:r>
              <a:rPr lang="en-US" sz="1200" dirty="0"/>
              <a:t>deployments are inherently slow and error </a:t>
            </a:r>
            <a:r>
              <a:rPr lang="en-US" sz="1200" dirty="0" smtClean="0"/>
              <a:t>prone. Deployment </a:t>
            </a:r>
            <a:r>
              <a:rPr lang="en-US" sz="1200" dirty="0"/>
              <a:t>automation used only in </a:t>
            </a:r>
            <a:r>
              <a:rPr lang="en-US" sz="1200" dirty="0" smtClean="0"/>
              <a:t>development or </a:t>
            </a:r>
            <a:r>
              <a:rPr lang="en-US" sz="1200" dirty="0"/>
              <a:t>only in operations may help one silo, but </a:t>
            </a:r>
            <a:r>
              <a:rPr lang="en-US" sz="1200" dirty="0" smtClean="0"/>
              <a:t>leads to </a:t>
            </a:r>
            <a:r>
              <a:rPr lang="en-US" sz="1200" dirty="0"/>
              <a:t>a hand-off where changes to the process may be</a:t>
            </a:r>
          </a:p>
          <a:p>
            <a:pPr algn="just"/>
            <a:r>
              <a:rPr lang="en-US" sz="1200" dirty="0"/>
              <a:t>insufficiently communicated</a:t>
            </a:r>
            <a:r>
              <a:rPr lang="en-US" sz="1200" dirty="0" smtClean="0"/>
              <a:t>.</a:t>
            </a:r>
          </a:p>
          <a:p>
            <a:pPr algn="just"/>
            <a:endParaRPr lang="en-US" sz="1200" dirty="0"/>
          </a:p>
          <a:p>
            <a:pPr algn="just"/>
            <a:r>
              <a:rPr lang="en-US" sz="1200" dirty="0"/>
              <a:t>Automated deployments provide superior audit trails</a:t>
            </a:r>
            <a:r>
              <a:rPr lang="en-US" sz="1200" dirty="0" smtClean="0"/>
              <a:t>.</a:t>
            </a:r>
          </a:p>
          <a:p>
            <a:pPr algn="just"/>
            <a:endParaRPr lang="en-US" sz="1200" dirty="0" smtClean="0"/>
          </a:p>
          <a:p>
            <a:pPr algn="just"/>
            <a:r>
              <a:rPr lang="en-US" sz="1200" dirty="0"/>
              <a:t>An automated deployment infrastructure provides </a:t>
            </a:r>
            <a:r>
              <a:rPr lang="en-US" sz="1200" dirty="0" smtClean="0"/>
              <a:t>a framework </a:t>
            </a:r>
            <a:r>
              <a:rPr lang="en-US" sz="1200" dirty="0"/>
              <a:t>to build upon. Additional activities </a:t>
            </a:r>
            <a:r>
              <a:rPr lang="en-US" sz="1200" dirty="0" smtClean="0"/>
              <a:t>such as </a:t>
            </a:r>
            <a:r>
              <a:rPr lang="en-US" sz="1200" dirty="0"/>
              <a:t>automated functional testing can leverage </a:t>
            </a:r>
            <a:r>
              <a:rPr lang="en-US" sz="1200" dirty="0" smtClean="0"/>
              <a:t>the deployment </a:t>
            </a:r>
            <a:r>
              <a:rPr lang="en-US" sz="1200" dirty="0"/>
              <a:t>infrastructure.</a:t>
            </a:r>
          </a:p>
          <a:p>
            <a:pPr algn="just"/>
            <a:endParaRPr lang="en-US" sz="1200" dirty="0" smtClean="0"/>
          </a:p>
          <a:p>
            <a:pPr algn="just"/>
            <a:r>
              <a:rPr lang="en-US" sz="1200" dirty="0" smtClean="0"/>
              <a:t>Deployments </a:t>
            </a:r>
            <a:r>
              <a:rPr lang="en-US" sz="1200" dirty="0"/>
              <a:t>standardized across environments </a:t>
            </a:r>
            <a:r>
              <a:rPr lang="en-US" sz="1200" dirty="0" smtClean="0"/>
              <a:t>must still </a:t>
            </a:r>
            <a:r>
              <a:rPr lang="en-US" sz="1200" dirty="0"/>
              <a:t>take into account environmental differences. The </a:t>
            </a:r>
            <a:r>
              <a:rPr lang="en-US" sz="1200" dirty="0" smtClean="0"/>
              <a:t>environment configuration </a:t>
            </a:r>
            <a:r>
              <a:rPr lang="en-US" sz="1200" dirty="0"/>
              <a:t>is a key concern</a:t>
            </a:r>
            <a:r>
              <a:rPr lang="en-US" sz="1200" dirty="0" smtClean="0"/>
              <a:t>.</a:t>
            </a:r>
          </a:p>
          <a:p>
            <a:pPr algn="just"/>
            <a:endParaRPr lang="en-US" sz="1200" dirty="0"/>
          </a:p>
          <a:p>
            <a:pPr algn="just"/>
            <a:r>
              <a:rPr lang="en-US" sz="1400" b="1" dirty="0" smtClean="0"/>
              <a:t>Introduction</a:t>
            </a:r>
          </a:p>
          <a:p>
            <a:pPr algn="just"/>
            <a:r>
              <a:rPr lang="en-US" sz="1200" dirty="0" smtClean="0"/>
              <a:t>In </a:t>
            </a:r>
            <a:r>
              <a:rPr lang="en-US" sz="1200" dirty="0"/>
              <a:t>a continuing </a:t>
            </a:r>
            <a:r>
              <a:rPr lang="en-US" sz="1200" dirty="0" smtClean="0"/>
              <a:t>poll, over </a:t>
            </a:r>
            <a:r>
              <a:rPr lang="en-US" sz="1200" dirty="0"/>
              <a:t>75% of respondents identified their </a:t>
            </a:r>
            <a:r>
              <a:rPr lang="en-US" sz="1200" dirty="0" smtClean="0"/>
              <a:t>deployment process </a:t>
            </a:r>
            <a:r>
              <a:rPr lang="en-US" sz="1200" dirty="0"/>
              <a:t>as either "Entirely Manual," Mostly </a:t>
            </a:r>
            <a:r>
              <a:rPr lang="en-US" sz="1200" dirty="0" smtClean="0"/>
              <a:t>Manual</a:t>
            </a:r>
            <a:r>
              <a:rPr lang="en-US" sz="1200" dirty="0"/>
              <a:t>," or "Mostly Scripted." Relatively few indicated </a:t>
            </a:r>
            <a:r>
              <a:rPr lang="en-US" sz="1200" dirty="0" smtClean="0"/>
              <a:t>that they </a:t>
            </a:r>
            <a:r>
              <a:rPr lang="en-US" sz="1200" dirty="0"/>
              <a:t>had push-button deployment capabilities. This result is not surprising: Until recently, </a:t>
            </a:r>
            <a:r>
              <a:rPr lang="en-US" sz="1200" dirty="0" smtClean="0"/>
              <a:t>deployment automation options </a:t>
            </a:r>
            <a:r>
              <a:rPr lang="en-US" sz="1200" dirty="0"/>
              <a:t>have been sparse, with vendors offering "solutions" that do not scale to the </a:t>
            </a:r>
            <a:r>
              <a:rPr lang="en-US" sz="1200" dirty="0" smtClean="0"/>
              <a:t>enterprise; require </a:t>
            </a:r>
            <a:r>
              <a:rPr lang="en-US" sz="1200" dirty="0"/>
              <a:t>considerable process reengineering to implement; and provide little visibility into </a:t>
            </a:r>
            <a:r>
              <a:rPr lang="en-US" sz="1200" dirty="0" smtClean="0"/>
              <a:t>the "</a:t>
            </a:r>
            <a:r>
              <a:rPr lang="en-US" sz="1200" dirty="0"/>
              <a:t>who, what, when, where, why and how" of deployments</a:t>
            </a:r>
            <a:r>
              <a:rPr lang="en-US" sz="1200" dirty="0" smtClean="0"/>
              <a:t>.</a:t>
            </a:r>
          </a:p>
          <a:p>
            <a:pPr algn="just"/>
            <a:endParaRPr lang="en-US" sz="1200" dirty="0"/>
          </a:p>
          <a:p>
            <a:pPr algn="just"/>
            <a:r>
              <a:rPr lang="en-US" sz="1200" dirty="0"/>
              <a:t>Companies have turned to internal solutions, and more scripting, to help their team members </a:t>
            </a:r>
            <a:r>
              <a:rPr lang="en-US" sz="1200" dirty="0" smtClean="0"/>
              <a:t>achieve more </a:t>
            </a:r>
            <a:r>
              <a:rPr lang="en-US" sz="1200" dirty="0"/>
              <a:t>consistent deployments and keep pace with the increasing demands of competitive markets. However</a:t>
            </a:r>
            <a:r>
              <a:rPr lang="en-US" sz="1200" dirty="0" smtClean="0"/>
              <a:t>, as </a:t>
            </a:r>
            <a:r>
              <a:rPr lang="en-US" sz="1200" dirty="0"/>
              <a:t>with many "home grown" solutions, the expense ratio, measured in both time and dollars, </a:t>
            </a:r>
            <a:r>
              <a:rPr lang="en-US" sz="1200" dirty="0" smtClean="0"/>
              <a:t>often proves </a:t>
            </a:r>
            <a:r>
              <a:rPr lang="en-US" sz="1200" dirty="0"/>
              <a:t>high: Most organizations are not in the business of providing "process automation," and have to </a:t>
            </a:r>
            <a:r>
              <a:rPr lang="en-US" sz="1200" dirty="0" smtClean="0"/>
              <a:t>borrow</a:t>
            </a:r>
          </a:p>
        </p:txBody>
      </p:sp>
      <p:sp>
        <p:nvSpPr>
          <p:cNvPr id="18437" name="Rectangle 3"/>
          <p:cNvSpPr>
            <a:spLocks/>
          </p:cNvSpPr>
          <p:nvPr/>
        </p:nvSpPr>
        <p:spPr bwMode="auto">
          <a:xfrm>
            <a:off x="2557462" y="1700212"/>
            <a:ext cx="4572001"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smtClean="0"/>
              <a:t>T organizations </a:t>
            </a:r>
            <a:r>
              <a:rPr lang="en-US" sz="1200" i="1" dirty="0"/>
              <a:t>are finding it difficult to release more quickly without adding </a:t>
            </a:r>
            <a:r>
              <a:rPr lang="en-US" sz="1200" i="1" dirty="0" smtClean="0"/>
              <a:t>more people </a:t>
            </a:r>
            <a:r>
              <a:rPr lang="en-US" sz="1200" i="1" dirty="0"/>
              <a:t>and incurring additional risk. Here we discuss the limitations of </a:t>
            </a:r>
            <a:r>
              <a:rPr lang="en-US" sz="1200" i="1" dirty="0" smtClean="0"/>
              <a:t>manual deployments</a:t>
            </a:r>
            <a:r>
              <a:rPr lang="en-US" sz="1200" i="1" dirty="0"/>
              <a:t>, common failure patterns, the benefits of automation, and a base set </a:t>
            </a:r>
            <a:r>
              <a:rPr lang="en-US" sz="1200" i="1" dirty="0" smtClean="0"/>
              <a:t>of features </a:t>
            </a:r>
            <a:r>
              <a:rPr lang="en-US" sz="1200" i="1" dirty="0"/>
              <a:t>an automated system should provide.</a:t>
            </a:r>
          </a:p>
        </p:txBody>
      </p:sp>
      <p:sp>
        <p:nvSpPr>
          <p:cNvPr id="18438" name="Rectangle 4"/>
          <p:cNvSpPr>
            <a:spLocks/>
          </p:cNvSpPr>
          <p:nvPr/>
        </p:nvSpPr>
        <p:spPr bwMode="auto">
          <a:xfrm>
            <a:off x="2024063" y="1319212"/>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I</a:t>
            </a:r>
          </a:p>
        </p:txBody>
      </p:sp>
      <p:sp>
        <p:nvSpPr>
          <p:cNvPr id="18440" name="Rectangle 5"/>
          <p:cNvSpPr>
            <a:spLocks/>
          </p:cNvSpPr>
          <p:nvPr/>
        </p:nvSpPr>
        <p:spPr bwMode="auto">
          <a:xfrm>
            <a:off x="347663" y="3009899"/>
            <a:ext cx="16033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Eric Minick</a:t>
            </a:r>
          </a:p>
          <a:p>
            <a:pPr algn="r"/>
            <a:r>
              <a:rPr lang="en-US" sz="1100" i="1" dirty="0" smtClean="0">
                <a:solidFill>
                  <a:srgbClr val="4D4D4D"/>
                </a:solidFill>
                <a:latin typeface="Helvetica" charset="0"/>
                <a:cs typeface="Helvetica" charset="0"/>
                <a:hlinkClick r:id="rId4"/>
              </a:rPr>
              <a:t>Urbancode</a:t>
            </a:r>
            <a:endParaRPr lang="en-US" sz="1100" i="1" dirty="0">
              <a:solidFill>
                <a:srgbClr val="4D4D4D"/>
              </a:solidFill>
              <a:latin typeface="Helvetica" charset="0"/>
              <a:cs typeface="Helvetica" charset="0"/>
              <a:sym typeface="Helvetica" charset="0"/>
            </a:endParaRPr>
          </a:p>
        </p:txBody>
      </p:sp>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DevOps</a:t>
            </a:r>
          </a:p>
        </p:txBody>
      </p:sp>
      <p:sp>
        <p:nvSpPr>
          <p:cNvPr id="13" name="Slide Number Placeholder 2"/>
          <p:cNvSpPr>
            <a:spLocks noGrp="1"/>
          </p:cNvSpPr>
          <p:nvPr>
            <p:ph type="sldNum" sz="quarter" idx="12"/>
          </p:nvPr>
        </p:nvSpPr>
        <p:spPr>
          <a:xfrm>
            <a:off x="5413376" y="9340850"/>
            <a:ext cx="1762125" cy="536575"/>
          </a:xfrm>
        </p:spPr>
        <p:txBody>
          <a:bodyPr/>
          <a:lstStyle/>
          <a:p>
            <a:pPr>
              <a:defRPr/>
            </a:pPr>
            <a:fld id="{EA30B413-8FC0-44D3-9979-403CCACD0588}" type="slidenum">
              <a:rPr lang="en-PH" smtClean="0"/>
              <a:pPr>
                <a:defRPr/>
              </a:pPr>
              <a:t>70</a:t>
            </a:fld>
            <a:endParaRPr lang="en-PH" dirty="0"/>
          </a:p>
        </p:txBody>
      </p:sp>
      <p:sp>
        <p:nvSpPr>
          <p:cNvPr id="14" name="Rounded Rectangle 13">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5" name="Rectangle 2"/>
          <p:cNvSpPr>
            <a:spLocks/>
          </p:cNvSpPr>
          <p:nvPr/>
        </p:nvSpPr>
        <p:spPr bwMode="auto">
          <a:xfrm>
            <a:off x="881062" y="8924925"/>
            <a:ext cx="5791200" cy="609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5"/>
              </a:rPr>
              <a:t>Eric Minick</a:t>
            </a:r>
            <a:r>
              <a:rPr lang="en-US" sz="1000" i="1" dirty="0"/>
              <a:t> is a lead consultant at </a:t>
            </a:r>
            <a:r>
              <a:rPr lang="en-US" sz="1000" i="1" u="sng" dirty="0">
                <a:hlinkClick r:id="rId4"/>
              </a:rPr>
              <a:t>UrbanCode</a:t>
            </a:r>
            <a:r>
              <a:rPr lang="en-US" sz="1000" i="1" dirty="0"/>
              <a:t> where he helps customers get the most out of their build, deploy and release processes. Eric has been at the forefront of Continuous Delivery for 8+ years in roles ranging from developer to tester to release consultant.</a:t>
            </a:r>
          </a:p>
        </p:txBody>
      </p:sp>
    </p:spTree>
    <p:extLst>
      <p:ext uri="{BB962C8B-B14F-4D97-AF65-F5344CB8AC3E}">
        <p14:creationId xmlns:p14="http://schemas.microsoft.com/office/powerpoint/2010/main" val="42312977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281" y="1987316"/>
            <a:ext cx="14097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95263" y="695327"/>
            <a:ext cx="648555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600" dirty="0">
                <a:latin typeface="Palatino Linotype" pitchFamily="18" charset="0"/>
              </a:rPr>
              <a:t>It’s Time for Test Management </a:t>
            </a:r>
            <a:endParaRPr lang="en-US" sz="3600" dirty="0" smtClean="0">
              <a:latin typeface="Palatino Linotype" pitchFamily="18" charset="0"/>
            </a:endParaRPr>
          </a:p>
          <a:p>
            <a:r>
              <a:rPr lang="en-US" sz="3600" dirty="0" smtClean="0">
                <a:latin typeface="Palatino Linotype" pitchFamily="18" charset="0"/>
              </a:rPr>
              <a:t>in </a:t>
            </a:r>
            <a:r>
              <a:rPr lang="en-US" sz="3600" dirty="0">
                <a:latin typeface="Palatino Linotype" pitchFamily="18" charset="0"/>
              </a:rPr>
              <a:t>the Cloud</a:t>
            </a:r>
          </a:p>
        </p:txBody>
      </p:sp>
      <p:sp>
        <p:nvSpPr>
          <p:cNvPr id="12292" name="Rectangle 2"/>
          <p:cNvSpPr>
            <a:spLocks/>
          </p:cNvSpPr>
          <p:nvPr/>
        </p:nvSpPr>
        <p:spPr bwMode="auto">
          <a:xfrm>
            <a:off x="2173288" y="3133725"/>
            <a:ext cx="49561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Quality Assurance teams however, seem to </a:t>
            </a:r>
            <a:r>
              <a:rPr lang="en-US" sz="1200" dirty="0" smtClean="0"/>
              <a:t>have missed the boat, barely leveraging </a:t>
            </a:r>
            <a:r>
              <a:rPr lang="en-US" sz="1200" dirty="0"/>
              <a:t>the benefits of the cloud. While enterprises and their so-called “QA Verified” software may be cloud-based, Test Management itself generally isn’t.</a:t>
            </a:r>
          </a:p>
          <a:p>
            <a:r>
              <a:rPr lang="en-US" sz="1200" b="1" dirty="0"/>
              <a:t> </a:t>
            </a:r>
            <a:endParaRPr lang="en-US" sz="1200" dirty="0"/>
          </a:p>
          <a:p>
            <a:r>
              <a:rPr lang="en-US" sz="1400" b="1" dirty="0"/>
              <a:t>Advantages of Test Management in the </a:t>
            </a:r>
            <a:r>
              <a:rPr lang="en-US" sz="1400" b="1" dirty="0" smtClean="0"/>
              <a:t>cloud</a:t>
            </a:r>
            <a:endParaRPr lang="en-US" sz="1200" dirty="0"/>
          </a:p>
          <a:p>
            <a:pPr algn="just"/>
            <a:r>
              <a:rPr lang="en-US" sz="1200" dirty="0"/>
              <a:t>The benefits a cloud-based approach brings are plentiful and are particularly pertinent for QA teams. Top of the list for most companies adopting SaaS is the cost-savings. The ability to eradicate setup and ongoing maintenance costs for your QA toolset and data storage is most welcome. Working via a browser means no special software/hardware overhead. </a:t>
            </a:r>
          </a:p>
          <a:p>
            <a:pPr algn="just"/>
            <a:r>
              <a:rPr lang="en-US" sz="1200" dirty="0"/>
              <a:t> </a:t>
            </a:r>
          </a:p>
          <a:p>
            <a:pPr algn="just"/>
            <a:r>
              <a:rPr lang="en-US" sz="1200" dirty="0"/>
              <a:t>Consider the nature of most test projects and you’ll find that they involve disparate groups working in remote locations, often around the clock. A central repository that remains accessible for everyone with solid SLAs (service level agreements) ensuring zero or minimal downtime is a vast improvement over the traditional approach. This increase in reliability comes alongside solid security encryption for peace of mind.</a:t>
            </a:r>
          </a:p>
          <a:p>
            <a:r>
              <a:rPr lang="en-US" sz="1200" dirty="0"/>
              <a:t> </a:t>
            </a:r>
          </a:p>
          <a:p>
            <a:r>
              <a:rPr lang="en-US" sz="1200" dirty="0"/>
              <a:t>A snapshot of cloud-application benefits include</a:t>
            </a:r>
            <a:r>
              <a:rPr lang="en-US" sz="1200" dirty="0" smtClean="0"/>
              <a:t>:</a:t>
            </a:r>
            <a:endParaRPr lang="en-US" sz="1200" dirty="0"/>
          </a:p>
          <a:p>
            <a:pPr marL="171450" lvl="0" indent="-171450">
              <a:buFont typeface="Arial" pitchFamily="34" charset="0"/>
              <a:buChar char="•"/>
            </a:pPr>
            <a:r>
              <a:rPr lang="en-US" sz="1200" dirty="0"/>
              <a:t>No on-going infrastructure management, operational or installation costs incurred. Backup and recovery is relatively simpler and cheaper than traditional methods, as service providers offer recovery services</a:t>
            </a:r>
            <a:r>
              <a:rPr lang="en-US" sz="1200" dirty="0" smtClean="0"/>
              <a:t>;</a:t>
            </a:r>
            <a:endParaRPr lang="en-US" sz="1200" dirty="0"/>
          </a:p>
        </p:txBody>
      </p:sp>
      <p:sp>
        <p:nvSpPr>
          <p:cNvPr id="12293" name="Rectangle 3"/>
          <p:cNvSpPr>
            <a:spLocks/>
          </p:cNvSpPr>
          <p:nvPr/>
        </p:nvSpPr>
        <p:spPr bwMode="auto">
          <a:xfrm>
            <a:off x="3548061" y="1935162"/>
            <a:ext cx="3581401"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i="1" dirty="0" smtClean="0"/>
              <a:t>hen </a:t>
            </a:r>
            <a:r>
              <a:rPr lang="en-US" sz="1200" i="1" dirty="0"/>
              <a:t>it comes to testing, what’s up with the cloud</a:t>
            </a:r>
            <a:r>
              <a:rPr lang="en-US" sz="1200" i="1" dirty="0" smtClean="0"/>
              <a:t>?</a:t>
            </a:r>
            <a:endParaRPr lang="en-US" sz="1200" i="1" dirty="0"/>
          </a:p>
          <a:p>
            <a:pPr algn="just"/>
            <a:endParaRPr lang="en-US" sz="1200" dirty="0" smtClean="0"/>
          </a:p>
          <a:p>
            <a:pPr algn="just"/>
            <a:r>
              <a:rPr lang="en-US" sz="1200" dirty="0" smtClean="0"/>
              <a:t>Cloud </a:t>
            </a:r>
            <a:r>
              <a:rPr lang="en-US" sz="1200" dirty="0"/>
              <a:t>services have really captured the imagination of the business world. According to a Gartner survey 71% of organizations have adopted SaaS (Software as a Service) within the last three years</a:t>
            </a:r>
            <a:r>
              <a:rPr lang="en-US" sz="1200" dirty="0" smtClean="0"/>
              <a:t>.</a:t>
            </a:r>
          </a:p>
          <a:p>
            <a:pPr algn="just"/>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Testing</a:t>
            </a:r>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71</a:t>
            </a:fld>
            <a:endParaRPr lang="en-PH" dirty="0"/>
          </a:p>
        </p:txBody>
      </p:sp>
      <p:sp>
        <p:nvSpPr>
          <p:cNvPr id="17" name="Rectangle 5"/>
          <p:cNvSpPr>
            <a:spLocks/>
          </p:cNvSpPr>
          <p:nvPr/>
        </p:nvSpPr>
        <p:spPr bwMode="auto">
          <a:xfrm>
            <a:off x="344486" y="3590926"/>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Mush Honda </a:t>
            </a:r>
          </a:p>
          <a:p>
            <a:pPr algn="r"/>
            <a:r>
              <a:rPr lang="en-US" sz="1100" i="1" dirty="0" smtClean="0">
                <a:solidFill>
                  <a:srgbClr val="4D4D4D"/>
                </a:solidFill>
                <a:latin typeface="Helvetica" charset="0"/>
                <a:cs typeface="Helvetica" charset="0"/>
              </a:rPr>
              <a:t>QA </a:t>
            </a:r>
            <a:r>
              <a:rPr lang="en-US" sz="1100" i="1" dirty="0">
                <a:solidFill>
                  <a:srgbClr val="4D4D4D"/>
                </a:solidFill>
                <a:latin typeface="Helvetica" charset="0"/>
                <a:cs typeface="Helvetica" charset="0"/>
              </a:rPr>
              <a:t>Director</a:t>
            </a:r>
          </a:p>
          <a:p>
            <a:pPr algn="r"/>
            <a:r>
              <a:rPr lang="en-US" sz="1100" i="1" dirty="0">
                <a:solidFill>
                  <a:srgbClr val="4D4D4D"/>
                </a:solidFill>
                <a:latin typeface="Helvetica" charset="0"/>
                <a:cs typeface="Helvetica" charset="0"/>
                <a:hlinkClick r:id="rId3"/>
              </a:rPr>
              <a:t>KMS Technology</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2" name="Rectangle 2"/>
          <p:cNvSpPr>
            <a:spLocks/>
          </p:cNvSpPr>
          <p:nvPr/>
        </p:nvSpPr>
        <p:spPr bwMode="auto">
          <a:xfrm>
            <a:off x="3776662" y="7934325"/>
            <a:ext cx="3352799" cy="1371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t>Mush Honda is QA Director at </a:t>
            </a:r>
            <a:r>
              <a:rPr lang="en-US" sz="1000" i="1" u="sng" dirty="0">
                <a:hlinkClick r:id="rId3"/>
              </a:rPr>
              <a:t>KMS Technology</a:t>
            </a:r>
            <a:r>
              <a:rPr lang="en-US" sz="1000" i="1" dirty="0"/>
              <a:t>, a provider of IT services across the software development lifecycle with offices in Atlanta, GA and Ho Chi Minh City, Vietnam. He has previously played various QA roles at Ernst &amp; Young, Nexidia, Colibrium Partners and Connecture. KMS services include application management, testing, support, professional services and staff </a:t>
            </a:r>
            <a:r>
              <a:rPr lang="en-US" sz="1000" i="1" dirty="0" smtClean="0"/>
              <a:t>augmentation.</a:t>
            </a:r>
            <a:endParaRPr lang="en-US" sz="1000" i="1" dirty="0"/>
          </a:p>
        </p:txBody>
      </p:sp>
    </p:spTree>
    <p:extLst>
      <p:ext uri="{BB962C8B-B14F-4D97-AF65-F5344CB8AC3E}">
        <p14:creationId xmlns:p14="http://schemas.microsoft.com/office/powerpoint/2010/main" val="118240862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 y="-219075"/>
            <a:ext cx="7581900" cy="252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72</a:t>
            </a:fld>
            <a:endParaRPr lang="en-PH" dirty="0"/>
          </a:p>
        </p:txBody>
      </p:sp>
      <p:sp>
        <p:nvSpPr>
          <p:cNvPr id="28" name="Rounded Rectangle 27">
            <a:hlinkClick r:id="rId3"/>
          </p:cNvPr>
          <p:cNvSpPr/>
          <p:nvPr/>
        </p:nvSpPr>
        <p:spPr>
          <a:xfrm>
            <a:off x="2405062" y="1838325"/>
            <a:ext cx="2743200" cy="381000"/>
          </a:xfrm>
          <a:prstGeom prst="round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189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Click for more Details…</a:t>
            </a:r>
            <a:endParaRPr lang="en-US" dirty="0"/>
          </a:p>
        </p:txBody>
      </p:sp>
      <p:sp>
        <p:nvSpPr>
          <p:cNvPr id="3" name="Rectangle 2"/>
          <p:cNvSpPr/>
          <p:nvPr/>
        </p:nvSpPr>
        <p:spPr>
          <a:xfrm>
            <a:off x="347663" y="2447926"/>
            <a:ext cx="6934201" cy="3877985"/>
          </a:xfrm>
          <a:prstGeom prst="rect">
            <a:avLst/>
          </a:prstGeom>
        </p:spPr>
        <p:txBody>
          <a:bodyPr wrap="square">
            <a:spAutoFit/>
          </a:bodyPr>
          <a:lstStyle/>
          <a:p>
            <a:r>
              <a:rPr lang="en-US" sz="1400" b="1" dirty="0" smtClean="0"/>
              <a:t>ALM Mag Brings You Each </a:t>
            </a:r>
            <a:r>
              <a:rPr lang="en-US" sz="1400" b="1" dirty="0"/>
              <a:t>Month</a:t>
            </a:r>
            <a:r>
              <a:rPr lang="en-US" sz="1400" b="1" dirty="0" smtClean="0"/>
              <a:t>:</a:t>
            </a:r>
          </a:p>
          <a:p>
            <a:endParaRPr lang="en-US" sz="800" b="1" dirty="0"/>
          </a:p>
          <a:p>
            <a:pPr marL="171450" indent="-171450" fontAlgn="ctr">
              <a:buFont typeface="Arial" pitchFamily="34" charset="0"/>
              <a:buChar char="•"/>
            </a:pPr>
            <a:r>
              <a:rPr lang="en-US" sz="1200" b="1" dirty="0"/>
              <a:t>Articles, Whitepapers, Case Studies and Videos and Audio</a:t>
            </a:r>
            <a:r>
              <a:rPr lang="en-US" sz="1200" dirty="0"/>
              <a:t> providing:</a:t>
            </a:r>
          </a:p>
          <a:p>
            <a:pPr marL="628650" lvl="1" indent="-171450">
              <a:buFont typeface="Arial" pitchFamily="34" charset="0"/>
              <a:buChar char="•"/>
            </a:pPr>
            <a:r>
              <a:rPr lang="en-US" sz="1200" dirty="0"/>
              <a:t>Advance notice and Previews of new versions,</a:t>
            </a:r>
          </a:p>
          <a:p>
            <a:pPr marL="628650" lvl="1" indent="-171450">
              <a:buFont typeface="Arial" pitchFamily="34" charset="0"/>
              <a:buChar char="•"/>
            </a:pPr>
            <a:r>
              <a:rPr lang="en-US" sz="1200" b="1" dirty="0"/>
              <a:t>Reviews</a:t>
            </a:r>
            <a:r>
              <a:rPr lang="en-US" sz="1200" dirty="0"/>
              <a:t> of new versions </a:t>
            </a:r>
            <a:r>
              <a:rPr lang="en-US" sz="1200" dirty="0" smtClean="0"/>
              <a:t>and </a:t>
            </a:r>
            <a:r>
              <a:rPr lang="en-US" sz="1200" dirty="0"/>
              <a:t>updates,</a:t>
            </a:r>
          </a:p>
          <a:p>
            <a:pPr marL="628650" lvl="1" indent="-171450">
              <a:buFont typeface="Arial" pitchFamily="34" charset="0"/>
              <a:buChar char="•"/>
            </a:pPr>
            <a:r>
              <a:rPr lang="en-US" sz="1200" b="1" dirty="0"/>
              <a:t>How To </a:t>
            </a:r>
            <a:r>
              <a:rPr lang="en-US" sz="1200" dirty="0"/>
              <a:t>and </a:t>
            </a:r>
            <a:r>
              <a:rPr lang="en-US" sz="1200" b="1" dirty="0"/>
              <a:t>Step-by-Step </a:t>
            </a:r>
            <a:r>
              <a:rPr lang="en-US" sz="1200" b="1" dirty="0" smtClean="0"/>
              <a:t>Guides</a:t>
            </a:r>
            <a:r>
              <a:rPr lang="en-US" sz="1200" dirty="0"/>
              <a:t>,</a:t>
            </a:r>
          </a:p>
          <a:p>
            <a:pPr marL="628650" lvl="1" indent="-171450">
              <a:buFont typeface="Arial" pitchFamily="34" charset="0"/>
              <a:buChar char="•"/>
            </a:pPr>
            <a:r>
              <a:rPr lang="en-US" sz="1200" b="1" dirty="0"/>
              <a:t>Tips</a:t>
            </a:r>
            <a:r>
              <a:rPr lang="en-US" sz="1200" dirty="0"/>
              <a:t> highlighting </a:t>
            </a:r>
            <a:r>
              <a:rPr lang="en-US" sz="1200" b="1" dirty="0"/>
              <a:t>Primary Tools </a:t>
            </a:r>
            <a:r>
              <a:rPr lang="en-US" sz="1200" dirty="0"/>
              <a:t>and</a:t>
            </a:r>
          </a:p>
          <a:p>
            <a:pPr marL="628650" lvl="1" indent="-171450">
              <a:buFont typeface="Arial" pitchFamily="34" charset="0"/>
              <a:buChar char="•"/>
            </a:pPr>
            <a:r>
              <a:rPr lang="en-US" sz="1200" b="1" dirty="0"/>
              <a:t>3rd Party Integrated or Bridging Tools</a:t>
            </a:r>
            <a:r>
              <a:rPr lang="en-US" sz="1200" dirty="0"/>
              <a:t>,</a:t>
            </a:r>
          </a:p>
          <a:p>
            <a:pPr marL="628650" lvl="1" indent="-171450">
              <a:buFont typeface="Arial" pitchFamily="34" charset="0"/>
              <a:buChar char="•"/>
            </a:pPr>
            <a:r>
              <a:rPr lang="en-US" sz="1200" b="1" dirty="0"/>
              <a:t>Processes, Books and Events</a:t>
            </a:r>
          </a:p>
          <a:p>
            <a:pPr marL="171450" indent="-171450" fontAlgn="ctr">
              <a:buFont typeface="Arial" pitchFamily="34" charset="0"/>
              <a:buChar char="•"/>
            </a:pPr>
            <a:r>
              <a:rPr lang="en-US" sz="1200" b="1" dirty="0"/>
              <a:t>Surveys</a:t>
            </a:r>
            <a:r>
              <a:rPr lang="en-US" sz="1200" dirty="0"/>
              <a:t> to discover more about the types of content that interest </a:t>
            </a:r>
            <a:r>
              <a:rPr lang="en-US" sz="1200" dirty="0" smtClean="0"/>
              <a:t>you so </a:t>
            </a:r>
            <a:r>
              <a:rPr lang="en-US" sz="1200" dirty="0"/>
              <a:t>we can serve you better</a:t>
            </a:r>
          </a:p>
          <a:p>
            <a:pPr marL="171450" indent="-171450" fontAlgn="ctr">
              <a:buFont typeface="Arial" pitchFamily="34" charset="0"/>
              <a:buChar char="•"/>
            </a:pPr>
            <a:r>
              <a:rPr lang="en-US" sz="1200" b="1" dirty="0"/>
              <a:t>Industry Study and Survey </a:t>
            </a:r>
            <a:r>
              <a:rPr lang="en-US" sz="1200" b="1" dirty="0" smtClean="0"/>
              <a:t>Results</a:t>
            </a:r>
            <a:r>
              <a:rPr lang="en-US" sz="1200" dirty="0" smtClean="0"/>
              <a:t> </a:t>
            </a:r>
            <a:r>
              <a:rPr lang="en-US" sz="1200" dirty="0"/>
              <a:t>to provide you more insight </a:t>
            </a:r>
            <a:r>
              <a:rPr lang="en-US" sz="1200" dirty="0" smtClean="0"/>
              <a:t>into what </a:t>
            </a:r>
            <a:r>
              <a:rPr lang="en-US" sz="1200" dirty="0"/>
              <a:t>others in your community are doing</a:t>
            </a:r>
          </a:p>
          <a:p>
            <a:pPr marL="171450" indent="-171450" fontAlgn="ctr">
              <a:buFont typeface="Arial" pitchFamily="34" charset="0"/>
              <a:buChar char="•"/>
            </a:pPr>
            <a:r>
              <a:rPr lang="en-US" sz="1200" b="1" dirty="0"/>
              <a:t>Interviews with top ALM Leaders</a:t>
            </a:r>
            <a:r>
              <a:rPr lang="en-US" sz="1200" dirty="0"/>
              <a:t> to help you discover </a:t>
            </a:r>
            <a:r>
              <a:rPr lang="en-US" sz="1200" dirty="0" smtClean="0"/>
              <a:t>what’s coming </a:t>
            </a:r>
            <a:r>
              <a:rPr lang="en-US" sz="1200" dirty="0"/>
              <a:t>and how you can get there</a:t>
            </a:r>
          </a:p>
          <a:p>
            <a:pPr marL="171450" indent="-171450" fontAlgn="ctr">
              <a:buFont typeface="Arial" pitchFamily="34" charset="0"/>
              <a:buChar char="•"/>
            </a:pPr>
            <a:r>
              <a:rPr lang="en-US" sz="1200" b="1" dirty="0"/>
              <a:t>Tutorials and Training Courses</a:t>
            </a:r>
            <a:r>
              <a:rPr lang="en-US" sz="1200" dirty="0"/>
              <a:t> to increase your knowledge </a:t>
            </a:r>
            <a:r>
              <a:rPr lang="en-US" sz="1200" dirty="0" smtClean="0"/>
              <a:t>and leverage </a:t>
            </a:r>
            <a:r>
              <a:rPr lang="en-US" sz="1200" dirty="0"/>
              <a:t>your career</a:t>
            </a:r>
          </a:p>
          <a:p>
            <a:pPr marL="171450" indent="-171450" fontAlgn="ctr">
              <a:buFont typeface="Arial" pitchFamily="34" charset="0"/>
              <a:buChar char="•"/>
            </a:pPr>
            <a:r>
              <a:rPr lang="en-US" sz="1200" b="1" dirty="0"/>
              <a:t>Event and Conference </a:t>
            </a:r>
            <a:r>
              <a:rPr lang="en-US" sz="1200" b="1" dirty="0" smtClean="0"/>
              <a:t>Information</a:t>
            </a:r>
            <a:r>
              <a:rPr lang="en-US" sz="1200" dirty="0" smtClean="0"/>
              <a:t> </a:t>
            </a:r>
            <a:r>
              <a:rPr lang="en-US" sz="1200" dirty="0"/>
              <a:t>with a spotlight on Details</a:t>
            </a:r>
            <a:r>
              <a:rPr lang="en-US" sz="1200" dirty="0" smtClean="0"/>
              <a:t>, Agenda </a:t>
            </a:r>
            <a:r>
              <a:rPr lang="en-US" sz="1200" dirty="0"/>
              <a:t>and Calendar so you are aware of what you want to </a:t>
            </a:r>
            <a:r>
              <a:rPr lang="en-US" sz="1200" dirty="0" smtClean="0"/>
              <a:t>attend to </a:t>
            </a:r>
            <a:r>
              <a:rPr lang="en-US" sz="1200" dirty="0"/>
              <a:t>increase your career potential</a:t>
            </a:r>
          </a:p>
          <a:p>
            <a:pPr marL="171450" indent="-171450" fontAlgn="ctr">
              <a:buFont typeface="Arial" pitchFamily="34" charset="0"/>
              <a:buChar char="•"/>
            </a:pPr>
            <a:r>
              <a:rPr lang="en-US" sz="1200" dirty="0"/>
              <a:t>...and finally </a:t>
            </a:r>
            <a:r>
              <a:rPr lang="en-US" sz="1200" b="1" dirty="0"/>
              <a:t>IT Humor</a:t>
            </a:r>
            <a:r>
              <a:rPr lang="en-US" sz="1200" dirty="0"/>
              <a:t> (yes it does exist ) including </a:t>
            </a:r>
            <a:r>
              <a:rPr lang="en-US" sz="1200" b="1" dirty="0"/>
              <a:t>Cartoons</a:t>
            </a:r>
          </a:p>
          <a:p>
            <a:endParaRPr lang="en-US" sz="800" dirty="0" smtClean="0"/>
          </a:p>
          <a:p>
            <a:r>
              <a:rPr lang="en-US" sz="1200" dirty="0" smtClean="0"/>
              <a:t>and </a:t>
            </a:r>
            <a:r>
              <a:rPr lang="en-US" sz="1200" dirty="0"/>
              <a:t>more...</a:t>
            </a:r>
          </a:p>
          <a:p>
            <a:r>
              <a:rPr lang="en-US" sz="1200" dirty="0"/>
              <a:t> </a:t>
            </a:r>
          </a:p>
        </p:txBody>
      </p:sp>
      <p:sp>
        <p:nvSpPr>
          <p:cNvPr id="5" name="Rectangle 4"/>
          <p:cNvSpPr/>
          <p:nvPr/>
        </p:nvSpPr>
        <p:spPr>
          <a:xfrm>
            <a:off x="4762" y="6181727"/>
            <a:ext cx="7548563" cy="3895725"/>
          </a:xfrm>
          <a:prstGeom prst="rect">
            <a:avLst/>
          </a:prstGeom>
          <a:gradFill flip="none" rotWithShape="1">
            <a:gsLst>
              <a:gs pos="0">
                <a:srgbClr val="639C14">
                  <a:shade val="30000"/>
                  <a:satMod val="115000"/>
                </a:srgbClr>
              </a:gs>
              <a:gs pos="50000">
                <a:srgbClr val="639C14">
                  <a:shade val="67500"/>
                  <a:satMod val="115000"/>
                </a:srgbClr>
              </a:gs>
              <a:gs pos="100000">
                <a:srgbClr val="639C14">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600"/>
              </a:spcBef>
            </a:pPr>
            <a:endParaRPr lang="en-US" sz="200" b="1" dirty="0" smtClean="0"/>
          </a:p>
          <a:p>
            <a:pPr>
              <a:spcBef>
                <a:spcPts val="600"/>
              </a:spcBef>
            </a:pPr>
            <a:r>
              <a:rPr lang="en-US" sz="2000" b="1" dirty="0" smtClean="0"/>
              <a:t>        This Magazine Is For You If You Are:</a:t>
            </a:r>
          </a:p>
          <a:p>
            <a:pPr>
              <a:spcBef>
                <a:spcPts val="0"/>
              </a:spcBef>
            </a:pPr>
            <a:r>
              <a:rPr lang="en-US" sz="1200" dirty="0" smtClean="0"/>
              <a:t> </a:t>
            </a:r>
          </a:p>
          <a:p>
            <a:pPr marL="628650" lvl="1" indent="-171450" fontAlgn="ctr">
              <a:spcBef>
                <a:spcPts val="0"/>
              </a:spcBef>
              <a:buFont typeface="Arial" pitchFamily="34" charset="0"/>
              <a:buChar char="•"/>
            </a:pPr>
            <a:r>
              <a:rPr lang="en-US" sz="1600" dirty="0" smtClean="0"/>
              <a:t>a CEO, CIO, COO</a:t>
            </a:r>
          </a:p>
          <a:p>
            <a:pPr marL="628650" lvl="1" indent="-171450" fontAlgn="ctr">
              <a:spcBef>
                <a:spcPts val="0"/>
              </a:spcBef>
              <a:buFont typeface="Arial" pitchFamily="34" charset="0"/>
              <a:buChar char="•"/>
            </a:pPr>
            <a:r>
              <a:rPr lang="en-US" sz="1600" dirty="0" smtClean="0"/>
              <a:t>an Application or Development or QA or DBA Manager or Architect</a:t>
            </a:r>
          </a:p>
          <a:p>
            <a:pPr marL="628650" lvl="1" indent="-171450" fontAlgn="ctr">
              <a:spcBef>
                <a:spcPts val="0"/>
              </a:spcBef>
              <a:buFont typeface="Arial" pitchFamily="34" charset="0"/>
              <a:buChar char="•"/>
            </a:pPr>
            <a:r>
              <a:rPr lang="en-US" sz="1600" dirty="0" smtClean="0"/>
              <a:t>a Development or QA Lead</a:t>
            </a:r>
          </a:p>
          <a:p>
            <a:pPr marL="628650" lvl="1" indent="-171450" fontAlgn="ctr">
              <a:spcBef>
                <a:spcPts val="0"/>
              </a:spcBef>
              <a:buFont typeface="Arial" pitchFamily="34" charset="0"/>
              <a:buChar char="•"/>
            </a:pPr>
            <a:r>
              <a:rPr lang="en-US" sz="1600" dirty="0" smtClean="0"/>
              <a:t>a Product Owner</a:t>
            </a:r>
          </a:p>
          <a:p>
            <a:pPr marL="628650" lvl="1" indent="-171450" fontAlgn="ctr">
              <a:spcBef>
                <a:spcPts val="0"/>
              </a:spcBef>
              <a:buFont typeface="Arial" pitchFamily="34" charset="0"/>
              <a:buChar char="•"/>
            </a:pPr>
            <a:r>
              <a:rPr lang="en-US" sz="1600" dirty="0" smtClean="0"/>
              <a:t>a Project Manager</a:t>
            </a:r>
          </a:p>
          <a:p>
            <a:pPr marL="628650" lvl="1" indent="-171450" fontAlgn="ctr">
              <a:spcBef>
                <a:spcPts val="0"/>
              </a:spcBef>
              <a:buFont typeface="Arial" pitchFamily="34" charset="0"/>
              <a:buChar char="•"/>
            </a:pPr>
            <a:r>
              <a:rPr lang="en-US" sz="1600" dirty="0" smtClean="0"/>
              <a:t>a Scrum Master</a:t>
            </a:r>
          </a:p>
          <a:p>
            <a:pPr marL="628650" lvl="1" indent="-171450" fontAlgn="ctr">
              <a:spcBef>
                <a:spcPts val="0"/>
              </a:spcBef>
              <a:buFont typeface="Arial" pitchFamily="34" charset="0"/>
              <a:buChar char="•"/>
            </a:pPr>
            <a:r>
              <a:rPr lang="en-US" sz="1600" dirty="0" smtClean="0"/>
              <a:t>a Business Analyst</a:t>
            </a:r>
          </a:p>
          <a:p>
            <a:pPr marL="628650" lvl="1" indent="-171450" fontAlgn="ctr">
              <a:spcBef>
                <a:spcPts val="0"/>
              </a:spcBef>
              <a:buFont typeface="Arial" pitchFamily="34" charset="0"/>
              <a:buChar char="•"/>
            </a:pPr>
            <a:r>
              <a:rPr lang="en-US" sz="1600" dirty="0" smtClean="0"/>
              <a:t>a Tester</a:t>
            </a:r>
          </a:p>
          <a:p>
            <a:pPr marL="628650" lvl="1" indent="-171450" fontAlgn="ctr">
              <a:spcBef>
                <a:spcPts val="0"/>
              </a:spcBef>
              <a:buFont typeface="Arial" pitchFamily="34" charset="0"/>
              <a:buChar char="•"/>
            </a:pPr>
            <a:r>
              <a:rPr lang="en-US" sz="1600" dirty="0" smtClean="0"/>
              <a:t>a Developer </a:t>
            </a:r>
          </a:p>
          <a:p>
            <a:pPr marL="628650" lvl="1" indent="-171450" fontAlgn="ctr">
              <a:spcBef>
                <a:spcPts val="0"/>
              </a:spcBef>
              <a:buFont typeface="Arial" pitchFamily="34" charset="0"/>
              <a:buChar char="•"/>
            </a:pPr>
            <a:r>
              <a:rPr lang="en-US" sz="1600" dirty="0" smtClean="0"/>
              <a:t>...Or anyone involved in software Planning, Development, Testing, </a:t>
            </a:r>
          </a:p>
          <a:p>
            <a:pPr lvl="1" fontAlgn="ctr">
              <a:spcBef>
                <a:spcPts val="0"/>
              </a:spcBef>
            </a:pPr>
            <a:r>
              <a:rPr lang="en-US" sz="1600" dirty="0" smtClean="0"/>
              <a:t>   Infrastructure Provisioning or Deployment</a:t>
            </a:r>
            <a:endParaRPr lang="en-US" sz="1600" dirty="0"/>
          </a:p>
        </p:txBody>
      </p:sp>
      <p:sp>
        <p:nvSpPr>
          <p:cNvPr id="10" name="Rounded Rectangle 9">
            <a:hlinkClick r:id="rId4"/>
          </p:cNvPr>
          <p:cNvSpPr/>
          <p:nvPr/>
        </p:nvSpPr>
        <p:spPr>
          <a:xfrm>
            <a:off x="5160644" y="7858125"/>
            <a:ext cx="1740218" cy="609600"/>
          </a:xfrm>
          <a:prstGeom prst="roundRect">
            <a:avLst/>
          </a:prstGeom>
          <a:gradFill flip="none" rotWithShape="1">
            <a:gsLst>
              <a:gs pos="0">
                <a:srgbClr val="FEAB00">
                  <a:shade val="30000"/>
                  <a:satMod val="115000"/>
                </a:srgbClr>
              </a:gs>
              <a:gs pos="50000">
                <a:srgbClr val="FEAB00">
                  <a:shade val="67500"/>
                  <a:satMod val="115000"/>
                </a:srgbClr>
              </a:gs>
              <a:gs pos="100000">
                <a:srgbClr val="FEAB00">
                  <a:shade val="100000"/>
                  <a:satMod val="115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Subscribe</a:t>
            </a:r>
            <a:endParaRPr lang="en-US" b="1" dirty="0"/>
          </a:p>
        </p:txBody>
      </p:sp>
      <p:sp>
        <p:nvSpPr>
          <p:cNvPr id="8" name="Rounded Rectangle 7">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95272521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2" y="5469103"/>
            <a:ext cx="5105400" cy="17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2" name="Rectangle 10"/>
          <p:cNvSpPr>
            <a:spLocks/>
          </p:cNvSpPr>
          <p:nvPr/>
        </p:nvSpPr>
        <p:spPr bwMode="auto">
          <a:xfrm>
            <a:off x="2173286" y="2752726"/>
            <a:ext cx="4956175" cy="281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My </a:t>
            </a:r>
            <a:r>
              <a:rPr lang="en-US" sz="1200" dirty="0"/>
              <a:t>suggestion is to continue reading, reviewing  and digesting this information</a:t>
            </a:r>
            <a:r>
              <a:rPr lang="en-US" sz="1200" dirty="0" smtClean="0"/>
              <a:t>.</a:t>
            </a:r>
          </a:p>
          <a:p>
            <a:pPr algn="just"/>
            <a:r>
              <a:rPr lang="en-US" sz="1200" dirty="0"/>
              <a:t>  </a:t>
            </a:r>
            <a:br>
              <a:rPr lang="en-US" sz="1200" dirty="0"/>
            </a:br>
            <a:r>
              <a:rPr lang="en-US" sz="1200" dirty="0"/>
              <a:t>It is good stuff; however, don’t think for a moment that anything will be a Silver Bullet in your organization</a:t>
            </a:r>
            <a:r>
              <a:rPr lang="en-US" sz="1200" dirty="0" smtClean="0"/>
              <a:t>.</a:t>
            </a:r>
          </a:p>
          <a:p>
            <a:pPr algn="just"/>
            <a:r>
              <a:rPr lang="en-US" sz="1200" dirty="0"/>
              <a:t>  </a:t>
            </a:r>
            <a:br>
              <a:rPr lang="en-US" sz="1200" dirty="0"/>
            </a:br>
            <a:r>
              <a:rPr lang="en-US" sz="1200" dirty="0"/>
              <a:t>There is no such thing as a Silver Bullet.  Remember this</a:t>
            </a:r>
            <a:r>
              <a:rPr lang="en-US" sz="1200" dirty="0" smtClean="0"/>
              <a:t>.</a:t>
            </a:r>
          </a:p>
          <a:p>
            <a:pPr algn="just"/>
            <a:r>
              <a:rPr lang="en-US" sz="1200" dirty="0"/>
              <a:t>  </a:t>
            </a:r>
            <a:br>
              <a:rPr lang="en-US" sz="1200" dirty="0"/>
            </a:br>
            <a:r>
              <a:rPr lang="en-US" sz="1200" dirty="0"/>
              <a:t>If something sounds like it is to good to be true, it probably is.  We all know these statements make logical sense… but in reality we do not always deal with logic.  If you are looking for a quick fix, one does not exist.  Change is hard.  Deal with it.  In reality.</a:t>
            </a:r>
            <a:endParaRPr lang="en-US" sz="1200" dirty="0">
              <a:latin typeface="Helvetica" charset="0"/>
              <a:cs typeface="Helvetica" charset="0"/>
              <a:sym typeface="Helvetica" charset="0"/>
            </a:endParaRPr>
          </a:p>
        </p:txBody>
      </p:sp>
      <p:sp>
        <p:nvSpPr>
          <p:cNvPr id="13" name="Rectangle 5"/>
          <p:cNvSpPr>
            <a:spLocks/>
          </p:cNvSpPr>
          <p:nvPr/>
        </p:nvSpPr>
        <p:spPr bwMode="auto">
          <a:xfrm>
            <a:off x="347664" y="26146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Mike Vizdos</a:t>
            </a:r>
          </a:p>
          <a:p>
            <a:pPr algn="r"/>
            <a:r>
              <a:rPr lang="en-US" sz="1100" i="1" dirty="0" smtClean="0">
                <a:solidFill>
                  <a:srgbClr val="4D4D4D"/>
                </a:solidFill>
                <a:latin typeface="Helvetica" charset="0"/>
                <a:cs typeface="Helvetica" charset="0"/>
                <a:sym typeface="Helvetica" charset="0"/>
              </a:rPr>
              <a:t>Certified Scrum Trainer</a:t>
            </a:r>
          </a:p>
          <a:p>
            <a:pPr algn="r"/>
            <a:r>
              <a:rPr lang="en-US" sz="1100" i="1" dirty="0" smtClean="0">
                <a:solidFill>
                  <a:srgbClr val="4D4D4D"/>
                </a:solidFill>
                <a:latin typeface="Helvetica" charset="0"/>
                <a:cs typeface="Helvetica" charset="0"/>
                <a:sym typeface="Helvetica" charset="0"/>
              </a:rPr>
              <a:t>Agile Consultant &amp; Coach</a:t>
            </a:r>
          </a:p>
          <a:p>
            <a:pPr algn="r"/>
            <a:r>
              <a:rPr lang="en-US" sz="1100" i="1" u="sng" dirty="0">
                <a:hlinkClick r:id="rId4"/>
              </a:rPr>
              <a:t>implementingscrum.com</a:t>
            </a:r>
            <a:endParaRPr lang="en-US" sz="1100" i="1" dirty="0">
              <a:solidFill>
                <a:srgbClr val="4D4D4D"/>
              </a:solidFill>
              <a:latin typeface="Helvetica" charset="0"/>
              <a:cs typeface="Helvetica" charset="0"/>
              <a:sym typeface="Helvetica" charset="0"/>
            </a:endParaRPr>
          </a:p>
        </p:txBody>
      </p:sp>
      <p:pic>
        <p:nvPicPr>
          <p:cNvPr id="15" name="Picture 2" descr="E:\Pictures\ALM Mag - Contributors\Mike Vizdo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863" y="1319212"/>
            <a:ext cx="1143000" cy="10668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p:cNvSpPr>
            <a:spLocks/>
          </p:cNvSpPr>
          <p:nvPr/>
        </p:nvSpPr>
        <p:spPr bwMode="auto">
          <a:xfrm>
            <a:off x="2993590" y="7858125"/>
            <a:ext cx="3315569" cy="685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6"/>
              </a:rPr>
              <a:t>Michael Vizdos</a:t>
            </a:r>
            <a:r>
              <a:rPr lang="en-US" sz="1000" i="1" dirty="0"/>
              <a:t> is a world traveler, author, </a:t>
            </a:r>
            <a:r>
              <a:rPr lang="en-US" sz="1000" i="1" dirty="0" smtClean="0"/>
              <a:t>Scrum </a:t>
            </a:r>
            <a:r>
              <a:rPr lang="en-US" sz="1000" i="1" dirty="0"/>
              <a:t>&amp; </a:t>
            </a:r>
            <a:r>
              <a:rPr lang="en-US" sz="1000" i="1" dirty="0" smtClean="0"/>
              <a:t>Agile </a:t>
            </a:r>
            <a:r>
              <a:rPr lang="en-US" sz="1000" i="1" dirty="0"/>
              <a:t>C</a:t>
            </a:r>
            <a:r>
              <a:rPr lang="en-US" sz="1000" i="1" dirty="0" smtClean="0"/>
              <a:t>onsultant</a:t>
            </a:r>
            <a:r>
              <a:rPr lang="en-US" sz="1000" i="1" dirty="0"/>
              <a:t>, speaker, and the person behind </a:t>
            </a:r>
            <a:r>
              <a:rPr lang="en-US" sz="1000" i="1" u="sng" dirty="0">
                <a:hlinkClick r:id="rId4"/>
              </a:rPr>
              <a:t>implementingscrum.com</a:t>
            </a:r>
            <a:r>
              <a:rPr lang="en-US" sz="1000" i="1" dirty="0"/>
              <a:t>.</a:t>
            </a:r>
            <a:endParaRPr lang="en-US" sz="1000" dirty="0"/>
          </a:p>
        </p:txBody>
      </p:sp>
      <p:sp>
        <p:nvSpPr>
          <p:cNvPr id="19" name="TextBox 3"/>
          <p:cNvSpPr txBox="1">
            <a:spLocks noChangeArrowheads="1"/>
          </p:cNvSpPr>
          <p:nvPr/>
        </p:nvSpPr>
        <p:spPr bwMode="auto">
          <a:xfrm>
            <a:off x="195262" y="695325"/>
            <a:ext cx="72521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200" b="1" dirty="0" smtClean="0">
                <a:latin typeface="Palatino Linotype" pitchFamily="18" charset="0"/>
              </a:rPr>
              <a:t>Scrum – It’s STILL not a Silver Bullet!</a:t>
            </a:r>
            <a:endParaRPr lang="en-PH" sz="3200" b="1" dirty="0">
              <a:latin typeface="Palatino Linotype" pitchFamily="18" charset="0"/>
            </a:endParaRPr>
          </a:p>
        </p:txBody>
      </p:sp>
      <p:cxnSp>
        <p:nvCxnSpPr>
          <p:cNvPr id="20" name="Straight Connector 19"/>
          <p:cNvCxnSpPr/>
          <p:nvPr/>
        </p:nvCxnSpPr>
        <p:spPr>
          <a:xfrm>
            <a:off x="195262" y="597260"/>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5300662"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Tech Humor</a:t>
            </a:r>
            <a:endParaRPr lang="en-US" dirty="0"/>
          </a:p>
        </p:txBody>
      </p:sp>
      <p:sp>
        <p:nvSpPr>
          <p:cNvPr id="22" name="Slide Number Placeholder 2"/>
          <p:cNvSpPr>
            <a:spLocks noGrp="1"/>
          </p:cNvSpPr>
          <p:nvPr>
            <p:ph type="sldNum" sz="quarter" idx="12"/>
          </p:nvPr>
        </p:nvSpPr>
        <p:spPr>
          <a:xfrm>
            <a:off x="5413376" y="9340850"/>
            <a:ext cx="1762125" cy="536575"/>
          </a:xfrm>
        </p:spPr>
        <p:txBody>
          <a:bodyPr/>
          <a:lstStyle/>
          <a:p>
            <a:pPr>
              <a:defRPr/>
            </a:pPr>
            <a:fld id="{EA30B413-8FC0-44D3-9979-403CCACD0588}" type="slidenum">
              <a:rPr lang="en-PH" smtClean="0"/>
              <a:pPr>
                <a:defRPr/>
              </a:pPr>
              <a:t>73</a:t>
            </a:fld>
            <a:endParaRPr lang="en-PH" dirty="0"/>
          </a:p>
        </p:txBody>
      </p:sp>
      <p:sp>
        <p:nvSpPr>
          <p:cNvPr id="11" name="Rectangle 3"/>
          <p:cNvSpPr>
            <a:spLocks/>
          </p:cNvSpPr>
          <p:nvPr/>
        </p:nvSpPr>
        <p:spPr bwMode="auto">
          <a:xfrm>
            <a:off x="3167063" y="1401762"/>
            <a:ext cx="3962400" cy="135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crum</a:t>
            </a:r>
            <a:r>
              <a:rPr lang="en-US" sz="1200" dirty="0" smtClean="0"/>
              <a:t> </a:t>
            </a:r>
            <a:r>
              <a:rPr lang="en-US" sz="1200" dirty="0"/>
              <a:t>is not a Silver Bullet that will fix everything in your organization. I’ve been saying — and writing — about this for many years (look at the copyright of this cartoon</a:t>
            </a:r>
            <a:r>
              <a:rPr lang="en-US" sz="1200" dirty="0" smtClean="0"/>
              <a:t>!).</a:t>
            </a:r>
            <a:r>
              <a:rPr lang="en-US" sz="1200" dirty="0"/>
              <a:t> Take a look at some of the themes in this magazine (DevOps and more), along with the different tools and methodologies that offer possible promises to fix </a:t>
            </a:r>
            <a:r>
              <a:rPr lang="en-US" sz="1200" dirty="0" smtClean="0"/>
              <a:t>what</a:t>
            </a:r>
            <a:r>
              <a:rPr lang="en-US" sz="1200" dirty="0"/>
              <a:t> hurts today (including TFS, Scrum, and others).</a:t>
            </a:r>
          </a:p>
        </p:txBody>
      </p:sp>
      <p:sp>
        <p:nvSpPr>
          <p:cNvPr id="12" name="Rectangle 4"/>
          <p:cNvSpPr>
            <a:spLocks/>
          </p:cNvSpPr>
          <p:nvPr/>
        </p:nvSpPr>
        <p:spPr bwMode="auto">
          <a:xfrm>
            <a:off x="2024063" y="1043821"/>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S</a:t>
            </a:r>
            <a:endParaRPr lang="en-US" sz="11600" b="1" dirty="0">
              <a:latin typeface="Helvetica Neue Bold Condensed" charset="0"/>
              <a:sym typeface="Helvetica Neue Bold Condensed" charset="0"/>
            </a:endParaRPr>
          </a:p>
        </p:txBody>
      </p:sp>
      <p:sp>
        <p:nvSpPr>
          <p:cNvPr id="17" name="Rectangle 5"/>
          <p:cNvSpPr>
            <a:spLocks/>
          </p:cNvSpPr>
          <p:nvPr/>
        </p:nvSpPr>
        <p:spPr bwMode="auto">
          <a:xfrm>
            <a:off x="347662" y="7872413"/>
            <a:ext cx="160337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For Reprints of this page</a:t>
            </a:r>
          </a:p>
          <a:p>
            <a:pPr algn="r"/>
            <a:r>
              <a:rPr lang="en-US" sz="1100" i="1" dirty="0" smtClean="0">
                <a:solidFill>
                  <a:srgbClr val="4D4D4D"/>
                </a:solidFill>
                <a:latin typeface="Helvetica" charset="0"/>
                <a:cs typeface="Helvetica" charset="0"/>
                <a:sym typeface="Helvetica" charset="0"/>
              </a:rPr>
              <a:t>And previous strips</a:t>
            </a:r>
          </a:p>
          <a:p>
            <a:pPr algn="r"/>
            <a:endParaRPr lang="en-US" sz="1100" i="1" dirty="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hlinkClick r:id="rId2"/>
              </a:rPr>
              <a:t>Click Here</a:t>
            </a:r>
            <a:endParaRPr lang="en-US" sz="1100" i="1" dirty="0" smtClean="0">
              <a:solidFill>
                <a:srgbClr val="4D4D4D"/>
              </a:solidFill>
              <a:latin typeface="Helvetica" charset="0"/>
              <a:cs typeface="Helvetica" charset="0"/>
              <a:sym typeface="Helvetica" charset="0"/>
            </a:endParaRPr>
          </a:p>
          <a:p>
            <a:pPr algn="r"/>
            <a:endParaRPr lang="en-US" sz="1100" i="1" u="sng"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23" name="Rounded Rectangle 2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57393346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3"/>
          <p:cNvSpPr txBox="1">
            <a:spLocks noChangeArrowheads="1"/>
          </p:cNvSpPr>
          <p:nvPr/>
        </p:nvSpPr>
        <p:spPr bwMode="auto">
          <a:xfrm>
            <a:off x="423863" y="619125"/>
            <a:ext cx="20996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Welcome</a:t>
            </a:r>
          </a:p>
        </p:txBody>
      </p:sp>
      <p:cxnSp>
        <p:nvCxnSpPr>
          <p:cNvPr id="58" name="Straight Connector 57"/>
          <p:cNvCxnSpPr/>
          <p:nvPr/>
        </p:nvCxnSpPr>
        <p:spPr>
          <a:xfrm>
            <a:off x="271463" y="542925"/>
            <a:ext cx="7003732"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0244" name="Rectangle 2"/>
          <p:cNvSpPr>
            <a:spLocks/>
          </p:cNvSpPr>
          <p:nvPr/>
        </p:nvSpPr>
        <p:spPr bwMode="auto">
          <a:xfrm>
            <a:off x="2024063" y="2371725"/>
            <a:ext cx="51816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defRPr/>
            </a:pPr>
            <a:r>
              <a:rPr lang="en-US" sz="1200" dirty="0"/>
              <a:t>This column will be an occasional addition to an edition. </a:t>
            </a:r>
            <a:endParaRPr lang="en-US" sz="1200" dirty="0" smtClean="0"/>
          </a:p>
          <a:p>
            <a:pPr>
              <a:defRPr/>
            </a:pPr>
            <a:r>
              <a:rPr lang="en-US" sz="1200" dirty="0" smtClean="0"/>
              <a:t> </a:t>
            </a:r>
          </a:p>
          <a:p>
            <a:pPr>
              <a:defRPr/>
            </a:pPr>
            <a:r>
              <a:rPr lang="en-US" sz="1200" dirty="0" smtClean="0"/>
              <a:t>ALM </a:t>
            </a:r>
            <a:r>
              <a:rPr lang="en-US" sz="1200" dirty="0"/>
              <a:t>Mag the magazine will be available on desktops but primarily aimed at the three major mobile tablet platforms: pcPad, aPad and iPad.</a:t>
            </a:r>
          </a:p>
          <a:p>
            <a:pPr>
              <a:defRPr/>
            </a:pPr>
            <a:endParaRPr lang="en-US" sz="1200" dirty="0"/>
          </a:p>
          <a:p>
            <a:pPr>
              <a:defRPr/>
            </a:pPr>
            <a:r>
              <a:rPr lang="en-US" sz="1200" dirty="0"/>
              <a:t>I wish you many hours of enjoyment over the coming issues as you build a library of knowledge and resources you can turn to support you daily.</a:t>
            </a:r>
          </a:p>
          <a:p>
            <a:pPr>
              <a:defRPr/>
            </a:pPr>
            <a:endParaRPr lang="en-US" sz="1200" dirty="0"/>
          </a:p>
          <a:p>
            <a:pPr>
              <a:defRPr/>
            </a:pPr>
            <a:r>
              <a:rPr lang="en-US" sz="1200" dirty="0"/>
              <a:t>Warmest Regards,</a:t>
            </a:r>
          </a:p>
          <a:p>
            <a:pPr>
              <a:defRPr/>
            </a:pPr>
            <a:r>
              <a:rPr lang="en-US" sz="1200" dirty="0"/>
              <a:t>Keith </a:t>
            </a:r>
            <a:r>
              <a:rPr lang="en-US" sz="1200" dirty="0" smtClean="0"/>
              <a:t>Denham</a:t>
            </a:r>
          </a:p>
          <a:p>
            <a:pPr>
              <a:defRPr/>
            </a:pPr>
            <a:endParaRPr lang="en-US" sz="1200" dirty="0"/>
          </a:p>
          <a:p>
            <a:pPr>
              <a:defRPr/>
            </a:pPr>
            <a:endParaRPr lang="en-US" sz="1200" dirty="0" smtClean="0"/>
          </a:p>
          <a:p>
            <a:pPr>
              <a:defRPr/>
            </a:pPr>
            <a:r>
              <a:rPr lang="en-US" sz="1100" i="1" dirty="0" smtClean="0"/>
              <a:t>P.S. Don’t forget, this is an interactive magazine, tap on the audios and videos and tap on the highlighted links to see additional related content. </a:t>
            </a:r>
          </a:p>
          <a:p>
            <a:pPr>
              <a:defRPr/>
            </a:pPr>
            <a:r>
              <a:rPr lang="en-US" sz="1100" i="1" dirty="0" smtClean="0"/>
              <a:t>Tap on the Index Page Button at the foot of any page to return to the Index.</a:t>
            </a:r>
            <a:endParaRPr lang="en-US" sz="1100" i="1" dirty="0"/>
          </a:p>
        </p:txBody>
      </p:sp>
      <p:sp>
        <p:nvSpPr>
          <p:cNvPr id="6149" name="Rectangle 3"/>
          <p:cNvSpPr>
            <a:spLocks/>
          </p:cNvSpPr>
          <p:nvPr/>
        </p:nvSpPr>
        <p:spPr bwMode="auto">
          <a:xfrm>
            <a:off x="3319463" y="1249364"/>
            <a:ext cx="3886201"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400" dirty="0"/>
              <a:t>elcome to the </a:t>
            </a:r>
            <a:r>
              <a:rPr lang="en-US" sz="1400" dirty="0" smtClean="0"/>
              <a:t>second issue </a:t>
            </a:r>
            <a:r>
              <a:rPr lang="en-US" sz="1400" dirty="0"/>
              <a:t>of ALM Mag, the only online e-magazine </a:t>
            </a:r>
            <a:r>
              <a:rPr lang="en-US" sz="1400" dirty="0" smtClean="0"/>
              <a:t>dedicated to focus on topics of interest to the ALM, DevOps, Agile, Lean, QA, Testing, Configuration Management, Deployment and TFS community.</a:t>
            </a:r>
            <a:endParaRPr lang="en-US" sz="1400" dirty="0"/>
          </a:p>
        </p:txBody>
      </p:sp>
      <p:sp>
        <p:nvSpPr>
          <p:cNvPr id="6150" name="Rectangle 4"/>
          <p:cNvSpPr>
            <a:spLocks/>
          </p:cNvSpPr>
          <p:nvPr/>
        </p:nvSpPr>
        <p:spPr bwMode="auto">
          <a:xfrm>
            <a:off x="2024063" y="1000125"/>
            <a:ext cx="838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9600" b="1" dirty="0">
                <a:latin typeface="Helvetica Neue Bold Condensed" charset="0"/>
                <a:sym typeface="Helvetica Neue Bold Condensed" charset="0"/>
              </a:rPr>
              <a:t>W</a:t>
            </a:r>
          </a:p>
        </p:txBody>
      </p:sp>
      <p:sp>
        <p:nvSpPr>
          <p:cNvPr id="6151" name="Rectangle 5"/>
          <p:cNvSpPr>
            <a:spLocks/>
          </p:cNvSpPr>
          <p:nvPr/>
        </p:nvSpPr>
        <p:spPr bwMode="auto">
          <a:xfrm>
            <a:off x="195264" y="2843213"/>
            <a:ext cx="1679576"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Denham</a:t>
            </a:r>
          </a:p>
          <a:p>
            <a:pPr algn="r"/>
            <a:r>
              <a:rPr lang="en-US" sz="1100" i="1" dirty="0" smtClean="0">
                <a:solidFill>
                  <a:srgbClr val="4D4D4D"/>
                </a:solidFill>
                <a:latin typeface="Helvetica" charset="0"/>
                <a:cs typeface="Helvetica" charset="0"/>
                <a:sym typeface="Helvetica" charset="0"/>
              </a:rPr>
              <a:t>Publisher</a:t>
            </a:r>
          </a:p>
          <a:p>
            <a:pPr algn="r"/>
            <a:endParaRPr lang="en-US" sz="1100" i="1" dirty="0" smtClean="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rPr>
              <a:t>Treasure Cove Publishing</a:t>
            </a:r>
          </a:p>
          <a:p>
            <a:pPr algn="r"/>
            <a:r>
              <a:rPr lang="en-US" sz="1100" i="1" dirty="0" smtClean="0">
                <a:solidFill>
                  <a:srgbClr val="4D4D4D"/>
                </a:solidFill>
                <a:latin typeface="Helvetica" charset="0"/>
                <a:cs typeface="Helvetica" charset="0"/>
                <a:sym typeface="Helvetica" charset="0"/>
              </a:rPr>
              <a:t>Volume 1 – Issue 1</a:t>
            </a:r>
          </a:p>
          <a:p>
            <a:pPr algn="r"/>
            <a:r>
              <a:rPr lang="en-US" sz="1100" i="1" dirty="0" smtClean="0">
                <a:solidFill>
                  <a:srgbClr val="4D4D4D"/>
                </a:solidFill>
                <a:latin typeface="Helvetica" charset="0"/>
                <a:cs typeface="Helvetica" charset="0"/>
                <a:sym typeface="Helvetica" charset="0"/>
              </a:rPr>
              <a:t>January 2013 </a:t>
            </a:r>
          </a:p>
        </p:txBody>
      </p:sp>
      <p:pic>
        <p:nvPicPr>
          <p:cNvPr id="6152" name="Picture 4" descr="E:\Pictures\ALM Mag - Contributors\KD-Headshot-Sq-145x14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4" y="1295401"/>
            <a:ext cx="13811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0264" y="8658226"/>
            <a:ext cx="1768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p:cNvSpPr>
            <a:spLocks/>
          </p:cNvSpPr>
          <p:nvPr/>
        </p:nvSpPr>
        <p:spPr bwMode="auto">
          <a:xfrm>
            <a:off x="195263" y="4276726"/>
            <a:ext cx="1686243" cy="53292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algn="r"/>
            <a:endParaRPr lang="en-US" sz="1100" i="1" dirty="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ADVISORY BOARD:</a:t>
            </a:r>
          </a:p>
          <a:p>
            <a:pPr algn="ctr"/>
            <a:r>
              <a:rPr lang="en-US" sz="1100" i="1" dirty="0" smtClean="0">
                <a:solidFill>
                  <a:srgbClr val="4D4D4D"/>
                </a:solidFill>
                <a:latin typeface="Helvetica" charset="0"/>
                <a:cs typeface="Helvetica" charset="0"/>
                <a:sym typeface="Helvetica" charset="0"/>
              </a:rPr>
              <a:t>Sam Guckenheimer</a:t>
            </a:r>
          </a:p>
          <a:p>
            <a:pPr algn="ctr"/>
            <a:r>
              <a:rPr lang="en-US" sz="1000" i="1" dirty="0">
                <a:solidFill>
                  <a:srgbClr val="4D4D4D"/>
                </a:solidFill>
                <a:latin typeface="Helvetica" charset="0"/>
                <a:cs typeface="Helvetica" charset="0"/>
              </a:rPr>
              <a:t>Group Product Planner for Visual </a:t>
            </a:r>
            <a:r>
              <a:rPr lang="en-US" sz="1000" i="1" dirty="0" smtClean="0">
                <a:solidFill>
                  <a:srgbClr val="4D4D4D"/>
                </a:solidFill>
                <a:latin typeface="Helvetica" charset="0"/>
                <a:cs typeface="Helvetica" charset="0"/>
              </a:rPr>
              <a:t>Studio &amp; Author</a:t>
            </a:r>
            <a:endParaRPr lang="en-US" sz="1000" i="1" dirty="0">
              <a:solidFill>
                <a:srgbClr val="4D4D4D"/>
              </a:solidFill>
              <a:latin typeface="Helvetica" charset="0"/>
              <a:cs typeface="Helvetica" charset="0"/>
              <a:sym typeface="Helvetica" charset="0"/>
            </a:endParaRPr>
          </a:p>
          <a:p>
            <a:pPr algn="ctr"/>
            <a:r>
              <a:rPr lang="en-US" sz="1000" i="1" dirty="0" smtClean="0">
                <a:solidFill>
                  <a:srgbClr val="4D4D4D"/>
                </a:solidFill>
                <a:latin typeface="Helvetica" charset="0"/>
                <a:cs typeface="Helvetica" charset="0"/>
                <a:sym typeface="Helvetica" charset="0"/>
              </a:rPr>
              <a:t>- Microsoft</a:t>
            </a:r>
          </a:p>
          <a:p>
            <a:pPr algn="ctr"/>
            <a:endParaRPr lang="en-US" sz="400" i="1" dirty="0" smtClean="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Keith Pleas</a:t>
            </a:r>
          </a:p>
          <a:p>
            <a:pPr algn="ctr"/>
            <a:r>
              <a:rPr lang="en-US" sz="1000" i="1" dirty="0">
                <a:solidFill>
                  <a:srgbClr val="4D4D4D"/>
                </a:solidFill>
                <a:latin typeface="Helvetica" charset="0"/>
                <a:cs typeface="Helvetica" charset="0"/>
              </a:rPr>
              <a:t>Organizer &amp; Conference Chair - ALM Summit</a:t>
            </a:r>
            <a:endParaRPr lang="en-US" sz="1000" i="1" dirty="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EDITORIAL REVIEW:</a:t>
            </a:r>
          </a:p>
          <a:p>
            <a:pPr algn="ctr"/>
            <a:r>
              <a:rPr lang="en-US" sz="1100" i="1" dirty="0">
                <a:solidFill>
                  <a:srgbClr val="4D4D4D"/>
                </a:solidFill>
                <a:latin typeface="Helvetica" charset="0"/>
                <a:cs typeface="Helvetica" charset="0"/>
                <a:sym typeface="Helvetica" charset="0"/>
              </a:rPr>
              <a:t>Mike </a:t>
            </a:r>
            <a:r>
              <a:rPr lang="en-US" sz="1100" i="1" dirty="0" smtClean="0">
                <a:solidFill>
                  <a:srgbClr val="4D4D4D"/>
                </a:solidFill>
                <a:latin typeface="Helvetica" charset="0"/>
                <a:cs typeface="Helvetica" charset="0"/>
                <a:sym typeface="Helvetica" charset="0"/>
              </a:rPr>
              <a:t>Vizdos</a:t>
            </a:r>
          </a:p>
          <a:p>
            <a:pPr algn="ctr"/>
            <a:r>
              <a:rPr lang="en-US" sz="1000" i="1" dirty="0">
                <a:solidFill>
                  <a:srgbClr val="4D4D4D"/>
                </a:solidFill>
                <a:latin typeface="Helvetica" charset="0"/>
                <a:cs typeface="Helvetica" charset="0"/>
              </a:rPr>
              <a:t>Agile </a:t>
            </a:r>
            <a:r>
              <a:rPr lang="en-US" sz="1000" i="1" dirty="0" smtClean="0">
                <a:solidFill>
                  <a:srgbClr val="4D4D4D"/>
                </a:solidFill>
                <a:latin typeface="Helvetica" charset="0"/>
                <a:cs typeface="Helvetica" charset="0"/>
              </a:rPr>
              <a:t>Coach</a:t>
            </a:r>
          </a:p>
          <a:p>
            <a:pPr algn="ctr"/>
            <a:r>
              <a:rPr lang="en-US" sz="1000" i="1" dirty="0" smtClean="0">
                <a:solidFill>
                  <a:srgbClr val="4D4D4D"/>
                </a:solidFill>
                <a:latin typeface="Helvetica" charset="0"/>
                <a:cs typeface="Helvetica" charset="0"/>
              </a:rPr>
              <a:t>Certified Scrum Trainer</a:t>
            </a:r>
            <a:endParaRPr lang="en-US" sz="1000" i="1" dirty="0">
              <a:solidFill>
                <a:srgbClr val="4D4D4D"/>
              </a:solidFill>
              <a:latin typeface="Helvetica" charset="0"/>
              <a:cs typeface="Helvetica" charset="0"/>
              <a:sym typeface="Helvetica" charset="0"/>
            </a:endParaRPr>
          </a:p>
          <a:p>
            <a:pPr algn="ctr"/>
            <a:endParaRPr lang="en-US" sz="400" i="1" dirty="0">
              <a:solidFill>
                <a:srgbClr val="4D4D4D"/>
              </a:solidFill>
              <a:latin typeface="Helvetica" charset="0"/>
              <a:cs typeface="Helvetica" charset="0"/>
              <a:sym typeface="Helvetica" charset="0"/>
            </a:endParaRPr>
          </a:p>
          <a:p>
            <a:pPr algn="ctr"/>
            <a:r>
              <a:rPr lang="en-US" sz="1100" i="1" dirty="0" smtClean="0">
                <a:solidFill>
                  <a:srgbClr val="4D4D4D"/>
                </a:solidFill>
                <a:latin typeface="Helvetica" charset="0"/>
                <a:cs typeface="Helvetica" charset="0"/>
                <a:sym typeface="Helvetica" charset="0"/>
              </a:rPr>
              <a:t>Clementino de Mendonca</a:t>
            </a:r>
          </a:p>
          <a:p>
            <a:pPr algn="ctr"/>
            <a:r>
              <a:rPr lang="en-US" sz="1000" i="1" dirty="0" smtClean="0">
                <a:solidFill>
                  <a:srgbClr val="4D4D4D"/>
                </a:solidFill>
                <a:latin typeface="Helvetica" charset="0"/>
                <a:cs typeface="Helvetica" charset="0"/>
                <a:sym typeface="Helvetica" charset="0"/>
              </a:rPr>
              <a:t>National ALM Architect</a:t>
            </a:r>
          </a:p>
          <a:p>
            <a:pPr algn="ctr"/>
            <a:r>
              <a:rPr lang="en-US" sz="1000" i="1" dirty="0" smtClean="0">
                <a:solidFill>
                  <a:srgbClr val="4D4D4D"/>
                </a:solidFill>
                <a:latin typeface="Helvetica" charset="0"/>
                <a:cs typeface="Helvetica" charset="0"/>
                <a:sym typeface="Helvetica" charset="0"/>
              </a:rPr>
              <a:t>- Neudesic</a:t>
            </a:r>
          </a:p>
          <a:p>
            <a:pPr algn="ctr"/>
            <a:endParaRPr lang="en-US" sz="1100" i="1" dirty="0" smtClean="0">
              <a:solidFill>
                <a:srgbClr val="4D4D4D"/>
              </a:solidFill>
              <a:latin typeface="Helvetica" charset="0"/>
              <a:cs typeface="Helvetica" charset="0"/>
              <a:sym typeface="Helvetica" charset="0"/>
            </a:endParaRPr>
          </a:p>
          <a:p>
            <a:pPr algn="ctr"/>
            <a:endParaRPr lang="en-US" sz="1100" i="1" dirty="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Subscriptions:</a:t>
            </a:r>
          </a:p>
          <a:p>
            <a:pPr algn="ctr"/>
            <a:r>
              <a:rPr lang="en-US" sz="1100" i="1" dirty="0" smtClean="0">
                <a:solidFill>
                  <a:srgbClr val="4D4D4D"/>
                </a:solidFill>
                <a:latin typeface="Helvetica" charset="0"/>
                <a:cs typeface="Helvetica" charset="0"/>
                <a:sym typeface="Helvetica" charset="0"/>
              </a:rPr>
              <a:t>almmag.com/subscribe</a:t>
            </a: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Email Address Changes:</a:t>
            </a:r>
          </a:p>
          <a:p>
            <a:pPr algn="ctr"/>
            <a:r>
              <a:rPr lang="en-US" sz="1100" i="1" dirty="0" smtClean="0">
                <a:solidFill>
                  <a:srgbClr val="4D4D4D"/>
                </a:solidFill>
                <a:latin typeface="Helvetica" charset="0"/>
                <a:cs typeface="Helvetica" charset="0"/>
                <a:sym typeface="Helvetica" charset="0"/>
                <a:hlinkClick r:id="rId4"/>
              </a:rPr>
              <a:t>support@almmag.com</a:t>
            </a: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endParaRPr lang="en-US" sz="1100" i="1" dirty="0" smtClean="0">
              <a:solidFill>
                <a:srgbClr val="4D4D4D"/>
              </a:solidFill>
              <a:latin typeface="Helvetica" charset="0"/>
              <a:cs typeface="Helvetica" charset="0"/>
              <a:sym typeface="Helvetica" charset="0"/>
            </a:endParaRPr>
          </a:p>
          <a:p>
            <a:pPr algn="ctr"/>
            <a:r>
              <a:rPr lang="en-US" sz="1100" b="1" i="1" dirty="0" smtClean="0">
                <a:solidFill>
                  <a:srgbClr val="4D4D4D"/>
                </a:solidFill>
                <a:latin typeface="Helvetica" charset="0"/>
                <a:cs typeface="Helvetica" charset="0"/>
                <a:sym typeface="Helvetica" charset="0"/>
              </a:rPr>
              <a:t>Mission Statement:</a:t>
            </a:r>
          </a:p>
          <a:p>
            <a:pPr algn="ctr"/>
            <a:r>
              <a:rPr lang="en-US" sz="1100" i="1" dirty="0" smtClean="0">
                <a:solidFill>
                  <a:srgbClr val="4D4D4D"/>
                </a:solidFill>
                <a:latin typeface="Helvetica" charset="0"/>
                <a:cs typeface="Helvetica" charset="0"/>
                <a:sym typeface="Helvetica" charset="0"/>
              </a:rPr>
              <a:t>“Our mission is to promote,  support and empower rapid delivery of quality software.” </a:t>
            </a:r>
            <a:endParaRPr lang="en-US" sz="1100" i="1" dirty="0">
              <a:solidFill>
                <a:srgbClr val="4D4D4D"/>
              </a:solidFill>
              <a:latin typeface="Helvetica" charset="0"/>
              <a:cs typeface="Helvetica" charset="0"/>
              <a:sym typeface="Helvetica" charset="0"/>
            </a:endParaRPr>
          </a:p>
        </p:txBody>
      </p:sp>
      <p:sp>
        <p:nvSpPr>
          <p:cNvPr id="2" name="Rounded Rectangle 1"/>
          <p:cNvSpPr/>
          <p:nvPr/>
        </p:nvSpPr>
        <p:spPr>
          <a:xfrm>
            <a:off x="271462" y="1619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Editor’s Note </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74</a:t>
            </a:fld>
            <a:endParaRPr lang="en-PH" dirty="0"/>
          </a:p>
        </p:txBody>
      </p:sp>
      <p:sp>
        <p:nvSpPr>
          <p:cNvPr id="14" name="Rounded Rectangle 13">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42358684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1990725"/>
            <a:ext cx="1441452" cy="167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810996"/>
            <a:ext cx="7098335"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a:latin typeface="Palatino Linotype" pitchFamily="18" charset="0"/>
              </a:rPr>
              <a:t>The Principles of Agile Architecture</a:t>
            </a:r>
            <a:endParaRPr lang="en-US" sz="3200" dirty="0">
              <a:latin typeface="Palatino Linotype" pitchFamily="18" charset="0"/>
            </a:endParaRPr>
          </a:p>
        </p:txBody>
      </p:sp>
      <p:sp>
        <p:nvSpPr>
          <p:cNvPr id="12292" name="Rectangle 2"/>
          <p:cNvSpPr>
            <a:spLocks/>
          </p:cNvSpPr>
          <p:nvPr/>
        </p:nvSpPr>
        <p:spPr bwMode="auto">
          <a:xfrm>
            <a:off x="2176462" y="2676525"/>
            <a:ext cx="4956175"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a:t>Abstract</a:t>
            </a:r>
            <a:endParaRPr lang="en-US" sz="1400" dirty="0">
              <a:latin typeface="Arial" pitchFamily="34" charset="0"/>
              <a:cs typeface="Arial" pitchFamily="34" charset="0"/>
            </a:endParaRPr>
          </a:p>
          <a:p>
            <a:pPr algn="just"/>
            <a:r>
              <a:rPr lang="en-US" sz="1200" dirty="0"/>
              <a:t>Large enterprises undertake large software initiatives to be able to compete in the market. Indeed, they become increasingly dependent on software for their very business success. However the increasing complexity of the solutions they build, and their constant aging in the face of rapid technologic and business change, make the systems, and the enterprise that are beholding to them, less responsive over time. The systems become brittle, hard to maintain, and hard to evolve to meet the changing needs of the enterprise and the external marketplace. This jeopardizes future success, as the software legacy systems can no longer be quickly evolved to innovate—nor even minimally meet—the needs of the next generation of business opportunities</a:t>
            </a:r>
            <a:r>
              <a:rPr lang="en-US" sz="1200" dirty="0" smtClean="0"/>
              <a:t>.</a:t>
            </a:r>
          </a:p>
          <a:p>
            <a:pPr algn="just"/>
            <a:endParaRPr lang="en-US" sz="1200" dirty="0"/>
          </a:p>
          <a:p>
            <a:pPr algn="just"/>
            <a:r>
              <a:rPr lang="en-US" sz="1200" dirty="0"/>
              <a:t>The Scaled Agile Framework is designed to help enterprises address the current and future software solution challenges by providing a set of proven patterns enterprises can use to build new software assets and more rapidly evolve current systems. Core to </a:t>
            </a:r>
            <a:r>
              <a:rPr lang="en-US" sz="1200" dirty="0" err="1"/>
              <a:t>SAFe</a:t>
            </a:r>
            <a:r>
              <a:rPr lang="en-US" sz="1200" dirty="0"/>
              <a:t> is an understanding and emphasis on the critical importance that </a:t>
            </a:r>
            <a:r>
              <a:rPr lang="en-US" sz="1200" i="1" dirty="0"/>
              <a:t>software architecture</a:t>
            </a:r>
            <a:r>
              <a:rPr lang="en-US" sz="1200" dirty="0"/>
              <a:t> plays in helping to assure business success. In this article we reprise and revise a set of </a:t>
            </a:r>
            <a:r>
              <a:rPr lang="en-US" sz="1200" i="1" dirty="0"/>
              <a:t>seven principles of agile architecture</a:t>
            </a:r>
            <a:r>
              <a:rPr lang="en-US" sz="1200" dirty="0"/>
              <a:t> designed to help the enterprise reason about software design and software architecture, and balance the role that these two different elements play in building and revising enterprise class software systems</a:t>
            </a:r>
            <a:r>
              <a:rPr lang="en-US" sz="1200" dirty="0" smtClean="0"/>
              <a:t>.</a:t>
            </a:r>
          </a:p>
          <a:p>
            <a:pPr algn="just"/>
            <a:endParaRPr lang="en-US" sz="12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243262" y="1949450"/>
            <a:ext cx="3886202" cy="72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dirty="0" smtClean="0"/>
              <a:t>You’ve </a:t>
            </a:r>
            <a:r>
              <a:rPr lang="en-US" sz="1400" dirty="0"/>
              <a:t>got to think about big things while you’re doing small things, so that all the small things go in the right direction</a:t>
            </a:r>
            <a:r>
              <a:rPr lang="en-US" sz="1400" i="1" dirty="0" smtClean="0"/>
              <a:t>.” – Alvin Toffler</a:t>
            </a:r>
          </a:p>
        </p:txBody>
      </p:sp>
      <p:sp>
        <p:nvSpPr>
          <p:cNvPr id="12294" name="Rectangle 4"/>
          <p:cNvSpPr>
            <a:spLocks/>
          </p:cNvSpPr>
          <p:nvPr/>
        </p:nvSpPr>
        <p:spPr bwMode="auto">
          <a:xfrm>
            <a:off x="2024064" y="1623633"/>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857625"/>
            <a:ext cx="16033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b="1" i="1" dirty="0"/>
              <a:t>Alex Yakyma </a:t>
            </a:r>
            <a:r>
              <a:rPr lang="en-US" sz="1100" b="1" i="1" dirty="0" smtClean="0"/>
              <a:t>and </a:t>
            </a:r>
          </a:p>
          <a:p>
            <a:pPr algn="r"/>
            <a:r>
              <a:rPr lang="en-US" sz="1100" b="1" i="1" dirty="0" smtClean="0"/>
              <a:t>Dean Leffingwell</a:t>
            </a:r>
          </a:p>
          <a:p>
            <a:pPr algn="r"/>
            <a:r>
              <a:rPr lang="en-US" sz="1100" i="1" dirty="0">
                <a:latin typeface="Helvetica" pitchFamily="34" charset="0"/>
                <a:cs typeface="Helvetica" pitchFamily="34" charset="0"/>
                <a:hlinkClick r:id="rId3"/>
              </a:rPr>
              <a:t>Scaled Agile Framework</a:t>
            </a:r>
            <a:endParaRPr lang="en-US" sz="1100" i="1" dirty="0">
              <a:latin typeface="Helvetica" pitchFamily="34" charset="0"/>
              <a:cs typeface="Helvetica" pitchFamily="34" charset="0"/>
            </a:endParaRPr>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a:p>
          <a:p>
            <a:pPr algn="r"/>
            <a:endParaRPr lang="en-US" sz="1100" i="1" dirty="0" smtClean="0"/>
          </a:p>
          <a:p>
            <a:pPr algn="r"/>
            <a:endParaRPr lang="en-US" sz="1100" i="1" dirty="0" smtClean="0"/>
          </a:p>
          <a:p>
            <a:pPr algn="r"/>
            <a:endParaRPr lang="en-US" sz="1100" i="1" dirty="0" smtClean="0"/>
          </a:p>
          <a:p>
            <a:pPr algn="r"/>
            <a:endParaRPr lang="en-US" sz="1100" i="1" dirty="0" smtClean="0"/>
          </a:p>
          <a:p>
            <a:pPr algn="r"/>
            <a:endParaRPr lang="en-US" sz="1100" i="1" dirty="0" smtClean="0"/>
          </a:p>
          <a:p>
            <a:pPr algn="r"/>
            <a:r>
              <a:rPr lang="en-US" sz="1100" i="1" dirty="0" smtClean="0"/>
              <a:t>with </a:t>
            </a:r>
            <a:r>
              <a:rPr lang="en-US" sz="1100" i="1" dirty="0"/>
              <a:t>contributions from Ryan Martens and Mauricio </a:t>
            </a:r>
            <a:r>
              <a:rPr lang="en-US" sz="1100" i="1" dirty="0" smtClean="0"/>
              <a:t>Zamora</a:t>
            </a: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75</a:t>
            </a:fld>
            <a:endParaRPr lang="en-PH"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88" y="4568588"/>
            <a:ext cx="1441451" cy="161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ectangle 2"/>
          <p:cNvSpPr>
            <a:spLocks/>
          </p:cNvSpPr>
          <p:nvPr/>
        </p:nvSpPr>
        <p:spPr bwMode="auto">
          <a:xfrm>
            <a:off x="508170" y="7934325"/>
            <a:ext cx="6545092" cy="1524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5"/>
              </a:rPr>
              <a:t>Alex Yakyma</a:t>
            </a:r>
            <a:r>
              <a:rPr lang="en-US" sz="1000" i="1" dirty="0"/>
              <a:t> is an Associate Scaled Agile Framework methodologist and agile consultant, trainer and who has been applying and advancing agile practices for over a decade. Alex fluent in English, Russian, Java, C++, TDD and ATDD, works in developing and applying the framework for multinational clients in the US, Europe and Asia.</a:t>
            </a:r>
          </a:p>
          <a:p>
            <a:pPr algn="just"/>
            <a:endParaRPr lang="en-US" sz="1000" i="1" u="sng" dirty="0">
              <a:hlinkClick r:id="rId6"/>
            </a:endParaRPr>
          </a:p>
          <a:p>
            <a:pPr algn="just"/>
            <a:r>
              <a:rPr lang="en-US" sz="1000" i="1" u="sng" dirty="0" smtClean="0">
                <a:hlinkClick r:id="rId6"/>
              </a:rPr>
              <a:t>Dean </a:t>
            </a:r>
            <a:r>
              <a:rPr lang="en-US" sz="1000" i="1" u="sng" dirty="0">
                <a:hlinkClick r:id="rId6"/>
              </a:rPr>
              <a:t>Leffingwell</a:t>
            </a:r>
            <a:r>
              <a:rPr lang="en-US" sz="1000" i="1" dirty="0"/>
              <a:t>, software industry veteran and Lean Systems Society Fellow, is a renowned methodologist, author, coach, entrepreneur and executive, having founded numerous high tech companies. He most recent books are </a:t>
            </a:r>
            <a:r>
              <a:rPr lang="en-US" sz="1000" i="1" u="sng" dirty="0">
                <a:hlinkClick r:id="rId7"/>
              </a:rPr>
              <a:t>Agile Software Requirements</a:t>
            </a:r>
            <a:r>
              <a:rPr lang="en-US" sz="1000" i="1" dirty="0"/>
              <a:t> and </a:t>
            </a:r>
            <a:r>
              <a:rPr lang="en-US" sz="1000" i="1" u="sng" dirty="0">
                <a:hlinkClick r:id="rId8"/>
              </a:rPr>
              <a:t>Scaling Software Agility</a:t>
            </a:r>
            <a:r>
              <a:rPr lang="en-US" sz="1000" i="1" dirty="0"/>
              <a:t>. His current project is the </a:t>
            </a:r>
            <a:r>
              <a:rPr lang="en-US" sz="1000" i="1" u="sng" dirty="0">
                <a:hlinkClick r:id="rId3"/>
              </a:rPr>
              <a:t>ScaledAgileFramework.com</a:t>
            </a:r>
            <a:r>
              <a:rPr lang="en-US" sz="1000" i="1" dirty="0"/>
              <a:t>, which describes a comprehensive system for scaling Lean and Agile practices to the largest software enterprises.</a:t>
            </a:r>
          </a:p>
          <a:p>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427305739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Cheryl M Hammond"/>
          <p:cNvPicPr/>
          <p:nvPr/>
        </p:nvPicPr>
        <p:blipFill>
          <a:blip r:embed="rId2">
            <a:extLst>
              <a:ext uri="{28A0092B-C50C-407E-A947-70E740481C1C}">
                <a14:useLocalDpi xmlns:a14="http://schemas.microsoft.com/office/drawing/2010/main" val="0"/>
              </a:ext>
            </a:extLst>
          </a:blip>
          <a:srcRect/>
          <a:stretch>
            <a:fillRect/>
          </a:stretch>
        </p:blipFill>
        <p:spPr bwMode="auto">
          <a:xfrm>
            <a:off x="538164" y="1989751"/>
            <a:ext cx="1412876" cy="1405078"/>
          </a:xfrm>
          <a:prstGeom prst="rect">
            <a:avLst/>
          </a:prstGeom>
          <a:noFill/>
          <a:ln>
            <a:noFill/>
          </a:ln>
        </p:spPr>
      </p:pic>
      <p:sp>
        <p:nvSpPr>
          <p:cNvPr id="12290" name="TextBox 3"/>
          <p:cNvSpPr txBox="1">
            <a:spLocks noChangeArrowheads="1"/>
          </p:cNvSpPr>
          <p:nvPr/>
        </p:nvSpPr>
        <p:spPr bwMode="auto">
          <a:xfrm>
            <a:off x="107581" y="810996"/>
            <a:ext cx="7141617" cy="1015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000" b="1" dirty="0">
                <a:latin typeface="Palatino Linotype" pitchFamily="18" charset="0"/>
              </a:rPr>
              <a:t>Deliver Early, Often, and </a:t>
            </a:r>
            <a:r>
              <a:rPr lang="en-US" sz="3000" b="1" dirty="0" smtClean="0">
                <a:latin typeface="Palatino Linotype" pitchFamily="18" charset="0"/>
              </a:rPr>
              <a:t>Exceptionally </a:t>
            </a:r>
          </a:p>
          <a:p>
            <a:r>
              <a:rPr lang="en-US" sz="3000" b="1" dirty="0" smtClean="0">
                <a:latin typeface="Palatino Linotype" pitchFamily="18" charset="0"/>
              </a:rPr>
              <a:t>with </a:t>
            </a:r>
            <a:r>
              <a:rPr lang="en-US" sz="3000" b="1" dirty="0">
                <a:latin typeface="Palatino Linotype" pitchFamily="18" charset="0"/>
              </a:rPr>
              <a:t>Visual Studio </a:t>
            </a:r>
            <a:r>
              <a:rPr lang="en-US" sz="3000" b="1" dirty="0" smtClean="0">
                <a:latin typeface="Palatino Linotype" pitchFamily="18" charset="0"/>
              </a:rPr>
              <a:t>Premium</a:t>
            </a:r>
            <a:endParaRPr lang="en-US" sz="3000" dirty="0">
              <a:latin typeface="Palatino Linotype" pitchFamily="18" charset="0"/>
            </a:endParaRPr>
          </a:p>
        </p:txBody>
      </p:sp>
      <p:sp>
        <p:nvSpPr>
          <p:cNvPr id="12292" name="Rectangle 2"/>
          <p:cNvSpPr>
            <a:spLocks/>
          </p:cNvSpPr>
          <p:nvPr/>
        </p:nvSpPr>
        <p:spPr bwMode="auto">
          <a:xfrm>
            <a:off x="2176462" y="3286125"/>
            <a:ext cx="4956175" cy="3560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smtClean="0"/>
          </a:p>
          <a:p>
            <a:r>
              <a:rPr lang="en-US" sz="1200" dirty="0" smtClean="0"/>
              <a:t>Expect </a:t>
            </a:r>
            <a:r>
              <a:rPr lang="en-US" sz="1200" dirty="0"/>
              <a:t>to see: new features </a:t>
            </a:r>
            <a:r>
              <a:rPr lang="en-US" sz="1200" dirty="0" smtClean="0"/>
              <a:t>f</a:t>
            </a:r>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167062" y="1949450"/>
            <a:ext cx="3962402" cy="1108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err="1" smtClean="0"/>
              <a:t>evelopers</a:t>
            </a:r>
            <a:endParaRPr lang="en-US" sz="1200" i="1" dirty="0"/>
          </a:p>
        </p:txBody>
      </p:sp>
      <p:sp>
        <p:nvSpPr>
          <p:cNvPr id="12294" name="Rectangle 4"/>
          <p:cNvSpPr>
            <a:spLocks/>
          </p:cNvSpPr>
          <p:nvPr/>
        </p:nvSpPr>
        <p:spPr bwMode="auto">
          <a:xfrm>
            <a:off x="2024064" y="16097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D</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452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Cheryl Hammond</a:t>
            </a:r>
            <a:endParaRPr lang="en-US" sz="1100" i="1" dirty="0">
              <a:latin typeface="Helvetica" pitchFamily="34" charset="0"/>
              <a:cs typeface="Helvetica" pitchFamily="34" charset="0"/>
            </a:endParaRPr>
          </a:p>
          <a:p>
            <a:pPr algn="r"/>
            <a:r>
              <a:rPr lang="en-US" sz="1100" i="1" dirty="0">
                <a:latin typeface="Helvetica" pitchFamily="34" charset="0"/>
                <a:cs typeface="Helvetica" pitchFamily="34" charset="0"/>
              </a:rPr>
              <a:t>ALM Consultant</a:t>
            </a:r>
          </a:p>
          <a:p>
            <a:pPr algn="r"/>
            <a:r>
              <a:rPr lang="en-US" sz="1100" i="1" dirty="0">
                <a:latin typeface="Helvetica" pitchFamily="34" charset="0"/>
                <a:cs typeface="Helvetica" pitchFamily="34" charset="0"/>
                <a:hlinkClick r:id="rId3"/>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2" name="Rectangle 2"/>
          <p:cNvSpPr>
            <a:spLocks/>
          </p:cNvSpPr>
          <p:nvPr/>
        </p:nvSpPr>
        <p:spPr bwMode="auto">
          <a:xfrm>
            <a:off x="344490" y="8834914"/>
            <a:ext cx="6784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b="1" i="1" u="sng" dirty="0">
                <a:latin typeface="Arial" pitchFamily="34" charset="0"/>
                <a:cs typeface="Arial" pitchFamily="34" charset="0"/>
                <a:hlinkClick r:id="rId3"/>
              </a:rPr>
              <a:t>Northwest Cadence, Inc.</a:t>
            </a:r>
            <a:r>
              <a:rPr lang="en-US" sz="1000" i="1" dirty="0">
                <a:latin typeface="Arial" pitchFamily="34" charset="0"/>
                <a:cs typeface="Arial" pitchFamily="34" charset="0"/>
                <a:hlinkClick r:id="rId3"/>
              </a:rPr>
              <a:t> </a:t>
            </a:r>
            <a:r>
              <a:rPr lang="en-US" sz="1000" i="1" dirty="0" smtClean="0">
                <a:latin typeface="Arial" pitchFamily="34" charset="0"/>
                <a:cs typeface="Arial" pitchFamily="34" charset="0"/>
                <a:hlinkClick r:id="rId3"/>
              </a:rPr>
              <a:t> </a:t>
            </a:r>
            <a:r>
              <a:rPr lang="en-US" sz="1000" i="1" dirty="0" smtClean="0"/>
              <a:t>provides </a:t>
            </a:r>
            <a:r>
              <a:rPr lang="en-US" sz="1000" i="1" dirty="0"/>
              <a:t>training and consulting services across the United States. The exclusive focus on Software Process and Microsoft ALM tools ensures clients benefit from deep technical expertise, sound process acumen, and hundreds of practical experiences on ALM projects.  They partner with software development teams to improve processes and business results.</a:t>
            </a:r>
            <a:endParaRPr lang="en-US" sz="1000" i="1" dirty="0">
              <a:latin typeface="Arial" pitchFamily="34" charset="0"/>
              <a:cs typeface="Arial" pitchFamily="34" charset="0"/>
            </a:endParaRPr>
          </a:p>
        </p:txBody>
      </p:sp>
      <p:pic>
        <p:nvPicPr>
          <p:cNvPr id="1026" name="Picture 2" descr="E:\My Documents\_Work Related\_ALM Mag\Admin\Contributors\NW Cadence\nwc_logo_tagline-250x80.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8172959"/>
            <a:ext cx="1752600" cy="560831"/>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p:cNvSpPr>
            <a:spLocks/>
          </p:cNvSpPr>
          <p:nvPr/>
        </p:nvSpPr>
        <p:spPr bwMode="auto">
          <a:xfrm>
            <a:off x="2147325" y="7629525"/>
            <a:ext cx="4973355" cy="1066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a:hlinkClick r:id="rId5" action="ppaction://hlinkfile"/>
              </a:rPr>
              <a:t>Cheryl </a:t>
            </a:r>
            <a:r>
              <a:rPr lang="en-US" sz="1000" i="1" dirty="0" smtClean="0">
                <a:hlinkClick r:id="rId5" action="ppaction://hlinkfile"/>
              </a:rPr>
              <a:t>Hammond</a:t>
            </a:r>
            <a:r>
              <a:rPr lang="en-US" sz="1000" i="1" dirty="0" smtClean="0"/>
              <a:t> leads </a:t>
            </a:r>
            <a:r>
              <a:rPr lang="en-US" sz="1000" i="1" dirty="0"/>
              <a:t>the </a:t>
            </a:r>
            <a:r>
              <a:rPr lang="en-US" sz="1000" i="1" dirty="0">
                <a:hlinkClick r:id="rId3"/>
              </a:rPr>
              <a:t>Northwest Cadence</a:t>
            </a:r>
            <a:r>
              <a:rPr lang="en-US" sz="1000" i="1" dirty="0"/>
              <a:t> Practices Team, focusing on the ways in which agility, architecture and test practices improve the lives of developers, strengthen teams, and deliver better software. Cheryl  has authored Microsoft courseware and white papers on end-to-end ALM with Visual Studio 2012, and recorded videos on modern application development including Windows 8 applications and C++. Cheryl believes that anything is possible. </a:t>
            </a: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95263" y="29009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Visual Studio</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76</a:t>
            </a:fld>
            <a:endParaRPr lang="en-PH" dirty="0"/>
          </a:p>
        </p:txBody>
      </p:sp>
      <p:pic>
        <p:nvPicPr>
          <p:cNvPr id="13" name="Picture 2">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7325" y="4276725"/>
            <a:ext cx="4956175" cy="2646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hlinkClick r:id="rId6"/>
          </p:cNvPr>
          <p:cNvSpPr txBox="1"/>
          <p:nvPr/>
        </p:nvSpPr>
        <p:spPr>
          <a:xfrm>
            <a:off x="2147325" y="4505325"/>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9" name="TextBox 18">
            <a:hlinkClick r:id="rId6"/>
          </p:cNvPr>
          <p:cNvSpPr txBox="1"/>
          <p:nvPr/>
        </p:nvSpPr>
        <p:spPr>
          <a:xfrm>
            <a:off x="2147323" y="5887105"/>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0" name="TextBox 19"/>
          <p:cNvSpPr txBox="1"/>
          <p:nvPr/>
        </p:nvSpPr>
        <p:spPr>
          <a:xfrm>
            <a:off x="2147324" y="6923127"/>
            <a:ext cx="4956174" cy="553998"/>
          </a:xfrm>
          <a:prstGeom prst="rect">
            <a:avLst/>
          </a:prstGeom>
          <a:noFill/>
        </p:spPr>
        <p:txBody>
          <a:bodyPr wrap="square" rtlCol="0">
            <a:spAutoFit/>
          </a:bodyPr>
          <a:lstStyle/>
          <a:p>
            <a:pPr algn="ctr"/>
            <a:r>
              <a:rPr lang="en-US" sz="1000" i="1" dirty="0"/>
              <a:t>Click on the graphic above to play the </a:t>
            </a:r>
            <a:r>
              <a:rPr lang="en-US" sz="1000" i="1" dirty="0" smtClean="0"/>
              <a:t>video</a:t>
            </a:r>
            <a:endParaRPr lang="en-US" sz="1000" i="1" dirty="0"/>
          </a:p>
          <a:p>
            <a:pPr algn="ctr"/>
            <a:r>
              <a:rPr lang="en-US" sz="1000" i="1" dirty="0"/>
              <a:t>If the graphic above doesn’t play for you </a:t>
            </a:r>
          </a:p>
          <a:p>
            <a:pPr algn="ctr"/>
            <a:r>
              <a:rPr lang="en-US" sz="1000" i="1" dirty="0">
                <a:hlinkClick r:id="rId8"/>
              </a:rPr>
              <a:t>click here for a dedicated player and the option to </a:t>
            </a:r>
            <a:r>
              <a:rPr lang="en-US" sz="1000" i="1" dirty="0" smtClean="0">
                <a:hlinkClick r:id="rId8"/>
              </a:rPr>
              <a:t>Download</a:t>
            </a:r>
            <a:endParaRPr lang="en-US" sz="1000" i="1" dirty="0"/>
          </a:p>
        </p:txBody>
      </p:sp>
      <p:sp>
        <p:nvSpPr>
          <p:cNvPr id="21" name="Rounded Rectangle 2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2331804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6" y="1672018"/>
            <a:ext cx="1417234" cy="157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95263" y="810996"/>
            <a:ext cx="7086600"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smtClean="0">
                <a:latin typeface="Palatino Linotype" pitchFamily="18" charset="0"/>
              </a:rPr>
              <a:t>Brian Harry Discusses ALM and TFS</a:t>
            </a:r>
            <a:endParaRPr lang="en-US" sz="3200" dirty="0">
              <a:latin typeface="Palatino Linotype" pitchFamily="18" charset="0"/>
            </a:endParaRPr>
          </a:p>
        </p:txBody>
      </p:sp>
      <p:sp>
        <p:nvSpPr>
          <p:cNvPr id="12292" name="Rectangle 2"/>
          <p:cNvSpPr>
            <a:spLocks/>
          </p:cNvSpPr>
          <p:nvPr/>
        </p:nvSpPr>
        <p:spPr bwMode="auto">
          <a:xfrm>
            <a:off x="2176463" y="2981706"/>
            <a:ext cx="4800600" cy="6400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For the full unedited interview click the following audio player graphic.</a:t>
            </a:r>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smtClean="0"/>
          </a:p>
          <a:p>
            <a:pPr algn="just"/>
            <a:r>
              <a:rPr lang="en-US" sz="1200" dirty="0" smtClean="0"/>
              <a:t>Brian </a:t>
            </a:r>
            <a:r>
              <a:rPr lang="en-US" sz="1200" dirty="0"/>
              <a:t>thanks for sitting with ALM Mag today and sharing your time and experience. Firstly, I know that you have a </a:t>
            </a:r>
            <a:r>
              <a:rPr lang="en-US" sz="1200" dirty="0" smtClean="0"/>
              <a:t>farm. How </a:t>
            </a:r>
            <a:r>
              <a:rPr lang="en-US" sz="1200" dirty="0"/>
              <a:t>do you manage to balance family life with your work life here at Microsoft and still have a working farm as well</a:t>
            </a:r>
            <a:r>
              <a:rPr lang="en-US" sz="1200" dirty="0" smtClean="0"/>
              <a:t>?</a:t>
            </a:r>
          </a:p>
          <a:p>
            <a:pPr algn="just"/>
            <a:endParaRPr lang="en-US" sz="1200" dirty="0"/>
          </a:p>
          <a:p>
            <a:pPr algn="just"/>
            <a:r>
              <a:rPr lang="en-US" sz="1200" i="1" dirty="0"/>
              <a:t>It’s a question my wife asks me as well. The farm is my release. Some people watch TV, or movies, or biking, or boating, or whatever their passion is. My downtime passion is farming. I like it: I like being outdoors, I like taking care of the animals, I even like digging the ditches, it’s cathartic for me. That’s how I relax</a:t>
            </a:r>
            <a:r>
              <a:rPr lang="en-US" sz="1200" i="1" dirty="0" smtClean="0"/>
              <a:t>.</a:t>
            </a:r>
          </a:p>
          <a:p>
            <a:pPr algn="just"/>
            <a:endParaRPr lang="en-US" sz="1200" i="1" dirty="0"/>
          </a:p>
          <a:p>
            <a:pPr algn="just"/>
            <a:r>
              <a:rPr lang="en-US" sz="1200" dirty="0" smtClean="0"/>
              <a:t>Is </a:t>
            </a:r>
            <a:r>
              <a:rPr lang="en-US" sz="1200" dirty="0"/>
              <a:t>this a </a:t>
            </a:r>
            <a:r>
              <a:rPr lang="en-US" sz="1200" dirty="0" smtClean="0"/>
              <a:t>commercial farm?</a:t>
            </a:r>
          </a:p>
          <a:p>
            <a:pPr algn="just"/>
            <a:endParaRPr lang="en-US" sz="1200" i="1" dirty="0"/>
          </a:p>
          <a:p>
            <a:pPr algn="just"/>
            <a:r>
              <a:rPr lang="en-US" sz="1200" i="1" dirty="0"/>
              <a:t>Yes it’s a commercial farm. My wife runs the business. We’ve got about a hundred head of cattle and so it’s mostly beef that we sell. We also have an orchard and sell fruit. We sell a couple of thousand pounds of fruit a year, so it’s fun. We have a good time with it. It keeps us really busy</a:t>
            </a:r>
            <a:r>
              <a:rPr lang="en-US" sz="1200" i="1" dirty="0" smtClean="0"/>
              <a:t>.</a:t>
            </a:r>
          </a:p>
          <a:p>
            <a:pPr algn="just"/>
            <a:endParaRPr lang="en-US" sz="1200" i="1" dirty="0"/>
          </a:p>
          <a:p>
            <a:pPr algn="just"/>
            <a:r>
              <a:rPr lang="en-US" sz="1200" dirty="0"/>
              <a:t>Probably most people don't know </a:t>
            </a:r>
            <a:r>
              <a:rPr lang="en-US" sz="1200" dirty="0" smtClean="0"/>
              <a:t>about </a:t>
            </a:r>
            <a:r>
              <a:rPr lang="en-US" sz="1200" dirty="0"/>
              <a:t>your origins </a:t>
            </a:r>
            <a:r>
              <a:rPr lang="en-US" sz="1200" dirty="0" smtClean="0"/>
              <a:t>and how </a:t>
            </a:r>
            <a:r>
              <a:rPr lang="en-US" sz="1200" dirty="0"/>
              <a:t>you evolved to the Microsoft path was originally through da Vinci systems with your work on email platforms</a:t>
            </a:r>
            <a:r>
              <a:rPr lang="en-US" sz="1200" dirty="0" smtClean="0"/>
              <a:t>.</a:t>
            </a:r>
          </a:p>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548062" y="1630741"/>
            <a:ext cx="3429000"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err="1" smtClean="0"/>
              <a:t>e’re</a:t>
            </a:r>
            <a:r>
              <a:rPr lang="en-US" sz="1200" dirty="0" smtClean="0"/>
              <a:t> </a:t>
            </a:r>
            <a:r>
              <a:rPr lang="en-US" sz="1200" dirty="0"/>
              <a:t>here today talking with Brian Harry Technical Fellow at Microsoft and a person who’s been really guiding and leading the effort to develop TFS and the ALM platform into a really all-encompassing and totally integrated platform for software development right from the very </a:t>
            </a:r>
            <a:r>
              <a:rPr lang="en-US" sz="1200" dirty="0" smtClean="0"/>
              <a:t>beginning. </a:t>
            </a:r>
            <a:endParaRPr lang="en-US" sz="1200" dirty="0">
              <a:latin typeface="Arial" pitchFamily="34" charset="0"/>
              <a:cs typeface="Arial" pitchFamily="34" charset="0"/>
            </a:endParaRPr>
          </a:p>
        </p:txBody>
      </p:sp>
      <p:sp>
        <p:nvSpPr>
          <p:cNvPr id="12294" name="Rectangle 4"/>
          <p:cNvSpPr>
            <a:spLocks/>
          </p:cNvSpPr>
          <p:nvPr/>
        </p:nvSpPr>
        <p:spPr bwMode="auto">
          <a:xfrm>
            <a:off x="2024064" y="13049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438525"/>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Brian Harry</a:t>
            </a:r>
            <a:endParaRPr lang="en-US" sz="1100" i="1" dirty="0">
              <a:latin typeface="Helvetica" pitchFamily="34" charset="0"/>
              <a:cs typeface="Helvetica" pitchFamily="34" charset="0"/>
            </a:endParaRPr>
          </a:p>
          <a:p>
            <a:pPr algn="r"/>
            <a:r>
              <a:rPr lang="en-US" sz="1100" i="1" dirty="0" smtClean="0">
                <a:latin typeface="Helvetica" pitchFamily="34" charset="0"/>
                <a:cs typeface="Helvetica" pitchFamily="34" charset="0"/>
              </a:rPr>
              <a:t>Technical Fellow</a:t>
            </a:r>
            <a:endParaRPr lang="en-US" sz="1100" i="1" dirty="0">
              <a:latin typeface="Helvetica" pitchFamily="34" charset="0"/>
              <a:cs typeface="Helvetica" pitchFamily="34" charset="0"/>
            </a:endParaRPr>
          </a:p>
          <a:p>
            <a:pPr algn="r"/>
            <a:r>
              <a:rPr lang="en-US" sz="1100" i="1" dirty="0" smtClean="0">
                <a:latin typeface="Helvetica" pitchFamily="34" charset="0"/>
                <a:cs typeface="Helvetica" pitchFamily="34" charset="0"/>
                <a:hlinkClick r:id="rId3"/>
              </a:rPr>
              <a:t>Microsoft</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7836" y="221607"/>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Interview / TFS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77</a:t>
            </a:fld>
            <a:endParaRPr lang="en-PH" dirty="0"/>
          </a:p>
        </p:txBody>
      </p:sp>
      <p:sp>
        <p:nvSpPr>
          <p:cNvPr id="13" name="Rectangle 2"/>
          <p:cNvSpPr>
            <a:spLocks/>
          </p:cNvSpPr>
          <p:nvPr/>
        </p:nvSpPr>
        <p:spPr bwMode="auto">
          <a:xfrm>
            <a:off x="881062" y="4657725"/>
            <a:ext cx="1066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i="1" dirty="0" smtClean="0"/>
              <a:t>ALM </a:t>
            </a:r>
            <a:r>
              <a:rPr lang="en-US" sz="1200" i="1" dirty="0"/>
              <a:t>Mag:</a:t>
            </a:r>
          </a:p>
          <a:p>
            <a:endParaRPr lang="en-US" sz="1200" dirty="0"/>
          </a:p>
          <a:p>
            <a:endParaRPr lang="en-US" sz="1200" dirty="0" smtClean="0"/>
          </a:p>
          <a:p>
            <a:endParaRPr lang="en-US" sz="1200" dirty="0" smtClean="0"/>
          </a:p>
          <a:p>
            <a:endParaRPr lang="en-US" sz="1200" dirty="0" smtClean="0"/>
          </a:p>
          <a:p>
            <a:r>
              <a:rPr lang="en-US" sz="1200" i="1" dirty="0"/>
              <a:t>Brian Harry:</a:t>
            </a:r>
          </a:p>
          <a:p>
            <a:endParaRPr lang="en-US" sz="1200" i="1" dirty="0" smtClean="0"/>
          </a:p>
          <a:p>
            <a:endParaRPr lang="en-US" sz="1200" i="1" dirty="0"/>
          </a:p>
          <a:p>
            <a:endParaRPr lang="en-US" sz="1200" i="1" dirty="0" smtClean="0"/>
          </a:p>
          <a:p>
            <a:endParaRPr lang="en-US" sz="1200" i="1" dirty="0"/>
          </a:p>
          <a:p>
            <a:endParaRPr lang="en-US" sz="1200" i="1" dirty="0" smtClean="0"/>
          </a:p>
          <a:p>
            <a:r>
              <a:rPr lang="en-US" sz="1200" i="1" dirty="0" smtClean="0"/>
              <a:t>ALM </a:t>
            </a:r>
            <a:r>
              <a:rPr lang="en-US" sz="1200" i="1" dirty="0"/>
              <a:t>Mag:</a:t>
            </a:r>
          </a:p>
          <a:p>
            <a:endParaRPr lang="en-US" sz="1200" dirty="0"/>
          </a:p>
          <a:p>
            <a:r>
              <a:rPr lang="en-US" sz="1200" i="1" dirty="0"/>
              <a:t>Brian Harry:</a:t>
            </a:r>
          </a:p>
          <a:p>
            <a:endParaRPr lang="en-US" sz="1200" dirty="0"/>
          </a:p>
          <a:p>
            <a:endParaRPr lang="en-US" sz="1200" dirty="0"/>
          </a:p>
          <a:p>
            <a:endParaRPr lang="en-US" sz="1200" dirty="0" smtClean="0"/>
          </a:p>
          <a:p>
            <a:endParaRPr lang="en-US" sz="1200" dirty="0"/>
          </a:p>
          <a:p>
            <a:endParaRPr lang="en-US" sz="1200" i="1" dirty="0" smtClean="0"/>
          </a:p>
          <a:p>
            <a:r>
              <a:rPr lang="en-US" sz="1200" i="1" dirty="0" smtClean="0"/>
              <a:t>ALM </a:t>
            </a:r>
            <a:r>
              <a:rPr lang="en-US" sz="1200" i="1" dirty="0"/>
              <a:t>Mag:</a:t>
            </a:r>
          </a:p>
          <a:p>
            <a:endParaRPr lang="en-US" sz="1200" dirty="0"/>
          </a:p>
          <a:p>
            <a:endParaRPr lang="en-US" sz="1200" dirty="0"/>
          </a:p>
          <a:p>
            <a:endParaRPr lang="en-US" sz="1200" dirty="0"/>
          </a:p>
          <a:p>
            <a:endParaRPr lang="en-US" sz="1200" dirty="0" smtClean="0"/>
          </a:p>
          <a:p>
            <a:endParaRPr lang="en-US" sz="1200" dirty="0"/>
          </a:p>
          <a:p>
            <a:endParaRPr lang="en-US" sz="1200" dirty="0"/>
          </a:p>
        </p:txBody>
      </p:sp>
      <p:sp>
        <p:nvSpPr>
          <p:cNvPr id="12" name="Rectangle 10"/>
          <p:cNvSpPr>
            <a:spLocks/>
          </p:cNvSpPr>
          <p:nvPr/>
        </p:nvSpPr>
        <p:spPr bwMode="auto">
          <a:xfrm>
            <a:off x="2176462" y="3286125"/>
            <a:ext cx="49561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smtClean="0">
              <a:latin typeface="Helvetica" charset="0"/>
              <a:cs typeface="Helvetica" charset="0"/>
              <a:sym typeface="Helvetica" charset="0"/>
            </a:endParaRPr>
          </a:p>
          <a:p>
            <a:endParaRPr lang="en-US" sz="1200" dirty="0"/>
          </a:p>
          <a:p>
            <a:pPr algn="ctr"/>
            <a:r>
              <a:rPr lang="en-US" sz="1200" i="1" dirty="0"/>
              <a:t>Click on the graphic above to play the </a:t>
            </a:r>
            <a:r>
              <a:rPr lang="en-US" sz="1200" i="1" dirty="0" smtClean="0"/>
              <a:t>interview</a:t>
            </a:r>
          </a:p>
          <a:p>
            <a:pPr algn="ctr"/>
            <a:endParaRPr lang="en-US" sz="1200" i="1" dirty="0"/>
          </a:p>
          <a:p>
            <a:pPr algn="ctr"/>
            <a:r>
              <a:rPr lang="en-US" sz="1200" i="1" dirty="0"/>
              <a:t>If the graphic above doesn’t play for you </a:t>
            </a:r>
          </a:p>
          <a:p>
            <a:pPr algn="ctr"/>
            <a:r>
              <a:rPr lang="en-US" sz="1200" i="1" dirty="0">
                <a:hlinkClick r:id="rId4"/>
              </a:rPr>
              <a:t>click here for a dedicated player and the option to </a:t>
            </a:r>
            <a:r>
              <a:rPr lang="en-US" sz="1200" i="1" dirty="0" smtClean="0">
                <a:hlinkClick r:id="rId4"/>
              </a:rPr>
              <a:t>Download</a:t>
            </a:r>
            <a:endParaRPr lang="en-US" sz="1200" i="1" dirty="0"/>
          </a:p>
        </p:txBody>
      </p:sp>
      <p:pic>
        <p:nvPicPr>
          <p:cNvPr id="14" name="Picture 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2862" y="3362325"/>
            <a:ext cx="18129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ounded Rectangle 14">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6" name="Rectangle 2"/>
          <p:cNvSpPr>
            <a:spLocks/>
          </p:cNvSpPr>
          <p:nvPr/>
        </p:nvSpPr>
        <p:spPr bwMode="auto">
          <a:xfrm>
            <a:off x="1338264" y="8772525"/>
            <a:ext cx="5638798" cy="762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dirty="0" smtClean="0">
                <a:hlinkClick r:id="rId7"/>
              </a:rPr>
              <a:t>Brian Harry </a:t>
            </a:r>
            <a:r>
              <a:rPr lang="en-US" sz="1000" i="1" dirty="0" smtClean="0"/>
              <a:t>is a Microsoft Technical Fellow working </a:t>
            </a:r>
            <a:r>
              <a:rPr lang="en-US" sz="1000" i="1" dirty="0"/>
              <a:t>as the Product Unit Manager for Team Foundation </a:t>
            </a:r>
            <a:r>
              <a:rPr lang="en-US" sz="1000" i="1" dirty="0" smtClean="0"/>
              <a:t>Server for which he is a key driver and visionary. Brian’s career started with work </a:t>
            </a:r>
            <a:r>
              <a:rPr lang="en-US" sz="1000" i="1" dirty="0"/>
              <a:t>on email platforms </a:t>
            </a:r>
            <a:r>
              <a:rPr lang="en-US" sz="1000" i="1" dirty="0" smtClean="0"/>
              <a:t>for Da </a:t>
            </a:r>
            <a:r>
              <a:rPr lang="en-US" sz="1000" i="1" dirty="0"/>
              <a:t>Vinci Systems, then he co-founded One Tree Software a startup that created </a:t>
            </a:r>
            <a:r>
              <a:rPr lang="en-US" sz="1000" i="1" dirty="0" smtClean="0"/>
              <a:t>SourceSafe </a:t>
            </a:r>
            <a:r>
              <a:rPr lang="en-US" sz="1000" i="1" dirty="0"/>
              <a:t>and brought it to Microsoft in 1994 where it became Visual </a:t>
            </a:r>
            <a:r>
              <a:rPr lang="en-US" sz="1000" i="1" dirty="0" smtClean="0"/>
              <a:t>SourceSafe.</a:t>
            </a:r>
            <a:endParaRPr lang="en-US" sz="1000" i="1" dirty="0"/>
          </a:p>
          <a:p>
            <a:endParaRPr lang="en-US" sz="1000" i="1" dirty="0"/>
          </a:p>
        </p:txBody>
      </p:sp>
    </p:spTree>
    <p:extLst>
      <p:ext uri="{BB962C8B-B14F-4D97-AF65-F5344CB8AC3E}">
        <p14:creationId xmlns:p14="http://schemas.microsoft.com/office/powerpoint/2010/main" val="163127157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5"/>
            <a:ext cx="1418012" cy="141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810996"/>
            <a:ext cx="7445744"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AU" sz="3200" b="1" dirty="0">
                <a:latin typeface="Palatino Linotype" pitchFamily="18" charset="0"/>
              </a:rPr>
              <a:t>Microsoft ALM Certification </a:t>
            </a:r>
            <a:endParaRPr lang="en-AU" sz="3200" b="1" dirty="0" smtClean="0">
              <a:latin typeface="Palatino Linotype" pitchFamily="18" charset="0"/>
            </a:endParaRPr>
          </a:p>
          <a:p>
            <a:r>
              <a:rPr lang="en-AU" sz="3200" b="1" dirty="0" smtClean="0">
                <a:latin typeface="Palatino Linotype" pitchFamily="18" charset="0"/>
              </a:rPr>
              <a:t>– </a:t>
            </a:r>
            <a:r>
              <a:rPr lang="en-AU" sz="3200" b="1" dirty="0">
                <a:latin typeface="Palatino Linotype" pitchFamily="18" charset="0"/>
              </a:rPr>
              <a:t>Part 1 of 3</a:t>
            </a:r>
            <a:endParaRPr lang="en-US" sz="3200" b="1" dirty="0">
              <a:latin typeface="Palatino Linotype" pitchFamily="18" charset="0"/>
            </a:endParaRPr>
          </a:p>
        </p:txBody>
      </p:sp>
      <p:sp>
        <p:nvSpPr>
          <p:cNvPr id="12292" name="Rectangle 2"/>
          <p:cNvSpPr>
            <a:spLocks/>
          </p:cNvSpPr>
          <p:nvPr/>
        </p:nvSpPr>
        <p:spPr bwMode="auto">
          <a:xfrm>
            <a:off x="2176462" y="3148011"/>
            <a:ext cx="4956175" cy="53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AU" sz="1200" dirty="0"/>
              <a:t>In this article I’ll introduce you to the new Microsoft Certified Solution Developer: Application Lifecycle Management certification and then focus on the 70-496 exam. The second article will focus on exam taking tips and then look closely at exam 70-497. The final article will cover exam 70-498 and how to make the most of your new certification</a:t>
            </a:r>
            <a:r>
              <a:rPr lang="en-AU" sz="1200" dirty="0" smtClean="0"/>
              <a:t>.</a:t>
            </a:r>
          </a:p>
          <a:p>
            <a:endParaRPr lang="en-AU" sz="1200" dirty="0"/>
          </a:p>
          <a:p>
            <a:r>
              <a:rPr lang="en-AU" sz="1400" b="1" dirty="0"/>
              <a:t>Microsoft Certified Solution Developer: Application Lifecycle </a:t>
            </a:r>
            <a:r>
              <a:rPr lang="en-AU" sz="1400" b="1" dirty="0" smtClean="0"/>
              <a:t>Management</a:t>
            </a:r>
          </a:p>
          <a:p>
            <a:endParaRPr lang="en-AU" sz="1200" b="1" dirty="0"/>
          </a:p>
          <a:p>
            <a:endParaRPr lang="en-AU" sz="1200" b="1" dirty="0" smtClean="0"/>
          </a:p>
          <a:p>
            <a:endParaRPr lang="en-AU" sz="1200" b="1" dirty="0"/>
          </a:p>
          <a:p>
            <a:endParaRPr lang="en-AU" sz="1200" b="1" dirty="0" smtClean="0"/>
          </a:p>
          <a:p>
            <a:endParaRPr lang="en-AU" sz="1200" b="1" dirty="0"/>
          </a:p>
          <a:p>
            <a:endParaRPr lang="en-AU" sz="1200" b="1" dirty="0" smtClean="0"/>
          </a:p>
          <a:p>
            <a:r>
              <a:rPr lang="en-AU" sz="1200" dirty="0" smtClean="0"/>
              <a:t>At </a:t>
            </a:r>
            <a:r>
              <a:rPr lang="en-AU" sz="1200" dirty="0"/>
              <a:t>the ALM Summit in Redmond in February 2013, Microsoft publically announced the Microsoft Certified Solution Developer: Application Lifecycle Management certification. While the certification has been available for a couple of months, this was the first public announcement. It was also confirmation of the re-birth of the MCSD certification which had previously been retired in favour of the Microsoft Certified Professional Developer (MCPD) in the 2010 timeframe</a:t>
            </a:r>
            <a:r>
              <a:rPr lang="en-AU" sz="1200" dirty="0" smtClean="0"/>
              <a:t>.</a:t>
            </a:r>
          </a:p>
          <a:p>
            <a:endParaRPr lang="en-US" sz="1200" dirty="0"/>
          </a:p>
          <a:p>
            <a:r>
              <a:rPr lang="en-AU" sz="1200" dirty="0"/>
              <a:t>The MCSD: Application Lifecycle Management certification requires the successful completion of the following three exams. </a:t>
            </a:r>
            <a:endParaRPr lang="en-US" sz="1200" dirty="0"/>
          </a:p>
          <a:p>
            <a:pPr marL="628650" lvl="1" indent="-171450">
              <a:buFont typeface="Arial" pitchFamily="34" charset="0"/>
              <a:buChar char="•"/>
            </a:pPr>
            <a:r>
              <a:rPr lang="en-AU" sz="1200" dirty="0"/>
              <a:t>70-496: Administering Microsoft Visual Studio Team Foundation Server 2012</a:t>
            </a:r>
            <a:endParaRPr lang="en-US" sz="1200" dirty="0"/>
          </a:p>
          <a:p>
            <a:pPr marL="628650" lvl="1" indent="-171450">
              <a:buFont typeface="Arial" pitchFamily="34" charset="0"/>
              <a:buChar char="•"/>
            </a:pPr>
            <a:r>
              <a:rPr lang="en-AU" sz="1200" dirty="0"/>
              <a:t>70-497: Software Testing with Visual Studio 2012</a:t>
            </a:r>
            <a:endParaRPr lang="en-US" sz="1200" dirty="0"/>
          </a:p>
          <a:p>
            <a:pPr marL="628650" lvl="1" indent="-171450">
              <a:buFont typeface="Arial" pitchFamily="34" charset="0"/>
              <a:buChar char="•"/>
            </a:pPr>
            <a:r>
              <a:rPr lang="en-AU" sz="1200" dirty="0"/>
              <a:t>70-498: Delivering Continuous Value with Visual Studio 2012 Application Lifecycle Management</a:t>
            </a:r>
            <a:endParaRPr lang="en-US" sz="1200" dirty="0"/>
          </a:p>
          <a:p>
            <a:endParaRPr lang="en-US" sz="1200" dirty="0"/>
          </a:p>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548062" y="1949450"/>
            <a:ext cx="3581402"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AU" sz="1200" i="1" dirty="0" err="1" smtClean="0"/>
              <a:t>elcome</a:t>
            </a:r>
            <a:r>
              <a:rPr lang="en-AU" sz="1200" i="1" dirty="0" smtClean="0"/>
              <a:t> </a:t>
            </a:r>
            <a:r>
              <a:rPr lang="en-AU" sz="1200" i="1" dirty="0"/>
              <a:t>to the first of a three part series I’m writing to help readers learn about Microsoft’s new ALM certification and the three exams required to gain this certification</a:t>
            </a:r>
            <a:r>
              <a:rPr lang="en-AU" sz="1200" i="1" dirty="0" smtClean="0"/>
              <a:t>.</a:t>
            </a:r>
          </a:p>
          <a:p>
            <a:pPr algn="just"/>
            <a:endParaRPr lang="en-AU" sz="1200" i="1" dirty="0"/>
          </a:p>
          <a:p>
            <a:pPr algn="just"/>
            <a:r>
              <a:rPr lang="en-AU" sz="1200" i="1" dirty="0" smtClean="0"/>
              <a:t>They are: 70-496, 70-497 and 70-498</a:t>
            </a:r>
            <a:endParaRPr lang="en-US" sz="1200" i="1" dirty="0"/>
          </a:p>
        </p:txBody>
      </p:sp>
      <p:sp>
        <p:nvSpPr>
          <p:cNvPr id="12294" name="Rectangle 4"/>
          <p:cNvSpPr>
            <a:spLocks/>
          </p:cNvSpPr>
          <p:nvPr/>
        </p:nvSpPr>
        <p:spPr bwMode="auto">
          <a:xfrm>
            <a:off x="2024063" y="1623633"/>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a:latin typeface="Helvetica Neue Bold Condensed" charset="0"/>
                <a:sym typeface="Helvetica Neue Bold Condensed" charset="0"/>
              </a:rPr>
              <a:t>W</a:t>
            </a:r>
          </a:p>
        </p:txBody>
      </p:sp>
      <p:sp>
        <p:nvSpPr>
          <p:cNvPr id="12296" name="Rectangle 5"/>
          <p:cNvSpPr>
            <a:spLocks/>
          </p:cNvSpPr>
          <p:nvPr/>
        </p:nvSpPr>
        <p:spPr bwMode="auto">
          <a:xfrm>
            <a:off x="271462" y="3590925"/>
            <a:ext cx="167957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Anthony Borton</a:t>
            </a:r>
          </a:p>
          <a:p>
            <a:pPr algn="r"/>
            <a:r>
              <a:rPr lang="en-AU" sz="1100" i="1" dirty="0"/>
              <a:t>ALM </a:t>
            </a:r>
            <a:r>
              <a:rPr lang="en-AU" sz="1100" i="1" dirty="0" smtClean="0"/>
              <a:t>Trainer &amp; Consultant </a:t>
            </a:r>
          </a:p>
          <a:p>
            <a:pPr algn="r"/>
            <a:r>
              <a:rPr lang="en-AU" sz="1100" i="1" dirty="0" smtClean="0">
                <a:hlinkClick r:id="rId3"/>
              </a:rPr>
              <a:t>Enhance </a:t>
            </a:r>
            <a:r>
              <a:rPr lang="en-AU" sz="1100" i="1" dirty="0">
                <a:hlinkClick r:id="rId3"/>
              </a:rPr>
              <a:t>ALM</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TFS / ALM</a:t>
            </a:r>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78</a:t>
            </a:fld>
            <a:endParaRPr lang="en-PH" dirty="0"/>
          </a:p>
        </p:txBody>
      </p:sp>
      <p:pic>
        <p:nvPicPr>
          <p:cNvPr id="14" name="Picture 13"/>
          <p:cNvPicPr/>
          <p:nvPr/>
        </p:nvPicPr>
        <p:blipFill>
          <a:blip r:embed="rId4">
            <a:extLst>
              <a:ext uri="{28A0092B-C50C-407E-A947-70E740481C1C}">
                <a14:useLocalDpi xmlns:a14="http://schemas.microsoft.com/office/drawing/2010/main" val="0"/>
              </a:ext>
            </a:extLst>
          </a:blip>
          <a:stretch>
            <a:fillRect/>
          </a:stretch>
        </p:blipFill>
        <p:spPr>
          <a:xfrm>
            <a:off x="2957512" y="4810125"/>
            <a:ext cx="3409950" cy="762000"/>
          </a:xfrm>
          <a:prstGeom prst="rect">
            <a:avLst/>
          </a:prstGeom>
        </p:spPr>
      </p:pic>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ectangle 2"/>
          <p:cNvSpPr>
            <a:spLocks/>
          </p:cNvSpPr>
          <p:nvPr/>
        </p:nvSpPr>
        <p:spPr bwMode="auto">
          <a:xfrm>
            <a:off x="1033462" y="8543925"/>
            <a:ext cx="5486400"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AU" sz="1000" i="1" dirty="0">
                <a:hlinkClick r:id="rId5"/>
              </a:rPr>
              <a:t>Anthony Borton</a:t>
            </a:r>
            <a:r>
              <a:rPr lang="en-AU" sz="1000" i="1" dirty="0"/>
              <a:t> is an ALM trainer and consultant for </a:t>
            </a:r>
            <a:r>
              <a:rPr lang="en-AU" sz="1000" i="1" dirty="0">
                <a:hlinkClick r:id="rId3"/>
              </a:rPr>
              <a:t>Enhance ALM</a:t>
            </a:r>
            <a:r>
              <a:rPr lang="en-AU" sz="1000" i="1" dirty="0"/>
              <a:t>, an Australian based company specializing in helping organizations successfully adopt ALM best practices. He is the author of eight TFS 2012 training courses and delivers the most comprehensive range of TFS courses in the world today. You can find out more about these courses in the United States at </a:t>
            </a:r>
            <a:r>
              <a:rPr lang="en-AU" sz="1000" i="1" u="sng" dirty="0" smtClean="0">
                <a:hlinkClick r:id="rId6"/>
              </a:rPr>
              <a:t>www.quicklearn.com</a:t>
            </a:r>
            <a:r>
              <a:rPr lang="en-AU" sz="1000" i="1" u="sng" dirty="0" smtClean="0"/>
              <a:t>.</a:t>
            </a:r>
            <a:endParaRPr lang="en-US" sz="1000" i="1" dirty="0">
              <a:latin typeface="Arial" pitchFamily="34" charset="0"/>
              <a:cs typeface="Arial" pitchFamily="34" charset="0"/>
            </a:endParaRPr>
          </a:p>
        </p:txBody>
      </p:sp>
    </p:spTree>
    <p:extLst>
      <p:ext uri="{BB962C8B-B14F-4D97-AF65-F5344CB8AC3E}">
        <p14:creationId xmlns:p14="http://schemas.microsoft.com/office/powerpoint/2010/main" val="307548384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4"/>
            <a:ext cx="1388176" cy="1434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107581" y="810996"/>
            <a:ext cx="4327833"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a:latin typeface="Palatino Linotype" pitchFamily="18" charset="0"/>
              </a:rPr>
              <a:t>TF.exe Fast Overview</a:t>
            </a:r>
          </a:p>
        </p:txBody>
      </p:sp>
      <p:sp>
        <p:nvSpPr>
          <p:cNvPr id="12292" name="Rectangle 2"/>
          <p:cNvSpPr>
            <a:spLocks/>
          </p:cNvSpPr>
          <p:nvPr/>
        </p:nvSpPr>
        <p:spPr bwMode="auto">
          <a:xfrm>
            <a:off x="2176462" y="3819525"/>
            <a:ext cx="49561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smtClean="0"/>
          </a:p>
          <a:p>
            <a:r>
              <a:rPr lang="en-US" sz="1200" dirty="0" smtClean="0"/>
              <a:t>The </a:t>
            </a:r>
            <a:r>
              <a:rPr lang="en-US" sz="1200" dirty="0"/>
              <a:t>following is a step-by-step video for the post</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2709862" y="1949449"/>
            <a:ext cx="4419602"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i="1" dirty="0" smtClean="0"/>
              <a:t>will </a:t>
            </a:r>
            <a:r>
              <a:rPr lang="en-US" sz="1400" i="1" dirty="0"/>
              <a:t>give a fast overview about tf.exe command line, </a:t>
            </a:r>
            <a:r>
              <a:rPr lang="en-US" sz="1400" i="1" dirty="0" smtClean="0"/>
              <a:t>I’ll </a:t>
            </a:r>
            <a:r>
              <a:rPr lang="en-US" sz="1400" i="1" dirty="0"/>
              <a:t>show how to use different options, like </a:t>
            </a:r>
            <a:r>
              <a:rPr lang="en-US" sz="1400" i="1" dirty="0" smtClean="0"/>
              <a:t>check-in</a:t>
            </a:r>
            <a:r>
              <a:rPr lang="en-US" sz="1400" i="1" dirty="0"/>
              <a:t>, </a:t>
            </a:r>
            <a:r>
              <a:rPr lang="en-US" sz="1400" i="1" dirty="0" smtClean="0"/>
              <a:t>workspaces</a:t>
            </a:r>
            <a:r>
              <a:rPr lang="en-US" sz="1400" i="1" dirty="0"/>
              <a:t>, view, diff, status and </a:t>
            </a:r>
            <a:r>
              <a:rPr lang="en-US" sz="1400" i="1" dirty="0" err="1"/>
              <a:t>workfold</a:t>
            </a:r>
            <a:r>
              <a:rPr lang="en-US" sz="1400" i="1" dirty="0"/>
              <a:t>.</a:t>
            </a:r>
          </a:p>
          <a:p>
            <a:pPr algn="just"/>
            <a:endParaRPr lang="en-US" sz="1400" i="1" dirty="0"/>
          </a:p>
          <a:p>
            <a:pPr algn="just"/>
            <a:r>
              <a:rPr lang="en-US" sz="1400" i="1" dirty="0"/>
              <a:t>The most important </a:t>
            </a:r>
            <a:r>
              <a:rPr lang="en-US" sz="1400" i="1" dirty="0" smtClean="0"/>
              <a:t>consideration </a:t>
            </a:r>
            <a:r>
              <a:rPr lang="en-US" sz="1400" i="1" dirty="0"/>
              <a:t>that we have take is to navigate to the mapping folder inside the working machine so we can use </a:t>
            </a:r>
            <a:r>
              <a:rPr lang="en-US" sz="1400" i="1" dirty="0" smtClean="0"/>
              <a:t>different </a:t>
            </a:r>
            <a:r>
              <a:rPr lang="en-US" sz="1400" i="1" dirty="0"/>
              <a:t>options otherwise we will see the following: </a:t>
            </a:r>
            <a:r>
              <a:rPr lang="en-US" sz="1400" i="1" dirty="0" smtClean="0"/>
              <a:t>error</a:t>
            </a:r>
            <a:endParaRPr lang="en-US" sz="1400" i="1" dirty="0"/>
          </a:p>
        </p:txBody>
      </p:sp>
      <p:sp>
        <p:nvSpPr>
          <p:cNvPr id="12294" name="Rectangle 4"/>
          <p:cNvSpPr>
            <a:spLocks/>
          </p:cNvSpPr>
          <p:nvPr/>
        </p:nvSpPr>
        <p:spPr bwMode="auto">
          <a:xfrm>
            <a:off x="2024064" y="1623633"/>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605213"/>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Mohamed </a:t>
            </a:r>
            <a:r>
              <a:rPr lang="en-US" sz="1100" i="1" dirty="0" err="1" smtClean="0">
                <a:latin typeface="Helvetica" pitchFamily="34" charset="0"/>
                <a:cs typeface="Helvetica" pitchFamily="34" charset="0"/>
              </a:rPr>
              <a:t>Radwan</a:t>
            </a:r>
            <a:endParaRPr lang="en-US" sz="1100" i="1" dirty="0" smtClean="0">
              <a:latin typeface="Helvetica" pitchFamily="34" charset="0"/>
              <a:cs typeface="Helvetica" pitchFamily="34" charset="0"/>
            </a:endParaRPr>
          </a:p>
          <a:p>
            <a:pPr algn="r"/>
            <a:r>
              <a:rPr lang="en-US" sz="1100" i="1" dirty="0"/>
              <a:t>Senior ALM Consultant</a:t>
            </a:r>
            <a:endParaRPr lang="en-US" sz="1100" i="1" dirty="0">
              <a:latin typeface="Helvetica" pitchFamily="34" charset="0"/>
              <a:cs typeface="Helvetica" pitchFamily="34" charset="0"/>
            </a:endParaRPr>
          </a:p>
          <a:p>
            <a:pPr algn="r"/>
            <a:r>
              <a:rPr lang="en-US" sz="1100" i="1" u="sng" dirty="0">
                <a:hlinkClick r:id="rId3"/>
              </a:rPr>
              <a:t>Marvel ALM</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79</a:t>
            </a:fld>
            <a:endParaRPr lang="en-PH" dirty="0"/>
          </a:p>
        </p:txBody>
      </p:sp>
      <p:pic>
        <p:nvPicPr>
          <p:cNvPr id="16" name="Picture 2">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7325" y="4657725"/>
            <a:ext cx="4956175" cy="2646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a:hlinkClick r:id="rId4"/>
          </p:cNvPr>
          <p:cNvSpPr txBox="1"/>
          <p:nvPr/>
        </p:nvSpPr>
        <p:spPr>
          <a:xfrm>
            <a:off x="2147325" y="4886325"/>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20" name="TextBox 19">
            <a:hlinkClick r:id="rId4"/>
          </p:cNvPr>
          <p:cNvSpPr txBox="1"/>
          <p:nvPr/>
        </p:nvSpPr>
        <p:spPr>
          <a:xfrm>
            <a:off x="2147323" y="6268105"/>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3" name="TextBox 22"/>
          <p:cNvSpPr txBox="1"/>
          <p:nvPr/>
        </p:nvSpPr>
        <p:spPr>
          <a:xfrm>
            <a:off x="2147324" y="7532727"/>
            <a:ext cx="4956174" cy="553998"/>
          </a:xfrm>
          <a:prstGeom prst="rect">
            <a:avLst/>
          </a:prstGeom>
          <a:noFill/>
        </p:spPr>
        <p:txBody>
          <a:bodyPr wrap="square" rtlCol="0">
            <a:spAutoFit/>
          </a:bodyPr>
          <a:lstStyle/>
          <a:p>
            <a:pPr algn="ctr"/>
            <a:r>
              <a:rPr lang="en-US" sz="1000" i="1" dirty="0"/>
              <a:t>Click on the graphic above to play the </a:t>
            </a:r>
            <a:r>
              <a:rPr lang="en-US" sz="1000" i="1" dirty="0" smtClean="0"/>
              <a:t>video</a:t>
            </a:r>
            <a:endParaRPr lang="en-US" sz="1000" i="1" dirty="0"/>
          </a:p>
          <a:p>
            <a:pPr algn="ctr"/>
            <a:r>
              <a:rPr lang="en-US" sz="1000" i="1" dirty="0"/>
              <a:t>If the graphic above doesn’t play for you </a:t>
            </a:r>
          </a:p>
          <a:p>
            <a:pPr algn="ctr"/>
            <a:r>
              <a:rPr lang="en-US" sz="1000" i="1" dirty="0">
                <a:hlinkClick r:id="rId6"/>
              </a:rPr>
              <a:t>click here for a dedicated player and the option to </a:t>
            </a:r>
            <a:r>
              <a:rPr lang="en-US" sz="1000" i="1" dirty="0" smtClean="0">
                <a:hlinkClick r:id="rId6"/>
              </a:rPr>
              <a:t>Download</a:t>
            </a:r>
            <a:endParaRPr lang="en-US" sz="1000" i="1" dirty="0"/>
          </a:p>
        </p:txBody>
      </p:sp>
      <p:sp>
        <p:nvSpPr>
          <p:cNvPr id="15" name="Rounded Rectangle 14">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21" name="Rectangle 2"/>
          <p:cNvSpPr>
            <a:spLocks/>
          </p:cNvSpPr>
          <p:nvPr/>
        </p:nvSpPr>
        <p:spPr bwMode="auto">
          <a:xfrm>
            <a:off x="1185863" y="8391525"/>
            <a:ext cx="5257799"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US" sz="1000" i="1" u="sng" dirty="0">
                <a:hlinkClick r:id="rId7"/>
              </a:rPr>
              <a:t>Mohamed </a:t>
            </a:r>
            <a:r>
              <a:rPr lang="en-US" sz="1000" i="1" u="sng" dirty="0" err="1">
                <a:hlinkClick r:id="rId7"/>
              </a:rPr>
              <a:t>Radwan</a:t>
            </a:r>
            <a:r>
              <a:rPr lang="en-US" sz="1000" i="1" dirty="0"/>
              <a:t> is a Visual Studio ALM MVP, Senior ALM Consultant at </a:t>
            </a:r>
            <a:r>
              <a:rPr lang="en-US" sz="1000" i="1" u="sng" dirty="0">
                <a:hlinkClick r:id="rId3"/>
              </a:rPr>
              <a:t>Marvel ALM</a:t>
            </a:r>
            <a:r>
              <a:rPr lang="en-US" sz="1000" i="1" dirty="0"/>
              <a:t> with more than 10 years of software industry experience, he focuses on C#, MVC, </a:t>
            </a:r>
            <a:r>
              <a:rPr lang="en-US" sz="1000" i="1" dirty="0" err="1"/>
              <a:t>JQuery</a:t>
            </a:r>
            <a:r>
              <a:rPr lang="en-US" sz="1000" i="1" dirty="0"/>
              <a:t>, BDD, TDD, TFS and Practical Agile Implementation. A founder of </a:t>
            </a:r>
            <a:r>
              <a:rPr lang="en-US" sz="1000" i="1" dirty="0">
                <a:hlinkClick r:id="rId8"/>
              </a:rPr>
              <a:t>TFSEG</a:t>
            </a:r>
            <a:r>
              <a:rPr lang="en-US" sz="1000" i="1" dirty="0"/>
              <a:t> User Group, co-founder of MEAALM Community, author of </a:t>
            </a:r>
            <a:r>
              <a:rPr lang="en-US" sz="1000" i="1" dirty="0" err="1"/>
              <a:t>DevMagicFake</a:t>
            </a:r>
            <a:r>
              <a:rPr lang="en-US" sz="1000" i="1" dirty="0"/>
              <a:t> Mocking Framework, Mohamed is a frequent </a:t>
            </a:r>
            <a:r>
              <a:rPr lang="en-US" sz="1000" i="1" u="sng" dirty="0">
                <a:hlinkClick r:id="rId7"/>
              </a:rPr>
              <a:t>blogger</a:t>
            </a:r>
            <a:r>
              <a:rPr lang="en-US" sz="1000" i="1" dirty="0"/>
              <a:t> and speaker at Microsoft events.</a:t>
            </a:r>
          </a:p>
        </p:txBody>
      </p:sp>
    </p:spTree>
    <p:extLst>
      <p:ext uri="{BB962C8B-B14F-4D97-AF65-F5344CB8AC3E}">
        <p14:creationId xmlns:p14="http://schemas.microsoft.com/office/powerpoint/2010/main" val="40383108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Martin Crisp"/>
          <p:cNvPicPr/>
          <p:nvPr/>
        </p:nvPicPr>
        <p:blipFill>
          <a:blip r:embed="rId2">
            <a:extLst>
              <a:ext uri="{28A0092B-C50C-407E-A947-70E740481C1C}">
                <a14:useLocalDpi xmlns:a14="http://schemas.microsoft.com/office/drawing/2010/main" val="0"/>
              </a:ext>
            </a:extLst>
          </a:blip>
          <a:srcRect/>
          <a:stretch>
            <a:fillRect/>
          </a:stretch>
        </p:blipFill>
        <p:spPr bwMode="auto">
          <a:xfrm>
            <a:off x="510627" y="1969135"/>
            <a:ext cx="1437235" cy="1393190"/>
          </a:xfrm>
          <a:prstGeom prst="rect">
            <a:avLst/>
          </a:prstGeom>
          <a:noFill/>
          <a:ln>
            <a:noFill/>
          </a:ln>
        </p:spPr>
      </p:pic>
      <p:sp>
        <p:nvSpPr>
          <p:cNvPr id="12290" name="TextBox 3"/>
          <p:cNvSpPr txBox="1">
            <a:spLocks noChangeArrowheads="1"/>
          </p:cNvSpPr>
          <p:nvPr/>
        </p:nvSpPr>
        <p:spPr bwMode="auto">
          <a:xfrm>
            <a:off x="107581" y="810996"/>
            <a:ext cx="7445744" cy="95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2800" dirty="0"/>
              <a:t>How to </a:t>
            </a:r>
            <a:r>
              <a:rPr lang="en-US" sz="2800" dirty="0" smtClean="0"/>
              <a:t>Reduce </a:t>
            </a:r>
            <a:r>
              <a:rPr lang="en-US" sz="2800" dirty="0"/>
              <a:t>C</a:t>
            </a:r>
            <a:r>
              <a:rPr lang="en-US" sz="2800" dirty="0" smtClean="0"/>
              <a:t>onfusion </a:t>
            </a:r>
            <a:r>
              <a:rPr lang="en-US" sz="2800" dirty="0"/>
              <a:t>and </a:t>
            </a:r>
            <a:r>
              <a:rPr lang="en-US" sz="2800" dirty="0" smtClean="0"/>
              <a:t>Rework </a:t>
            </a:r>
            <a:r>
              <a:rPr lang="en-US" sz="2800" dirty="0"/>
              <a:t>C</a:t>
            </a:r>
            <a:r>
              <a:rPr lang="en-US" sz="2800" dirty="0" smtClean="0"/>
              <a:t>osts </a:t>
            </a:r>
          </a:p>
          <a:p>
            <a:r>
              <a:rPr lang="en-US" sz="2800" dirty="0" smtClean="0"/>
              <a:t>When Defining Requirements </a:t>
            </a:r>
            <a:r>
              <a:rPr lang="en-US" sz="2800" dirty="0"/>
              <a:t>and </a:t>
            </a:r>
            <a:r>
              <a:rPr lang="en-US" sz="2800" dirty="0" smtClean="0"/>
              <a:t>Test </a:t>
            </a:r>
            <a:r>
              <a:rPr lang="en-US" sz="2800" dirty="0"/>
              <a:t>C</a:t>
            </a:r>
            <a:r>
              <a:rPr lang="en-US" sz="2800" dirty="0" smtClean="0"/>
              <a:t>ases</a:t>
            </a:r>
            <a:endParaRPr lang="en-US" sz="2800" dirty="0"/>
          </a:p>
        </p:txBody>
      </p:sp>
      <p:sp>
        <p:nvSpPr>
          <p:cNvPr id="12292" name="Rectangle 2"/>
          <p:cNvSpPr>
            <a:spLocks/>
          </p:cNvSpPr>
          <p:nvPr/>
        </p:nvSpPr>
        <p:spPr bwMode="auto">
          <a:xfrm>
            <a:off x="2176462" y="3148011"/>
            <a:ext cx="4956175" cy="369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details of the requirements are spread across so many different deliverables it makes it harder for the developers and testers to properly interpret and understand the </a:t>
            </a:r>
            <a:r>
              <a:rPr lang="en-US" sz="1200" dirty="0" smtClean="0"/>
              <a:t>requirements.</a:t>
            </a:r>
          </a:p>
          <a:p>
            <a:endParaRPr lang="en-US" sz="1200" dirty="0"/>
          </a:p>
          <a:p>
            <a:r>
              <a:rPr lang="en-US" sz="1200" dirty="0"/>
              <a:t>For example, many organizations will take this approach…</a:t>
            </a:r>
          </a:p>
          <a:p>
            <a:pPr marL="228600" lvl="0" indent="-228600">
              <a:buFont typeface="+mj-lt"/>
              <a:buAutoNum type="arabicPeriod"/>
            </a:pPr>
            <a:r>
              <a:rPr lang="en-US" sz="1200" dirty="0"/>
              <a:t>BA / Product Manager</a:t>
            </a:r>
          </a:p>
          <a:p>
            <a:pPr marL="685800" lvl="1" indent="-228600">
              <a:buFont typeface="Arial" pitchFamily="34" charset="0"/>
              <a:buChar char="•"/>
            </a:pPr>
            <a:r>
              <a:rPr lang="en-US" sz="1200" dirty="0"/>
              <a:t>The BA or Product owner elicits requirements from a customer…</a:t>
            </a:r>
          </a:p>
          <a:p>
            <a:pPr marL="685800" lvl="1" indent="-228600">
              <a:buFont typeface="Arial" pitchFamily="34" charset="0"/>
              <a:buChar char="•"/>
            </a:pPr>
            <a:r>
              <a:rPr lang="en-US" sz="1200" dirty="0"/>
              <a:t>…and writes them down perhaps as a high level feature list…</a:t>
            </a:r>
          </a:p>
          <a:p>
            <a:pPr marL="685800" lvl="1" indent="-228600">
              <a:buFont typeface="Arial" pitchFamily="34" charset="0"/>
              <a:buChar char="•"/>
            </a:pPr>
            <a:r>
              <a:rPr lang="en-US" sz="1200" dirty="0"/>
              <a:t>…then further elicits and documents requirements details using use cases and/or user stories and perhaps</a:t>
            </a:r>
          </a:p>
          <a:p>
            <a:pPr marL="228600" lvl="0" indent="-228600">
              <a:buFont typeface="+mj-lt"/>
              <a:buAutoNum type="arabicPeriod"/>
            </a:pPr>
            <a:r>
              <a:rPr lang="en-US" sz="1200" dirty="0"/>
              <a:t>UI / UX Team</a:t>
            </a:r>
          </a:p>
          <a:p>
            <a:pPr marL="685800" lvl="1" indent="-228600">
              <a:buFont typeface="Arial" pitchFamily="34" charset="0"/>
              <a:buChar char="•"/>
            </a:pPr>
            <a:r>
              <a:rPr lang="en-US" sz="1200" dirty="0"/>
              <a:t>These use cases or stories are then interpreted by the UI/UX team…</a:t>
            </a:r>
          </a:p>
          <a:p>
            <a:pPr marL="685800" lvl="1" indent="-228600">
              <a:buFont typeface="Arial" pitchFamily="34" charset="0"/>
              <a:buChar char="•"/>
            </a:pPr>
            <a:r>
              <a:rPr lang="en-US" sz="1200" dirty="0"/>
              <a:t>…to develop UI Mockups </a:t>
            </a:r>
          </a:p>
          <a:p>
            <a:pPr marL="685800" lvl="1" indent="-228600">
              <a:buFont typeface="Arial" pitchFamily="34" charset="0"/>
              <a:buChar char="•"/>
            </a:pPr>
            <a:r>
              <a:rPr lang="en-US" sz="1200" dirty="0"/>
              <a:t>…and perhaps UI Storyboards </a:t>
            </a:r>
          </a:p>
          <a:p>
            <a:pPr marL="685800" lvl="1" indent="-228600">
              <a:buFont typeface="Arial" pitchFamily="34" charset="0"/>
              <a:buChar char="•"/>
            </a:pPr>
            <a:r>
              <a:rPr lang="en-US" sz="1200" dirty="0"/>
              <a:t>…or even full blow interactive UI Prototypes to bring these use cases to life.  </a:t>
            </a:r>
          </a:p>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2938462" y="1949450"/>
            <a:ext cx="4191002"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400" b="1" dirty="0"/>
              <a:t>Current Approach </a:t>
            </a:r>
          </a:p>
          <a:p>
            <a:pPr marL="285750" indent="-285750">
              <a:buFontTx/>
              <a:buChar char="-"/>
            </a:pPr>
            <a:r>
              <a:rPr lang="en-US" sz="1400" b="1" dirty="0"/>
              <a:t>Too Many Hand-offs And Deliverables</a:t>
            </a:r>
          </a:p>
          <a:p>
            <a:pPr algn="just"/>
            <a:r>
              <a:rPr lang="en-US" sz="1200" dirty="0" smtClean="0"/>
              <a:t>Many </a:t>
            </a:r>
            <a:r>
              <a:rPr lang="en-US" sz="1200" dirty="0"/>
              <a:t>organizations approach to defining software requirements involve too many hand-offs and deliverables.  This can lead to requirements translations errors between the different hand-offs and deliverables.  In addition, the </a:t>
            </a:r>
            <a:r>
              <a:rPr lang="en-US" sz="1200" dirty="0" smtClean="0"/>
              <a:t>collective .</a:t>
            </a:r>
            <a:endParaRPr lang="en-US" sz="1200" b="1" cap="small" dirty="0"/>
          </a:p>
        </p:txBody>
      </p:sp>
      <p:sp>
        <p:nvSpPr>
          <p:cNvPr id="12294" name="Rectangle 4"/>
          <p:cNvSpPr>
            <a:spLocks/>
          </p:cNvSpPr>
          <p:nvPr/>
        </p:nvSpPr>
        <p:spPr bwMode="auto">
          <a:xfrm>
            <a:off x="2024063" y="1623633"/>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smtClean="0">
                <a:latin typeface="Helvetica Neue Bold Condensed" charset="0"/>
                <a:sym typeface="Helvetica Neue Bold Condensed" charset="0"/>
              </a:rPr>
              <a:t>1</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4486" y="3452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Martin Crisp</a:t>
            </a:r>
          </a:p>
          <a:p>
            <a:pPr algn="r"/>
            <a:r>
              <a:rPr lang="en-CA" sz="1100" i="1" dirty="0">
                <a:latin typeface="Helvetica" pitchFamily="34" charset="0"/>
                <a:cs typeface="Helvetica" pitchFamily="34" charset="0"/>
              </a:rPr>
              <a:t>CEO</a:t>
            </a:r>
          </a:p>
          <a:p>
            <a:pPr algn="r"/>
            <a:r>
              <a:rPr lang="en-CA" sz="1100" i="1" dirty="0" err="1" smtClean="0">
                <a:latin typeface="Helvetica" pitchFamily="34" charset="0"/>
                <a:cs typeface="Helvetica" pitchFamily="34" charset="0"/>
                <a:hlinkClick r:id="rId3"/>
              </a:rPr>
              <a:t>PowerStory</a:t>
            </a:r>
            <a:endParaRPr lang="en-US" sz="1100" i="1" dirty="0">
              <a:latin typeface="Helvetica" pitchFamily="34" charset="0"/>
              <a:cs typeface="Helvetica" pitchFamily="34" charset="0"/>
            </a:endParaRPr>
          </a:p>
          <a:p>
            <a:pPr algn="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22306"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80</a:t>
            </a:fld>
            <a:endParaRPr lang="en-PH" dirty="0"/>
          </a:p>
        </p:txBody>
      </p:sp>
      <p:pic>
        <p:nvPicPr>
          <p:cNvPr id="13" name="Picture 1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76462" y="6410325"/>
            <a:ext cx="4876800" cy="2133600"/>
          </a:xfrm>
          <a:prstGeom prst="rect">
            <a:avLst/>
          </a:prstGeom>
          <a:noFill/>
        </p:spPr>
      </p:pic>
      <p:sp>
        <p:nvSpPr>
          <p:cNvPr id="14" name="Rounded Rectangle 13">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5" name="Rectangle 2"/>
          <p:cNvSpPr>
            <a:spLocks/>
          </p:cNvSpPr>
          <p:nvPr/>
        </p:nvSpPr>
        <p:spPr bwMode="auto">
          <a:xfrm>
            <a:off x="1338262" y="8620125"/>
            <a:ext cx="4973355"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5"/>
              </a:rPr>
              <a:t>Martin Crisp</a:t>
            </a:r>
            <a:r>
              <a:rPr lang="en-US" sz="1000" i="1" dirty="0"/>
              <a:t>, Founder and CEO of </a:t>
            </a:r>
            <a:r>
              <a:rPr lang="en-US" sz="1000" i="1" u="sng" dirty="0" err="1">
                <a:hlinkClick r:id="rId3"/>
              </a:rPr>
              <a:t>PowerStory</a:t>
            </a:r>
            <a:r>
              <a:rPr lang="en-US" sz="1000" i="1" dirty="0"/>
              <a:t>, over the last 23 years has worked for large systems integrators, has founded and sold an early </a:t>
            </a:r>
            <a:r>
              <a:rPr lang="en-US" sz="1000" i="1" dirty="0" err="1"/>
              <a:t>eCommerce</a:t>
            </a:r>
            <a:r>
              <a:rPr lang="en-US" sz="1000" i="1" dirty="0"/>
              <a:t> startup, and has been CTO in multiple product software companies. Martin has a unique perspective on building both product and systems software using different techniques and tools for defining, communicating and validating software requirements.</a:t>
            </a:r>
          </a:p>
        </p:txBody>
      </p:sp>
    </p:spTree>
    <p:extLst>
      <p:ext uri="{BB962C8B-B14F-4D97-AF65-F5344CB8AC3E}">
        <p14:creationId xmlns:p14="http://schemas.microsoft.com/office/powerpoint/2010/main" val="37211275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http://go.xebialabs.com/rs/xebialabs/images/Andrew_Phillips.jpg"/>
          <p:cNvPicPr/>
          <p:nvPr/>
        </p:nvPicPr>
        <p:blipFill>
          <a:blip r:link="rId2">
            <a:extLst>
              <a:ext uri="{28A0092B-C50C-407E-A947-70E740481C1C}">
                <a14:useLocalDpi xmlns:a14="http://schemas.microsoft.com/office/drawing/2010/main" val="0"/>
              </a:ext>
            </a:extLst>
          </a:blip>
          <a:srcRect/>
          <a:stretch>
            <a:fillRect/>
          </a:stretch>
        </p:blipFill>
        <p:spPr bwMode="auto">
          <a:xfrm>
            <a:off x="533805" y="1987316"/>
            <a:ext cx="1414057" cy="1371600"/>
          </a:xfrm>
          <a:prstGeom prst="rect">
            <a:avLst/>
          </a:prstGeom>
          <a:noFill/>
          <a:ln>
            <a:noFill/>
          </a:ln>
        </p:spPr>
      </p:pic>
      <p:sp>
        <p:nvSpPr>
          <p:cNvPr id="12290" name="TextBox 3"/>
          <p:cNvSpPr txBox="1">
            <a:spLocks noChangeArrowheads="1"/>
          </p:cNvSpPr>
          <p:nvPr/>
        </p:nvSpPr>
        <p:spPr bwMode="auto">
          <a:xfrm>
            <a:off x="195263" y="695327"/>
            <a:ext cx="751840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latin typeface="Palatino Linotype" pitchFamily="18" charset="0"/>
              </a:rPr>
              <a:t>Introducing Continuous Delivery </a:t>
            </a:r>
          </a:p>
          <a:p>
            <a:pPr eaLnBrk="1" hangingPunct="1"/>
            <a:r>
              <a:rPr lang="en-US" sz="3600" b="1" dirty="0" smtClean="0">
                <a:latin typeface="Palatino Linotype" pitchFamily="18" charset="0"/>
              </a:rPr>
              <a:t>In The Enterprise</a:t>
            </a:r>
            <a:endParaRPr lang="en-US" sz="3600" b="1" dirty="0">
              <a:latin typeface="Palatino Linotype" pitchFamily="18" charset="0"/>
            </a:endParaRPr>
          </a:p>
        </p:txBody>
      </p:sp>
      <p:sp>
        <p:nvSpPr>
          <p:cNvPr id="12292" name="Rectangle 2"/>
          <p:cNvSpPr>
            <a:spLocks/>
          </p:cNvSpPr>
          <p:nvPr/>
        </p:nvSpPr>
        <p:spPr bwMode="auto">
          <a:xfrm>
            <a:off x="2173288" y="3119439"/>
            <a:ext cx="49561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continuously. The connection between customers </a:t>
            </a:r>
            <a:r>
              <a:rPr lang="en-US" sz="1200" dirty="0" smtClean="0"/>
              <a:t>and organizations </a:t>
            </a:r>
            <a:r>
              <a:rPr lang="en-US" sz="1200" dirty="0"/>
              <a:t>is now fluid, and this phenomenon will only grow in the years to come.</a:t>
            </a:r>
          </a:p>
          <a:p>
            <a:pPr algn="just"/>
            <a:r>
              <a:rPr lang="en-US" sz="1200" dirty="0" smtClean="0"/>
              <a:t> </a:t>
            </a:r>
            <a:endParaRPr lang="en-US" sz="1200" dirty="0"/>
          </a:p>
          <a:p>
            <a:pPr algn="just"/>
            <a:r>
              <a:rPr lang="en-US" sz="1200" dirty="0" smtClean="0"/>
              <a:t>Today</a:t>
            </a:r>
            <a:r>
              <a:rPr lang="en-US" sz="1200" dirty="0"/>
              <a:t>, customers expect a reliable and completely up to date service anywhere, anytime. For </a:t>
            </a:r>
            <a:r>
              <a:rPr lang="en-US" sz="1200" dirty="0" smtClean="0"/>
              <a:t>your organization</a:t>
            </a:r>
            <a:r>
              <a:rPr lang="en-US" sz="1200" dirty="0"/>
              <a:t>, this translates into constant pressure to add features and updates to your services </a:t>
            </a:r>
            <a:r>
              <a:rPr lang="en-US" sz="1200" dirty="0" smtClean="0"/>
              <a:t>almost instantaneously. This makes the quality of your online service more important than ever</a:t>
            </a:r>
            <a:r>
              <a:rPr lang="en-US" sz="1200" dirty="0"/>
              <a:t> </a:t>
            </a:r>
            <a:r>
              <a:rPr lang="en-US" sz="1200" dirty="0" smtClean="0"/>
              <a:t>as issues with your online </a:t>
            </a:r>
            <a:r>
              <a:rPr lang="en-US" sz="1200" dirty="0"/>
              <a:t>system would become visible in an instant. This also means that applications to support </a:t>
            </a:r>
            <a:r>
              <a:rPr lang="en-US" sz="1200" dirty="0" smtClean="0"/>
              <a:t>the business </a:t>
            </a:r>
            <a:r>
              <a:rPr lang="en-US" sz="1200" dirty="0"/>
              <a:t>need to be deployed not only at a much faster rate, but also with more predictability</a:t>
            </a:r>
            <a:r>
              <a:rPr lang="en-US" sz="1200" dirty="0" smtClean="0"/>
              <a:t>.</a:t>
            </a:r>
          </a:p>
          <a:p>
            <a:pPr algn="just"/>
            <a:endParaRPr lang="en-US" sz="1200" dirty="0"/>
          </a:p>
          <a:p>
            <a:pPr algn="just"/>
            <a:r>
              <a:rPr lang="en-US" sz="1200" dirty="0"/>
              <a:t>For many organizations, a new approach to delivering software isn’t simply about development </a:t>
            </a:r>
            <a:r>
              <a:rPr lang="en-US" sz="1200" dirty="0" smtClean="0"/>
              <a:t>and deployment </a:t>
            </a:r>
            <a:r>
              <a:rPr lang="en-US" sz="1200" dirty="0"/>
              <a:t>practices; it’s critical to doing business</a:t>
            </a:r>
            <a:r>
              <a:rPr lang="en-US" sz="1200" dirty="0" smtClean="0"/>
              <a:t>.</a:t>
            </a:r>
          </a:p>
          <a:p>
            <a:pPr algn="just"/>
            <a:endParaRPr lang="en-US" sz="1200" dirty="0"/>
          </a:p>
          <a:p>
            <a:pPr algn="just"/>
            <a:r>
              <a:rPr lang="en-US" sz="1400" b="1" dirty="0" smtClean="0"/>
              <a:t>Challenges</a:t>
            </a:r>
          </a:p>
          <a:p>
            <a:pPr algn="just"/>
            <a:endParaRPr lang="en-US" sz="1200" b="1" dirty="0" smtClean="0"/>
          </a:p>
          <a:p>
            <a:pPr algn="just"/>
            <a:r>
              <a:rPr lang="en-US" sz="1200" dirty="0" smtClean="0"/>
              <a:t>In </a:t>
            </a:r>
            <a:r>
              <a:rPr lang="en-US" sz="1200" dirty="0"/>
              <a:t>most organizations, the delivery of software is a time consuming, stressful and costly process. As </a:t>
            </a:r>
            <a:r>
              <a:rPr lang="en-US" sz="1200" dirty="0" smtClean="0"/>
              <a:t>soon as </a:t>
            </a:r>
            <a:r>
              <a:rPr lang="en-US" sz="1200" dirty="0"/>
              <a:t>your application goes live, issues pop up, forcing the IT organization into another costly release cycle. </a:t>
            </a:r>
            <a:r>
              <a:rPr lang="en-US" sz="1200" dirty="0" smtClean="0"/>
              <a:t>A software </a:t>
            </a:r>
            <a:r>
              <a:rPr lang="en-US" sz="1200" dirty="0"/>
              <a:t>release is typically a risky, unreliable procedure that costs businesses both time and expense</a:t>
            </a:r>
            <a:r>
              <a:rPr lang="en-US" sz="1200" dirty="0" smtClean="0"/>
              <a:t>. Transforming </a:t>
            </a:r>
            <a:r>
              <a:rPr lang="en-US" sz="1200" dirty="0"/>
              <a:t>the release process into an automated, reliable, high quality continuous delivery pipeline </a:t>
            </a:r>
            <a:r>
              <a:rPr lang="en-US" sz="1200" dirty="0" smtClean="0"/>
              <a:t>that “</a:t>
            </a:r>
            <a:r>
              <a:rPr lang="en-US" sz="1200" dirty="0"/>
              <a:t>just works” is critical to competing in today’s marketplace. A process that enables the addition of </a:t>
            </a:r>
            <a:r>
              <a:rPr lang="en-US" sz="1200" dirty="0" smtClean="0"/>
              <a:t>new features </a:t>
            </a:r>
            <a:r>
              <a:rPr lang="en-US" sz="1200" dirty="0"/>
              <a:t>to your online service in a matter of hours instead of days. Faster, better, cheaper.</a:t>
            </a:r>
            <a:r>
              <a:rPr lang="en-US" sz="1200" dirty="0" smtClean="0"/>
              <a:t>.</a:t>
            </a:r>
            <a:endParaRPr lang="en-US" sz="1200" dirty="0"/>
          </a:p>
        </p:txBody>
      </p:sp>
      <p:sp>
        <p:nvSpPr>
          <p:cNvPr id="12293" name="Rectangle 3"/>
          <p:cNvSpPr>
            <a:spLocks/>
          </p:cNvSpPr>
          <p:nvPr/>
        </p:nvSpPr>
        <p:spPr bwMode="auto">
          <a:xfrm>
            <a:off x="3090863" y="1976438"/>
            <a:ext cx="4038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smtClean="0"/>
              <a:t>he </a:t>
            </a:r>
            <a:r>
              <a:rPr lang="en-US" sz="1400" b="1" dirty="0"/>
              <a:t>Situation </a:t>
            </a:r>
            <a:r>
              <a:rPr lang="en-US" sz="1400" b="1" dirty="0" smtClean="0"/>
              <a:t>Today</a:t>
            </a:r>
          </a:p>
          <a:p>
            <a:pPr algn="just"/>
            <a:endParaRPr lang="en-US" sz="1400" b="1" dirty="0"/>
          </a:p>
          <a:p>
            <a:pPr algn="just"/>
            <a:r>
              <a:rPr lang="en-US" sz="1200" dirty="0"/>
              <a:t>Not too long ago customers and prospects had to find a computer to visit your site. In stark contrast with just a few years ago, this same customer is now online 24/7 via mobile devices and can be reached and can reach </a:t>
            </a:r>
            <a:r>
              <a:rPr lang="en-US" sz="1200" dirty="0" smtClean="0"/>
              <a:t>out</a:t>
            </a:r>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300663" y="226912"/>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81</a:t>
            </a:fld>
            <a:endParaRPr lang="en-PH" dirty="0"/>
          </a:p>
        </p:txBody>
      </p:sp>
      <p:sp>
        <p:nvSpPr>
          <p:cNvPr id="17" name="Rectangle 5"/>
          <p:cNvSpPr>
            <a:spLocks/>
          </p:cNvSpPr>
          <p:nvPr/>
        </p:nvSpPr>
        <p:spPr bwMode="auto">
          <a:xfrm>
            <a:off x="344486" y="3590926"/>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rPr>
              <a:t>Andrew </a:t>
            </a:r>
            <a:r>
              <a:rPr lang="en-US" sz="1100" i="1" dirty="0" smtClean="0">
                <a:solidFill>
                  <a:srgbClr val="4D4D4D"/>
                </a:solidFill>
                <a:latin typeface="Helvetica" charset="0"/>
                <a:cs typeface="Helvetica" charset="0"/>
              </a:rPr>
              <a:t>Phillips</a:t>
            </a:r>
          </a:p>
          <a:p>
            <a:pPr algn="r"/>
            <a:r>
              <a:rPr lang="en-US" sz="1100" i="1" dirty="0" smtClean="0"/>
              <a:t>VP, </a:t>
            </a:r>
            <a:r>
              <a:rPr lang="en-US" sz="1100" i="1" dirty="0"/>
              <a:t>Product Management</a:t>
            </a:r>
            <a:endParaRPr lang="en-US" sz="1100" i="1" dirty="0">
              <a:solidFill>
                <a:srgbClr val="4D4D4D"/>
              </a:solidFill>
              <a:latin typeface="Helvetica" charset="0"/>
              <a:cs typeface="Helvetica" charset="0"/>
            </a:endParaRPr>
          </a:p>
          <a:p>
            <a:pPr algn="r"/>
            <a:r>
              <a:rPr lang="en-US" sz="1100" i="1" dirty="0" err="1">
                <a:solidFill>
                  <a:srgbClr val="4D4D4D"/>
                </a:solidFill>
                <a:latin typeface="Helvetica" charset="0"/>
                <a:cs typeface="Helvetica" charset="0"/>
                <a:hlinkClick r:id="rId3"/>
              </a:rPr>
              <a:t>XebiaLabs</a:t>
            </a:r>
            <a:endParaRPr lang="en-US" sz="1100" i="1" dirty="0">
              <a:solidFill>
                <a:srgbClr val="4D4D4D"/>
              </a:solidFill>
              <a:latin typeface="Helvetica" charset="0"/>
              <a:cs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1" name="Rounded Rectangle 10">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2" name="Rectangle 2"/>
          <p:cNvSpPr>
            <a:spLocks/>
          </p:cNvSpPr>
          <p:nvPr/>
        </p:nvSpPr>
        <p:spPr bwMode="auto">
          <a:xfrm>
            <a:off x="1109662" y="8315325"/>
            <a:ext cx="5562600" cy="762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4"/>
              </a:rPr>
              <a:t>Andrew Phillips</a:t>
            </a:r>
            <a:r>
              <a:rPr lang="en-US" sz="1000" i="1" dirty="0"/>
              <a:t> is Vice President, Product Management, </a:t>
            </a:r>
            <a:r>
              <a:rPr lang="en-US" sz="1000" i="1" u="sng" dirty="0" err="1">
                <a:hlinkClick r:id="rId3"/>
              </a:rPr>
              <a:t>XebiaLabs</a:t>
            </a:r>
            <a:r>
              <a:rPr lang="en-US" sz="1000" i="1" dirty="0">
                <a:hlinkClick r:id="rId3"/>
              </a:rPr>
              <a:t>.</a:t>
            </a:r>
            <a:r>
              <a:rPr lang="en-US" sz="1000" i="1" dirty="0"/>
              <a:t> </a:t>
            </a:r>
            <a:r>
              <a:rPr lang="en-US" sz="1000" i="1" dirty="0" err="1"/>
              <a:t>XebiaLabs</a:t>
            </a:r>
            <a:r>
              <a:rPr lang="en-US" sz="1000" i="1" dirty="0"/>
              <a:t> is a global provider of Application Release Automation and offers a Continuous Delivery platform to help enterprises improve and accelerate the application delivery process. To learn more about how to get started moving to Continuous Delivery, </a:t>
            </a:r>
            <a:r>
              <a:rPr lang="en-US" sz="1000" i="1" u="sng" dirty="0">
                <a:hlinkClick r:id="rId5"/>
              </a:rPr>
              <a:t>Read the new white paper</a:t>
            </a:r>
            <a:r>
              <a:rPr lang="en-US" sz="1000" i="1" dirty="0"/>
              <a:t>.</a:t>
            </a:r>
          </a:p>
        </p:txBody>
      </p:sp>
    </p:spTree>
    <p:extLst>
      <p:ext uri="{BB962C8B-B14F-4D97-AF65-F5344CB8AC3E}">
        <p14:creationId xmlns:p14="http://schemas.microsoft.com/office/powerpoint/2010/main" val="207262709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33806" y="1967607"/>
            <a:ext cx="1388176" cy="1426845"/>
          </a:xfrm>
          <a:prstGeom prst="rect">
            <a:avLst/>
          </a:prstGeom>
          <a:noFill/>
          <a:ln>
            <a:noFill/>
          </a:ln>
        </p:spPr>
      </p:pic>
      <p:sp>
        <p:nvSpPr>
          <p:cNvPr id="12290" name="TextBox 3"/>
          <p:cNvSpPr txBox="1">
            <a:spLocks noChangeArrowheads="1"/>
          </p:cNvSpPr>
          <p:nvPr/>
        </p:nvSpPr>
        <p:spPr bwMode="auto">
          <a:xfrm>
            <a:off x="195263" y="695327"/>
            <a:ext cx="721223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Using IIS Logs for Performance </a:t>
            </a:r>
            <a:endParaRPr lang="en-US" sz="3600" b="1" dirty="0" smtClean="0">
              <a:latin typeface="Palatino Linotype" pitchFamily="18" charset="0"/>
            </a:endParaRPr>
          </a:p>
          <a:p>
            <a:pPr eaLnBrk="1" hangingPunct="1"/>
            <a:r>
              <a:rPr lang="en-US" sz="3600" b="1" dirty="0" smtClean="0">
                <a:latin typeface="Palatino Linotype" pitchFamily="18" charset="0"/>
              </a:rPr>
              <a:t>Testing </a:t>
            </a:r>
            <a:r>
              <a:rPr lang="en-US" sz="3600" b="1" dirty="0">
                <a:latin typeface="Palatino Linotype" pitchFamily="18" charset="0"/>
              </a:rPr>
              <a:t>with Visual Studio</a:t>
            </a:r>
          </a:p>
        </p:txBody>
      </p:sp>
      <p:sp>
        <p:nvSpPr>
          <p:cNvPr id="12292" name="Rectangle 2"/>
          <p:cNvSpPr>
            <a:spLocks/>
          </p:cNvSpPr>
          <p:nvPr/>
        </p:nvSpPr>
        <p:spPr bwMode="auto">
          <a:xfrm>
            <a:off x="2173288" y="3119439"/>
            <a:ext cx="49561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b="1" dirty="0"/>
              <a:t>Introduction</a:t>
            </a:r>
            <a:endParaRPr lang="en-US" sz="1200" dirty="0"/>
          </a:p>
          <a:p>
            <a:pPr algn="just"/>
            <a:r>
              <a:rPr lang="en-US" sz="1200" dirty="0"/>
              <a:t>Performance testing is as important for new websites as it is for evolving websites. If you already have your website running in production you could mine the information available in IIS logs to </a:t>
            </a:r>
            <a:r>
              <a:rPr lang="en-US" sz="1200" dirty="0" smtClean="0"/>
              <a:t>analyze </a:t>
            </a:r>
            <a:r>
              <a:rPr lang="en-US" sz="1200" dirty="0"/>
              <a:t>the dense zones (most used pages) and performance test those pages rather than wasting time testing &amp; tuning the least used pages in your application</a:t>
            </a:r>
            <a:r>
              <a:rPr lang="en-US" sz="1200" dirty="0" smtClean="0"/>
              <a:t>.</a:t>
            </a:r>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endParaRPr lang="en-US" sz="1200" dirty="0"/>
          </a:p>
          <a:p>
            <a:pPr algn="just"/>
            <a:endParaRPr lang="en-US" sz="1200" dirty="0" smtClean="0"/>
          </a:p>
          <a:p>
            <a:pPr algn="just"/>
            <a:r>
              <a:rPr lang="en-US" sz="1200" b="1" dirty="0"/>
              <a:t>What are IIS Logs</a:t>
            </a:r>
            <a:endParaRPr lang="en-US" sz="1200" dirty="0"/>
          </a:p>
          <a:p>
            <a:pPr algn="just"/>
            <a:r>
              <a:rPr lang="en-US" sz="1200" dirty="0"/>
              <a:t>To help with server use and analysis, IIS is integrated with several types of log files. These log file formats provide information on a range of websites and specific statistics, including Internet Protocol (IP) addresses, user information and site visits as well as dates, times and queries. If you are using IIS 7 and above you will find the log files in the following directory </a:t>
            </a:r>
            <a:r>
              <a:rPr lang="en-US" sz="1200" i="1" dirty="0"/>
              <a:t>C:\Interpub\Logs</a:t>
            </a:r>
            <a:r>
              <a:rPr lang="en-US" sz="1200" i="1" dirty="0" smtClean="0"/>
              <a:t>\</a:t>
            </a:r>
          </a:p>
          <a:p>
            <a:pPr algn="just"/>
            <a:endParaRPr lang="en-US" sz="1200" dirty="0"/>
          </a:p>
          <a:p>
            <a:pPr algn="just"/>
            <a:r>
              <a:rPr lang="en-US" sz="1200" b="1" dirty="0"/>
              <a:t>Walkthrough</a:t>
            </a:r>
            <a:endParaRPr lang="en-US" sz="1200" dirty="0"/>
          </a:p>
          <a:p>
            <a:pPr algn="just"/>
            <a:r>
              <a:rPr lang="en-US" sz="1200" dirty="0"/>
              <a:t>1. Download and Install Log Parser from the Microsoft </a:t>
            </a:r>
            <a:r>
              <a:rPr lang="en-US" sz="1200" u="sng" dirty="0">
                <a:hlinkClick r:id="rId4"/>
              </a:rPr>
              <a:t>download</a:t>
            </a:r>
            <a:r>
              <a:rPr lang="en-US" sz="1200" dirty="0"/>
              <a:t> </a:t>
            </a:r>
            <a:r>
              <a:rPr lang="en-US" sz="1200" dirty="0" smtClean="0"/>
              <a:t>Center.</a:t>
            </a:r>
          </a:p>
        </p:txBody>
      </p:sp>
      <p:sp>
        <p:nvSpPr>
          <p:cNvPr id="12293" name="Rectangle 3"/>
          <p:cNvSpPr>
            <a:spLocks/>
          </p:cNvSpPr>
          <p:nvPr/>
        </p:nvSpPr>
        <p:spPr bwMode="auto">
          <a:xfrm>
            <a:off x="3090863" y="1935162"/>
            <a:ext cx="4038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i="1" dirty="0" smtClean="0"/>
              <a:t>his will </a:t>
            </a:r>
            <a:r>
              <a:rPr lang="en-US" sz="1400" i="1" dirty="0"/>
              <a:t>show you how you can play back the IIS Logs in Visual Studio to automatically generate the web performance tests. You can also </a:t>
            </a:r>
            <a:r>
              <a:rPr lang="en-US" sz="1400" i="1" u="sng" dirty="0">
                <a:hlinkClick r:id="rId5"/>
              </a:rPr>
              <a:t>download</a:t>
            </a:r>
            <a:r>
              <a:rPr lang="en-US" sz="1400" i="1" dirty="0"/>
              <a:t> the sample solution </a:t>
            </a:r>
            <a:r>
              <a:rPr lang="en-US" sz="1400" i="1" dirty="0" smtClean="0"/>
              <a:t>demoed </a:t>
            </a:r>
            <a:r>
              <a:rPr lang="en-US" sz="1400" i="1" dirty="0"/>
              <a:t>in </a:t>
            </a:r>
            <a:r>
              <a:rPr lang="en-US" sz="1400" i="1" dirty="0" smtClean="0"/>
              <a:t>this article. </a:t>
            </a:r>
            <a:endParaRPr lang="en-US" sz="1400" i="1"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T</a:t>
            </a:r>
            <a:endParaRPr lang="en-US" sz="11600" b="1" dirty="0">
              <a:latin typeface="Helvetica Neue Bold Condensed" charset="0"/>
              <a:sym typeface="Helvetica Neue Bold Condensed" charset="0"/>
            </a:endParaRPr>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82</a:t>
            </a:fld>
            <a:endParaRPr lang="en-PH"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3262" y="4352925"/>
            <a:ext cx="2846388" cy="195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5"/>
          <p:cNvSpPr>
            <a:spLocks/>
          </p:cNvSpPr>
          <p:nvPr/>
        </p:nvSpPr>
        <p:spPr bwMode="auto">
          <a:xfrm>
            <a:off x="347663" y="3514725"/>
            <a:ext cx="1603375"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solidFill>
                  <a:srgbClr val="4D4D4D"/>
                </a:solidFill>
                <a:latin typeface="Helvetica" charset="0"/>
                <a:cs typeface="Helvetica" charset="0"/>
                <a:sym typeface="Helvetica" charset="0"/>
              </a:rPr>
              <a:t>Tarun Arora</a:t>
            </a:r>
          </a:p>
          <a:p>
            <a:pPr algn="r"/>
            <a:r>
              <a:rPr lang="en-US" sz="1100" i="1" dirty="0" smtClean="0">
                <a:solidFill>
                  <a:srgbClr val="4D4D4D"/>
                </a:solidFill>
                <a:latin typeface="Helvetica" charset="0"/>
                <a:cs typeface="Helvetica" charset="0"/>
                <a:sym typeface="Helvetica" charset="0"/>
              </a:rPr>
              <a:t>Microsoft MVP</a:t>
            </a:r>
          </a:p>
          <a:p>
            <a:pPr algn="r"/>
            <a:r>
              <a:rPr lang="en-US" sz="1100" i="1" dirty="0" smtClean="0">
                <a:solidFill>
                  <a:srgbClr val="4D4D4D"/>
                </a:solidFill>
                <a:latin typeface="Helvetica" charset="0"/>
                <a:cs typeface="Helvetica" charset="0"/>
                <a:sym typeface="Helvetica" charset="0"/>
              </a:rPr>
              <a:t>ALM Ranger</a:t>
            </a:r>
          </a:p>
          <a:p>
            <a:pPr algn="r"/>
            <a:r>
              <a:rPr lang="en-US" sz="1100" i="1" dirty="0" smtClean="0">
                <a:solidFill>
                  <a:srgbClr val="4D4D4D"/>
                </a:solidFill>
                <a:latin typeface="Helvetica" charset="0"/>
                <a:cs typeface="Helvetica" charset="0"/>
                <a:sym typeface="Helvetica" charset="0"/>
              </a:rPr>
              <a:t>Consultant</a:t>
            </a:r>
          </a:p>
          <a:p>
            <a:pPr algn="r"/>
            <a:r>
              <a:rPr lang="en-US" sz="1100" i="1" dirty="0" smtClean="0">
                <a:solidFill>
                  <a:srgbClr val="4D4D4D"/>
                </a:solidFill>
                <a:latin typeface="Helvetica" charset="0"/>
                <a:cs typeface="Helvetica" charset="0"/>
                <a:sym typeface="Helvetica" charset="0"/>
                <a:hlinkClick r:id="rId7"/>
              </a:rPr>
              <a:t>Avanade</a:t>
            </a:r>
            <a:endParaRPr lang="en-US" sz="1100" i="1" dirty="0">
              <a:solidFill>
                <a:srgbClr val="4D4D4D"/>
              </a:solidFill>
              <a:latin typeface="Helvetica" charset="0"/>
              <a:cs typeface="Helvetica" charset="0"/>
              <a:sym typeface="Helvetica" charset="0"/>
            </a:endParaRPr>
          </a:p>
        </p:txBody>
      </p:sp>
      <p:sp>
        <p:nvSpPr>
          <p:cNvPr id="13" name="Rounded Rectangle 12">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6" name="Rectangle 2"/>
          <p:cNvSpPr>
            <a:spLocks/>
          </p:cNvSpPr>
          <p:nvPr/>
        </p:nvSpPr>
        <p:spPr bwMode="auto">
          <a:xfrm>
            <a:off x="1414462" y="8543925"/>
            <a:ext cx="4973355" cy="838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8"/>
              </a:rPr>
              <a:t>Tarun Arora</a:t>
            </a:r>
            <a:r>
              <a:rPr lang="en-US" sz="1000" i="1" dirty="0"/>
              <a:t> is a passionate technologist at </a:t>
            </a:r>
            <a:r>
              <a:rPr lang="en-US" sz="1000" i="1" u="sng" dirty="0">
                <a:hlinkClick r:id="rId7"/>
              </a:rPr>
              <a:t>Avanade</a:t>
            </a:r>
            <a:r>
              <a:rPr lang="en-US" sz="1000" i="1" dirty="0"/>
              <a:t>, London. Tarun is a Microsoft MVP and a Visual Studio ALM Ranger. After work he is found moderating MSDN forums, </a:t>
            </a:r>
            <a:r>
              <a:rPr lang="en-US" sz="1000" i="1" u="sng" dirty="0">
                <a:hlinkClick r:id="rId9"/>
              </a:rPr>
              <a:t>blogging</a:t>
            </a:r>
            <a:r>
              <a:rPr lang="en-US" sz="1000" i="1" dirty="0"/>
              <a:t> and writing for MSDN, TechNet, Codeproject and other technology centric websites. For the latest and greatest follow him on </a:t>
            </a:r>
            <a:r>
              <a:rPr lang="en-US" sz="1000" i="1" u="sng" dirty="0">
                <a:hlinkClick r:id="rId10"/>
              </a:rPr>
              <a:t>@arora_tarun</a:t>
            </a:r>
            <a:endParaRPr lang="en-US" sz="1000" i="1" dirty="0"/>
          </a:p>
        </p:txBody>
      </p:sp>
    </p:spTree>
    <p:extLst>
      <p:ext uri="{BB962C8B-B14F-4D97-AF65-F5344CB8AC3E}">
        <p14:creationId xmlns:p14="http://schemas.microsoft.com/office/powerpoint/2010/main" val="203025568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6" y="1609726"/>
            <a:ext cx="1143003" cy="1143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0" name="TextBox 3"/>
          <p:cNvSpPr txBox="1">
            <a:spLocks noChangeArrowheads="1"/>
          </p:cNvSpPr>
          <p:nvPr/>
        </p:nvSpPr>
        <p:spPr bwMode="auto">
          <a:xfrm>
            <a:off x="42862" y="795606"/>
            <a:ext cx="74728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600" b="1" dirty="0" smtClean="0">
                <a:latin typeface="Palatino Linotype" pitchFamily="18" charset="0"/>
              </a:rPr>
              <a:t>Top 100 Agile Books (Edition 2012)</a:t>
            </a:r>
            <a:endParaRPr lang="en-PH" sz="3600" b="1" dirty="0">
              <a:latin typeface="Palatino Linotype" pitchFamily="18" charset="0"/>
            </a:endParaRPr>
          </a:p>
        </p:txBody>
      </p:sp>
      <p:sp>
        <p:nvSpPr>
          <p:cNvPr id="12292" name="Rectangle 6"/>
          <p:cNvSpPr>
            <a:spLocks/>
          </p:cNvSpPr>
          <p:nvPr/>
        </p:nvSpPr>
        <p:spPr bwMode="auto">
          <a:xfrm>
            <a:off x="354014" y="2947989"/>
            <a:ext cx="1603375" cy="68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i="1" dirty="0" err="1" smtClean="0">
                <a:solidFill>
                  <a:srgbClr val="4D4D4D"/>
                </a:solidFill>
                <a:latin typeface="Helvetica" charset="0"/>
                <a:cs typeface="Helvetica" charset="0"/>
                <a:sym typeface="Helvetica" charset="0"/>
                <a:hlinkClick r:id="rId3"/>
              </a:rPr>
              <a:t>Jurgen</a:t>
            </a:r>
            <a:r>
              <a:rPr lang="en-US" sz="1100" i="1" dirty="0" smtClean="0">
                <a:solidFill>
                  <a:srgbClr val="4D4D4D"/>
                </a:solidFill>
                <a:latin typeface="Helvetica" charset="0"/>
                <a:cs typeface="Helvetica" charset="0"/>
                <a:sym typeface="Helvetica" charset="0"/>
                <a:hlinkClick r:id="rId3"/>
              </a:rPr>
              <a:t> </a:t>
            </a:r>
            <a:r>
              <a:rPr lang="en-US" sz="1100" i="1" dirty="0" err="1" smtClean="0">
                <a:solidFill>
                  <a:srgbClr val="4D4D4D"/>
                </a:solidFill>
                <a:latin typeface="Helvetica" charset="0"/>
                <a:cs typeface="Helvetica" charset="0"/>
                <a:sym typeface="Helvetica" charset="0"/>
                <a:hlinkClick r:id="rId3"/>
              </a:rPr>
              <a:t>Appelo</a:t>
            </a:r>
            <a:endParaRPr lang="en-US" sz="1100" i="1" dirty="0" smtClean="0">
              <a:solidFill>
                <a:srgbClr val="4D4D4D"/>
              </a:solidFill>
              <a:latin typeface="Helvetica" charset="0"/>
              <a:cs typeface="Helvetica" charset="0"/>
              <a:sym typeface="Helvetica" charset="0"/>
            </a:endParaRPr>
          </a:p>
          <a:p>
            <a:pPr algn="r"/>
            <a:r>
              <a:rPr lang="en-US" sz="1100" i="1" dirty="0" smtClean="0">
                <a:solidFill>
                  <a:srgbClr val="4D4D4D"/>
                </a:solidFill>
                <a:latin typeface="Helvetica" charset="0"/>
                <a:cs typeface="Helvetica" charset="0"/>
                <a:sym typeface="Helvetica" charset="0"/>
              </a:rPr>
              <a:t>Author, Trainer, Coach</a:t>
            </a:r>
          </a:p>
        </p:txBody>
      </p:sp>
      <p:sp>
        <p:nvSpPr>
          <p:cNvPr id="12302" name="Rectangle 10"/>
          <p:cNvSpPr>
            <a:spLocks/>
          </p:cNvSpPr>
          <p:nvPr/>
        </p:nvSpPr>
        <p:spPr bwMode="auto">
          <a:xfrm>
            <a:off x="2176463" y="3590926"/>
            <a:ext cx="4956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a:latin typeface="Helvetica" charset="0"/>
              <a:cs typeface="Helvetica" charset="0"/>
              <a:sym typeface="Helvetica" charset="0"/>
            </a:endParaRPr>
          </a:p>
        </p:txBody>
      </p:sp>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5295297" y="216784"/>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Agile</a:t>
            </a:r>
          </a:p>
        </p:txBody>
      </p:sp>
      <p:sp>
        <p:nvSpPr>
          <p:cNvPr id="13" name="Rectangle 2"/>
          <p:cNvSpPr>
            <a:spLocks/>
          </p:cNvSpPr>
          <p:nvPr/>
        </p:nvSpPr>
        <p:spPr bwMode="auto">
          <a:xfrm>
            <a:off x="2173288" y="2676525"/>
            <a:ext cx="4956175" cy="2985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Most notable is the new entry at #1 of </a:t>
            </a:r>
            <a:r>
              <a:rPr lang="en-US" sz="1200" b="1" dirty="0"/>
              <a:t>The Lean Startup</a:t>
            </a:r>
            <a:r>
              <a:rPr lang="en-US" sz="1200" dirty="0"/>
              <a:t>, by Eric </a:t>
            </a:r>
            <a:r>
              <a:rPr lang="en-US" sz="1200" dirty="0" err="1"/>
              <a:t>Ries</a:t>
            </a:r>
            <a:r>
              <a:rPr lang="en-US" sz="1200" dirty="0"/>
              <a:t>. Clearly deserved, as the whole Agile community has been talking about it all year</a:t>
            </a:r>
            <a:r>
              <a:rPr lang="en-US" sz="1200" dirty="0" smtClean="0"/>
              <a:t>.</a:t>
            </a:r>
          </a:p>
          <a:p>
            <a:pPr algn="just"/>
            <a:endParaRPr lang="en-US" sz="1200" dirty="0"/>
          </a:p>
          <a:p>
            <a:pPr algn="just"/>
            <a:r>
              <a:rPr lang="en-US" sz="1200" dirty="0"/>
              <a:t>But that’s not all</a:t>
            </a:r>
            <a:r>
              <a:rPr lang="en-US" sz="1200" dirty="0" smtClean="0"/>
              <a:t>.</a:t>
            </a:r>
          </a:p>
          <a:p>
            <a:pPr algn="just"/>
            <a:endParaRPr lang="en-US" sz="1200" dirty="0"/>
          </a:p>
          <a:p>
            <a:pPr algn="just"/>
            <a:r>
              <a:rPr lang="en-US" sz="1200" b="1" dirty="0"/>
              <a:t>Specification by Example</a:t>
            </a:r>
            <a:r>
              <a:rPr lang="en-US" sz="1200" dirty="0"/>
              <a:t>, by </a:t>
            </a:r>
            <a:r>
              <a:rPr lang="en-US" sz="1200" dirty="0" err="1"/>
              <a:t>Gojko</a:t>
            </a:r>
            <a:r>
              <a:rPr lang="en-US" sz="1200" dirty="0"/>
              <a:t> </a:t>
            </a:r>
            <a:r>
              <a:rPr lang="en-US" sz="1200" dirty="0" err="1"/>
              <a:t>Adzic</a:t>
            </a:r>
            <a:r>
              <a:rPr lang="en-US" sz="1200" dirty="0"/>
              <a:t>, makes a spectacular jump to the 2nd slot in the list. </a:t>
            </a:r>
            <a:r>
              <a:rPr lang="en-US" sz="1200" b="1" dirty="0"/>
              <a:t>The Scrum Field Guide</a:t>
            </a:r>
            <a:r>
              <a:rPr lang="en-US" sz="1200" dirty="0"/>
              <a:t>, by Mitch Lacey, has skyrocketed into the list at #7. And </a:t>
            </a:r>
            <a:r>
              <a:rPr lang="en-US" sz="1200" b="1" dirty="0"/>
              <a:t>The Culture Game</a:t>
            </a:r>
            <a:r>
              <a:rPr lang="en-US" sz="1200" dirty="0"/>
              <a:t>, by Dan </a:t>
            </a:r>
            <a:r>
              <a:rPr lang="en-US" sz="1200" dirty="0" err="1"/>
              <a:t>Mezick</a:t>
            </a:r>
            <a:r>
              <a:rPr lang="en-US" sz="1200" dirty="0"/>
              <a:t>, also makes a remarkable new entry at #39</a:t>
            </a:r>
            <a:r>
              <a:rPr lang="en-US" sz="1200" dirty="0" smtClean="0"/>
              <a:t>.</a:t>
            </a:r>
          </a:p>
          <a:p>
            <a:endParaRPr lang="en-US" sz="1200" dirty="0"/>
          </a:p>
          <a:p>
            <a:r>
              <a:rPr lang="en-US" sz="1200" dirty="0"/>
              <a:t>As for the rest, I suggest you see for yourself</a:t>
            </a:r>
            <a:r>
              <a:rPr lang="en-US" sz="1200" dirty="0" smtClean="0"/>
              <a:t>…</a:t>
            </a:r>
          </a:p>
          <a:p>
            <a:endParaRPr lang="en-US" sz="1200" dirty="0"/>
          </a:p>
          <a:p>
            <a:r>
              <a:rPr lang="en-US" sz="1200" dirty="0"/>
              <a:t>(For last year’s list see: </a:t>
            </a:r>
            <a:r>
              <a:rPr lang="en-US" sz="1200" dirty="0">
                <a:hlinkClick r:id="rId4"/>
              </a:rPr>
              <a:t>Top 100 Agile Books, Edition 2011</a:t>
            </a:r>
            <a:r>
              <a:rPr lang="en-US" sz="1200" dirty="0"/>
              <a:t>)</a:t>
            </a:r>
          </a:p>
          <a:p>
            <a:endParaRPr lang="en-US" sz="1200" dirty="0"/>
          </a:p>
          <a:p>
            <a:endParaRPr lang="en-US" sz="1200" dirty="0"/>
          </a:p>
        </p:txBody>
      </p:sp>
      <p:sp>
        <p:nvSpPr>
          <p:cNvPr id="15" name="Rectangle 3"/>
          <p:cNvSpPr>
            <a:spLocks/>
          </p:cNvSpPr>
          <p:nvPr/>
        </p:nvSpPr>
        <p:spPr bwMode="auto">
          <a:xfrm>
            <a:off x="2709862" y="1492249"/>
            <a:ext cx="4419601" cy="1108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t </a:t>
            </a:r>
            <a:r>
              <a:rPr lang="en-US" sz="1200" dirty="0"/>
              <a:t>took me four hours, three coffees, two toilet breaks, and one unpredictable </a:t>
            </a:r>
            <a:r>
              <a:rPr lang="en-US" sz="1200" dirty="0" err="1"/>
              <a:t>wi-fi</a:t>
            </a:r>
            <a:r>
              <a:rPr lang="en-US" sz="1200" dirty="0"/>
              <a:t> connection, but here it is… the annual </a:t>
            </a:r>
            <a:r>
              <a:rPr lang="en-US" sz="1200" b="1" dirty="0"/>
              <a:t>Top 100 Agile Books 2012</a:t>
            </a:r>
            <a:r>
              <a:rPr lang="en-US" sz="1200" dirty="0"/>
              <a:t>, based on ratings from </a:t>
            </a:r>
            <a:r>
              <a:rPr lang="en-US" sz="1200" i="1" dirty="0"/>
              <a:t>Amazon</a:t>
            </a:r>
            <a:r>
              <a:rPr lang="en-US" sz="1200" dirty="0"/>
              <a:t> and </a:t>
            </a:r>
            <a:r>
              <a:rPr lang="en-US" sz="1200" i="1" dirty="0" err="1"/>
              <a:t>GoodReads</a:t>
            </a:r>
            <a:r>
              <a:rPr lang="en-US" sz="1200" dirty="0" smtClean="0"/>
              <a:t>.</a:t>
            </a:r>
          </a:p>
          <a:p>
            <a:pPr algn="just"/>
            <a:endParaRPr lang="en-US" sz="1200" dirty="0"/>
          </a:p>
          <a:p>
            <a:pPr algn="just"/>
            <a:r>
              <a:rPr lang="en-US" sz="1200" dirty="0"/>
              <a:t>There are some amazing changes at the top of the list this year. </a:t>
            </a:r>
          </a:p>
        </p:txBody>
      </p:sp>
      <p:sp>
        <p:nvSpPr>
          <p:cNvPr id="17" name="Rectangle 4"/>
          <p:cNvSpPr>
            <a:spLocks/>
          </p:cNvSpPr>
          <p:nvPr/>
        </p:nvSpPr>
        <p:spPr bwMode="auto">
          <a:xfrm>
            <a:off x="2024062" y="1166811"/>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I</a:t>
            </a:r>
            <a:endParaRPr lang="en-US" sz="11600" b="1" dirty="0">
              <a:latin typeface="Helvetica Neue Bold Condensed" charset="0"/>
              <a:sym typeface="Helvetica Neue Bold Condensed" charset="0"/>
            </a:endParaRPr>
          </a:p>
        </p:txBody>
      </p:sp>
      <p:pic>
        <p:nvPicPr>
          <p:cNvPr id="1028" name="Picture 4" descr="Top-100-agile-books">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639" y="3743325"/>
            <a:ext cx="1154749" cy="11355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197033002"/>
              </p:ext>
            </p:extLst>
          </p:nvPr>
        </p:nvGraphicFramePr>
        <p:xfrm>
          <a:off x="500062" y="5419725"/>
          <a:ext cx="6858001" cy="3326136"/>
        </p:xfrm>
        <a:graphic>
          <a:graphicData uri="http://schemas.openxmlformats.org/drawingml/2006/table">
            <a:tbl>
              <a:tblPr/>
              <a:tblGrid>
                <a:gridCol w="617980"/>
                <a:gridCol w="617980"/>
                <a:gridCol w="3037083"/>
                <a:gridCol w="1921576"/>
                <a:gridCol w="663382"/>
              </a:tblGrid>
              <a:tr h="63210">
                <a:tc>
                  <a:txBody>
                    <a:bodyPr/>
                    <a:lstStyle/>
                    <a:p>
                      <a:pPr marL="0" marR="0" algn="ctr" fontAlgn="t">
                        <a:spcBef>
                          <a:spcPts val="0"/>
                        </a:spcBef>
                        <a:spcAft>
                          <a:spcPts val="0"/>
                        </a:spcAft>
                      </a:pPr>
                      <a:r>
                        <a:rPr lang="en-US" sz="1400" b="1" dirty="0">
                          <a:effectLst/>
                          <a:latin typeface="Calibri"/>
                        </a:rPr>
                        <a:t>TY</a:t>
                      </a:r>
                      <a:endParaRPr lang="en-US" sz="1400" dirty="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400" b="1" dirty="0">
                          <a:effectLst/>
                          <a:latin typeface="Calibri"/>
                        </a:rPr>
                        <a:t>LY</a:t>
                      </a:r>
                      <a:endParaRPr lang="en-US" sz="14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400" b="1" dirty="0">
                          <a:effectLst/>
                          <a:latin typeface="Calibri"/>
                        </a:rPr>
                        <a:t>Title</a:t>
                      </a:r>
                      <a:endParaRPr lang="en-US" sz="14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400" b="1" dirty="0">
                          <a:effectLst/>
                          <a:latin typeface="Calibri"/>
                        </a:rPr>
                        <a:t>Author(s)</a:t>
                      </a:r>
                      <a:endParaRPr lang="en-US" sz="14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400" b="1" dirty="0">
                          <a:effectLst/>
                          <a:latin typeface="Calibri"/>
                        </a:rPr>
                        <a:t>Year</a:t>
                      </a:r>
                      <a:endParaRPr lang="en-US" sz="1400" dirty="0">
                        <a:effectLst/>
                        <a:latin typeface="Calibri"/>
                      </a:endParaRPr>
                    </a:p>
                  </a:txBody>
                  <a:tcPr marL="7779" marR="7779" marT="7779" marB="7779">
                    <a:lnL>
                      <a:noFill/>
                    </a:lnL>
                    <a:lnR>
                      <a:noFill/>
                    </a:lnR>
                    <a:lnT>
                      <a:noFill/>
                    </a:lnT>
                    <a:lnB>
                      <a:noFill/>
                    </a:lnB>
                  </a:tcPr>
                </a:tc>
              </a:tr>
              <a:tr h="84136">
                <a:tc>
                  <a:txBody>
                    <a:bodyPr/>
                    <a:lstStyle/>
                    <a:p>
                      <a:pPr marL="0" marR="0" algn="ctr"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r>
              <a:tr h="84136">
                <a:tc>
                  <a:txBody>
                    <a:bodyPr/>
                    <a:lstStyle/>
                    <a:p>
                      <a:pPr marL="0" marR="0" algn="ctr" fontAlgn="t">
                        <a:spcBef>
                          <a:spcPts val="0"/>
                        </a:spcBef>
                        <a:spcAft>
                          <a:spcPts val="0"/>
                        </a:spcAft>
                      </a:pPr>
                      <a:r>
                        <a:rPr lang="en-US" sz="1200" b="1" dirty="0">
                          <a:effectLst/>
                          <a:latin typeface="Calibri"/>
                        </a:rPr>
                        <a:t>1</a:t>
                      </a:r>
                      <a:endParaRPr lang="en-US" sz="1200" dirty="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hlinkClick r:id="rId7"/>
                        </a:rPr>
                        <a:t>The Lean Startup</a:t>
                      </a: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rPr>
                        <a:t>Eric </a:t>
                      </a:r>
                      <a:r>
                        <a:rPr lang="en-US" sz="1200" dirty="0" err="1">
                          <a:effectLst/>
                          <a:latin typeface="Calibri"/>
                        </a:rPr>
                        <a:t>Ries</a:t>
                      </a: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2011</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2</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32</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hlinkClick r:id="rId8"/>
                        </a:rPr>
                        <a:t>Specification by Example: How Successful Teams Deliver the Right Software</a:t>
                      </a: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Gojko Adzic</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rPr>
                        <a:t>2011</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3</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dirty="0">
                          <a:effectLst/>
                          <a:latin typeface="Calibri"/>
                        </a:rPr>
                        <a:t>5</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hlinkClick r:id="rId9"/>
                        </a:rPr>
                        <a:t>Succeeding with Agile: Software Development Using Scrum</a:t>
                      </a: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Mike Cohn</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2009</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4</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1</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hlinkClick r:id="rId10"/>
                        </a:rPr>
                        <a:t>The Art of Unit Testing: With Examples in .Net</a:t>
                      </a: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Roy Osherove</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2009</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5</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9</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hlinkClick r:id="rId11"/>
                        </a:rPr>
                        <a:t>The Agile Samurai: How Agile Masters Deliver Great Software</a:t>
                      </a: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Jonathan Rasmusson</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2010</a:t>
                      </a:r>
                    </a:p>
                  </a:txBody>
                  <a:tcPr marL="7779" marR="7779" marT="7779" marB="7779">
                    <a:lnL>
                      <a:noFill/>
                    </a:lnL>
                    <a:lnR>
                      <a:noFill/>
                    </a:lnR>
                    <a:lnT>
                      <a:noFill/>
                    </a:lnT>
                    <a:lnB>
                      <a:noFill/>
                    </a:lnB>
                  </a:tcPr>
                </a:tc>
              </a:tr>
              <a:tr h="84136">
                <a:tc>
                  <a:txBody>
                    <a:bodyPr/>
                    <a:lstStyle/>
                    <a:p>
                      <a:pPr marL="0" marR="0" algn="ctr" fontAlgn="t">
                        <a:spcBef>
                          <a:spcPts val="0"/>
                        </a:spcBef>
                        <a:spcAft>
                          <a:spcPts val="0"/>
                        </a:spcAft>
                      </a:pPr>
                      <a:r>
                        <a:rPr lang="en-US" sz="1200" b="1">
                          <a:effectLst/>
                          <a:latin typeface="Calibri"/>
                        </a:rPr>
                        <a:t>6</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2</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hlinkClick r:id="rId12"/>
                        </a:rPr>
                        <a:t>Agile Estimating and Planning</a:t>
                      </a: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Mike Cohn</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2005</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7</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dirty="0">
                          <a:effectLst/>
                          <a:latin typeface="Calibri"/>
                          <a:hlinkClick r:id="rId13"/>
                        </a:rPr>
                        <a:t>The Scrum Field Guide: Practical Advice for Your First Year</a:t>
                      </a: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Mitch Lacey</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2012</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r>
                        <a:rPr lang="en-US" sz="1200" b="1">
                          <a:effectLst/>
                          <a:latin typeface="Calibri"/>
                        </a:rPr>
                        <a:t>8</a:t>
                      </a: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r>
                        <a:rPr lang="en-US" sz="1200">
                          <a:effectLst/>
                          <a:latin typeface="Calibri"/>
                        </a:rPr>
                        <a:t>7</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hlinkClick r:id="rId14"/>
                        </a:rPr>
                        <a:t>Agile Software Development, Principles, Patterns, and Practices</a:t>
                      </a: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Robert C. Martin</a:t>
                      </a:r>
                    </a:p>
                  </a:txBody>
                  <a:tcPr marL="7779" marR="7779" marT="7779" marB="7779">
                    <a:lnL>
                      <a:noFill/>
                    </a:lnL>
                    <a:lnR>
                      <a:noFill/>
                    </a:lnR>
                    <a:lnT>
                      <a:noFill/>
                    </a:lnT>
                    <a:lnB>
                      <a:noFill/>
                    </a:lnB>
                  </a:tcPr>
                </a:tc>
                <a:tc>
                  <a:txBody>
                    <a:bodyPr/>
                    <a:lstStyle/>
                    <a:p>
                      <a:pPr marL="0" marR="0" fontAlgn="t">
                        <a:spcBef>
                          <a:spcPts val="0"/>
                        </a:spcBef>
                        <a:spcAft>
                          <a:spcPts val="0"/>
                        </a:spcAft>
                      </a:pPr>
                      <a:r>
                        <a:rPr lang="en-US" sz="1200">
                          <a:effectLst/>
                          <a:latin typeface="Calibri"/>
                        </a:rPr>
                        <a:t>2002</a:t>
                      </a: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r>
              <a:tr h="105061">
                <a:tc>
                  <a:txBody>
                    <a:bodyPr/>
                    <a:lstStyle/>
                    <a:p>
                      <a:pPr marL="0" marR="0" algn="ctr"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algn="ctr" fontAlgn="t">
                        <a:spcBef>
                          <a:spcPts val="0"/>
                        </a:spcBef>
                        <a:spcAft>
                          <a:spcPts val="0"/>
                        </a:spcAft>
                      </a:pPr>
                      <a:endParaRPr lang="en-US" sz="120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c>
                  <a:txBody>
                    <a:bodyPr/>
                    <a:lstStyle/>
                    <a:p>
                      <a:pPr marL="0" marR="0" fontAlgn="t">
                        <a:spcBef>
                          <a:spcPts val="0"/>
                        </a:spcBef>
                        <a:spcAft>
                          <a:spcPts val="0"/>
                        </a:spcAft>
                      </a:pPr>
                      <a:endParaRPr lang="en-US" sz="1200" dirty="0">
                        <a:effectLst/>
                        <a:latin typeface="Calibri"/>
                      </a:endParaRPr>
                    </a:p>
                  </a:txBody>
                  <a:tcPr marL="7779" marR="7779" marT="7779" marB="7779">
                    <a:lnL>
                      <a:noFill/>
                    </a:lnL>
                    <a:lnR>
                      <a:noFill/>
                    </a:lnR>
                    <a:lnT>
                      <a:noFill/>
                    </a:lnT>
                    <a:lnB>
                      <a:noFill/>
                    </a:lnB>
                  </a:tcPr>
                </a:tc>
              </a:tr>
            </a:tbl>
          </a:graphicData>
        </a:graphic>
      </p:graphicFrame>
      <p:sp>
        <p:nvSpPr>
          <p:cNvPr id="14" name="Rounded Rectangle 13">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6" name="Rectangle 2"/>
          <p:cNvSpPr>
            <a:spLocks/>
          </p:cNvSpPr>
          <p:nvPr/>
        </p:nvSpPr>
        <p:spPr bwMode="auto">
          <a:xfrm>
            <a:off x="728662" y="8467725"/>
            <a:ext cx="6248400" cy="1066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err="1"/>
              <a:t>Jurgen</a:t>
            </a:r>
            <a:r>
              <a:rPr lang="en-US" sz="1000" i="1" dirty="0"/>
              <a:t> </a:t>
            </a:r>
            <a:r>
              <a:rPr lang="en-US" sz="1000" i="1" dirty="0" err="1"/>
              <a:t>Appelo</a:t>
            </a:r>
            <a:r>
              <a:rPr lang="en-US" sz="1000" i="1" dirty="0"/>
              <a:t> is co-founder of the </a:t>
            </a:r>
            <a:r>
              <a:rPr lang="en-US" sz="1000" i="1" dirty="0">
                <a:hlinkClick r:id="rId15"/>
              </a:rPr>
              <a:t>Agile Lean Europe network</a:t>
            </a:r>
            <a:r>
              <a:rPr lang="en-US" sz="1000" i="1" dirty="0"/>
              <a:t> and the </a:t>
            </a:r>
            <a:r>
              <a:rPr lang="en-US" sz="1000" i="1" dirty="0" err="1">
                <a:hlinkClick r:id="rId16"/>
              </a:rPr>
              <a:t>Stoos</a:t>
            </a:r>
            <a:r>
              <a:rPr lang="en-US" sz="1000" i="1" dirty="0">
                <a:hlinkClick r:id="rId16"/>
              </a:rPr>
              <a:t> Network</a:t>
            </a:r>
            <a:r>
              <a:rPr lang="en-US" sz="1000" i="1" dirty="0"/>
              <a:t> (focusing on change agents for organizational transformation). A </a:t>
            </a:r>
            <a:r>
              <a:rPr lang="en-US" sz="1000" i="1" dirty="0">
                <a:hlinkClick r:id="rId17"/>
              </a:rPr>
              <a:t>writer</a:t>
            </a:r>
            <a:r>
              <a:rPr lang="en-US" sz="1000" i="1" dirty="0"/>
              <a:t>, </a:t>
            </a:r>
            <a:r>
              <a:rPr lang="en-US" sz="1000" i="1" dirty="0">
                <a:hlinkClick r:id="rId18"/>
              </a:rPr>
              <a:t>speaker</a:t>
            </a:r>
            <a:r>
              <a:rPr lang="en-US" sz="1000" i="1" dirty="0"/>
              <a:t>, </a:t>
            </a:r>
            <a:r>
              <a:rPr lang="en-US" sz="1000" i="1" dirty="0">
                <a:hlinkClick r:id="rId19"/>
              </a:rPr>
              <a:t>trainer</a:t>
            </a:r>
            <a:r>
              <a:rPr lang="en-US" sz="1000" i="1" dirty="0"/>
              <a:t> who </a:t>
            </a:r>
            <a:r>
              <a:rPr lang="en-US" sz="1000" i="1" dirty="0">
                <a:hlinkClick r:id="rId20"/>
              </a:rPr>
              <a:t>blogs</a:t>
            </a:r>
            <a:r>
              <a:rPr lang="en-US" sz="1000" i="1" dirty="0"/>
              <a:t> on topics including Agile management, software engineering, business improvement, personal development, and complexity theory, </a:t>
            </a:r>
            <a:r>
              <a:rPr lang="en-US" sz="1000" i="1" dirty="0" err="1"/>
              <a:t>Jurgen</a:t>
            </a:r>
            <a:r>
              <a:rPr lang="en-US" sz="1000" i="1" dirty="0"/>
              <a:t> is the author of </a:t>
            </a:r>
            <a:r>
              <a:rPr lang="en-US" sz="1000" i="1" dirty="0">
                <a:hlinkClick r:id="rId17"/>
              </a:rPr>
              <a:t>Management 3.0: Leading Agile Developers, Developing Agile Leaders</a:t>
            </a:r>
            <a:r>
              <a:rPr lang="en-US" sz="1000" i="1" dirty="0"/>
              <a:t>, describing the role of the manager in Agile organizations. He also wrote </a:t>
            </a:r>
            <a:r>
              <a:rPr lang="en-US" sz="1000" i="1" dirty="0">
                <a:hlinkClick r:id="rId21"/>
              </a:rPr>
              <a:t>How to Change the World</a:t>
            </a:r>
            <a:r>
              <a:rPr lang="en-US" sz="1000" i="1" dirty="0"/>
              <a:t>, which describes his new supermodel for change management. </a:t>
            </a:r>
          </a:p>
        </p:txBody>
      </p:sp>
    </p:spTree>
    <p:extLst>
      <p:ext uri="{BB962C8B-B14F-4D97-AF65-F5344CB8AC3E}">
        <p14:creationId xmlns:p14="http://schemas.microsoft.com/office/powerpoint/2010/main" val="337212944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695327"/>
            <a:ext cx="63514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Integrating Development &amp; </a:t>
            </a:r>
            <a:endParaRPr lang="en-US" sz="3600" b="1" dirty="0" smtClean="0">
              <a:latin typeface="Palatino Linotype" pitchFamily="18" charset="0"/>
            </a:endParaRPr>
          </a:p>
          <a:p>
            <a:pPr eaLnBrk="1" hangingPunct="1"/>
            <a:r>
              <a:rPr lang="en-US" sz="3600" b="1" dirty="0" smtClean="0">
                <a:latin typeface="Palatino Linotype" pitchFamily="18" charset="0"/>
              </a:rPr>
              <a:t>Operations </a:t>
            </a:r>
            <a:r>
              <a:rPr lang="en-US" sz="3600" b="1" dirty="0">
                <a:latin typeface="Palatino Linotype" pitchFamily="18" charset="0"/>
              </a:rPr>
              <a:t>for the Enterprise</a:t>
            </a:r>
          </a:p>
        </p:txBody>
      </p:sp>
      <p:sp>
        <p:nvSpPr>
          <p:cNvPr id="12292" name="Rectangle 2"/>
          <p:cNvSpPr>
            <a:spLocks/>
          </p:cNvSpPr>
          <p:nvPr/>
        </p:nvSpPr>
        <p:spPr bwMode="auto">
          <a:xfrm>
            <a:off x="2173288" y="3119439"/>
            <a:ext cx="49561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and </a:t>
            </a:r>
            <a:r>
              <a:rPr lang="en-US" sz="1200" dirty="0"/>
              <a:t>fixes – and the organization benefits from </a:t>
            </a:r>
            <a:r>
              <a:rPr lang="en-US" sz="1200" dirty="0" smtClean="0"/>
              <a:t>that</a:t>
            </a:r>
            <a:endParaRPr lang="en-US" sz="1200" dirty="0"/>
          </a:p>
        </p:txBody>
      </p:sp>
      <p:sp>
        <p:nvSpPr>
          <p:cNvPr id="12293" name="Rectangle 3"/>
          <p:cNvSpPr>
            <a:spLocks/>
          </p:cNvSpPr>
          <p:nvPr/>
        </p:nvSpPr>
        <p:spPr bwMode="auto">
          <a:xfrm>
            <a:off x="3090863" y="1935162"/>
            <a:ext cx="40386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b="1" dirty="0" smtClean="0"/>
              <a:t>xecutive Overview</a:t>
            </a:r>
          </a:p>
          <a:p>
            <a:pPr algn="just"/>
            <a:r>
              <a:rPr lang="en-US" sz="1200" dirty="0" smtClean="0"/>
              <a:t>Organizations that</a:t>
            </a:r>
            <a:endParaRPr lang="en-US" sz="1200" dirty="0"/>
          </a:p>
        </p:txBody>
      </p:sp>
      <p:sp>
        <p:nvSpPr>
          <p:cNvPr id="12294" name="Rectangle 4"/>
          <p:cNvSpPr>
            <a:spLocks/>
          </p:cNvSpPr>
          <p:nvPr/>
        </p:nvSpPr>
        <p:spPr bwMode="auto">
          <a:xfrm>
            <a:off x="2024063" y="1609348"/>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E</a:t>
            </a:r>
            <a:endParaRPr lang="en-US" sz="11600" b="1" dirty="0">
              <a:latin typeface="Helvetica Neue Bold Condensed" charset="0"/>
              <a:sym typeface="Helvetica Neue Bold Condensed" charset="0"/>
            </a:endParaRPr>
          </a:p>
        </p:txBody>
      </p:sp>
      <p:sp>
        <p:nvSpPr>
          <p:cNvPr id="12" name="Rectangle 2"/>
          <p:cNvSpPr>
            <a:spLocks/>
          </p:cNvSpPr>
          <p:nvPr/>
        </p:nvSpPr>
        <p:spPr bwMode="auto">
          <a:xfrm>
            <a:off x="344489" y="8972550"/>
            <a:ext cx="67849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cap="small" baseline="30000" dirty="0" smtClean="0"/>
              <a:t>1</a:t>
            </a:r>
            <a:r>
              <a:rPr lang="en-US" sz="1000" cap="small" dirty="0" smtClean="0"/>
              <a:t> </a:t>
            </a:r>
            <a:r>
              <a:rPr lang="en-US" sz="1000" i="1" dirty="0"/>
              <a:t>hybrid IT </a:t>
            </a:r>
            <a:r>
              <a:rPr lang="en-US" sz="1000" dirty="0"/>
              <a:t> enables companies to use private clouds for application delivery and also take advantage of public cloud infrastructure to create resource flexibility and address temporary infrastructure demand </a:t>
            </a:r>
            <a:r>
              <a:rPr lang="en-US" sz="1000" dirty="0" smtClean="0"/>
              <a:t>needs</a:t>
            </a:r>
          </a:p>
          <a:p>
            <a:r>
              <a:rPr lang="en-US" sz="1000" cap="small" baseline="30000" dirty="0" smtClean="0"/>
              <a:t>2  </a:t>
            </a:r>
            <a:r>
              <a:rPr lang="en-US" sz="1000" dirty="0"/>
              <a:t>Gartner Predicts 2012: Application Development (Dec 2011)</a:t>
            </a:r>
            <a:endParaRPr lang="en-US" sz="1000" cap="small" baseline="30000" dirty="0"/>
          </a:p>
        </p:txBody>
      </p:sp>
      <p:cxnSp>
        <p:nvCxnSpPr>
          <p:cNvPr id="14" name="Straight Connector 13"/>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84</a:t>
            </a:fld>
            <a:endParaRPr lang="en-PH" dirty="0"/>
          </a:p>
        </p:txBody>
      </p:sp>
      <p:sp>
        <p:nvSpPr>
          <p:cNvPr id="17" name="Rectangle 5"/>
          <p:cNvSpPr>
            <a:spLocks/>
          </p:cNvSpPr>
          <p:nvPr/>
        </p:nvSpPr>
        <p:spPr bwMode="auto">
          <a:xfrm>
            <a:off x="344486" y="3590926"/>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Keith Pleas</a:t>
            </a:r>
          </a:p>
          <a:p>
            <a:pPr algn="r"/>
            <a:r>
              <a:rPr lang="en-US" sz="1100" i="1" dirty="0">
                <a:solidFill>
                  <a:srgbClr val="4D4D4D"/>
                </a:solidFill>
                <a:latin typeface="Helvetica" charset="0"/>
                <a:cs typeface="Helvetica" charset="0"/>
              </a:rPr>
              <a:t>Organizer and Conference Chair for the </a:t>
            </a:r>
            <a:r>
              <a:rPr lang="en-US" sz="1100" i="1" dirty="0">
                <a:solidFill>
                  <a:srgbClr val="4D4D4D"/>
                </a:solidFill>
                <a:latin typeface="Helvetica" charset="0"/>
                <a:cs typeface="Helvetica" charset="0"/>
                <a:hlinkClick r:id="rId2"/>
              </a:rPr>
              <a:t>ALM Summit</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3" name="Rectangle 12"/>
          <p:cNvSpPr/>
          <p:nvPr/>
        </p:nvSpPr>
        <p:spPr>
          <a:xfrm>
            <a:off x="533805" y="1987316"/>
            <a:ext cx="1388176"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909512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195263" y="795606"/>
            <a:ext cx="73260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PH" sz="3600" b="1" dirty="0" smtClean="0">
                <a:latin typeface="Palatino Linotype" pitchFamily="18" charset="0"/>
              </a:rPr>
              <a:t>Interviews with Agile Evangelists</a:t>
            </a:r>
            <a:endParaRPr lang="en-PH" sz="3600" b="1" dirty="0">
              <a:latin typeface="Palatino Linotype" pitchFamily="18" charset="0"/>
            </a:endParaRPr>
          </a:p>
        </p:txBody>
      </p:sp>
      <p:sp>
        <p:nvSpPr>
          <p:cNvPr id="12292" name="Rectangle 6"/>
          <p:cNvSpPr>
            <a:spLocks/>
          </p:cNvSpPr>
          <p:nvPr/>
        </p:nvSpPr>
        <p:spPr bwMode="auto">
          <a:xfrm>
            <a:off x="354014" y="2947989"/>
            <a:ext cx="1603375" cy="687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i="1" dirty="0" smtClean="0">
                <a:solidFill>
                  <a:srgbClr val="4D4D4D"/>
                </a:solidFill>
                <a:latin typeface="Helvetica" charset="0"/>
                <a:cs typeface="Helvetica" charset="0"/>
                <a:sym typeface="Helvetica" charset="0"/>
              </a:rPr>
              <a:t>Derek Neighbors</a:t>
            </a:r>
          </a:p>
          <a:p>
            <a:pPr algn="r"/>
            <a:r>
              <a:rPr lang="en-US" sz="1100" i="1" u="sng" dirty="0">
                <a:hlinkClick r:id="rId2"/>
              </a:rPr>
              <a:t>Integrum Technologies</a:t>
            </a:r>
            <a:endParaRPr lang="en-US" sz="1100" i="1" dirty="0">
              <a:solidFill>
                <a:srgbClr val="4D4D4D"/>
              </a:solidFill>
              <a:latin typeface="Helvetica" charset="0"/>
              <a:cs typeface="Helvetica" charset="0"/>
              <a:sym typeface="Helvetica" charset="0"/>
            </a:endParaRPr>
          </a:p>
        </p:txBody>
      </p:sp>
      <p:sp>
        <p:nvSpPr>
          <p:cNvPr id="12296" name="Rectangle 10"/>
          <p:cNvSpPr>
            <a:spLocks/>
          </p:cNvSpPr>
          <p:nvPr/>
        </p:nvSpPr>
        <p:spPr bwMode="auto">
          <a:xfrm>
            <a:off x="2173288" y="1533525"/>
            <a:ext cx="49561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600" dirty="0" smtClean="0">
                <a:latin typeface="Helvetica" charset="0"/>
                <a:cs typeface="Helvetica" charset="0"/>
                <a:sym typeface="Helvetica" charset="0"/>
              </a:rPr>
              <a:t>Agile Weekly PodCast</a:t>
            </a:r>
          </a:p>
          <a:p>
            <a:pPr algn="just"/>
            <a:endParaRPr lang="en-US" sz="1200" dirty="0" smtClean="0">
              <a:hlinkClick r:id=""/>
            </a:endParaRPr>
          </a:p>
          <a:p>
            <a:pPr algn="just"/>
            <a:r>
              <a:rPr lang="en-US" sz="1200" dirty="0" smtClean="0">
                <a:hlinkClick r:id=""/>
              </a:rPr>
              <a:t>Agile </a:t>
            </a:r>
            <a:r>
              <a:rPr lang="en-US" sz="1200" dirty="0">
                <a:hlinkClick r:id="rId3" tooltip="Permalink to Episode #83 – Agile Manifesto with James Grenning"/>
              </a:rPr>
              <a:t>Manifesto with James Grenning</a:t>
            </a:r>
            <a:endParaRPr lang="en-US" sz="1200" dirty="0"/>
          </a:p>
          <a:p>
            <a:pPr algn="just"/>
            <a:endParaRPr lang="en-US" sz="1200" dirty="0" smtClean="0">
              <a:latin typeface="Helvetica" charset="0"/>
              <a:cs typeface="Helvetica" charset="0"/>
              <a:sym typeface="Helvetica" charset="0"/>
            </a:endParaRPr>
          </a:p>
          <a:p>
            <a:endParaRPr lang="en-US" sz="1200" dirty="0" smtClean="0"/>
          </a:p>
          <a:p>
            <a:endParaRPr lang="en-US" sz="1200" dirty="0" smtClean="0"/>
          </a:p>
          <a:p>
            <a:endParaRPr lang="en-US" sz="1200" dirty="0"/>
          </a:p>
          <a:p>
            <a:pPr algn="ctr"/>
            <a:r>
              <a:rPr lang="en-US" sz="1200" i="1" dirty="0"/>
              <a:t>Click on the graphic above to play the interview</a:t>
            </a:r>
          </a:p>
          <a:p>
            <a:pPr algn="ctr"/>
            <a:r>
              <a:rPr lang="en-US" sz="1200" i="1" dirty="0"/>
              <a:t>If the graphic above doesn’t play for you </a:t>
            </a:r>
          </a:p>
          <a:p>
            <a:pPr algn="ctr"/>
            <a:r>
              <a:rPr lang="en-US" sz="1200" i="1" dirty="0">
                <a:hlinkClick r:id="rId4"/>
              </a:rPr>
              <a:t>click here for a dedicated player and the option to Download</a:t>
            </a:r>
            <a:endParaRPr lang="en-US" sz="1200" i="1" dirty="0"/>
          </a:p>
          <a:p>
            <a:endParaRPr lang="en-US" sz="1200" dirty="0" smtClean="0"/>
          </a:p>
          <a:p>
            <a:endParaRPr lang="en-US" sz="1200" dirty="0"/>
          </a:p>
          <a:p>
            <a:r>
              <a:rPr lang="en-US" sz="1200" dirty="0" smtClean="0"/>
              <a:t>Derek </a:t>
            </a:r>
            <a:r>
              <a:rPr lang="en-US" sz="1200" dirty="0"/>
              <a:t>Neighbors and James Grenning discuss:</a:t>
            </a:r>
          </a:p>
          <a:p>
            <a:pPr marL="171450" indent="-171450">
              <a:buFont typeface="Arial" pitchFamily="34" charset="0"/>
              <a:buChar char="•"/>
            </a:pPr>
            <a:r>
              <a:rPr lang="en-US" sz="1200" dirty="0"/>
              <a:t>History of The Agile Manifesto</a:t>
            </a:r>
          </a:p>
          <a:p>
            <a:pPr marL="171450" indent="-171450">
              <a:buFont typeface="Arial" pitchFamily="34" charset="0"/>
              <a:buChar char="•"/>
            </a:pPr>
            <a:r>
              <a:rPr lang="en-US" sz="1200" dirty="0"/>
              <a:t>Embedded TDD</a:t>
            </a:r>
          </a:p>
          <a:p>
            <a:pPr marL="171450" indent="-171450">
              <a:buFont typeface="Arial" pitchFamily="34" charset="0"/>
              <a:buChar char="•"/>
            </a:pPr>
            <a:r>
              <a:rPr lang="en-US" sz="1200" dirty="0"/>
              <a:t>Estimates</a:t>
            </a:r>
          </a:p>
          <a:p>
            <a:endParaRPr lang="en-US" sz="1200" u="sng" dirty="0" smtClean="0">
              <a:hlinkClick r:id="rId3"/>
            </a:endParaRPr>
          </a:p>
          <a:p>
            <a:r>
              <a:rPr lang="en-US" sz="1200" dirty="0" smtClean="0">
                <a:latin typeface="Helvetica" charset="0"/>
                <a:cs typeface="Helvetica" charset="0"/>
                <a:sym typeface="Helvetica" charset="0"/>
                <a:hlinkClick r:id="rId5"/>
              </a:rPr>
              <a:t>Agile Weekly Podcasts</a:t>
            </a:r>
            <a:endParaRPr lang="en-US" sz="1200" u="sng" dirty="0" smtClean="0"/>
          </a:p>
          <a:p>
            <a:endParaRPr lang="en-US" sz="1200" dirty="0" smtClean="0"/>
          </a:p>
          <a:p>
            <a:pPr algn="just"/>
            <a:endParaRPr lang="en-US" sz="1200" dirty="0">
              <a:latin typeface="Helvetica" charset="0"/>
              <a:cs typeface="Helvetica" charset="0"/>
              <a:sym typeface="Helvetica" charset="0"/>
            </a:endParaRPr>
          </a:p>
        </p:txBody>
      </p:sp>
      <p:pic>
        <p:nvPicPr>
          <p:cNvPr id="12301" name="Picture 2">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6338" y="2600325"/>
            <a:ext cx="1812925"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2" name="Rectangle 10"/>
          <p:cNvSpPr>
            <a:spLocks/>
          </p:cNvSpPr>
          <p:nvPr/>
        </p:nvSpPr>
        <p:spPr bwMode="auto">
          <a:xfrm>
            <a:off x="2176463" y="3590926"/>
            <a:ext cx="4956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endParaRPr lang="en-US" sz="1200" dirty="0">
              <a:latin typeface="Helvetica" charset="0"/>
              <a:cs typeface="Helvetica" charset="0"/>
              <a:sym typeface="Helvetica" charset="0"/>
            </a:endParaRPr>
          </a:p>
        </p:txBody>
      </p:sp>
      <p:pic>
        <p:nvPicPr>
          <p:cNvPr id="16" name="Picture 15"/>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4386" y="1609726"/>
            <a:ext cx="1143003" cy="1150465"/>
          </a:xfrm>
          <a:prstGeom prst="rect">
            <a:avLst/>
          </a:prstGeom>
          <a:noFill/>
          <a:ln>
            <a:noFill/>
          </a:ln>
        </p:spPr>
      </p:pic>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Podcast Podium</a:t>
            </a:r>
            <a:endParaRPr lang="en-US" dirty="0"/>
          </a:p>
        </p:txBody>
      </p:sp>
      <p:sp>
        <p:nvSpPr>
          <p:cNvPr id="14" name="Rectangle 2"/>
          <p:cNvSpPr>
            <a:spLocks/>
          </p:cNvSpPr>
          <p:nvPr/>
        </p:nvSpPr>
        <p:spPr bwMode="auto">
          <a:xfrm>
            <a:off x="2176462" y="4962525"/>
            <a:ext cx="4956176" cy="91440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9"/>
              </a:rPr>
              <a:t>Derek Neighbors</a:t>
            </a:r>
            <a:r>
              <a:rPr lang="en-US" sz="1000" i="1" dirty="0"/>
              <a:t> is a serial entrepreneur who helps people bring ideas to reality. Derek co-founded </a:t>
            </a:r>
            <a:r>
              <a:rPr lang="en-US" sz="1000" i="1" u="sng" dirty="0">
                <a:hlinkClick r:id="rId10"/>
              </a:rPr>
              <a:t>Gangplank</a:t>
            </a:r>
            <a:r>
              <a:rPr lang="en-US" sz="1000" i="1" dirty="0"/>
              <a:t>, a collaborative workspace, in 2008 to encourage local </a:t>
            </a:r>
            <a:r>
              <a:rPr lang="en-US" sz="1000" i="1" dirty="0" smtClean="0"/>
              <a:t>“creatives” to </a:t>
            </a:r>
            <a:r>
              <a:rPr lang="en-US" sz="1000" i="1" dirty="0"/>
              <a:t>explore innovative ideas.  A partner at </a:t>
            </a:r>
            <a:r>
              <a:rPr lang="en-US" sz="1000" i="1" u="sng" dirty="0">
                <a:hlinkClick r:id="rId2"/>
              </a:rPr>
              <a:t>Integrum Technologies</a:t>
            </a:r>
            <a:r>
              <a:rPr lang="en-US" sz="1000" i="1" dirty="0"/>
              <a:t>, a consulting services firm, helping companies build high performing teams, Derek teaches entrepreneurship at </a:t>
            </a:r>
            <a:r>
              <a:rPr lang="en-US" sz="1000" i="1" u="sng" dirty="0">
                <a:hlinkClick r:id="rId11"/>
              </a:rPr>
              <a:t>Arizona State University</a:t>
            </a:r>
            <a:r>
              <a:rPr lang="en-US" sz="1000" i="1" dirty="0"/>
              <a:t>.</a:t>
            </a:r>
          </a:p>
        </p:txBody>
      </p:sp>
    </p:spTree>
    <p:extLst>
      <p:ext uri="{BB962C8B-B14F-4D97-AF65-F5344CB8AC3E}">
        <p14:creationId xmlns:p14="http://schemas.microsoft.com/office/powerpoint/2010/main" val="108228096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Cheryl M Hammond"/>
          <p:cNvPicPr/>
          <p:nvPr/>
        </p:nvPicPr>
        <p:blipFill>
          <a:blip r:embed="rId2">
            <a:extLst>
              <a:ext uri="{28A0092B-C50C-407E-A947-70E740481C1C}">
                <a14:useLocalDpi xmlns:a14="http://schemas.microsoft.com/office/drawing/2010/main" val="0"/>
              </a:ext>
            </a:extLst>
          </a:blip>
          <a:srcRect/>
          <a:stretch>
            <a:fillRect/>
          </a:stretch>
        </p:blipFill>
        <p:spPr bwMode="auto">
          <a:xfrm>
            <a:off x="538164" y="1989751"/>
            <a:ext cx="1412876" cy="1405078"/>
          </a:xfrm>
          <a:prstGeom prst="rect">
            <a:avLst/>
          </a:prstGeom>
          <a:noFill/>
          <a:ln>
            <a:noFill/>
          </a:ln>
        </p:spPr>
      </p:pic>
      <p:sp>
        <p:nvSpPr>
          <p:cNvPr id="12290" name="TextBox 3"/>
          <p:cNvSpPr txBox="1">
            <a:spLocks noChangeArrowheads="1"/>
          </p:cNvSpPr>
          <p:nvPr/>
        </p:nvSpPr>
        <p:spPr bwMode="auto">
          <a:xfrm>
            <a:off x="107581" y="810996"/>
            <a:ext cx="7479081"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a:latin typeface="Palatino Linotype" pitchFamily="18" charset="0"/>
              </a:rPr>
              <a:t>Embracing Modern </a:t>
            </a:r>
            <a:r>
              <a:rPr lang="en-US" sz="3200" b="1" dirty="0" smtClean="0">
                <a:latin typeface="Palatino Linotype" pitchFamily="18" charset="0"/>
              </a:rPr>
              <a:t>App Development</a:t>
            </a:r>
          </a:p>
          <a:p>
            <a:r>
              <a:rPr lang="en-US" sz="3200" b="1" dirty="0" smtClean="0">
                <a:latin typeface="Palatino Linotype" pitchFamily="18" charset="0"/>
              </a:rPr>
              <a:t>with Visual </a:t>
            </a:r>
            <a:r>
              <a:rPr lang="en-US" sz="3200" b="1" dirty="0">
                <a:latin typeface="Palatino Linotype" pitchFamily="18" charset="0"/>
              </a:rPr>
              <a:t>Studio 2012</a:t>
            </a:r>
            <a:endParaRPr lang="en-US" sz="3200" dirty="0">
              <a:latin typeface="Palatino Linotype" pitchFamily="18" charset="0"/>
            </a:endParaRPr>
          </a:p>
        </p:txBody>
      </p:sp>
      <p:sp>
        <p:nvSpPr>
          <p:cNvPr id="12292" name="Rectangle 2"/>
          <p:cNvSpPr>
            <a:spLocks/>
          </p:cNvSpPr>
          <p:nvPr/>
        </p:nvSpPr>
        <p:spPr bwMode="auto">
          <a:xfrm>
            <a:off x="2176462" y="3057525"/>
            <a:ext cx="4956175" cy="378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i="1" dirty="0"/>
              <a:t>granular should your tests be? How do you isolate code? How much code coverage is reasonable? If you’ve hit a wall, you’re not alone. </a:t>
            </a:r>
            <a:endParaRPr lang="en-US" sz="1200" i="1" dirty="0" smtClean="0"/>
          </a:p>
          <a:p>
            <a:endParaRPr lang="en-US" sz="1200" dirty="0"/>
          </a:p>
          <a:p>
            <a:r>
              <a:rPr lang="en-US" sz="1200" dirty="0" smtClean="0"/>
              <a:t>Get </a:t>
            </a:r>
            <a:r>
              <a:rPr lang="en-US" sz="1200" dirty="0"/>
              <a:t>straightforward, practical guidance you can use today to jump-start your team’s unit testing efforts and finally see for yourself what the big deal is.</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548062" y="1949449"/>
            <a:ext cx="3581402"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i="1" dirty="0" err="1" smtClean="0"/>
              <a:t>hether</a:t>
            </a:r>
            <a:r>
              <a:rPr lang="en-US" sz="1200" i="1" dirty="0" smtClean="0"/>
              <a:t> </a:t>
            </a:r>
            <a:r>
              <a:rPr lang="en-US" sz="1200" i="1" dirty="0"/>
              <a:t>it’s Test-Driven Development, Test-First Development, or just plain figuring out whether your code does what you want it to do, unit testing is the standard for modern application development and a must-have for agile teams—but getting started can be a real challenge. What should you test? </a:t>
            </a:r>
            <a:r>
              <a:rPr lang="en-US" sz="1200" i="1" dirty="0" smtClean="0"/>
              <a:t>How</a:t>
            </a:r>
            <a:endParaRPr lang="en-US" sz="1200" i="1" dirty="0">
              <a:latin typeface="Arial" pitchFamily="34" charset="0"/>
              <a:cs typeface="Arial" pitchFamily="34" charset="0"/>
            </a:endParaRPr>
          </a:p>
        </p:txBody>
      </p:sp>
      <p:sp>
        <p:nvSpPr>
          <p:cNvPr id="12294" name="Rectangle 4"/>
          <p:cNvSpPr>
            <a:spLocks/>
          </p:cNvSpPr>
          <p:nvPr/>
        </p:nvSpPr>
        <p:spPr bwMode="auto">
          <a:xfrm>
            <a:off x="2024064" y="1609725"/>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452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Cheryl Hammond</a:t>
            </a:r>
            <a:endParaRPr lang="en-US" sz="1100" i="1" dirty="0">
              <a:latin typeface="Helvetica" pitchFamily="34" charset="0"/>
              <a:cs typeface="Helvetica" pitchFamily="34" charset="0"/>
            </a:endParaRPr>
          </a:p>
          <a:p>
            <a:pPr algn="r"/>
            <a:r>
              <a:rPr lang="en-US" sz="1100" i="1" dirty="0">
                <a:latin typeface="Helvetica" pitchFamily="34" charset="0"/>
                <a:cs typeface="Helvetica" pitchFamily="34" charset="0"/>
              </a:rPr>
              <a:t>ALM Consultant</a:t>
            </a:r>
          </a:p>
          <a:p>
            <a:pPr algn="r"/>
            <a:r>
              <a:rPr lang="en-US" sz="1100" i="1" dirty="0">
                <a:latin typeface="Helvetica" pitchFamily="34" charset="0"/>
                <a:cs typeface="Helvetica" pitchFamily="34" charset="0"/>
                <a:hlinkClick r:id="rId3"/>
              </a:rPr>
              <a:t>Northwest Cadence</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sp>
        <p:nvSpPr>
          <p:cNvPr id="12" name="Rectangle 2"/>
          <p:cNvSpPr>
            <a:spLocks/>
          </p:cNvSpPr>
          <p:nvPr/>
        </p:nvSpPr>
        <p:spPr bwMode="auto">
          <a:xfrm>
            <a:off x="344490" y="8834914"/>
            <a:ext cx="6784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000" b="1" i="1" u="sng" dirty="0">
                <a:latin typeface="Arial" pitchFamily="34" charset="0"/>
                <a:cs typeface="Arial" pitchFamily="34" charset="0"/>
                <a:hlinkClick r:id="rId3"/>
              </a:rPr>
              <a:t>Northwest Cadence, Inc.</a:t>
            </a:r>
            <a:r>
              <a:rPr lang="en-US" sz="1000" i="1" dirty="0">
                <a:latin typeface="Arial" pitchFamily="34" charset="0"/>
                <a:cs typeface="Arial" pitchFamily="34" charset="0"/>
                <a:hlinkClick r:id="rId3"/>
              </a:rPr>
              <a:t> </a:t>
            </a:r>
            <a:r>
              <a:rPr lang="en-US" sz="1000" i="1" dirty="0" smtClean="0">
                <a:latin typeface="Arial" pitchFamily="34" charset="0"/>
                <a:cs typeface="Arial" pitchFamily="34" charset="0"/>
              </a:rPr>
              <a:t> </a:t>
            </a:r>
            <a:r>
              <a:rPr lang="en-US" sz="1000" i="1" dirty="0" smtClean="0"/>
              <a:t>provides </a:t>
            </a:r>
            <a:r>
              <a:rPr lang="en-US" sz="1000" i="1" dirty="0"/>
              <a:t>training and consulting services across the United States. The exclusive focus on Software Process and Microsoft ALM tools ensures clients benefit from deep technical expertise, sound process acumen, and hundreds of practical experiences on ALM projects.  They partner with software development teams to improve processes and business results.</a:t>
            </a:r>
            <a:endParaRPr lang="en-US" sz="1000" i="1" dirty="0">
              <a:latin typeface="Arial" pitchFamily="34" charset="0"/>
              <a:cs typeface="Arial" pitchFamily="34" charset="0"/>
            </a:endParaRPr>
          </a:p>
        </p:txBody>
      </p:sp>
      <p:pic>
        <p:nvPicPr>
          <p:cNvPr id="1026" name="Picture 2" descr="E:\My Documents\_Work Related\_ALM Mag\Admin\Contributors\NW Cadence\nwc_logo_tagline-250x80.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8172959"/>
            <a:ext cx="1752600" cy="560831"/>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
          <p:cNvSpPr>
            <a:spLocks/>
          </p:cNvSpPr>
          <p:nvPr/>
        </p:nvSpPr>
        <p:spPr bwMode="auto">
          <a:xfrm>
            <a:off x="2147325" y="7553325"/>
            <a:ext cx="4973355" cy="1066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a:solidFill>
                  <a:srgbClr val="FF0000"/>
                </a:solidFill>
                <a:latin typeface="Arial" pitchFamily="34" charset="0"/>
                <a:cs typeface="Arial" pitchFamily="34" charset="0"/>
              </a:rPr>
              <a:t>James Tupper</a:t>
            </a:r>
            <a:r>
              <a:rPr lang="en-US" sz="1000" i="1" dirty="0">
                <a:latin typeface="Arial" pitchFamily="34" charset="0"/>
                <a:cs typeface="Arial" pitchFamily="34" charset="0"/>
              </a:rPr>
              <a:t>, </a:t>
            </a:r>
            <a:r>
              <a:rPr lang="en-US" sz="1000" i="1" dirty="0" smtClean="0">
                <a:latin typeface="Arial" pitchFamily="34" charset="0"/>
                <a:cs typeface="Arial" pitchFamily="34" charset="0"/>
              </a:rPr>
              <a:t>ALM</a:t>
            </a:r>
            <a:endParaRPr lang="en-US" sz="1000" i="1" dirty="0">
              <a:latin typeface="Arial" pitchFamily="34" charset="0"/>
              <a:cs typeface="Arial" pitchFamily="34"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86</a:t>
            </a:fld>
            <a:endParaRPr lang="en-PH" dirty="0"/>
          </a:p>
        </p:txBody>
      </p:sp>
      <p:pic>
        <p:nvPicPr>
          <p:cNvPr id="13" name="Picture 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7325" y="4276725"/>
            <a:ext cx="4956175" cy="2646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hlinkClick r:id="rId5"/>
          </p:cNvPr>
          <p:cNvSpPr txBox="1"/>
          <p:nvPr/>
        </p:nvSpPr>
        <p:spPr>
          <a:xfrm>
            <a:off x="2147325" y="4505325"/>
            <a:ext cx="4956175" cy="276999"/>
          </a:xfrm>
          <a:prstGeom prst="rect">
            <a:avLst/>
          </a:prstGeom>
          <a:noFill/>
        </p:spPr>
        <p:txBody>
          <a:bodyPr wrap="square" rtlCol="0">
            <a:spAutoFit/>
          </a:bodyPr>
          <a:lstStyle/>
          <a:p>
            <a:pPr algn="ctr"/>
            <a:r>
              <a:rPr lang="en-US" sz="1200" dirty="0" smtClean="0">
                <a:solidFill>
                  <a:schemeClr val="bg1"/>
                </a:solidFill>
              </a:rPr>
              <a:t>Streaming Video only available when connected to the Internet</a:t>
            </a:r>
            <a:endParaRPr lang="en-US" sz="1200" dirty="0">
              <a:solidFill>
                <a:schemeClr val="bg1"/>
              </a:solidFill>
            </a:endParaRPr>
          </a:p>
        </p:txBody>
      </p:sp>
      <p:sp>
        <p:nvSpPr>
          <p:cNvPr id="19" name="TextBox 18">
            <a:hlinkClick r:id="rId5"/>
          </p:cNvPr>
          <p:cNvSpPr txBox="1"/>
          <p:nvPr/>
        </p:nvSpPr>
        <p:spPr>
          <a:xfrm>
            <a:off x="2147323" y="5887105"/>
            <a:ext cx="4956175" cy="523220"/>
          </a:xfrm>
          <a:prstGeom prst="rect">
            <a:avLst/>
          </a:prstGeom>
          <a:noFill/>
        </p:spPr>
        <p:txBody>
          <a:bodyPr wrap="square" rtlCol="0">
            <a:spAutoFit/>
          </a:bodyPr>
          <a:lstStyle/>
          <a:p>
            <a:pPr algn="ctr"/>
            <a:r>
              <a:rPr lang="en-US" sz="1600" dirty="0" smtClean="0">
                <a:solidFill>
                  <a:schemeClr val="bg1"/>
                </a:solidFill>
              </a:rPr>
              <a:t>When Online tap this screen icon to play the video</a:t>
            </a:r>
          </a:p>
          <a:p>
            <a:pPr algn="ctr"/>
            <a:r>
              <a:rPr lang="en-US" sz="1200" dirty="0" smtClean="0">
                <a:solidFill>
                  <a:schemeClr val="bg1"/>
                </a:solidFill>
              </a:rPr>
              <a:t>Once playing, tap the full screen icon and rotate your tablet</a:t>
            </a:r>
            <a:endParaRPr lang="en-US" sz="1200" dirty="0">
              <a:solidFill>
                <a:schemeClr val="bg1"/>
              </a:solidFill>
            </a:endParaRPr>
          </a:p>
        </p:txBody>
      </p:sp>
      <p:sp>
        <p:nvSpPr>
          <p:cNvPr id="20" name="TextBox 19"/>
          <p:cNvSpPr txBox="1"/>
          <p:nvPr/>
        </p:nvSpPr>
        <p:spPr>
          <a:xfrm>
            <a:off x="2147324" y="6923127"/>
            <a:ext cx="4956174" cy="553998"/>
          </a:xfrm>
          <a:prstGeom prst="rect">
            <a:avLst/>
          </a:prstGeom>
          <a:noFill/>
        </p:spPr>
        <p:txBody>
          <a:bodyPr wrap="square" rtlCol="0">
            <a:spAutoFit/>
          </a:bodyPr>
          <a:lstStyle/>
          <a:p>
            <a:pPr algn="ctr"/>
            <a:r>
              <a:rPr lang="en-US" sz="1000" i="1" dirty="0"/>
              <a:t>Click on the graphic above to play the </a:t>
            </a:r>
            <a:r>
              <a:rPr lang="en-US" sz="1000" i="1" dirty="0" smtClean="0"/>
              <a:t>video</a:t>
            </a:r>
            <a:endParaRPr lang="en-US" sz="1000" i="1" dirty="0"/>
          </a:p>
          <a:p>
            <a:pPr algn="ctr"/>
            <a:r>
              <a:rPr lang="en-US" sz="1000" i="1" dirty="0"/>
              <a:t>If the graphic above doesn’t play for you </a:t>
            </a:r>
          </a:p>
          <a:p>
            <a:pPr algn="ctr"/>
            <a:r>
              <a:rPr lang="en-US" sz="1000" i="1" dirty="0">
                <a:hlinkClick r:id="rId7"/>
              </a:rPr>
              <a:t>click here for a dedicated player and the option to </a:t>
            </a:r>
            <a:r>
              <a:rPr lang="en-US" sz="1000" i="1" dirty="0" smtClean="0">
                <a:hlinkClick r:id="rId7"/>
              </a:rPr>
              <a:t>Download</a:t>
            </a:r>
            <a:endParaRPr lang="en-US" sz="1000" i="1" dirty="0"/>
          </a:p>
        </p:txBody>
      </p:sp>
    </p:spTree>
    <p:extLst>
      <p:ext uri="{BB962C8B-B14F-4D97-AF65-F5344CB8AC3E}">
        <p14:creationId xmlns:p14="http://schemas.microsoft.com/office/powerpoint/2010/main" val="54065886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14470" y="1981892"/>
            <a:ext cx="1426845" cy="1426845"/>
          </a:xfrm>
          <a:prstGeom prst="rect">
            <a:avLst/>
          </a:prstGeom>
          <a:noFill/>
          <a:ln>
            <a:noFill/>
          </a:ln>
        </p:spPr>
      </p:pic>
      <p:sp>
        <p:nvSpPr>
          <p:cNvPr id="12290" name="TextBox 3"/>
          <p:cNvSpPr txBox="1">
            <a:spLocks noChangeArrowheads="1"/>
          </p:cNvSpPr>
          <p:nvPr/>
        </p:nvSpPr>
        <p:spPr bwMode="auto">
          <a:xfrm>
            <a:off x="107581" y="810996"/>
            <a:ext cx="6747342" cy="107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sz="3200" b="1" dirty="0">
                <a:latin typeface="Palatino Linotype" pitchFamily="18" charset="0"/>
              </a:rPr>
              <a:t>Visual Studio 2012 features </a:t>
            </a:r>
            <a:endParaRPr lang="en-US" sz="3200" b="1" dirty="0" smtClean="0">
              <a:latin typeface="Palatino Linotype" pitchFamily="18" charset="0"/>
            </a:endParaRPr>
          </a:p>
          <a:p>
            <a:r>
              <a:rPr lang="en-US" sz="3200" b="1" dirty="0" smtClean="0">
                <a:latin typeface="Palatino Linotype" pitchFamily="18" charset="0"/>
              </a:rPr>
              <a:t>enabled by </a:t>
            </a:r>
            <a:r>
              <a:rPr lang="en-US" sz="3200" b="1" dirty="0">
                <a:latin typeface="Palatino Linotype" pitchFamily="18" charset="0"/>
              </a:rPr>
              <a:t>using a TFS 2012 server</a:t>
            </a:r>
            <a:endParaRPr lang="en-US" sz="3200" dirty="0">
              <a:latin typeface="Palatino Linotype" pitchFamily="18" charset="0"/>
            </a:endParaRPr>
          </a:p>
        </p:txBody>
      </p:sp>
      <p:sp>
        <p:nvSpPr>
          <p:cNvPr id="12292" name="Rectangle 2"/>
          <p:cNvSpPr>
            <a:spLocks/>
          </p:cNvSpPr>
          <p:nvPr/>
        </p:nvSpPr>
        <p:spPr bwMode="auto">
          <a:xfrm>
            <a:off x="2176462" y="3300413"/>
            <a:ext cx="4956175" cy="5776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i="1" dirty="0"/>
              <a:t>the result is a fast, fluid experience that also includes new experiences tailored to </a:t>
            </a:r>
            <a:r>
              <a:rPr lang="en-US" sz="1400" i="1" dirty="0" smtClean="0"/>
              <a:t>Scrum. </a:t>
            </a:r>
          </a:p>
          <a:p>
            <a:pPr algn="just"/>
            <a:endParaRPr lang="en-US" sz="1200" i="1" dirty="0"/>
          </a:p>
          <a:p>
            <a:pPr algn="just"/>
            <a:r>
              <a:rPr lang="en-US" sz="1200" dirty="0" smtClean="0"/>
              <a:t>Once </a:t>
            </a:r>
            <a:r>
              <a:rPr lang="en-US" sz="1200" dirty="0"/>
              <a:t>you’ve upgraded your server to TFS 2012, installed your first TFS server, or are using the </a:t>
            </a:r>
            <a:r>
              <a:rPr lang="en-US" sz="1200" dirty="0">
                <a:hlinkClick r:id="rId4"/>
              </a:rPr>
              <a:t>Team Foundation Service Preview</a:t>
            </a:r>
            <a:r>
              <a:rPr lang="en-US" sz="1200" dirty="0"/>
              <a:t>, here are some of the features you are now able to use. The goal here isn’t an exhaustive list but to get you started</a:t>
            </a:r>
            <a:r>
              <a:rPr lang="en-US" sz="1200" dirty="0" smtClean="0"/>
              <a:t>.</a:t>
            </a:r>
          </a:p>
          <a:p>
            <a:endParaRPr lang="en-US" sz="1200" dirty="0"/>
          </a:p>
          <a:p>
            <a:r>
              <a:rPr lang="en-US" sz="1200" b="1" dirty="0"/>
              <a:t>Version </a:t>
            </a:r>
            <a:r>
              <a:rPr lang="en-US" sz="1200" b="1" dirty="0" smtClean="0"/>
              <a:t>Control</a:t>
            </a:r>
          </a:p>
          <a:p>
            <a:endParaRPr lang="en-US" sz="1200" dirty="0"/>
          </a:p>
          <a:p>
            <a:pPr marL="628650" lvl="1" indent="-171450" fontAlgn="ctr">
              <a:buFont typeface="Arial" pitchFamily="34" charset="0"/>
              <a:buChar char="•"/>
            </a:pPr>
            <a:r>
              <a:rPr lang="en-US" sz="1200" b="1" dirty="0" err="1" smtClean="0"/>
              <a:t>Async</a:t>
            </a:r>
            <a:r>
              <a:rPr lang="en-US" sz="1200" b="1" dirty="0" smtClean="0"/>
              <a:t> </a:t>
            </a:r>
            <a:r>
              <a:rPr lang="en-US" sz="1200" b="1" dirty="0"/>
              <a:t>checkout</a:t>
            </a:r>
            <a:r>
              <a:rPr lang="en-US" sz="1200" dirty="0"/>
              <a:t> – We have added a new TFS 2012 feature so that VS 2012 will do checkouts in the background for server workspaces. That eliminates the pause when you start typing and VS checks out the file. Turning it on turns off checkout locks, but you can still use </a:t>
            </a:r>
            <a:r>
              <a:rPr lang="en-US" sz="1200" dirty="0" err="1"/>
              <a:t>checkin</a:t>
            </a:r>
            <a:r>
              <a:rPr lang="en-US" sz="1200" dirty="0"/>
              <a:t> locks. You can find out how to turn it on </a:t>
            </a:r>
            <a:r>
              <a:rPr lang="en-US" sz="1200" dirty="0">
                <a:hlinkClick r:id="rId5"/>
              </a:rPr>
              <a:t>here</a:t>
            </a:r>
            <a:r>
              <a:rPr lang="en-US" sz="1200" dirty="0"/>
              <a:t>. </a:t>
            </a:r>
          </a:p>
          <a:p>
            <a:pPr marL="628650" lvl="1" indent="-171450" fontAlgn="ctr">
              <a:buFont typeface="Arial" pitchFamily="34" charset="0"/>
              <a:buChar char="•"/>
            </a:pPr>
            <a:r>
              <a:rPr lang="en-US" sz="1200" b="1" dirty="0"/>
              <a:t>Merge on </a:t>
            </a:r>
            <a:r>
              <a:rPr lang="en-US" sz="1200" b="1" dirty="0" err="1"/>
              <a:t>Unshelve</a:t>
            </a:r>
            <a:r>
              <a:rPr lang="en-US" sz="1200" b="1" dirty="0"/>
              <a:t> </a:t>
            </a:r>
            <a:r>
              <a:rPr lang="en-US" sz="1200" dirty="0"/>
              <a:t>– </a:t>
            </a:r>
            <a:r>
              <a:rPr lang="en-US" sz="1200" dirty="0" err="1"/>
              <a:t>Shelvesets</a:t>
            </a:r>
            <a:r>
              <a:rPr lang="en-US" sz="1200" dirty="0"/>
              <a:t> can now be </a:t>
            </a:r>
            <a:r>
              <a:rPr lang="en-US" sz="1200" dirty="0" err="1"/>
              <a:t>unshelved</a:t>
            </a:r>
            <a:r>
              <a:rPr lang="en-US" sz="1200" dirty="0"/>
              <a:t> into a workspace even if there are local changes on files in the </a:t>
            </a:r>
            <a:r>
              <a:rPr lang="en-US" sz="1200" dirty="0" err="1"/>
              <a:t>shelveset</a:t>
            </a:r>
            <a:r>
              <a:rPr lang="en-US" sz="1200" dirty="0"/>
              <a:t>. Conflicts will be created for any items modified both locally and in the </a:t>
            </a:r>
            <a:r>
              <a:rPr lang="en-US" sz="1200" dirty="0" err="1"/>
              <a:t>shelveset</a:t>
            </a:r>
            <a:r>
              <a:rPr lang="en-US" sz="1200" dirty="0"/>
              <a:t>, and you will resolve them as you would any other conflict</a:t>
            </a:r>
            <a:r>
              <a:rPr lang="en-US" sz="1200" dirty="0" smtClean="0"/>
              <a:t>.</a:t>
            </a:r>
            <a:endParaRPr lang="en-US" sz="1200" dirty="0"/>
          </a:p>
          <a:p>
            <a:pPr marL="628650" lvl="1" indent="-171450" fontAlgn="ctr">
              <a:buFont typeface="Arial" pitchFamily="34" charset="0"/>
              <a:buChar char="•"/>
            </a:pPr>
            <a:r>
              <a:rPr lang="en-US" sz="1200" b="1" dirty="0"/>
              <a:t>Local workspaces</a:t>
            </a:r>
            <a:r>
              <a:rPr lang="en-US" sz="1200" dirty="0"/>
              <a:t> – </a:t>
            </a:r>
            <a:r>
              <a:rPr lang="en-US" sz="1200" dirty="0">
                <a:hlinkClick r:id="rId6"/>
              </a:rPr>
              <a:t>Local workspaces</a:t>
            </a:r>
            <a:r>
              <a:rPr lang="en-US" sz="1200" dirty="0"/>
              <a:t> allow many operations to be done offline (add, edit, rename, delete, undo, diff) and are recommended only </a:t>
            </a:r>
            <a:r>
              <a:rPr lang="en-US" sz="1200" i="1" dirty="0"/>
              <a:t>for workspaces with fewer 50,000 files</a:t>
            </a:r>
            <a:r>
              <a:rPr lang="en-US" sz="1200" dirty="0"/>
              <a:t>. Local workspaces are now the default with TFS 2012, but you can control that if you want server workspaces to be the default (setting is in the dialog shown </a:t>
            </a:r>
            <a:r>
              <a:rPr lang="en-US" sz="1200" dirty="0">
                <a:hlinkClick r:id="rId5"/>
              </a:rPr>
              <a:t>here</a:t>
            </a:r>
            <a:r>
              <a:rPr lang="en-US" sz="1200" dirty="0"/>
              <a:t>). </a:t>
            </a:r>
            <a:endParaRPr lang="en-US" sz="1200" dirty="0" smtClean="0"/>
          </a:p>
          <a:p>
            <a:pPr fontAlgn="ctr"/>
            <a:endParaRPr lang="en-US" sz="1200" dirty="0"/>
          </a:p>
        </p:txBody>
      </p:sp>
      <p:sp>
        <p:nvSpPr>
          <p:cNvPr id="12293" name="Rectangle 3"/>
          <p:cNvSpPr>
            <a:spLocks/>
          </p:cNvSpPr>
          <p:nvPr/>
        </p:nvSpPr>
        <p:spPr bwMode="auto">
          <a:xfrm>
            <a:off x="3548062" y="1949449"/>
            <a:ext cx="3581402" cy="135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400" i="1" dirty="0" err="1" smtClean="0"/>
              <a:t>hile</a:t>
            </a:r>
            <a:r>
              <a:rPr lang="en-US" sz="1400" i="1" dirty="0" smtClean="0"/>
              <a:t> </a:t>
            </a:r>
            <a:r>
              <a:rPr lang="en-US" sz="1400" i="1" dirty="0"/>
              <a:t>many of the features in Visual Studio 2012 are available to users using TFS 2008 or 2010, there are some features that are only available when using a TFS 2012 server. Also, the web experience in TFS 2012 has been rebuilt entirely from the ground up, </a:t>
            </a:r>
            <a:r>
              <a:rPr lang="en-US" sz="1400" i="1" dirty="0" smtClean="0"/>
              <a:t>and</a:t>
            </a:r>
            <a:endParaRPr lang="en-US" sz="1400" i="1" dirty="0"/>
          </a:p>
        </p:txBody>
      </p:sp>
      <p:sp>
        <p:nvSpPr>
          <p:cNvPr id="12294" name="Rectangle 4"/>
          <p:cNvSpPr>
            <a:spLocks/>
          </p:cNvSpPr>
          <p:nvPr/>
        </p:nvSpPr>
        <p:spPr bwMode="auto">
          <a:xfrm>
            <a:off x="2024064" y="1623633"/>
            <a:ext cx="838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smtClean="0">
                <a:latin typeface="Helvetica Neue Bold Condensed" charset="0"/>
                <a:sym typeface="Helvetica Neue Bold Condensed" charset="0"/>
              </a:rPr>
              <a:t>W</a:t>
            </a:r>
            <a:endParaRPr lang="en-US" sz="11600" b="1" dirty="0">
              <a:latin typeface="Helvetica Neue Bold Condensed" charset="0"/>
              <a:sym typeface="Helvetica Neue Bold Condensed" charset="0"/>
            </a:endParaRPr>
          </a:p>
        </p:txBody>
      </p:sp>
      <p:sp>
        <p:nvSpPr>
          <p:cNvPr id="12296" name="Rectangle 5"/>
          <p:cNvSpPr>
            <a:spLocks/>
          </p:cNvSpPr>
          <p:nvPr/>
        </p:nvSpPr>
        <p:spPr bwMode="auto">
          <a:xfrm>
            <a:off x="347664" y="3452811"/>
            <a:ext cx="1603376"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smtClean="0">
                <a:latin typeface="Helvetica" pitchFamily="34" charset="0"/>
                <a:cs typeface="Helvetica" pitchFamily="34" charset="0"/>
              </a:rPr>
              <a:t>Buck Hodges</a:t>
            </a:r>
          </a:p>
          <a:p>
            <a:pPr algn="r"/>
            <a:r>
              <a:rPr lang="en-US" sz="1100" i="1" dirty="0" smtClean="0"/>
              <a:t>Director </a:t>
            </a:r>
            <a:r>
              <a:rPr lang="en-US" sz="1100" i="1" dirty="0"/>
              <a:t>of </a:t>
            </a:r>
            <a:r>
              <a:rPr lang="en-US" sz="1100" i="1" dirty="0" smtClean="0"/>
              <a:t>Development </a:t>
            </a:r>
            <a:r>
              <a:rPr lang="en-US" sz="1100" i="1" dirty="0" smtClean="0">
                <a:hlinkClick r:id="rId7"/>
              </a:rPr>
              <a:t>Team </a:t>
            </a:r>
            <a:r>
              <a:rPr lang="en-US" sz="1100" i="1" dirty="0">
                <a:hlinkClick r:id="rId7"/>
              </a:rPr>
              <a:t>Foundation Server </a:t>
            </a:r>
            <a:r>
              <a:rPr lang="en-US" sz="1100" i="1" dirty="0" smtClean="0"/>
              <a:t> </a:t>
            </a:r>
            <a:r>
              <a:rPr lang="en-US" sz="1100" i="1" dirty="0">
                <a:hlinkClick r:id="rId8"/>
              </a:rPr>
              <a:t>Microsoft</a:t>
            </a:r>
            <a:endParaRPr lang="en-US" sz="1100" i="1" dirty="0">
              <a:latin typeface="Helvetica" pitchFamily="34" charset="0"/>
              <a:cs typeface="Helvetica" pitchFamily="34" charset="0"/>
            </a:endParaRPr>
          </a:p>
          <a:p>
            <a:pPr algn="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ALM</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87</a:t>
            </a:fld>
            <a:endParaRPr lang="en-PH" dirty="0"/>
          </a:p>
        </p:txBody>
      </p:sp>
    </p:spTree>
    <p:extLst>
      <p:ext uri="{BB962C8B-B14F-4D97-AF65-F5344CB8AC3E}">
        <p14:creationId xmlns:p14="http://schemas.microsoft.com/office/powerpoint/2010/main" val="397262657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2" y="771525"/>
            <a:ext cx="6400800"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b="1" dirty="0"/>
              <a:t>Alerts editor</a:t>
            </a:r>
            <a:r>
              <a:rPr lang="en-US" sz="1200" dirty="0"/>
              <a:t> – Replacing the power tool, there’s now an even better experience built into the web UI for managing your email notifications</a:t>
            </a:r>
            <a:r>
              <a:rPr lang="en-US" sz="1200" dirty="0" smtClean="0"/>
              <a:t>. You </a:t>
            </a:r>
            <a:r>
              <a:rPr lang="en-US" sz="1200" dirty="0"/>
              <a:t>will be able to see and manage all of your alerts in one place. To get to it, go to a project, click on your name in the upper right, and choose Manage Alerts. Note that you can only get to it if your administrator has configured your server to send email</a:t>
            </a:r>
            <a:r>
              <a:rPr lang="en-US" sz="1200" dirty="0" smtClean="0"/>
              <a:t>.</a:t>
            </a:r>
          </a:p>
          <a:p>
            <a:pPr algn="just"/>
            <a:endParaRPr lang="en-US" sz="1200" dirty="0"/>
          </a:p>
          <a:p>
            <a:pPr algn="just"/>
            <a:r>
              <a:rPr lang="en-US" sz="1200" b="1" dirty="0" smtClean="0"/>
              <a:t>Retry </a:t>
            </a:r>
            <a:r>
              <a:rPr lang="en-US" sz="1200" b="1" dirty="0"/>
              <a:t>build</a:t>
            </a:r>
            <a:r>
              <a:rPr lang="en-US" sz="1200" dirty="0"/>
              <a:t> – If your build fails for reasons unrelated to your changes, you can now right-click and retry it</a:t>
            </a:r>
            <a:r>
              <a:rPr lang="en-US" sz="1200" dirty="0" smtClean="0"/>
              <a:t>.</a:t>
            </a:r>
          </a:p>
          <a:p>
            <a:pPr algn="just"/>
            <a:endParaRPr lang="en-US" sz="1200" dirty="0"/>
          </a:p>
          <a:p>
            <a:pPr algn="just"/>
            <a:r>
              <a:rPr lang="en-US" sz="1200" b="1" dirty="0" smtClean="0"/>
              <a:t>My </a:t>
            </a:r>
            <a:r>
              <a:rPr lang="en-US" sz="1200" b="1" dirty="0"/>
              <a:t>Work – </a:t>
            </a:r>
            <a:r>
              <a:rPr lang="en-US" sz="1200" dirty="0"/>
              <a:t>This is a new </a:t>
            </a:r>
            <a:r>
              <a:rPr lang="en-US" sz="1200" dirty="0">
                <a:hlinkClick r:id="rId2"/>
              </a:rPr>
              <a:t>feature</a:t>
            </a:r>
            <a:r>
              <a:rPr lang="en-US" sz="1200" dirty="0"/>
              <a:t> of Team Explorer that allows you to suspend and resume work quickly and easily. This feature is only available in Premium or Ultimate</a:t>
            </a:r>
            <a:r>
              <a:rPr lang="en-US" sz="1200" dirty="0" smtClean="0"/>
              <a:t>.</a:t>
            </a:r>
          </a:p>
          <a:p>
            <a:pPr algn="just"/>
            <a:endParaRPr lang="en-US" sz="1200" dirty="0"/>
          </a:p>
          <a:p>
            <a:pPr algn="just"/>
            <a:r>
              <a:rPr lang="en-US" sz="1200" b="1" dirty="0"/>
              <a:t>Code Review</a:t>
            </a:r>
            <a:r>
              <a:rPr lang="en-US" sz="1200" dirty="0"/>
              <a:t> – You will be able to use the new code review experience. You can start a code review from the Pending Changes page in Team Explorer or from the History window by right clicking on a </a:t>
            </a:r>
            <a:r>
              <a:rPr lang="en-US" sz="1200" dirty="0" err="1"/>
              <a:t>changeset</a:t>
            </a:r>
            <a:r>
              <a:rPr lang="en-US" sz="1200" dirty="0"/>
              <a:t>. Your list of code reviews is shown in the My Work window. This feature also requires Premium or Ultimate</a:t>
            </a:r>
            <a:r>
              <a:rPr lang="en-US" sz="1200" dirty="0" smtClean="0"/>
              <a:t>.</a:t>
            </a:r>
          </a:p>
          <a:p>
            <a:pPr algn="just"/>
            <a:endParaRPr lang="en-US" sz="1200" dirty="0"/>
          </a:p>
          <a:p>
            <a:pPr algn="just"/>
            <a:r>
              <a:rPr lang="en-US" sz="1200" b="1" dirty="0"/>
              <a:t>Agile/Scrum – </a:t>
            </a:r>
            <a:r>
              <a:rPr lang="en-US" sz="1200" dirty="0"/>
              <a:t>We’ve added a first-class experience for Scrum in TFS 2012 in our web UI. To use these, teams will need to be created. You can learn more </a:t>
            </a:r>
            <a:r>
              <a:rPr lang="en-US" sz="1200" dirty="0">
                <a:hlinkClick r:id="rId3"/>
              </a:rPr>
              <a:t>here</a:t>
            </a:r>
            <a:r>
              <a:rPr lang="en-US" sz="1200" dirty="0" smtClean="0"/>
              <a:t>.</a:t>
            </a:r>
          </a:p>
          <a:p>
            <a:pPr algn="just"/>
            <a:endParaRPr lang="en-US" sz="1200" dirty="0"/>
          </a:p>
          <a:p>
            <a:pPr marL="628650" lvl="1" indent="-171450" fontAlgn="ctr">
              <a:buFont typeface="Arial" pitchFamily="34" charset="0"/>
              <a:buChar char="•"/>
            </a:pPr>
            <a:r>
              <a:rPr lang="en-US" sz="1200" b="1" dirty="0"/>
              <a:t>Team – </a:t>
            </a:r>
            <a:r>
              <a:rPr lang="en-US" sz="1200" dirty="0"/>
              <a:t>We now have teams in TFS! </a:t>
            </a:r>
          </a:p>
          <a:p>
            <a:pPr marL="628650" lvl="1" indent="-171450" fontAlgn="ctr">
              <a:buFont typeface="Arial" pitchFamily="34" charset="0"/>
              <a:buChar char="•"/>
            </a:pPr>
            <a:r>
              <a:rPr lang="en-US" sz="1200" b="1" dirty="0"/>
              <a:t>Task Board</a:t>
            </a:r>
            <a:r>
              <a:rPr lang="en-US" sz="1200" dirty="0"/>
              <a:t> </a:t>
            </a:r>
          </a:p>
          <a:p>
            <a:pPr marL="628650" lvl="1" indent="-171450" fontAlgn="ctr">
              <a:buFont typeface="Arial" pitchFamily="34" charset="0"/>
              <a:buChar char="•"/>
            </a:pPr>
            <a:r>
              <a:rPr lang="en-US" sz="1200" b="1" dirty="0"/>
              <a:t>Product Backlog and Sprint Planning – </a:t>
            </a:r>
            <a:r>
              <a:rPr lang="en-US" sz="1200" dirty="0"/>
              <a:t>these require Premium or Ultimate (see this post about enabling via the </a:t>
            </a:r>
            <a:r>
              <a:rPr lang="en-US" sz="1200" dirty="0">
                <a:hlinkClick r:id="rId4"/>
              </a:rPr>
              <a:t>licensing feature</a:t>
            </a:r>
            <a:r>
              <a:rPr lang="en-US" sz="1200" dirty="0"/>
              <a:t>) </a:t>
            </a:r>
          </a:p>
          <a:p>
            <a:pPr marL="628650" lvl="1" indent="-171450" fontAlgn="ctr">
              <a:buFont typeface="Arial" pitchFamily="34" charset="0"/>
              <a:buChar char="•"/>
            </a:pPr>
            <a:r>
              <a:rPr lang="en-US" sz="1200" b="1" dirty="0"/>
              <a:t>Team Home Page </a:t>
            </a:r>
            <a:r>
              <a:rPr lang="en-US" sz="1200" dirty="0"/>
              <a:t>with a burn down chart and customizable tiles based on team favorites. To add tiles to a team’s home page, create team favorites in work item tracking, build and version control. </a:t>
            </a:r>
          </a:p>
          <a:p>
            <a:pPr algn="just"/>
            <a:endParaRPr lang="en-US" sz="1200" b="1" dirty="0" smtClean="0"/>
          </a:p>
          <a:p>
            <a:pPr algn="just"/>
            <a:r>
              <a:rPr lang="en-US" sz="1200" b="1" dirty="0" smtClean="0"/>
              <a:t>Feedback</a:t>
            </a:r>
            <a:r>
              <a:rPr lang="en-US" sz="1200" dirty="0" smtClean="0"/>
              <a:t> </a:t>
            </a:r>
            <a:r>
              <a:rPr lang="en-US" sz="1200" dirty="0"/>
              <a:t>– You’ll be able to use this feature to request feedback on your work, and users will be able to use the </a:t>
            </a:r>
            <a:r>
              <a:rPr lang="en-US" sz="1200" dirty="0">
                <a:hlinkClick r:id="rId5"/>
              </a:rPr>
              <a:t>Microsoft Feedback Client</a:t>
            </a:r>
            <a:r>
              <a:rPr lang="en-US" sz="1200" dirty="0"/>
              <a:t> (including accessing it from </a:t>
            </a:r>
            <a:r>
              <a:rPr lang="en-US" sz="1200" dirty="0">
                <a:hlinkClick r:id="rId6"/>
              </a:rPr>
              <a:t>Microsoft Test Manager</a:t>
            </a:r>
            <a:r>
              <a:rPr lang="en-US" sz="1200" dirty="0" smtClean="0"/>
              <a:t>).</a:t>
            </a:r>
          </a:p>
          <a:p>
            <a:pPr algn="just"/>
            <a:endParaRPr lang="en-US" sz="1200" dirty="0"/>
          </a:p>
          <a:p>
            <a:pPr algn="just"/>
            <a:r>
              <a:rPr lang="en-US" sz="1200" b="1" dirty="0"/>
              <a:t>Storyboarding</a:t>
            </a:r>
            <a:r>
              <a:rPr lang="en-US" sz="1200" dirty="0"/>
              <a:t> – This is available in VS Premium or Ultimate and in Test Pro, and TFS 2012 adds a Storyboard tab to work items such as User Story. You can learn more </a:t>
            </a:r>
            <a:r>
              <a:rPr lang="en-US" sz="1200" dirty="0">
                <a:hlinkClick r:id="rId7"/>
              </a:rPr>
              <a:t>here</a:t>
            </a:r>
            <a:r>
              <a:rPr lang="en-US" sz="1200" dirty="0"/>
              <a:t> and find additional shapes </a:t>
            </a:r>
            <a:r>
              <a:rPr lang="en-US" sz="1200" dirty="0">
                <a:hlinkClick r:id="rId8"/>
              </a:rPr>
              <a:t>here</a:t>
            </a:r>
            <a:r>
              <a:rPr lang="en-US" sz="1200" dirty="0" smtClean="0"/>
              <a:t>.</a:t>
            </a:r>
          </a:p>
          <a:p>
            <a:pPr algn="just"/>
            <a:endParaRPr lang="en-US" sz="1200" dirty="0"/>
          </a:p>
          <a:p>
            <a:pPr algn="just"/>
            <a:r>
              <a:rPr lang="en-US" sz="1200" dirty="0"/>
              <a:t>You can also use the </a:t>
            </a:r>
            <a:r>
              <a:rPr lang="en-US" sz="1200" dirty="0">
                <a:hlinkClick r:id="rId9"/>
              </a:rPr>
              <a:t>new unit testing features</a:t>
            </a:r>
            <a:r>
              <a:rPr lang="en-US" sz="1200" dirty="0"/>
              <a:t> to run tests via </a:t>
            </a:r>
            <a:r>
              <a:rPr lang="en-US" sz="1200" dirty="0" err="1"/>
              <a:t>Nunit</a:t>
            </a:r>
            <a:r>
              <a:rPr lang="en-US" sz="1200" dirty="0"/>
              <a:t>, </a:t>
            </a:r>
            <a:r>
              <a:rPr lang="en-US" sz="1200" dirty="0" err="1"/>
              <a:t>xunit</a:t>
            </a:r>
            <a:r>
              <a:rPr lang="en-US" sz="1200" dirty="0"/>
              <a:t>, </a:t>
            </a:r>
            <a:r>
              <a:rPr lang="en-US" sz="1200" dirty="0" err="1"/>
              <a:t>qunit</a:t>
            </a:r>
            <a:r>
              <a:rPr lang="en-US" sz="1200" dirty="0"/>
              <a:t>, and more in your TFS build (aka team build</a:t>
            </a:r>
            <a:r>
              <a:rPr lang="en-US" sz="1200" dirty="0" smtClean="0"/>
              <a:t>).</a:t>
            </a:r>
          </a:p>
          <a:p>
            <a:endParaRPr lang="en-US" sz="1200" dirty="0"/>
          </a:p>
          <a:p>
            <a:pPr fontAlgn="ctr"/>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88</a:t>
            </a:fld>
            <a:endParaRPr lang="en-PH" dirty="0"/>
          </a:p>
        </p:txBody>
      </p:sp>
    </p:spTree>
    <p:extLst>
      <p:ext uri="{BB962C8B-B14F-4D97-AF65-F5344CB8AC3E}">
        <p14:creationId xmlns:p14="http://schemas.microsoft.com/office/powerpoint/2010/main" val="111010974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b="1" dirty="0"/>
              <a:t>Microsoft Test Manager</a:t>
            </a:r>
            <a:r>
              <a:rPr lang="en-US" sz="1200" dirty="0"/>
              <a:t> – there are a few features only available when using MTM 2012 with TFS 2012</a:t>
            </a:r>
          </a:p>
          <a:p>
            <a:endParaRPr lang="en-US" sz="1200" dirty="0"/>
          </a:p>
          <a:p>
            <a:pPr marL="171450" indent="-171450" fontAlgn="ctr">
              <a:buFont typeface="Arial" pitchFamily="34" charset="0"/>
              <a:buChar char="•"/>
            </a:pPr>
            <a:r>
              <a:rPr lang="en-US" sz="1200" dirty="0"/>
              <a:t>Inline Reports/Test Results (Testing Center -&gt; Plan Activity -&gt; Results)</a:t>
            </a:r>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algn="just" fontAlgn="ctr">
              <a:buFont typeface="Arial" pitchFamily="34" charset="0"/>
              <a:buChar char="•"/>
            </a:pPr>
            <a:r>
              <a:rPr lang="en-US" sz="1200" dirty="0" smtClean="0"/>
              <a:t>Exploratory </a:t>
            </a:r>
            <a:r>
              <a:rPr lang="en-US" sz="1200" dirty="0"/>
              <a:t>feature (Testing Center-&gt;Test Activity-&gt;Do Exploratory Testing, Testing Center-&gt;Test Activity-&gt;View Exploratory Test Sessions</a:t>
            </a:r>
            <a:r>
              <a:rPr lang="en-US" sz="1200" dirty="0" smtClean="0"/>
              <a:t>)</a:t>
            </a:r>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89</a:t>
            </a:fld>
            <a:endParaRPr lang="en-PH" dirty="0"/>
          </a:p>
        </p:txBody>
      </p:sp>
      <p:pic>
        <p:nvPicPr>
          <p:cNvPr id="12" name="Picture 4" descr="http://blogs.msdn.com/cfs-file.ashx/__key/communityserver-blogs-components-weblogfiles/00-00-00-36-09-metablogapi/2438.clip_5F00_image001_5F00_3B144D5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1" y="1609726"/>
            <a:ext cx="6400801" cy="416894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blogs.msdn.com/cfs-file.ashx/__key/communityserver-blogs-components-weblogfiles/00-00-00-36-09-metablogapi/3187.clip_5F00_image0014_5F00_24FDBBF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2" y="6614845"/>
            <a:ext cx="6087893" cy="261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17945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576261" y="771525"/>
            <a:ext cx="64008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50" indent="-171450" fontAlgn="ctr">
              <a:buFont typeface="Arial" pitchFamily="34" charset="0"/>
              <a:buChar char="•"/>
            </a:pPr>
            <a:r>
              <a:rPr lang="en-US" sz="1200" dirty="0" smtClean="0"/>
              <a:t>Support </a:t>
            </a:r>
            <a:r>
              <a:rPr lang="en-US" sz="1200" dirty="0"/>
              <a:t>for Standard Environments (Lab Center-&gt;Lab Activity-&gt;</a:t>
            </a:r>
            <a:r>
              <a:rPr lang="en-US" sz="1200" dirty="0" smtClean="0"/>
              <a:t>Environments</a:t>
            </a:r>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marL="171450" indent="-171450" fontAlgn="ctr">
              <a:buFont typeface="Arial" pitchFamily="34" charset="0"/>
              <a:buChar char="•"/>
            </a:pPr>
            <a:endParaRPr lang="en-US" sz="1200" dirty="0"/>
          </a:p>
          <a:p>
            <a:pPr marL="171450" indent="-171450" fontAlgn="ctr">
              <a:buFont typeface="Arial" pitchFamily="34" charset="0"/>
              <a:buChar char="•"/>
            </a:pPr>
            <a:endParaRPr lang="en-US" sz="1200" dirty="0" smtClean="0"/>
          </a:p>
          <a:p>
            <a:pPr fontAlgn="ctr"/>
            <a:endParaRPr lang="en-US" sz="1200" dirty="0" smtClean="0"/>
          </a:p>
          <a:p>
            <a:pPr marL="171450" indent="-171450" fontAlgn="ctr">
              <a:buFont typeface="Arial" pitchFamily="34" charset="0"/>
              <a:buChar char="•"/>
            </a:pPr>
            <a:endParaRPr lang="en-US" sz="1200" dirty="0"/>
          </a:p>
          <a:p>
            <a:pPr fontAlgn="ctr"/>
            <a:endParaRPr lang="en-US" sz="1200" dirty="0" smtClean="0"/>
          </a:p>
          <a:p>
            <a:pPr algn="just" fontAlgn="ctr"/>
            <a:r>
              <a:rPr lang="en-US" sz="1200" dirty="0">
                <a:hlinkClick r:id="rId2"/>
              </a:rPr>
              <a:t>TFS Express</a:t>
            </a:r>
            <a:r>
              <a:rPr lang="en-US" sz="1200" dirty="0"/>
              <a:t> does not include any of the Agile features. It is really focused on source control, build, and bug tracking. You can read more about it </a:t>
            </a:r>
            <a:r>
              <a:rPr lang="en-US" sz="1200" dirty="0">
                <a:hlinkClick r:id="rId3"/>
              </a:rPr>
              <a:t>here</a:t>
            </a:r>
            <a:endParaRPr lang="en-US" sz="1200" dirty="0"/>
          </a:p>
          <a:p>
            <a:pPr algn="just" fontAlgn="ctr"/>
            <a:endParaRPr lang="en-US" sz="1200" dirty="0"/>
          </a:p>
          <a:p>
            <a:pPr algn="just"/>
            <a:r>
              <a:rPr lang="en-US" sz="1200" dirty="0"/>
              <a:t>For a more detailed list of the features in ALM for 2012, see the </a:t>
            </a:r>
            <a:r>
              <a:rPr lang="en-US" sz="1200" dirty="0">
                <a:hlinkClick r:id="rId4"/>
              </a:rPr>
              <a:t>ALM 2012 section</a:t>
            </a:r>
            <a:r>
              <a:rPr lang="en-US" sz="1200" dirty="0"/>
              <a:t> or download the </a:t>
            </a:r>
            <a:r>
              <a:rPr lang="en-US" sz="1200" dirty="0">
                <a:hlinkClick r:id="rId5"/>
              </a:rPr>
              <a:t>product guide</a:t>
            </a:r>
            <a:r>
              <a:rPr lang="en-US" sz="1200" dirty="0"/>
              <a:t>. There’s also a list of </a:t>
            </a:r>
            <a:r>
              <a:rPr lang="en-US" sz="1200" dirty="0">
                <a:hlinkClick r:id="rId6"/>
              </a:rPr>
              <a:t>what’s new in VS 2012</a:t>
            </a:r>
            <a:r>
              <a:rPr lang="en-US" sz="1200" dirty="0" smtClean="0"/>
              <a:t>.</a:t>
            </a:r>
          </a:p>
          <a:p>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90</a:t>
            </a:fld>
            <a:endParaRPr lang="en-PH" dirty="0"/>
          </a:p>
        </p:txBody>
      </p:sp>
      <p:sp>
        <p:nvSpPr>
          <p:cNvPr id="11" name="Rectangle 2"/>
          <p:cNvSpPr>
            <a:spLocks/>
          </p:cNvSpPr>
          <p:nvPr/>
        </p:nvSpPr>
        <p:spPr bwMode="auto">
          <a:xfrm>
            <a:off x="576262" y="6410325"/>
            <a:ext cx="6315818" cy="762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dirty="0">
                <a:hlinkClick r:id="rId7"/>
              </a:rPr>
              <a:t>Buck </a:t>
            </a:r>
            <a:r>
              <a:rPr lang="en-US" sz="1000" i="1" dirty="0" smtClean="0">
                <a:hlinkClick r:id="rId7"/>
              </a:rPr>
              <a:t>Hodges</a:t>
            </a:r>
            <a:r>
              <a:rPr lang="en-US" sz="1000" i="1" dirty="0" smtClean="0">
                <a:hlinkClick r:id="rId8"/>
              </a:rPr>
              <a:t> </a:t>
            </a:r>
            <a:r>
              <a:rPr lang="en-US" sz="1000" i="1" dirty="0" smtClean="0"/>
              <a:t>is </a:t>
            </a:r>
            <a:r>
              <a:rPr lang="en-US" sz="1000" i="1" dirty="0"/>
              <a:t>director of development for </a:t>
            </a:r>
            <a:r>
              <a:rPr lang="en-US" sz="1000" i="1" dirty="0">
                <a:hlinkClick r:id="rId9"/>
              </a:rPr>
              <a:t>Team Foundation Server </a:t>
            </a:r>
            <a:r>
              <a:rPr lang="en-US" sz="1000" i="1" dirty="0"/>
              <a:t>at </a:t>
            </a:r>
            <a:r>
              <a:rPr lang="en-US" sz="1000" i="1" dirty="0">
                <a:hlinkClick r:id="rId10"/>
              </a:rPr>
              <a:t>Microsoft</a:t>
            </a:r>
            <a:r>
              <a:rPr lang="en-US" sz="1000" i="1" dirty="0">
                <a:hlinkClick r:id="rId9"/>
              </a:rPr>
              <a:t>.</a:t>
            </a:r>
            <a:r>
              <a:rPr lang="en-US" sz="1000" i="1" dirty="0"/>
              <a:t> Since 2003 Buck has worked directly on most aspects of all versions of TFS including: Team Foundation Build, Team Web Access and Team Foundation Server Version Control contributing mostly to the version control object model, the tf.exe command line, and general TFS infrastructure. Twitter: </a:t>
            </a:r>
            <a:r>
              <a:rPr lang="en-US" sz="1000" i="1" dirty="0">
                <a:hlinkClick r:id="rId11"/>
              </a:rPr>
              <a:t>@</a:t>
            </a:r>
            <a:r>
              <a:rPr lang="en-US" sz="1000" i="1" dirty="0" err="1">
                <a:hlinkClick r:id="rId11"/>
              </a:rPr>
              <a:t>tfsbuck</a:t>
            </a:r>
            <a:r>
              <a:rPr lang="en-US" sz="1000" i="1" dirty="0"/>
              <a:t>.</a:t>
            </a:r>
          </a:p>
          <a:p>
            <a:endParaRPr lang="en-US" sz="1000" i="1" dirty="0"/>
          </a:p>
          <a:p>
            <a:endParaRPr lang="en-US" sz="1000" i="1" dirty="0">
              <a:latin typeface="Arial" pitchFamily="34" charset="0"/>
              <a:cs typeface="Arial" pitchFamily="34" charset="0"/>
            </a:endParaRPr>
          </a:p>
        </p:txBody>
      </p:sp>
      <p:pic>
        <p:nvPicPr>
          <p:cNvPr id="13314" name="Picture 2" descr="http://blogs.msdn.com/cfs-file.ashx/__key/communityserver-blogs-components-weblogfiles/00-00-00-36-09-metablogapi/0523.clip_5F00_image0016_5F00_47FE0796.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7120" y="1304925"/>
            <a:ext cx="6459942" cy="304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89572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91</a:t>
            </a:fld>
            <a:endParaRPr lang="en-PH" dirty="0"/>
          </a:p>
        </p:txBody>
      </p:sp>
      <p:pic>
        <p:nvPicPr>
          <p:cNvPr id="2050"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7553325" cy="5038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a:spLocks/>
          </p:cNvSpPr>
          <p:nvPr/>
        </p:nvSpPr>
        <p:spPr bwMode="auto">
          <a:xfrm>
            <a:off x="2173288" y="5191127"/>
            <a:ext cx="4956175" cy="3581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next thing. The time box limits the amount of work a team can take on. </a:t>
            </a:r>
          </a:p>
        </p:txBody>
      </p:sp>
      <p:sp>
        <p:nvSpPr>
          <p:cNvPr id="7" name="Rectangle 2"/>
          <p:cNvSpPr>
            <a:spLocks/>
          </p:cNvSpPr>
          <p:nvPr/>
        </p:nvSpPr>
        <p:spPr bwMode="auto">
          <a:xfrm>
            <a:off x="2176463" y="8543925"/>
            <a:ext cx="4973355" cy="6422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4"/>
              </a:rPr>
              <a:t>Tobias Mayer</a:t>
            </a:r>
            <a:r>
              <a:rPr lang="en-US" sz="1000" i="1" dirty="0"/>
              <a:t> is a facilitator, guide, and coach, specializing in Agile transformation. His current work explores the concept of </a:t>
            </a:r>
            <a:r>
              <a:rPr lang="en-US" sz="1000" i="1" u="sng" dirty="0">
                <a:hlinkClick r:id="rId4"/>
              </a:rPr>
              <a:t>craftsmanship</a:t>
            </a:r>
            <a:r>
              <a:rPr lang="en-US" sz="1000" i="1" dirty="0"/>
              <a:t> in this context, focusing on the values and principles that foster an Agile mindset.</a:t>
            </a:r>
          </a:p>
        </p:txBody>
      </p:sp>
    </p:spTree>
    <p:extLst>
      <p:ext uri="{BB962C8B-B14F-4D97-AF65-F5344CB8AC3E}">
        <p14:creationId xmlns:p14="http://schemas.microsoft.com/office/powerpoint/2010/main" val="12055879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92</a:t>
            </a:fld>
            <a:endParaRPr lang="en-PH"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4" y="0"/>
            <a:ext cx="7548081" cy="5032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450299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A30B413-8FC0-44D3-9979-403CCACD0588}" type="slidenum">
              <a:rPr lang="en-PH" smtClean="0"/>
              <a:pPr>
                <a:defRPr/>
              </a:pPr>
              <a:t>93</a:t>
            </a:fld>
            <a:endParaRPr lang="en-PH" dirty="0"/>
          </a:p>
        </p:txBody>
      </p:sp>
      <p:pic>
        <p:nvPicPr>
          <p:cNvPr id="1026" name="Picture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7549279" cy="503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2"/>
          <p:cNvSpPr>
            <a:spLocks/>
          </p:cNvSpPr>
          <p:nvPr/>
        </p:nvSpPr>
        <p:spPr bwMode="auto">
          <a:xfrm>
            <a:off x="576263" y="5114925"/>
            <a:ext cx="64008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correctly</a:t>
            </a:r>
            <a:r>
              <a:rPr lang="en-US" sz="1200" dirty="0"/>
              <a:t>. </a:t>
            </a:r>
            <a:endParaRPr lang="en-US" sz="1400" dirty="0"/>
          </a:p>
          <a:p>
            <a:endParaRPr lang="en-US" sz="1400" dirty="0"/>
          </a:p>
        </p:txBody>
      </p:sp>
      <p:sp>
        <p:nvSpPr>
          <p:cNvPr id="6" name="Rectangle 2"/>
          <p:cNvSpPr>
            <a:spLocks/>
          </p:cNvSpPr>
          <p:nvPr/>
        </p:nvSpPr>
        <p:spPr bwMode="auto">
          <a:xfrm>
            <a:off x="1109662" y="8315325"/>
            <a:ext cx="5562600" cy="762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4"/>
              </a:rPr>
              <a:t>Andrew Phillips</a:t>
            </a:r>
            <a:r>
              <a:rPr lang="en-US" sz="1000" i="1" dirty="0"/>
              <a:t> is Vice President, Product Management, </a:t>
            </a:r>
            <a:r>
              <a:rPr lang="en-US" sz="1000" i="1" u="sng" dirty="0" err="1">
                <a:hlinkClick r:id="rId2"/>
              </a:rPr>
              <a:t>XebiaLabs</a:t>
            </a:r>
            <a:r>
              <a:rPr lang="en-US" sz="1000" i="1" dirty="0">
                <a:hlinkClick r:id="rId2"/>
              </a:rPr>
              <a:t>.</a:t>
            </a:r>
            <a:r>
              <a:rPr lang="en-US" sz="1000" i="1" dirty="0"/>
              <a:t> </a:t>
            </a:r>
            <a:r>
              <a:rPr lang="en-US" sz="1000" i="1" dirty="0" err="1"/>
              <a:t>XebiaLabs</a:t>
            </a:r>
            <a:r>
              <a:rPr lang="en-US" sz="1000" i="1" dirty="0"/>
              <a:t> is a global provider of Application Release Automation and offers a Continuous Delivery platform to help enterprises improve and accelerate the application delivery process. To learn more about how to get started moving to Continuous Delivery, </a:t>
            </a:r>
            <a:r>
              <a:rPr lang="en-US" sz="1000" i="1" u="sng" dirty="0">
                <a:hlinkClick r:id="rId5"/>
              </a:rPr>
              <a:t>Read the new white paper</a:t>
            </a:r>
            <a:r>
              <a:rPr lang="en-US" sz="1000" i="1" dirty="0"/>
              <a:t>.</a:t>
            </a:r>
          </a:p>
        </p:txBody>
      </p:sp>
      <p:sp>
        <p:nvSpPr>
          <p:cNvPr id="7" name="Rounded Rectangle 6">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Tree>
    <p:extLst>
      <p:ext uri="{BB962C8B-B14F-4D97-AF65-F5344CB8AC3E}">
        <p14:creationId xmlns:p14="http://schemas.microsoft.com/office/powerpoint/2010/main" val="134813512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805" y="1990725"/>
            <a:ext cx="1417235" cy="1423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0" name="TextBox 3"/>
          <p:cNvSpPr txBox="1">
            <a:spLocks noChangeArrowheads="1"/>
          </p:cNvSpPr>
          <p:nvPr/>
        </p:nvSpPr>
        <p:spPr bwMode="auto">
          <a:xfrm>
            <a:off x="107581" y="810996"/>
            <a:ext cx="7445744"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5" rIns="91431" bIns="45715">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AU" sz="3200" b="1" dirty="0" smtClean="0">
                <a:latin typeface="Palatino Linotype" pitchFamily="18" charset="0"/>
              </a:rPr>
              <a:t>Micros </a:t>
            </a:r>
            <a:endParaRPr lang="en-US" sz="3200" b="1" dirty="0">
              <a:latin typeface="Palatino Linotype" pitchFamily="18" charset="0"/>
            </a:endParaRPr>
          </a:p>
        </p:txBody>
      </p:sp>
      <p:sp>
        <p:nvSpPr>
          <p:cNvPr id="12292" name="Rectangle 2"/>
          <p:cNvSpPr>
            <a:spLocks/>
          </p:cNvSpPr>
          <p:nvPr/>
        </p:nvSpPr>
        <p:spPr bwMode="auto">
          <a:xfrm>
            <a:off x="2176462" y="3148011"/>
            <a:ext cx="4956175" cy="53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AU" sz="1200" dirty="0"/>
              <a:t>In </a:t>
            </a:r>
            <a:r>
              <a:rPr lang="en-AU" sz="1200" dirty="0" smtClean="0"/>
              <a:t>this article I’ll introduce you to the new Microsoft Certified Solution Developer: Application Lifecycle Management certification and then focus on the</a:t>
            </a:r>
            <a:endParaRPr lang="en-US" sz="1200" dirty="0" smtClean="0"/>
          </a:p>
          <a:p>
            <a:endParaRPr lang="en-US" sz="12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2293" name="Rectangle 3"/>
          <p:cNvSpPr>
            <a:spLocks/>
          </p:cNvSpPr>
          <p:nvPr/>
        </p:nvSpPr>
        <p:spPr bwMode="auto">
          <a:xfrm>
            <a:off x="3548062" y="1949450"/>
            <a:ext cx="3581402"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AU" sz="1200" i="1" dirty="0" err="1" smtClean="0"/>
              <a:t>elcome</a:t>
            </a:r>
            <a:r>
              <a:rPr lang="en-AU" sz="1200" i="1" dirty="0" smtClean="0"/>
              <a:t> to</a:t>
            </a:r>
            <a:endParaRPr lang="en-US" sz="1200" i="1" dirty="0"/>
          </a:p>
        </p:txBody>
      </p:sp>
      <p:sp>
        <p:nvSpPr>
          <p:cNvPr id="12294" name="Rectangle 4"/>
          <p:cNvSpPr>
            <a:spLocks/>
          </p:cNvSpPr>
          <p:nvPr/>
        </p:nvSpPr>
        <p:spPr bwMode="auto">
          <a:xfrm>
            <a:off x="2024063" y="1623633"/>
            <a:ext cx="102869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p>
            <a:pPr algn="just"/>
            <a:r>
              <a:rPr lang="en-US" sz="11600" b="1" dirty="0">
                <a:latin typeface="Helvetica Neue Bold Condensed" charset="0"/>
                <a:sym typeface="Helvetica Neue Bold Condensed" charset="0"/>
              </a:rPr>
              <a:t>W</a:t>
            </a:r>
          </a:p>
        </p:txBody>
      </p:sp>
      <p:sp>
        <p:nvSpPr>
          <p:cNvPr id="12296" name="Rectangle 5"/>
          <p:cNvSpPr>
            <a:spLocks/>
          </p:cNvSpPr>
          <p:nvPr/>
        </p:nvSpPr>
        <p:spPr bwMode="auto">
          <a:xfrm>
            <a:off x="271462" y="3590925"/>
            <a:ext cx="167957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GB" sz="1100" i="1" dirty="0" err="1"/>
              <a:t>Tomáš</a:t>
            </a:r>
            <a:r>
              <a:rPr lang="en-GB" sz="1100" i="1" dirty="0"/>
              <a:t> </a:t>
            </a:r>
            <a:r>
              <a:rPr lang="en-GB" sz="1100" i="1" dirty="0" err="1"/>
              <a:t>Tureček</a:t>
            </a:r>
            <a:endParaRPr lang="en-GB" sz="1100" i="1" dirty="0"/>
          </a:p>
          <a:p>
            <a:pPr algn="r"/>
            <a:r>
              <a:rPr lang="en-GB" sz="1100" i="1" dirty="0"/>
              <a:t>Lean/Agile C</a:t>
            </a:r>
            <a:r>
              <a:rPr lang="en-GB" sz="1100" i="1" dirty="0" smtClean="0"/>
              <a:t>oach</a:t>
            </a:r>
            <a:r>
              <a:rPr lang="en-AU" sz="1100" i="1" dirty="0" smtClean="0"/>
              <a:t> </a:t>
            </a:r>
          </a:p>
          <a:p>
            <a:pPr algn="r"/>
            <a:r>
              <a:rPr lang="en-GB" sz="1100" i="1" u="sng" dirty="0" err="1">
                <a:hlinkClick r:id="rId3"/>
              </a:rPr>
              <a:t>Tieto</a:t>
            </a:r>
            <a:r>
              <a:rPr lang="en-GB" sz="1100" i="1" u="sng" dirty="0">
                <a:hlinkClick r:id="rId3"/>
              </a:rPr>
              <a:t> Corporation</a:t>
            </a:r>
            <a:endParaRPr lang="en-US" sz="1100" i="1" dirty="0">
              <a:solidFill>
                <a:srgbClr val="4D4D4D"/>
              </a:solidFill>
              <a:latin typeface="Helvetica" charset="0"/>
              <a:cs typeface="Helvetica" charset="0"/>
              <a:sym typeface="Helvetica" charset="0"/>
            </a:endParaRPr>
          </a:p>
          <a:p>
            <a:pPr algn="r"/>
            <a:endParaRPr lang="en-US" sz="1100" i="1" dirty="0">
              <a:solidFill>
                <a:srgbClr val="4D4D4D"/>
              </a:solidFill>
              <a:latin typeface="Helvetica" charset="0"/>
              <a:cs typeface="Helvetica" charset="0"/>
              <a:sym typeface="Helvetica" charset="0"/>
            </a:endParaRPr>
          </a:p>
        </p:txBody>
      </p:sp>
      <p:cxnSp>
        <p:nvCxnSpPr>
          <p:cNvPr id="17" name="Straight Connector 1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TFS / ALM</a:t>
            </a:r>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94</a:t>
            </a:fld>
            <a:endParaRPr lang="en-PH" dirty="0"/>
          </a:p>
        </p:txBody>
      </p:sp>
      <p:sp>
        <p:nvSpPr>
          <p:cNvPr id="12" name="Rounded Rectangle 11">
            <a:hlinkClick r:id="" action="ppaction://noaction"/>
          </p:cNvPr>
          <p:cNvSpPr/>
          <p:nvPr/>
        </p:nvSpPr>
        <p:spPr>
          <a:xfrm>
            <a:off x="3052761" y="9605962"/>
            <a:ext cx="1409701"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Index Page</a:t>
            </a:r>
            <a:endParaRPr lang="en-US" dirty="0"/>
          </a:p>
        </p:txBody>
      </p:sp>
      <p:sp>
        <p:nvSpPr>
          <p:cNvPr id="13" name="Rectangle 2"/>
          <p:cNvSpPr>
            <a:spLocks/>
          </p:cNvSpPr>
          <p:nvPr/>
        </p:nvSpPr>
        <p:spPr bwMode="auto">
          <a:xfrm>
            <a:off x="1033462" y="8543925"/>
            <a:ext cx="5486400" cy="914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pPr algn="just"/>
            <a:r>
              <a:rPr lang="en-GB" sz="1000" i="1" u="sng" dirty="0" err="1">
                <a:hlinkClick r:id="rId4"/>
              </a:rPr>
              <a:t>Tomáš</a:t>
            </a:r>
            <a:r>
              <a:rPr lang="en-GB" sz="1000" i="1" u="sng" dirty="0">
                <a:hlinkClick r:id="rId4"/>
              </a:rPr>
              <a:t> </a:t>
            </a:r>
            <a:r>
              <a:rPr lang="en-GB" sz="1000" i="1" u="sng" dirty="0" err="1">
                <a:hlinkClick r:id="rId4"/>
              </a:rPr>
              <a:t>Tureček</a:t>
            </a:r>
            <a:r>
              <a:rPr lang="en-GB" sz="1000" i="1" dirty="0"/>
              <a:t> PhD, an Lean/Agile coach in </a:t>
            </a:r>
            <a:r>
              <a:rPr lang="en-GB" sz="1000" i="1" u="sng" dirty="0" err="1">
                <a:hlinkClick r:id="rId3"/>
              </a:rPr>
              <a:t>Tieto</a:t>
            </a:r>
            <a:r>
              <a:rPr lang="en-GB" sz="1000" i="1" u="sng" dirty="0">
                <a:hlinkClick r:id="rId3"/>
              </a:rPr>
              <a:t> Corporation</a:t>
            </a:r>
            <a:r>
              <a:rPr lang="en-GB" sz="1000" i="1" dirty="0"/>
              <a:t>, has been working in IT industry for more than 15 years in various roles from development to management. He has more than 6 years of experience from coaching and mentoring deliveries in distributed environments. </a:t>
            </a:r>
            <a:r>
              <a:rPr lang="en-GB" sz="1000" i="1" dirty="0" err="1"/>
              <a:t>Tomáš</a:t>
            </a:r>
            <a:r>
              <a:rPr lang="en-GB" sz="1000" i="1" dirty="0"/>
              <a:t> contributes to IT communities, </a:t>
            </a:r>
            <a:r>
              <a:rPr lang="en-GB" sz="1000" i="1" u="sng" dirty="0">
                <a:hlinkClick r:id="rId5"/>
              </a:rPr>
              <a:t>blogs here</a:t>
            </a:r>
            <a:r>
              <a:rPr lang="en-GB" sz="1000" i="1" dirty="0"/>
              <a:t> and speaks at prestigious international conferences.</a:t>
            </a:r>
            <a:endParaRPr lang="en-US" sz="1000" i="1" dirty="0"/>
          </a:p>
        </p:txBody>
      </p:sp>
    </p:spTree>
    <p:extLst>
      <p:ext uri="{BB962C8B-B14F-4D97-AF65-F5344CB8AC3E}">
        <p14:creationId xmlns:p14="http://schemas.microsoft.com/office/powerpoint/2010/main" val="414206172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p:cNvSpPr>
          <p:nvPr/>
        </p:nvSpPr>
        <p:spPr bwMode="auto">
          <a:xfrm>
            <a:off x="2173288" y="2843212"/>
            <a:ext cx="4956175" cy="580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a:t>Such agility requires lifecycle management that's built specifically to meet modern needs. But there are obstacles. Testing is one aspect of software development that can present a roadblock to agility. To publish even a one-line fix, you typically need to re-test the whole system. That can mean finding and wiring up the hardware, reassembling the team of testers, reinstalling the right operating systems and databases, and setting up the test harness. In the past, this overhead prevented the continuous update cycle that is so necessary today.</a:t>
            </a:r>
          </a:p>
          <a:p>
            <a:endParaRPr lang="en-US" sz="1200" dirty="0"/>
          </a:p>
          <a:p>
            <a:r>
              <a:rPr lang="en-US" sz="1200" dirty="0"/>
              <a:t>Many teams are still operating that old way, putting their competitiveness at risk. Fortunately, yours does not have to be such a team. You don't have to build and test software the way your ancestors did.</a:t>
            </a:r>
          </a:p>
          <a:p>
            <a:endParaRPr lang="en-US" sz="1200" dirty="0"/>
          </a:p>
          <a:p>
            <a:r>
              <a:rPr lang="en-US" sz="1200" dirty="0"/>
              <a:t>So how can you move your software testing into the 21st century? That is the subject of this book. This book is about how to streamline the testing of your software so that you can make updates and fix bugs more rapidly, and continuously deliver better software.</a:t>
            </a:r>
          </a:p>
          <a:p>
            <a:endParaRPr lang="en-US" sz="1200" dirty="0"/>
          </a:p>
          <a:p>
            <a:r>
              <a:rPr lang="en-US" sz="1200" dirty="0"/>
              <a:t>Because testing can be a significant obstacle, our aim in this book is to help you substantially reduce the overhead of testing while improving the reliability and repeatability of your tests. The result should be a shorter cycle of recognizing the need for a change, making the change, performing the tests, and publishing the update. </a:t>
            </a:r>
          </a:p>
          <a:p>
            <a:endParaRPr lang="en-US" sz="1200" dirty="0"/>
          </a:p>
          <a:p>
            <a:r>
              <a:rPr lang="en-US" sz="1200" dirty="0"/>
              <a:t>The planning and execution of this cycle is known as application lifecycle management (ALM).</a:t>
            </a:r>
          </a:p>
          <a:p>
            <a:endParaRPr lang="en-US" sz="1200" dirty="0"/>
          </a:p>
          <a:p>
            <a:endParaRPr lang="en-US" sz="1200" dirty="0"/>
          </a:p>
        </p:txBody>
      </p:sp>
      <p:sp>
        <p:nvSpPr>
          <p:cNvPr id="15365" name="Rectangle 3"/>
          <p:cNvSpPr>
            <a:spLocks/>
          </p:cNvSpPr>
          <p:nvPr/>
        </p:nvSpPr>
        <p:spPr bwMode="auto">
          <a:xfrm>
            <a:off x="3014663" y="1492249"/>
            <a:ext cx="4114800"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err="1"/>
              <a:t>oday</a:t>
            </a:r>
            <a:r>
              <a:rPr lang="en-US" sz="1200" dirty="0"/>
              <a:t>, software must meet your customers' needs in an ever-changing landscape. New features must be released continuously, updates must be timely, and bug fixes cannot wait for version 2. That's the reality in software development today, and it is never going back to the days of a new release every few years. That's especially true for cloud applications, but it's true for software in general as well.</a:t>
            </a:r>
          </a:p>
        </p:txBody>
      </p:sp>
      <p:sp>
        <p:nvSpPr>
          <p:cNvPr id="15366" name="Rectangle 4"/>
          <p:cNvSpPr>
            <a:spLocks/>
          </p:cNvSpPr>
          <p:nvPr/>
        </p:nvSpPr>
        <p:spPr bwMode="auto">
          <a:xfrm>
            <a:off x="2024064" y="1166811"/>
            <a:ext cx="838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p>
            <a:pPr algn="just"/>
            <a:r>
              <a:rPr lang="en-US" sz="11600" b="1" dirty="0">
                <a:latin typeface="Helvetica Neue Bold Condensed" charset="0"/>
                <a:sym typeface="Helvetica Neue Bold Condensed" charset="0"/>
              </a:rPr>
              <a:t>T</a:t>
            </a:r>
          </a:p>
        </p:txBody>
      </p:sp>
      <p:sp>
        <p:nvSpPr>
          <p:cNvPr id="15367" name="Rectangle 5"/>
          <p:cNvSpPr>
            <a:spLocks/>
          </p:cNvSpPr>
          <p:nvPr/>
        </p:nvSpPr>
        <p:spPr bwMode="auto">
          <a:xfrm>
            <a:off x="344488" y="8329612"/>
            <a:ext cx="1603376"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i="1">
                <a:solidFill>
                  <a:srgbClr val="4D4D4D"/>
                </a:solidFill>
                <a:latin typeface="Helvetica" charset="0"/>
                <a:cs typeface="Helvetica" charset="0"/>
                <a:sym typeface="Helvetica" charset="0"/>
              </a:rPr>
              <a:t>Tobias Mayer</a:t>
            </a:r>
          </a:p>
        </p:txBody>
      </p:sp>
      <p:sp>
        <p:nvSpPr>
          <p:cNvPr id="15368" name="Rectangle 5"/>
          <p:cNvSpPr>
            <a:spLocks/>
          </p:cNvSpPr>
          <p:nvPr/>
        </p:nvSpPr>
        <p:spPr bwMode="auto">
          <a:xfrm>
            <a:off x="347663" y="2843212"/>
            <a:ext cx="1603376"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r"/>
            <a:r>
              <a:rPr lang="en-US" sz="1100" i="1" dirty="0">
                <a:solidFill>
                  <a:srgbClr val="4D4D4D"/>
                </a:solidFill>
                <a:latin typeface="Helvetica" charset="0"/>
                <a:cs typeface="Helvetica" charset="0"/>
                <a:sym typeface="Helvetica" charset="0"/>
              </a:rPr>
              <a:t>Howie </a:t>
            </a:r>
            <a:r>
              <a:rPr lang="en-US" sz="1100" i="1" dirty="0" smtClean="0">
                <a:solidFill>
                  <a:srgbClr val="4D4D4D"/>
                </a:solidFill>
                <a:latin typeface="Helvetica" charset="0"/>
                <a:cs typeface="Helvetica" charset="0"/>
                <a:sym typeface="Helvetica" charset="0"/>
              </a:rPr>
              <a:t>Hilliker</a:t>
            </a:r>
          </a:p>
          <a:p>
            <a:pPr algn="r"/>
            <a:r>
              <a:rPr lang="en-US" sz="1100" i="1" dirty="0" smtClean="0">
                <a:solidFill>
                  <a:srgbClr val="4D4D4D"/>
                </a:solidFill>
                <a:latin typeface="Helvetica" charset="0"/>
                <a:cs typeface="Helvetica" charset="0"/>
                <a:sym typeface="Helvetica" charset="0"/>
              </a:rPr>
              <a:t>Microsoft</a:t>
            </a:r>
            <a:endParaRPr lang="en-US" sz="1100" i="1" dirty="0">
              <a:solidFill>
                <a:srgbClr val="4D4D4D"/>
              </a:solidFill>
              <a:latin typeface="Helvetica" charset="0"/>
              <a:cs typeface="Helvetica" charset="0"/>
              <a:sym typeface="Helvetica" charset="0"/>
            </a:endParaRPr>
          </a:p>
        </p:txBody>
      </p:sp>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
        <p:nvSpPr>
          <p:cNvPr id="13" name="TextBox 3"/>
          <p:cNvSpPr txBox="1">
            <a:spLocks noChangeArrowheads="1"/>
          </p:cNvSpPr>
          <p:nvPr/>
        </p:nvSpPr>
        <p:spPr bwMode="auto">
          <a:xfrm>
            <a:off x="195263" y="771525"/>
            <a:ext cx="74088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a:latin typeface="Palatino Linotype" pitchFamily="18" charset="0"/>
              </a:rPr>
              <a:t>1: The Old Way and the New Way</a:t>
            </a:r>
          </a:p>
        </p:txBody>
      </p:sp>
    </p:spTree>
    <p:extLst>
      <p:ext uri="{BB962C8B-B14F-4D97-AF65-F5344CB8AC3E}">
        <p14:creationId xmlns:p14="http://schemas.microsoft.com/office/powerpoint/2010/main" val="385443694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3895726"/>
            <a:ext cx="6705601" cy="450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a:t>The application lifecycle</a:t>
            </a:r>
          </a:p>
          <a:p>
            <a:endParaRPr lang="en-US" sz="1200" b="1" dirty="0"/>
          </a:p>
          <a:p>
            <a:r>
              <a:rPr lang="en-US" sz="1200" b="1" dirty="0"/>
              <a:t>Application lifecycle management with Visual Studio </a:t>
            </a:r>
          </a:p>
          <a:p>
            <a:r>
              <a:rPr lang="en-US" sz="1200" dirty="0"/>
              <a:t>Microsoft Visual Studio will figure prominently in this book and in your efforts to refine your own application lifecycle management. Application lifecycle management with Visual Studio is an approach that takes advantage of a number of Microsoft tools, most of which are found in Visual Studio and Team Foundation Server, and which support each part of the lifecycle management process. In these pages, we'll show you how to perform testing with Visual Studio Team Foundation Server 2012 RC. Though we will focus on that version, you can also use Visual Studio 2010. (We note the differences where necessary.) With the setup guidance we provide here, your team should be able to test complex distributed systems within a few days.</a:t>
            </a:r>
          </a:p>
          <a:p>
            <a:endParaRPr lang="en-US" sz="1200" dirty="0"/>
          </a:p>
          <a:p>
            <a:r>
              <a:rPr lang="en-US" sz="1200" dirty="0"/>
              <a:t>Of turnaround. If your software runs in the cloud—that is, if users access it on the web—then you will course, you may already be doing everything we suggest here, so we can't promise the scale of improvements you'll see. But we envisage that, like us, you're concerned with the increasing demand for rapid probably want no more than a few days to pass between a bug report and its fix. The same is true of many in-house applications; for example, many financial traders expect tools to be updated within the hour of making a request. Even if your software is a desktop application or a phone app, you'll want to publish regular updates.</a:t>
            </a:r>
          </a:p>
          <a:p>
            <a:endParaRPr lang="en-US" sz="1200" dirty="0"/>
          </a:p>
          <a:p>
            <a:r>
              <a:rPr lang="en-US" sz="1200" dirty="0"/>
              <a:t>Before we dig into lifecycle management with Visual Studio, let's take a look at the two fictitious companies that will introduce us to two rather different approaches to testing and deployment: </a:t>
            </a:r>
            <a:r>
              <a:rPr lang="en-US" sz="1200" dirty="0" err="1"/>
              <a:t>Contoso</a:t>
            </a:r>
            <a:r>
              <a:rPr lang="en-US" sz="1200" dirty="0"/>
              <a:t>, the traditional organization, and </a:t>
            </a:r>
            <a:r>
              <a:rPr lang="en-US" sz="1200" dirty="0" err="1"/>
              <a:t>Fabrikam</a:t>
            </a:r>
            <a:r>
              <a:rPr lang="en-US" sz="1200" dirty="0"/>
              <a:t>, the more modern company. They will help define the ALM problem with greater clarity.</a:t>
            </a:r>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3074" name="Picture 2" descr="JJ159336.4B696E6D6383D8538BA5A7684F13BD42(en-us,PandP.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463" y="1228726"/>
            <a:ext cx="3126104" cy="26050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158330423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err="1"/>
              <a:t>Contoso</a:t>
            </a:r>
            <a:r>
              <a:rPr lang="en-US" sz="1200" b="1" dirty="0"/>
              <a:t> and </a:t>
            </a:r>
            <a:r>
              <a:rPr lang="en-US" sz="1200" b="1" dirty="0" err="1"/>
              <a:t>Fabrikam</a:t>
            </a:r>
            <a:r>
              <a:rPr lang="en-US" sz="1200" b="1" dirty="0"/>
              <a:t>; or something old, something new</a:t>
            </a:r>
          </a:p>
          <a:p>
            <a:r>
              <a:rPr lang="en-US" sz="1200" dirty="0"/>
              <a:t>At </a:t>
            </a:r>
            <a:r>
              <a:rPr lang="en-US" sz="1200" dirty="0" err="1"/>
              <a:t>Contoso</a:t>
            </a:r>
            <a:r>
              <a:rPr lang="en-US" sz="1200" dirty="0"/>
              <a:t>, testing has always been high priority. </a:t>
            </a:r>
            <a:r>
              <a:rPr lang="en-US" sz="1200" dirty="0" err="1"/>
              <a:t>Contoso</a:t>
            </a:r>
            <a:r>
              <a:rPr lang="en-US" sz="1200" dirty="0"/>
              <a:t> has been known for the quality of its software products for several decades. Recently however, testing has begun to seem like a dead weight that is holding the company back. When customers report bugs to </a:t>
            </a:r>
            <a:r>
              <a:rPr lang="en-US" sz="1200" dirty="0" err="1"/>
              <a:t>Contoso</a:t>
            </a:r>
            <a:r>
              <a:rPr lang="en-US" sz="1200" dirty="0"/>
              <a:t>, product managers will typically remark "Well, the fix is easy to code, but we'd have to re-test the whole product. We can't do that for just one bug." So they have to politely thank the customer for her feedback and suggest a workaround.</a:t>
            </a:r>
          </a:p>
          <a:p>
            <a:endParaRPr lang="en-US" sz="1200" dirty="0"/>
          </a:p>
          <a:p>
            <a:r>
              <a:rPr lang="en-US" sz="1200" dirty="0"/>
              <a:t>Meanwhile, their competitor, </a:t>
            </a:r>
            <a:r>
              <a:rPr lang="en-US" sz="1200" dirty="0" err="1"/>
              <a:t>Fabrikam</a:t>
            </a:r>
            <a:r>
              <a:rPr lang="en-US" sz="1200" dirty="0"/>
              <a:t>, a much younger company with more up-to-date methods, frequently releases updates, often without their users noticing. Bugs are gone almost as soon as they are reported. How do they do it? How do they test their whole product in such a short time?</a:t>
            </a:r>
          </a:p>
          <a:p>
            <a:r>
              <a:rPr lang="en-US" sz="1200" dirty="0"/>
              <a:t>In our story, the problems begin when </a:t>
            </a:r>
            <a:r>
              <a:rPr lang="en-US" sz="1200" dirty="0" err="1"/>
              <a:t>Fabrikam</a:t>
            </a:r>
            <a:r>
              <a:rPr lang="en-US" sz="1200" dirty="0"/>
              <a:t> and </a:t>
            </a:r>
            <a:r>
              <a:rPr lang="en-US" sz="1200" dirty="0" err="1"/>
              <a:t>Contoso</a:t>
            </a:r>
            <a:r>
              <a:rPr lang="en-US" sz="1200" dirty="0"/>
              <a:t> merge. The two cultures have a lot to learn from each other.</a:t>
            </a:r>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6146" name="Picture 2" descr="http://msdn.microsoft.com/en-us/library/JJ159336.53ebba4ed488758ed245e70f943340a6(l=en-u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2" y="3733799"/>
            <a:ext cx="4342794" cy="534352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424535306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8194" name="Picture 2" descr="http://msdn.microsoft.com/en-us/library/JJ159336.bc21d6d888d89c8d7dc4b17474cfc3f0(l=en-u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2" y="1194302"/>
            <a:ext cx="4342794" cy="552082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280534282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9218" name="Picture 2" descr="http://msdn.microsoft.com/en-us/library/JJ159336.b64a65b279bbc23d932fab4df0605317(l=en-u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2" y="1152525"/>
            <a:ext cx="4342794" cy="556360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144788139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6562725"/>
            <a:ext cx="6705601" cy="184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dirty="0"/>
              <a:t>The two companies take very different approaches, and yours might be somewhere between the extremes. In the chapters that follow, we show you how to get set up to do things the new way, and we explain the choices you can make based on the situation in your organization.</a:t>
            </a:r>
          </a:p>
          <a:p>
            <a:endParaRPr lang="en-US" sz="1200" dirty="0"/>
          </a:p>
          <a:p>
            <a:r>
              <a:rPr lang="en-US" sz="1200" b="1" dirty="0"/>
              <a:t>From </a:t>
            </a:r>
            <a:r>
              <a:rPr lang="en-US" sz="1200" b="1" dirty="0" err="1"/>
              <a:t>Contoso</a:t>
            </a:r>
            <a:r>
              <a:rPr lang="en-US" sz="1200" b="1" dirty="0"/>
              <a:t> to </a:t>
            </a:r>
            <a:r>
              <a:rPr lang="en-US" sz="1200" b="1" dirty="0" err="1"/>
              <a:t>Fabrikam</a:t>
            </a:r>
            <a:endParaRPr lang="en-US" sz="1200" b="1" dirty="0"/>
          </a:p>
          <a:p>
            <a:endParaRPr lang="en-US" sz="1200" dirty="0"/>
          </a:p>
          <a:p>
            <a:r>
              <a:rPr lang="en-US" sz="1200" dirty="0"/>
              <a:t>Let's take a look at the pain that </a:t>
            </a:r>
            <a:r>
              <a:rPr lang="en-US" sz="1200" dirty="0" err="1"/>
              <a:t>Contoso</a:t>
            </a:r>
            <a:r>
              <a:rPr lang="en-US" sz="1200" dirty="0"/>
              <a:t> experiences in the beginning and the benefits they realize as they move to a testing process more like </a:t>
            </a:r>
            <a:r>
              <a:rPr lang="en-US" sz="1200" dirty="0" err="1"/>
              <a:t>Fabrikam's</a:t>
            </a:r>
            <a:r>
              <a:rPr lang="en-US" sz="1200" dirty="0"/>
              <a:t>. You'll get a better understanding of the benefits to testing using Visual Studio, Team Foundation Server, and a virtual lab environment.</a:t>
            </a:r>
          </a:p>
          <a:p>
            <a:r>
              <a:rPr lang="en-US" sz="1200" dirty="0"/>
              <a:t>Here are some of the pain points that </a:t>
            </a:r>
            <a:r>
              <a:rPr lang="en-US" sz="1200" dirty="0" err="1"/>
              <a:t>Contoso</a:t>
            </a:r>
            <a:r>
              <a:rPr lang="en-US" sz="1200" dirty="0"/>
              <a:t> experienced by doing things the old way:</a:t>
            </a:r>
          </a:p>
          <a:p>
            <a:endParaRPr lang="en-US" sz="1200" dirty="0"/>
          </a:p>
          <a:p>
            <a:pPr marL="171433" indent="-171433">
              <a:buFont typeface="Arial" pitchFamily="34" charset="0"/>
              <a:buChar char="•"/>
            </a:pPr>
            <a:r>
              <a:rPr lang="en-US" sz="1200" dirty="0"/>
              <a:t>Updating an existing product is expensive no matter how small the change. Partly, this is because test hardware has to be assigned, private networks have to be wired up, and operating system and other platform software has to be installed. This is a lengthy process. As a result, if customers find bugs in the operational product, they don't expect to see them fixed soon.</a:t>
            </a:r>
          </a:p>
          <a:p>
            <a:endParaRPr lang="en-US" sz="1200" dirty="0"/>
          </a:p>
          <a:p>
            <a:endParaRPr lang="en-US" sz="1200" dirty="0"/>
          </a:p>
        </p:txBody>
      </p:sp>
      <p:sp>
        <p:nvSpPr>
          <p:cNvPr id="16389" name="Rectangle 5"/>
          <p:cNvSpPr>
            <a:spLocks/>
          </p:cNvSpPr>
          <p:nvPr/>
        </p:nvSpPr>
        <p:spPr bwMode="auto">
          <a:xfrm>
            <a:off x="344488" y="9534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10242" name="Picture 2" descr="http://msdn.microsoft.com/en-us/library/JJ159336.8c930142e2cdc0a36406d36319ffa321(l=en-u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2" y="1152526"/>
            <a:ext cx="4342794" cy="534401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223713261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33" indent="-171433">
              <a:buFont typeface="Arial" pitchFamily="34" charset="0"/>
              <a:buChar char="•"/>
            </a:pPr>
            <a:r>
              <a:rPr lang="en-US" sz="1200" dirty="0"/>
              <a:t>During a project, the team frequently needs to test a new build. But the results are sometimes inconsistent because the previous build didn't uninstall properly. The most reliable solution would be to format the disk and install everything from scratch; but this is too costly.</a:t>
            </a:r>
          </a:p>
          <a:p>
            <a:pPr marL="171433" indent="-171433">
              <a:buFont typeface="Arial" pitchFamily="34" charset="0"/>
              <a:buChar char="•"/>
            </a:pPr>
            <a:endParaRPr lang="en-US" sz="1200" dirty="0"/>
          </a:p>
          <a:p>
            <a:pPr marL="171433" indent="-171433">
              <a:buFont typeface="Arial" pitchFamily="34" charset="0"/>
              <a:buChar char="•"/>
            </a:pPr>
            <a:r>
              <a:rPr lang="en-US" sz="1200" dirty="0"/>
              <a:t>Manual tests sometimes yield inconsistent results. The same feature is tested by slightly different procedures on different occasions, even if the same person is doing the test.</a:t>
            </a:r>
          </a:p>
          <a:p>
            <a:pPr marL="171433" indent="-171433">
              <a:buFont typeface="Arial" pitchFamily="34" charset="0"/>
              <a:buChar char="•"/>
            </a:pPr>
            <a:endParaRPr lang="en-US" sz="1200" dirty="0"/>
          </a:p>
          <a:p>
            <a:pPr marL="171433" indent="-171433">
              <a:buFont typeface="Arial" pitchFamily="34" charset="0"/>
              <a:buChar char="•"/>
            </a:pPr>
            <a:r>
              <a:rPr lang="en-US" sz="1200" dirty="0"/>
              <a:t>Developers often complain they can't reproduce a bug that was seen during a test run. Even if the tester has faithfully reported the steps that reproduce the bug, the conditions on a development machine might be different from those on the test environment.</a:t>
            </a:r>
          </a:p>
          <a:p>
            <a:pPr marL="171433" indent="-171433">
              <a:buFont typeface="Arial" pitchFamily="34" charset="0"/>
              <a:buChar char="•"/>
            </a:pPr>
            <a:endParaRPr lang="en-US" sz="1200" dirty="0"/>
          </a:p>
          <a:p>
            <a:pPr marL="171433" indent="-171433">
              <a:buFont typeface="Arial" pitchFamily="34" charset="0"/>
              <a:buChar char="•"/>
            </a:pPr>
            <a:r>
              <a:rPr lang="en-US" sz="1200" dirty="0"/>
              <a:t>When the requirements change, it can be difficult to discover which tests should be updated; and it can be difficult to find out how well the latest build of the product meets the stakeholders' needs. Different </a:t>
            </a:r>
            <a:r>
              <a:rPr lang="en-US" sz="1200" dirty="0" err="1"/>
              <a:t>unintegrated</a:t>
            </a:r>
            <a:r>
              <a:rPr lang="en-US" sz="1200" dirty="0"/>
              <a:t> tools mean that there are no traceable relationships between bugs, tests, customer requirements, and versions of the product. The manual steps needed to make the tools work together make the process unreliable.</a:t>
            </a:r>
          </a:p>
          <a:p>
            <a:pPr marL="171433" indent="-171433">
              <a:buFont typeface="Arial" pitchFamily="34" charset="0"/>
              <a:buChar char="•"/>
            </a:pPr>
            <a:endParaRPr lang="en-US" sz="1200" dirty="0"/>
          </a:p>
          <a:p>
            <a:pPr marL="171433" indent="-171433">
              <a:buFont typeface="Arial" pitchFamily="34" charset="0"/>
              <a:buChar char="•"/>
            </a:pPr>
            <a:r>
              <a:rPr lang="en-US" sz="1200" dirty="0"/>
              <a:t>Testing at the system level is always manual. To repeat a set of tests is costly, so that it is not economical to develop the software by incremental improvements. System testing is often abbreviated, so that bugs can go undiscovered until release.</a:t>
            </a:r>
          </a:p>
          <a:p>
            <a:pPr marL="171433" indent="-171433">
              <a:buFont typeface="Arial" pitchFamily="34" charset="0"/>
              <a:buChar char="•"/>
            </a:pPr>
            <a:endParaRPr lang="en-US" sz="1200" dirty="0"/>
          </a:p>
          <a:p>
            <a:pPr marL="171433" indent="-171433">
              <a:buFont typeface="Arial" pitchFamily="34" charset="0"/>
              <a:buChar char="•"/>
            </a:pPr>
            <a:r>
              <a:rPr lang="en-US" sz="1200" dirty="0"/>
              <a:t>Revisiting code is risky and expensive. Changing code that has already been developed means rerunning tests, or running the risk that the changes have introduced new bugs. Development managers prefer to develop all of one part of the code, and then another, integrating the parts only towards the end of the project when it is often too late to fix integration problems.</a:t>
            </a:r>
          </a:p>
          <a:p>
            <a:pPr marL="171433" indent="-171433">
              <a:buFont typeface="Arial" pitchFamily="34" charset="0"/>
              <a:buChar char="•"/>
            </a:pPr>
            <a:endParaRPr lang="en-US" sz="1200" dirty="0"/>
          </a:p>
          <a:p>
            <a:r>
              <a:rPr lang="en-US" sz="1200" dirty="0"/>
              <a:t>Here are the benefits </a:t>
            </a:r>
            <a:r>
              <a:rPr lang="en-US" sz="1200" dirty="0" err="1"/>
              <a:t>Fabrikam</a:t>
            </a:r>
            <a:r>
              <a:rPr lang="en-US" sz="1200" dirty="0"/>
              <a:t> enjoys and which </a:t>
            </a:r>
            <a:r>
              <a:rPr lang="en-US" sz="1200" dirty="0" err="1"/>
              <a:t>Contoso</a:t>
            </a:r>
            <a:r>
              <a:rPr lang="en-US" sz="1200" dirty="0"/>
              <a:t> will realize by moving to the new way:</a:t>
            </a:r>
          </a:p>
          <a:p>
            <a:endParaRPr lang="en-US" sz="1200" dirty="0"/>
          </a:p>
          <a:p>
            <a:pPr marL="171433" indent="-171433">
              <a:buFont typeface="Arial" pitchFamily="34" charset="0"/>
              <a:buChar char="•"/>
            </a:pPr>
            <a:r>
              <a:rPr lang="en-US" sz="1200" dirty="0"/>
              <a:t>Virtual machines are used to perform most tests, so new testing environments can be easily created and existing environments can rapidly be reset to a fresh state.</a:t>
            </a:r>
          </a:p>
          <a:p>
            <a:pPr marL="171433" indent="-171433">
              <a:buFont typeface="Arial" pitchFamily="34" charset="0"/>
              <a:buChar char="•"/>
            </a:pPr>
            <a:endParaRPr lang="en-US" sz="1200" dirty="0"/>
          </a:p>
          <a:p>
            <a:pPr marL="171433" indent="-171433">
              <a:buFont typeface="Arial" pitchFamily="34" charset="0"/>
              <a:buChar char="•"/>
            </a:pPr>
            <a:r>
              <a:rPr lang="en-US" sz="1200" dirty="0"/>
              <a:t>Configurations of machines and software can be saved for future use: no more painful rebuilding process.</a:t>
            </a:r>
          </a:p>
          <a:p>
            <a:pPr marL="171433" indent="-171433">
              <a:buFont typeface="Arial" pitchFamily="34" charset="0"/>
              <a:buChar char="•"/>
            </a:pPr>
            <a:endParaRPr lang="en-US" sz="1200" dirty="0"/>
          </a:p>
          <a:p>
            <a:pPr marL="171433" indent="-171433">
              <a:buFont typeface="Arial" pitchFamily="34" charset="0"/>
              <a:buChar char="•"/>
            </a:pPr>
            <a:r>
              <a:rPr lang="en-US" sz="1200" dirty="0"/>
              <a:t>Manual tests are guided by scripts displayed at the side of the screen while the tester works. This makes the tests more repeatable and reliable. Test plans and test scripts are stored in the Team Foundation Server database, and linked to the code and to the test configuration.</a:t>
            </a:r>
          </a:p>
          <a:p>
            <a:pPr marL="171433" indent="-171433">
              <a:buFont typeface="Arial" pitchFamily="34" charset="0"/>
              <a:buChar char="•"/>
            </a:pPr>
            <a:endParaRPr lang="en-US" sz="1200" dirty="0"/>
          </a:p>
          <a:p>
            <a:pPr marL="171433" indent="-171433">
              <a:buFont typeface="Arial" pitchFamily="34" charset="0"/>
              <a:buChar char="•"/>
            </a:pPr>
            <a:r>
              <a:rPr lang="en-US" sz="1200" dirty="0"/>
              <a:t>Tests are easy to reproduce. Testers' comments, screenshots and actions can be recorded along with the test results. When a bug is found, a snapshot of the exact state of the environment is stored along with the bug. Developers can log in to the environment to investigate.</a:t>
            </a:r>
          </a:p>
          <a:p>
            <a:pPr marL="171433" indent="-171433">
              <a:buFont typeface="Arial" pitchFamily="34" charset="0"/>
              <a:buChar char="•"/>
            </a:pPr>
            <a:endParaRPr lang="en-US" sz="1200" dirty="0"/>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cxnSp>
        <p:nvCxnSpPr>
          <p:cNvPr id="5" name="Straight Connector 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307091302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33" indent="-171433">
              <a:buFont typeface="Arial" pitchFamily="34" charset="0"/>
              <a:buChar char="•"/>
            </a:pPr>
            <a:r>
              <a:rPr lang="en-US" sz="1200" dirty="0"/>
              <a:t>Much more test automation. Manual test steps can be recorded and replayed rapidly. The recordings can also form the basis of automated system tests. Automated tests can be performed frequently, and at little cost.</a:t>
            </a:r>
          </a:p>
          <a:p>
            <a:pPr marL="171433" indent="-171433">
              <a:buFont typeface="Arial" pitchFamily="34" charset="0"/>
              <a:buChar char="•"/>
            </a:pPr>
            <a:endParaRPr lang="en-US" sz="1200" dirty="0"/>
          </a:p>
          <a:p>
            <a:pPr marL="171433" indent="-171433">
              <a:buFont typeface="Arial" pitchFamily="34" charset="0"/>
              <a:buChar char="•"/>
            </a:pPr>
            <a:r>
              <a:rPr lang="en-US" sz="1200" dirty="0"/>
              <a:t>Reports on the project website show the progress of requirements in terms of the relevant tests.</a:t>
            </a:r>
          </a:p>
          <a:p>
            <a:pPr marL="171433" indent="-171433">
              <a:buFont typeface="Arial" pitchFamily="34" charset="0"/>
              <a:buChar char="•"/>
            </a:pPr>
            <a:endParaRPr lang="en-US" sz="1200" dirty="0"/>
          </a:p>
          <a:p>
            <a:pPr marL="171433" indent="-171433">
              <a:buFont typeface="Arial" pitchFamily="34" charset="0"/>
              <a:buChar char="•"/>
            </a:pPr>
            <a:r>
              <a:rPr lang="en-US" sz="1200" dirty="0"/>
              <a:t>When requirements change, it's easy to trace which tests should be updated. An integrated set of tools manages and reports on requirements, test cases and test results, project planning, and bug management.</a:t>
            </a:r>
          </a:p>
          <a:p>
            <a:pPr marL="171433" indent="-171433">
              <a:buFont typeface="Arial" pitchFamily="34" charset="0"/>
              <a:buChar char="•"/>
            </a:pPr>
            <a:endParaRPr lang="en-US" sz="1200" dirty="0"/>
          </a:p>
          <a:p>
            <a:pPr marL="171433" indent="-171433">
              <a:buFont typeface="Arial" pitchFamily="34" charset="0"/>
              <a:buChar char="•"/>
            </a:pPr>
            <a:r>
              <a:rPr lang="en-US" sz="1200" dirty="0"/>
              <a:t>In addition to the core tools, third-party products can be integrated.</a:t>
            </a:r>
          </a:p>
          <a:p>
            <a:pPr marL="171433" indent="-171433">
              <a:buFont typeface="Arial" pitchFamily="34" charset="0"/>
              <a:buChar char="•"/>
            </a:pPr>
            <a:endParaRPr lang="en-US" sz="1200" dirty="0"/>
          </a:p>
          <a:p>
            <a:pPr marL="171433" indent="-171433">
              <a:buFont typeface="Arial" pitchFamily="34" charset="0"/>
              <a:buChar char="•"/>
            </a:pPr>
            <a:r>
              <a:rPr lang="en-US" sz="1200" dirty="0"/>
              <a:t>Changing existing code is commonplace. Automated tests are performed frequently and can be relied on to pick up bugs that were inadvertently introduced during a change. Development teams can produce a very basic version of an end-to-end working product at an early stage, and then gradually improve the features. This substantially improves the chances of delivering an effective product.</a:t>
            </a:r>
          </a:p>
          <a:p>
            <a:pPr marL="171433" indent="-171433">
              <a:buFont typeface="Arial" pitchFamily="34" charset="0"/>
              <a:buChar char="•"/>
            </a:pPr>
            <a:endParaRPr lang="en-US" sz="1200" dirty="0"/>
          </a:p>
          <a:p>
            <a:r>
              <a:rPr lang="en-US" sz="1200" b="1" dirty="0"/>
              <a:t>Application lifecycle management tools</a:t>
            </a:r>
          </a:p>
          <a:p>
            <a:endParaRPr lang="en-US" sz="1200" b="1" dirty="0"/>
          </a:p>
          <a:p>
            <a:r>
              <a:rPr lang="en-US" sz="1200" dirty="0"/>
              <a:t>We'll assume that you've met Visual Studio, the Microsoft software development environment. As well as editing code in Visual Studio, you can run unit tests, break into the code to debug it, and use the </a:t>
            </a:r>
            <a:r>
              <a:rPr lang="en-US" sz="1200" dirty="0" err="1"/>
              <a:t>IntelliTrace</a:t>
            </a:r>
            <a:r>
              <a:rPr lang="en-US" sz="1200" dirty="0"/>
              <a:t> feature of Visual Studio to trace calls within the running code. You can analyze existing code with dependency, sequence, and class diagrams, and create models to help design or generate code.</a:t>
            </a:r>
          </a:p>
          <a:p>
            <a:endParaRPr lang="en-US" sz="1200" dirty="0"/>
          </a:p>
          <a:p>
            <a:r>
              <a:rPr lang="en-US" sz="1200" i="1" dirty="0"/>
              <a:t>Team Foundation Server</a:t>
            </a:r>
            <a:r>
              <a:rPr lang="en-US" sz="1200" dirty="0"/>
              <a:t> is a tool for tracking and reporting the progress of your project's work. It can also be the source control server where your developers keep their code. It can build and test your software frequently as it grows, and provide reports and dashboards that show progress. In particular, you can get reports that show how far you've gone towards meeting the requirements—both in terms of work completed and tests passing.</a:t>
            </a:r>
          </a:p>
          <a:p>
            <a:endParaRPr lang="en-US" sz="1200" dirty="0"/>
          </a:p>
          <a:p>
            <a:r>
              <a:rPr lang="en-US" sz="1200" i="1" dirty="0"/>
              <a:t>Microsoft Test Manager (MTM)</a:t>
            </a:r>
            <a:r>
              <a:rPr lang="en-US" sz="1200" dirty="0"/>
              <a:t> is the tool for testers. With it, you can plan and execute both manual and automated tests. While you are performing tests, you can log a bug with one click; the bug report will contain a trace of your recent actions, a snapshot of the state of the system, and a copy of any notes you made while exploring the system. You can record your actions in the test case, so that they can be played back on later occasions.</a:t>
            </a:r>
          </a:p>
          <a:p>
            <a:endParaRPr lang="en-US" sz="1200" dirty="0"/>
          </a:p>
          <a:p>
            <a:r>
              <a:rPr lang="en-US" sz="1200" dirty="0"/>
              <a:t>MTM also includes tools for setting up and managing lab machines. You can configure a virtual lab in which to install a distributed system, and link that lab to the test plan. Whenever you need to repeat tests—for example when you want to publish a change to your system—the lab can be reconfigured automatically.</a:t>
            </a:r>
          </a:p>
          <a:p>
            <a:endParaRPr lang="en-US" sz="1200" dirty="0"/>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cxnSp>
        <p:nvCxnSpPr>
          <p:cNvPr id="5" name="Straight Connector 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313090928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b="1" dirty="0"/>
              <a:t>Moving to the new way: adopting Visual Studio for ALM</a:t>
            </a:r>
          </a:p>
          <a:p>
            <a:endParaRPr lang="en-US" sz="1200" b="1" dirty="0"/>
          </a:p>
          <a:p>
            <a:r>
              <a:rPr lang="en-US" sz="1200" dirty="0"/>
              <a:t>Now we aren't suggesting that everyone should work by the same methods. Some teams want to aim for a rapid development cycle; others are developing embedded software for which that wouldn't be appropriate.</a:t>
            </a:r>
          </a:p>
          <a:p>
            <a:endParaRPr lang="en-US" sz="1200" dirty="0"/>
          </a:p>
          <a:p>
            <a:r>
              <a:rPr lang="en-US" sz="1200" dirty="0"/>
              <a:t>Nor do we suggest that people in </a:t>
            </a:r>
            <a:r>
              <a:rPr lang="en-US" sz="1200" dirty="0" err="1"/>
              <a:t>Contoso</a:t>
            </a:r>
            <a:r>
              <a:rPr lang="en-US" sz="1200" dirty="0"/>
              <a:t> are doing it all wrong. Their attitude to testing is clearly admirable: they take a pride in releasing high-quality software.</a:t>
            </a:r>
          </a:p>
          <a:p>
            <a:endParaRPr lang="en-US" sz="1200" dirty="0"/>
          </a:p>
          <a:p>
            <a:r>
              <a:rPr lang="en-US" sz="1200" dirty="0"/>
              <a:t>But we do believe that, no matter what development books a team reads, they do need to run tests, and they can benefit from having a brisker turnaround in their test runs—if only to reduce the boredom of repeating the same old tests by hand.</a:t>
            </a:r>
          </a:p>
          <a:p>
            <a:endParaRPr lang="en-US" sz="1200" dirty="0"/>
          </a:p>
          <a:p>
            <a:r>
              <a:rPr lang="en-US" sz="1200" dirty="0"/>
              <a:t>But such changes aren't just about adopting tools. A software team—the extended team that includes all the stakeholders who collaborate to produce the working software—consists of interacting individuals. To keep everyone in sync, new ways of doing things have to be tried out and agreed upon in measured steps.</a:t>
            </a:r>
          </a:p>
          <a:p>
            <a:endParaRPr lang="en-US" sz="1200" dirty="0"/>
          </a:p>
          <a:p>
            <a:r>
              <a:rPr lang="en-US" sz="1200" dirty="0"/>
              <a:t>But such changes aren't just about adopting tools. A software team—the extended team that includes all the stakeholders who collaborate to produce the working software—consists of interacting individuals. To keep everyone in sync, new ways of doing things have to be tried out and agreed upon in measured steps.</a:t>
            </a:r>
          </a:p>
          <a:p>
            <a:endParaRPr lang="en-US" sz="1200" dirty="0"/>
          </a:p>
          <a:p>
            <a:r>
              <a:rPr lang="en-US" sz="1200" dirty="0"/>
              <a:t>Visual Studio provides a </a:t>
            </a:r>
            <a:r>
              <a:rPr lang="en-US" sz="1200" i="1" dirty="0"/>
              <a:t>lot</a:t>
            </a:r>
            <a:r>
              <a:rPr lang="en-US" sz="1200" dirty="0"/>
              <a:t> of different facilities. It therefore makes sense to adopt it one step at a time. Of course, this book is about testing, but since the test tools and other features such as work tracking and source control are closely integrated, we have to talk about them to some extent too.</a:t>
            </a:r>
          </a:p>
          <a:p>
            <a:endParaRPr lang="en-US" sz="1200" dirty="0"/>
          </a:p>
          <a:p>
            <a:r>
              <a:rPr lang="en-US" sz="1200" dirty="0"/>
              <a:t>The following diagram shows a typical order in which teams adopt Visual Studio for application lifecycle management. They begin by just using Visual Studio, and work gradually on up through source control, server builds, system testing, and on to automated system tests. The need for gradual progress is mostly about learning. As your team starts to use each feature, you'll work out how to use it in the best way for your project.</a:t>
            </a:r>
          </a:p>
          <a:p>
            <a:endParaRPr lang="en-US" sz="1200" dirty="0"/>
          </a:p>
          <a:p>
            <a:r>
              <a:rPr lang="en-US" sz="1200" dirty="0"/>
              <a:t>And of course a team learns more slowly than any of its members. Learning how to open, assign, and close a bug is easy; agreeing who should do what takes longer.</a:t>
            </a:r>
          </a:p>
          <a:p>
            <a:endParaRPr lang="en-US" sz="1200" dirty="0"/>
          </a:p>
          <a:p>
            <a:r>
              <a:rPr lang="en-US" sz="1200" b="1" dirty="0"/>
              <a:t>Adopting Visual Studio for ALM</a:t>
            </a:r>
          </a:p>
          <a:p>
            <a:endParaRPr lang="en-US" sz="1200" b="1" dirty="0"/>
          </a:p>
          <a:p>
            <a:r>
              <a:rPr lang="en-US" sz="1200" dirty="0"/>
              <a:t>There are a number of ways you can gradually adopt Visual Studio for ALM, and the steps below represent one way. Naturally, this isn't a precise scheme. But here's what you get in each of the stages of adoption that we've shown:</a:t>
            </a:r>
          </a:p>
          <a:p>
            <a:endParaRPr lang="en-US" sz="1200" dirty="0"/>
          </a:p>
          <a:p>
            <a:endParaRPr lang="en-US" sz="1200" dirty="0"/>
          </a:p>
          <a:p>
            <a:endParaRPr lang="en-US" sz="1200" dirty="0"/>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cxnSp>
        <p:nvCxnSpPr>
          <p:cNvPr id="5" name="Straight Connector 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31830321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pPr marL="171433" indent="-171433">
              <a:buFont typeface="Arial" pitchFamily="34" charset="0"/>
              <a:buChar char="•"/>
            </a:pPr>
            <a:r>
              <a:rPr lang="en-US" sz="1200" b="1" dirty="0"/>
              <a:t>Just Visual Studio</a:t>
            </a:r>
            <a:r>
              <a:rPr lang="en-US" sz="1200" dirty="0"/>
              <a:t> – Visual Studio is used for development. To test the application, </a:t>
            </a:r>
            <a:r>
              <a:rPr lang="en-US" sz="1200" dirty="0" err="1"/>
              <a:t>Contoso's</a:t>
            </a:r>
            <a:r>
              <a:rPr lang="en-US" sz="1200" dirty="0"/>
              <a:t> testers basically just press F5 and find out whether the application works. </a:t>
            </a:r>
            <a:br>
              <a:rPr lang="en-US" sz="1200" dirty="0"/>
            </a:br>
            <a:r>
              <a:rPr lang="en-US" sz="1200" dirty="0"/>
              <a:t>Unit tests are written by the developers to test individual classes and components. </a:t>
            </a:r>
            <a:br>
              <a:rPr lang="en-US" sz="1200" dirty="0"/>
            </a:br>
            <a:r>
              <a:rPr lang="en-US" sz="1200" dirty="0"/>
              <a:t>Coded UI Tests are a neat way to run automated tests of the whole application through its user interface.</a:t>
            </a:r>
          </a:p>
          <a:p>
            <a:endParaRPr lang="en-US" sz="1200" dirty="0"/>
          </a:p>
          <a:p>
            <a:pPr marL="171433" indent="-171433">
              <a:buFont typeface="Arial" pitchFamily="34" charset="0"/>
              <a:buChar char="•"/>
            </a:pPr>
            <a:r>
              <a:rPr lang="en-US" sz="1200" b="1" dirty="0"/>
              <a:t>Team Foundation Server Basics </a:t>
            </a:r>
            <a:r>
              <a:rPr lang="en-US" sz="1200" dirty="0"/>
              <a:t>– when you install Team Foundation Server, you get a host of features. The first features you'll want to take advantage of are:</a:t>
            </a:r>
          </a:p>
          <a:p>
            <a:endParaRPr lang="en-US" sz="1200" dirty="0"/>
          </a:p>
          <a:p>
            <a:pPr marL="628589" lvl="1" indent="-171433">
              <a:buFont typeface="Arial" pitchFamily="34" charset="0"/>
              <a:buChar char="•"/>
            </a:pPr>
            <a:r>
              <a:rPr lang="en-US" sz="1200" b="1" dirty="0"/>
              <a:t>Source Control</a:t>
            </a:r>
            <a:r>
              <a:rPr lang="en-US" sz="1200" dirty="0"/>
              <a:t> to avoid overwriting each other's work. And after a while, you might start using:</a:t>
            </a:r>
          </a:p>
          <a:p>
            <a:pPr marL="628589" lvl="1" indent="-171433">
              <a:buFont typeface="Arial" pitchFamily="34" charset="0"/>
              <a:buChar char="•"/>
            </a:pPr>
            <a:r>
              <a:rPr lang="en-US" sz="1200" dirty="0"/>
              <a:t/>
            </a:r>
            <a:br>
              <a:rPr lang="en-US" sz="1200" dirty="0"/>
            </a:br>
            <a:r>
              <a:rPr lang="en-US" sz="1200" i="1" dirty="0"/>
              <a:t>Check-in rules</a:t>
            </a:r>
            <a:r>
              <a:rPr lang="en-US" sz="1200" dirty="0"/>
              <a:t> – which remind developers to run tests and quality analysis on their code before checking it into the server.</a:t>
            </a:r>
          </a:p>
          <a:p>
            <a:pPr marL="628589" lvl="1" indent="-171433">
              <a:buFont typeface="Arial" pitchFamily="34" charset="0"/>
              <a:buChar char="•"/>
            </a:pPr>
            <a:r>
              <a:rPr lang="en-US" sz="1200" dirty="0"/>
              <a:t/>
            </a:r>
            <a:br>
              <a:rPr lang="en-US" sz="1200" dirty="0"/>
            </a:br>
            <a:r>
              <a:rPr lang="en-US" sz="1200" i="1" dirty="0" err="1"/>
              <a:t>Shelvesets</a:t>
            </a:r>
            <a:r>
              <a:rPr lang="en-US" sz="1200" dirty="0"/>
              <a:t> – a way of copying a set of changes from one user to another for review before checking in.</a:t>
            </a:r>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pic>
        <p:nvPicPr>
          <p:cNvPr id="11266" name="Picture 2" descr="JJ159336.F84AC04FC8B4DF9577A189A5C388EC7B(en-us,PandP.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862" y="1228725"/>
            <a:ext cx="4343400" cy="43434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129892166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628589" lvl="1" indent="-171433">
              <a:buFont typeface="Arial" pitchFamily="34" charset="0"/>
              <a:buChar char="•"/>
            </a:pPr>
            <a:r>
              <a:rPr lang="en-US" sz="1200" i="1" dirty="0"/>
              <a:t>Branches</a:t>
            </a:r>
            <a:r>
              <a:rPr lang="en-US" sz="1200" dirty="0"/>
              <a:t> - which help manage work in a large project.</a:t>
            </a:r>
          </a:p>
          <a:p>
            <a:pPr marL="628589" lvl="1" indent="-171433">
              <a:buFont typeface="Arial" pitchFamily="34" charset="0"/>
              <a:buChar char="•"/>
            </a:pPr>
            <a:endParaRPr lang="en-US" sz="1200" dirty="0"/>
          </a:p>
          <a:p>
            <a:pPr marL="628589" lvl="1" indent="-171433">
              <a:buFont typeface="Arial" pitchFamily="34" charset="0"/>
              <a:buChar char="•"/>
            </a:pPr>
            <a:r>
              <a:rPr lang="en-US" sz="1200" b="1" dirty="0"/>
              <a:t>Task Management</a:t>
            </a:r>
            <a:r>
              <a:rPr lang="en-US" sz="1200" dirty="0"/>
              <a:t> is about tracking the backlog (the list of tasks), bugs, issues, and requirements. Each item is recorded in a </a:t>
            </a:r>
            <a:r>
              <a:rPr lang="en-US" sz="1200" i="1" dirty="0"/>
              <a:t>work item.</a:t>
            </a:r>
            <a:r>
              <a:rPr lang="en-US" sz="1200" dirty="0"/>
              <a:t> You can assign work items to people, project iterations, and areas of work; you can organize them into hierarchies; and you can edit them in Excel, and sync with other project management tools.</a:t>
            </a:r>
          </a:p>
          <a:p>
            <a:pPr lvl="1"/>
            <a:endParaRPr lang="en-US" sz="1200" dirty="0"/>
          </a:p>
          <a:p>
            <a:pPr marL="171433" indent="-171433">
              <a:buFont typeface="Arial" pitchFamily="34" charset="0"/>
              <a:buChar char="•"/>
            </a:pPr>
            <a:r>
              <a:rPr lang="en-US" sz="1200" dirty="0"/>
              <a:t>The </a:t>
            </a:r>
            <a:r>
              <a:rPr lang="en-US" sz="1200" b="1" dirty="0"/>
              <a:t>Project Portal</a:t>
            </a:r>
            <a:r>
              <a:rPr lang="en-US" sz="1200" dirty="0"/>
              <a:t> is a SharePoint website, integrated with Team Foundation Server so that each project automatically gets its own site. And, even more interestingly, you can get some very nice dashboards, including graphs and charts of your project's progress. These reports are based on the work items, and on the test results.</a:t>
            </a:r>
          </a:p>
          <a:p>
            <a:pPr marL="171433" indent="-171433">
              <a:buFont typeface="Arial" pitchFamily="34" charset="0"/>
              <a:buChar char="•"/>
            </a:pPr>
            <a:endParaRPr lang="en-US" sz="1200" dirty="0"/>
          </a:p>
          <a:p>
            <a:pPr marL="171433" indent="-171433">
              <a:buFont typeface="Arial" pitchFamily="34" charset="0"/>
              <a:buChar char="•"/>
            </a:pPr>
            <a:r>
              <a:rPr lang="en-US" sz="1200" dirty="0"/>
              <a:t>The </a:t>
            </a:r>
            <a:r>
              <a:rPr lang="en-US" sz="1200" b="1" dirty="0"/>
              <a:t>Build Service</a:t>
            </a:r>
            <a:r>
              <a:rPr lang="en-US" sz="1200" dirty="0"/>
              <a:t> is a feature of Team Foundation Server that performs a vital function for the development team. It builds all the code that has been checked in by developers, and runs tests. Builds can run on a regular or continuous cycle, or on demand. The team gets email alerts if a compilation or test fails, and the project portal shows reports of the latest results.</a:t>
            </a:r>
            <a:br>
              <a:rPr lang="en-US" sz="1200" dirty="0"/>
            </a:br>
            <a:r>
              <a:rPr lang="en-US" sz="1200" dirty="0"/>
              <a:t/>
            </a:r>
            <a:br>
              <a:rPr lang="en-US" sz="1200" dirty="0"/>
            </a:br>
            <a:r>
              <a:rPr lang="en-US" sz="1200" dirty="0"/>
              <a:t>The email alert is very effective at keeping code quality high: it prominently mentions who checked in code before the failed build.</a:t>
            </a:r>
          </a:p>
          <a:p>
            <a:pPr marL="171433" indent="-171433">
              <a:buFont typeface="Arial" pitchFamily="34" charset="0"/>
              <a:buChar char="•"/>
            </a:pPr>
            <a:endParaRPr lang="en-US" sz="1200" dirty="0"/>
          </a:p>
          <a:p>
            <a:pPr marL="171433" indent="-171433">
              <a:buFont typeface="Arial" pitchFamily="34" charset="0"/>
              <a:buChar char="•"/>
            </a:pPr>
            <a:r>
              <a:rPr lang="en-US" sz="1200" b="1" dirty="0"/>
              <a:t>Microsoft Test Manager</a:t>
            </a:r>
            <a:r>
              <a:rPr lang="en-US" sz="1200" dirty="0"/>
              <a:t> is where it gets interesting from the point of view of the professional tester. Microsoft Test Manager makes tests reliably repeatable and speeds up testing. Using it, you can:</a:t>
            </a:r>
          </a:p>
          <a:p>
            <a:pPr marL="171433" indent="-171433">
              <a:buFont typeface="Arial" pitchFamily="34" charset="0"/>
              <a:buChar char="•"/>
            </a:pPr>
            <a:endParaRPr lang="en-US" sz="1200" dirty="0"/>
          </a:p>
          <a:p>
            <a:pPr marL="628589" lvl="1" indent="-171433">
              <a:buFont typeface="Arial" pitchFamily="34" charset="0"/>
              <a:buChar char="•"/>
            </a:pPr>
            <a:r>
              <a:rPr lang="en-US" sz="1200" dirty="0"/>
              <a:t>Write a script for each manual test, which is displayed at the side of the screen while the test is being performed.</a:t>
            </a:r>
          </a:p>
          <a:p>
            <a:pPr marL="171433" indent="-171433">
              <a:buFont typeface="Arial" pitchFamily="34" charset="0"/>
              <a:buChar char="•"/>
            </a:pPr>
            <a:endParaRPr lang="en-US" sz="1200" dirty="0"/>
          </a:p>
          <a:p>
            <a:pPr marL="628589" lvl="1" indent="-171433">
              <a:buFont typeface="Arial" pitchFamily="34" charset="0"/>
              <a:buChar char="•"/>
            </a:pPr>
            <a:r>
              <a:rPr lang="en-US" sz="1200" dirty="0"/>
              <a:t>Partially automate a test by recording the test actions as you perform them. The next time you run the test, you can replay the actions.</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Fully automate a test so that it can run in the build service. To do this, you can adapt code generated from partly automated tests.</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Associate tests with user requirements. The project portal will include charts that display the progress of each user requirement in terms of its tests.</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Organize your tests into suites and plans, and divide them up by functional areas and project iterations.</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Perform one-click bug reporting, which includes snapshots of the state of the machine.</a:t>
            </a:r>
          </a:p>
          <a:p>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2"/>
              </a:rPr>
              <a:t>http://msdn.microsoft.com/en-us/library/jj159336.aspx</a:t>
            </a:r>
            <a:endParaRPr lang="en-US" sz="1100" i="1" dirty="0">
              <a:solidFill>
                <a:srgbClr val="4D4D4D"/>
              </a:solidFill>
              <a:latin typeface="Helvetica" charset="0"/>
              <a:cs typeface="Helvetica" charset="0"/>
              <a:sym typeface="Helvetica" charset="0"/>
            </a:endParaRPr>
          </a:p>
        </p:txBody>
      </p:sp>
      <p:cxnSp>
        <p:nvCxnSpPr>
          <p:cNvPr id="5" name="Straight Connector 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42930237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p:cNvSpPr>
          <p:nvPr/>
        </p:nvSpPr>
        <p:spPr bwMode="auto">
          <a:xfrm>
            <a:off x="423862" y="1228726"/>
            <a:ext cx="6705601" cy="717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171433" indent="-171433">
              <a:buFont typeface="Arial" pitchFamily="34" charset="0"/>
              <a:buChar char="•"/>
            </a:pPr>
            <a:r>
              <a:rPr lang="en-US" sz="1200" b="1" dirty="0"/>
              <a:t>Lab Environments</a:t>
            </a:r>
            <a:r>
              <a:rPr lang="en-US" sz="1200" dirty="0"/>
              <a:t> are collections of test machines—particularly virtual machines. Without a lab, you can test an application locally, running it on your own computer. During development, applications are typically debugged on the development machine, often with several tiers running on the same machine. But with lab facilities, you can:</a:t>
            </a:r>
          </a:p>
          <a:p>
            <a:pPr marL="171433" indent="-171433">
              <a:buFont typeface="Arial" pitchFamily="34" charset="0"/>
              <a:buChar char="•"/>
            </a:pPr>
            <a:endParaRPr lang="en-US" sz="1200" dirty="0"/>
          </a:p>
          <a:p>
            <a:pPr marL="628589" lvl="1" indent="-171433">
              <a:buFont typeface="Arial" pitchFamily="34" charset="0"/>
              <a:buChar char="•"/>
            </a:pPr>
            <a:r>
              <a:rPr lang="en-US" sz="1200" dirty="0"/>
              <a:t>Deploy a system to one or more machines and collect test data from each machine. For example, a web client, Microsoft Internet Information Services (IIS), and a database would run on separate machines.</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Run on freshly-created virtual machines, so that there's no need to uninstall old versions, no chance of the application corrupting your own computer, and you can choose any platform configuration you like.</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Configure an environment of virtual machines for a particular test suite, and store it for use whenever you want to run that suite again.</a:t>
            </a:r>
          </a:p>
          <a:p>
            <a:pPr marL="628589" lvl="1" indent="-171433">
              <a:buFont typeface="Arial" pitchFamily="34" charset="0"/>
              <a:buChar char="•"/>
            </a:pPr>
            <a:endParaRPr lang="en-US" sz="1200" dirty="0"/>
          </a:p>
          <a:p>
            <a:pPr marL="628589" lvl="1" indent="-171433">
              <a:buFont typeface="Arial" pitchFamily="34" charset="0"/>
              <a:buChar char="•"/>
            </a:pPr>
            <a:r>
              <a:rPr lang="en-US" sz="1200" dirty="0"/>
              <a:t>Take a snapshot of the state of an environment and save it along with a bug report.</a:t>
            </a:r>
          </a:p>
          <a:p>
            <a:pPr marL="628589" lvl="1" indent="-171433">
              <a:buFont typeface="Arial" pitchFamily="34" charset="0"/>
              <a:buChar char="•"/>
            </a:pPr>
            <a:endParaRPr lang="en-US" sz="1200" dirty="0"/>
          </a:p>
          <a:p>
            <a:pPr marL="171433" indent="-171433">
              <a:buFont typeface="Arial" pitchFamily="34" charset="0"/>
              <a:buChar char="•"/>
            </a:pPr>
            <a:r>
              <a:rPr lang="en-US" sz="1200" b="1" dirty="0"/>
              <a:t>Automated build, deploy, and test.</a:t>
            </a:r>
            <a:r>
              <a:rPr lang="en-US" sz="1200" dirty="0"/>
              <a:t> The simplest setup of the build service runs unit tests in the same way the developer typically does—all on one machine. But for web and other distributed applications, this doesn't properly simulate the real operational conditions. With automated deployment, you can run tests on a lab environment as part of the continuous or regular build. </a:t>
            </a:r>
            <a:br>
              <a:rPr lang="en-US" sz="1200" dirty="0"/>
            </a:br>
            <a:r>
              <a:rPr lang="en-US" sz="1200" dirty="0"/>
              <a:t>The automation builds the system, instantiates the appropriate virtual environment for the tests, deploys each component to the correct machine in the environment, runs the tests, collects data from each machine, and logs the results for reporting on the project portal.</a:t>
            </a:r>
          </a:p>
          <a:p>
            <a:pPr marL="171433" indent="-171433">
              <a:buFont typeface="Arial" pitchFamily="34" charset="0"/>
              <a:buChar char="•"/>
            </a:pPr>
            <a:endParaRPr lang="en-US" sz="1200" dirty="0"/>
          </a:p>
          <a:p>
            <a:r>
              <a:rPr lang="en-US" sz="1200" dirty="0"/>
              <a:t>Click here to read the remaining chapters and sections:</a:t>
            </a:r>
          </a:p>
          <a:p>
            <a:r>
              <a:rPr lang="en-US" sz="1200" dirty="0">
                <a:hlinkClick r:id="rId2"/>
              </a:rPr>
              <a:t>http://msdn.microsoft.com/en-us/library/jj159345.aspx</a:t>
            </a:r>
            <a:endParaRPr lang="en-US" sz="1200" dirty="0"/>
          </a:p>
          <a:p>
            <a:endParaRPr lang="en-US" sz="1200" dirty="0"/>
          </a:p>
          <a:p>
            <a:pPr marL="171433" indent="-171433">
              <a:buFont typeface="Arial" pitchFamily="34" charset="0"/>
              <a:buChar char="•"/>
            </a:pPr>
            <a:r>
              <a:rPr lang="en-US" sz="1200" b="1" dirty="0"/>
              <a:t>Chapter 2: Unit Testing: Testing the Inside</a:t>
            </a:r>
          </a:p>
          <a:p>
            <a:pPr marL="171433" indent="-171433">
              <a:buFont typeface="Arial" pitchFamily="34" charset="0"/>
              <a:buChar char="•"/>
            </a:pPr>
            <a:r>
              <a:rPr lang="en-US" sz="1200" b="1" dirty="0"/>
              <a:t>Chapter 3: Lab Environments</a:t>
            </a:r>
          </a:p>
          <a:p>
            <a:pPr marL="171433" indent="-171433">
              <a:buFont typeface="Arial" pitchFamily="34" charset="0"/>
              <a:buChar char="•"/>
            </a:pPr>
            <a:r>
              <a:rPr lang="en-US" sz="1200" b="1" dirty="0"/>
              <a:t>Chapter 4: Manual System Tests</a:t>
            </a:r>
          </a:p>
          <a:p>
            <a:pPr marL="171433" indent="-171433">
              <a:buFont typeface="Arial" pitchFamily="34" charset="0"/>
              <a:buChar char="•"/>
            </a:pPr>
            <a:r>
              <a:rPr lang="en-US" sz="1200" b="1" dirty="0"/>
              <a:t>Chapter 5: Automated System Tests</a:t>
            </a:r>
          </a:p>
          <a:p>
            <a:pPr marL="171433" indent="-171433">
              <a:buFont typeface="Arial" pitchFamily="34" charset="0"/>
              <a:buChar char="•"/>
            </a:pPr>
            <a:r>
              <a:rPr lang="en-US" sz="1200" b="1" dirty="0"/>
              <a:t>Chapter 6: A Testing Toolbox</a:t>
            </a:r>
          </a:p>
          <a:p>
            <a:pPr marL="171433" indent="-171433">
              <a:buFont typeface="Arial" pitchFamily="34" charset="0"/>
              <a:buChar char="•"/>
            </a:pPr>
            <a:r>
              <a:rPr lang="en-US" sz="1200" b="1" dirty="0"/>
              <a:t>Chapter 7: Testing in the Software Lifecycle</a:t>
            </a:r>
          </a:p>
          <a:p>
            <a:pPr marL="171433" indent="-171433">
              <a:buFont typeface="Arial" pitchFamily="34" charset="0"/>
              <a:buChar char="•"/>
            </a:pPr>
            <a:r>
              <a:rPr lang="en-US" sz="1200" b="1" dirty="0"/>
              <a:t>Appendix: Setting up the Infrastructure</a:t>
            </a:r>
          </a:p>
          <a:p>
            <a:pPr marL="171433" indent="-171433">
              <a:buFont typeface="Arial" pitchFamily="34" charset="0"/>
              <a:buChar char="•"/>
            </a:pPr>
            <a:r>
              <a:rPr lang="en-US" sz="1200" b="1" dirty="0"/>
              <a:t>The development process</a:t>
            </a:r>
          </a:p>
          <a:p>
            <a:pPr marL="171433" indent="-171433">
              <a:buFont typeface="Arial" pitchFamily="34" charset="0"/>
              <a:buChar char="•"/>
            </a:pPr>
            <a:r>
              <a:rPr lang="en-US" sz="1200" b="1" dirty="0"/>
              <a:t>Testers vs. developers?</a:t>
            </a:r>
          </a:p>
          <a:p>
            <a:pPr marL="171433" indent="-171433">
              <a:buFont typeface="Arial" pitchFamily="34" charset="0"/>
              <a:buChar char="•"/>
            </a:pPr>
            <a:r>
              <a:rPr lang="en-US" sz="1200" b="1" dirty="0"/>
              <a:t>Agile development</a:t>
            </a:r>
          </a:p>
          <a:p>
            <a:pPr marL="171433" indent="-171433">
              <a:buFont typeface="Arial" pitchFamily="34" charset="0"/>
              <a:buChar char="•"/>
            </a:pPr>
            <a:endParaRPr lang="en-US" sz="1200" dirty="0"/>
          </a:p>
        </p:txBody>
      </p:sp>
      <p:sp>
        <p:nvSpPr>
          <p:cNvPr id="16389" name="Rectangle 5"/>
          <p:cNvSpPr>
            <a:spLocks/>
          </p:cNvSpPr>
          <p:nvPr/>
        </p:nvSpPr>
        <p:spPr bwMode="auto">
          <a:xfrm>
            <a:off x="344488" y="9153526"/>
            <a:ext cx="487997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p>
            <a:pPr algn="r"/>
            <a:r>
              <a:rPr lang="en-US" sz="1100" dirty="0">
                <a:hlinkClick r:id="rId3"/>
              </a:rPr>
              <a:t>http://msdn.microsoft.com/en-us/library/jj159336.aspx</a:t>
            </a:r>
            <a:endParaRPr lang="en-US" sz="1100" i="1" dirty="0">
              <a:solidFill>
                <a:srgbClr val="4D4D4D"/>
              </a:solidFill>
              <a:latin typeface="Helvetica" charset="0"/>
              <a:cs typeface="Helvetica" charset="0"/>
              <a:sym typeface="Helvetica" charset="0"/>
            </a:endParaRPr>
          </a:p>
        </p:txBody>
      </p:sp>
      <p:cxnSp>
        <p:nvCxnSpPr>
          <p:cNvPr id="5" name="Straight Connector 4"/>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212082" y="250061"/>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Tree>
    <p:extLst>
      <p:ext uri="{BB962C8B-B14F-4D97-AF65-F5344CB8AC3E}">
        <p14:creationId xmlns:p14="http://schemas.microsoft.com/office/powerpoint/2010/main" val="347882743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271462" y="771525"/>
            <a:ext cx="7010401" cy="7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effectLst/>
              </a:rPr>
              <a:t>The revision history is atomically stored for each change but also allows for merging as long as there</a:t>
            </a:r>
            <a:endParaRPr lang="en-US" sz="1200" dirty="0" smtClean="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endParaRPr lang="en-US" sz="1200" dirty="0" smtClean="0">
              <a:effectLst/>
            </a:endParaRPr>
          </a:p>
          <a:p>
            <a:endParaRPr lang="en-US" sz="1200" dirty="0"/>
          </a:p>
          <a:p>
            <a:r>
              <a:rPr lang="en-US" sz="1200" b="1" dirty="0" smtClean="0">
                <a:effectLst/>
              </a:rPr>
              <a:t>Figure: Customize Work Item Types</a:t>
            </a:r>
            <a:endParaRPr lang="en-US" sz="1200" dirty="0" smtClean="0">
              <a:effectLst/>
            </a:endParaRPr>
          </a:p>
          <a:p>
            <a:endParaRPr lang="en-US" sz="1200" dirty="0" smtClean="0">
              <a:effectLst/>
            </a:endParaRPr>
          </a:p>
          <a:p>
            <a:pPr algn="just"/>
            <a:r>
              <a:rPr lang="en-US" sz="1200" dirty="0" smtClean="0">
                <a:effectLst/>
              </a:rPr>
              <a:t>Because everyone is authenticated the same across all parts of the system you have a single model for</a:t>
            </a:r>
            <a:endParaRPr lang="en-US" sz="1200" dirty="0"/>
          </a:p>
        </p:txBody>
      </p:sp>
      <p:cxnSp>
        <p:nvCxnSpPr>
          <p:cNvPr id="8" name="Straight Connector 7"/>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TFS / ALM</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107</a:t>
            </a:fld>
            <a:endParaRPr lang="en-PH" dirty="0"/>
          </a:p>
        </p:txBody>
      </p:sp>
    </p:spTree>
    <p:extLst>
      <p:ext uri="{BB962C8B-B14F-4D97-AF65-F5344CB8AC3E}">
        <p14:creationId xmlns:p14="http://schemas.microsoft.com/office/powerpoint/2010/main" val="427472622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3894139" y="771526"/>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used in development and test labs. New </a:t>
            </a:r>
            <a:r>
              <a:rPr lang="en-US" sz="1200" dirty="0" smtClean="0"/>
              <a:t>tools</a:t>
            </a:r>
            <a:endParaRPr lang="en-US" sz="1200" dirty="0"/>
          </a:p>
        </p:txBody>
      </p:sp>
      <p:sp>
        <p:nvSpPr>
          <p:cNvPr id="22531" name="Rectangle 2"/>
          <p:cNvSpPr>
            <a:spLocks/>
          </p:cNvSpPr>
          <p:nvPr/>
        </p:nvSpPr>
        <p:spPr bwMode="auto">
          <a:xfrm>
            <a:off x="423864" y="771526"/>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process helps organizations manage </a:t>
            </a:r>
            <a:r>
              <a:rPr lang="en-US" sz="1200" dirty="0" smtClean="0"/>
              <a:t>and</a:t>
            </a:r>
            <a:endParaRPr lang="en-US" sz="1200" dirty="0"/>
          </a:p>
        </p:txBody>
      </p:sp>
      <p:cxnSp>
        <p:nvCxnSpPr>
          <p:cNvPr id="7" name="Straight Connector 6"/>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108</a:t>
            </a:fld>
            <a:endParaRPr lang="en-PH" dirty="0"/>
          </a:p>
        </p:txBody>
      </p:sp>
    </p:spTree>
    <p:extLst>
      <p:ext uri="{BB962C8B-B14F-4D97-AF65-F5344CB8AC3E}">
        <p14:creationId xmlns:p14="http://schemas.microsoft.com/office/powerpoint/2010/main" val="210422573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3894139" y="771525"/>
            <a:ext cx="3159125" cy="2590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b="1" dirty="0"/>
              <a:t>Integrated production monitoring and </a:t>
            </a:r>
            <a:r>
              <a:rPr lang="en-US" sz="1200" b="1" dirty="0" smtClean="0"/>
              <a:t>diagnostics</a:t>
            </a:r>
            <a:endParaRPr lang="en-US" sz="1200" b="1" dirty="0"/>
          </a:p>
        </p:txBody>
      </p:sp>
      <p:sp>
        <p:nvSpPr>
          <p:cNvPr id="22531" name="Rectangle 2"/>
          <p:cNvSpPr>
            <a:spLocks/>
          </p:cNvSpPr>
          <p:nvPr/>
        </p:nvSpPr>
        <p:spPr bwMode="auto">
          <a:xfrm>
            <a:off x="423864" y="771525"/>
            <a:ext cx="3127375" cy="2590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These automated procedures, </a:t>
            </a:r>
            <a:r>
              <a:rPr lang="en-US" sz="1200" dirty="0" smtClean="0"/>
              <a:t>called</a:t>
            </a:r>
            <a:endParaRPr lang="en-US" sz="1200" dirty="0">
              <a:latin typeface="Helvetica" charset="0"/>
              <a:cs typeface="Helvetica" charset="0"/>
              <a:sym typeface="Helvetica" charset="0"/>
            </a:endParaRPr>
          </a:p>
        </p:txBody>
      </p:sp>
      <p:sp>
        <p:nvSpPr>
          <p:cNvPr id="4" name="Rectangle 2"/>
          <p:cNvSpPr>
            <a:spLocks/>
          </p:cNvSpPr>
          <p:nvPr/>
        </p:nvSpPr>
        <p:spPr bwMode="auto">
          <a:xfrm>
            <a:off x="423863" y="7026275"/>
            <a:ext cx="312737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Finally, TFS has been extended to </a:t>
            </a:r>
            <a:r>
              <a:rPr lang="en-US" sz="1200" dirty="0" smtClean="0"/>
              <a:t>enable</a:t>
            </a:r>
            <a:endParaRPr lang="en-US" sz="1200" dirty="0">
              <a:latin typeface="Helvetica" charset="0"/>
              <a:cs typeface="Helvetica" charset="0"/>
              <a:sym typeface="Helvetica" charset="0"/>
            </a:endParaRPr>
          </a:p>
        </p:txBody>
      </p:sp>
      <p:sp>
        <p:nvSpPr>
          <p:cNvPr id="5" name="Rectangle 1"/>
          <p:cNvSpPr>
            <a:spLocks/>
          </p:cNvSpPr>
          <p:nvPr/>
        </p:nvSpPr>
        <p:spPr bwMode="auto">
          <a:xfrm>
            <a:off x="3894138" y="7026275"/>
            <a:ext cx="315912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performance from every angle with a </a:t>
            </a:r>
            <a:r>
              <a:rPr lang="en-US" sz="1200" dirty="0" smtClean="0"/>
              <a:t>minimal</a:t>
            </a:r>
            <a:endParaRPr lang="en-US" sz="1200" dirty="0">
              <a:latin typeface="Helvetica" charset="0"/>
              <a:cs typeface="Helvetica" charset="0"/>
              <a:sym typeface="Helvetica" charset="0"/>
            </a:endParaRPr>
          </a:p>
        </p:txBody>
      </p:sp>
      <p:pic>
        <p:nvPicPr>
          <p:cNvPr id="6" name="Picture 5" descr="E:\DeploymentRunbook.PNG"/>
          <p:cNvPicPr/>
          <p:nvPr/>
        </p:nvPicPr>
        <p:blipFill>
          <a:blip r:embed="rId2">
            <a:extLst>
              <a:ext uri="{28A0092B-C50C-407E-A947-70E740481C1C}">
                <a14:useLocalDpi xmlns:a14="http://schemas.microsoft.com/office/drawing/2010/main" val="0"/>
              </a:ext>
            </a:extLst>
          </a:blip>
          <a:srcRect/>
          <a:stretch>
            <a:fillRect/>
          </a:stretch>
        </p:blipFill>
        <p:spPr bwMode="auto">
          <a:xfrm>
            <a:off x="2100261" y="3786517"/>
            <a:ext cx="3581401" cy="2928609"/>
          </a:xfrm>
          <a:prstGeom prst="rect">
            <a:avLst/>
          </a:prstGeom>
          <a:noFill/>
          <a:extLst/>
        </p:spPr>
      </p:pic>
      <p:sp>
        <p:nvSpPr>
          <p:cNvPr id="2" name="TextBox 1"/>
          <p:cNvSpPr txBox="1"/>
          <p:nvPr/>
        </p:nvSpPr>
        <p:spPr>
          <a:xfrm>
            <a:off x="2700899" y="6638925"/>
            <a:ext cx="2371162" cy="261610"/>
          </a:xfrm>
          <a:prstGeom prst="rect">
            <a:avLst/>
          </a:prstGeom>
          <a:noFill/>
        </p:spPr>
        <p:txBody>
          <a:bodyPr wrap="none" rtlCol="0">
            <a:spAutoFit/>
          </a:bodyPr>
          <a:lstStyle/>
          <a:p>
            <a:r>
              <a:rPr lang="en-US" sz="1100" b="1" dirty="0"/>
              <a:t>Figure 1: Automated Procedures</a:t>
            </a:r>
            <a:endParaRPr lang="en-US" sz="1100" dirty="0"/>
          </a:p>
        </p:txBody>
      </p:sp>
      <p:cxnSp>
        <p:nvCxnSpPr>
          <p:cNvPr id="11" name="Straight Connector 10"/>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952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109</a:t>
            </a:fld>
            <a:endParaRPr lang="en-PH" dirty="0"/>
          </a:p>
        </p:txBody>
      </p:sp>
    </p:spTree>
    <p:extLst>
      <p:ext uri="{BB962C8B-B14F-4D97-AF65-F5344CB8AC3E}">
        <p14:creationId xmlns:p14="http://schemas.microsoft.com/office/powerpoint/2010/main" val="206039178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3894139" y="771526"/>
            <a:ext cx="315912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System </a:t>
            </a:r>
            <a:r>
              <a:rPr lang="en-US" sz="1200" dirty="0"/>
              <a:t>Center 2012 introduced a new </a:t>
            </a:r>
            <a:r>
              <a:rPr lang="en-US" sz="1200" dirty="0" smtClean="0"/>
              <a:t>cloud</a:t>
            </a:r>
            <a:endParaRPr lang="en-US" sz="1200" dirty="0"/>
          </a:p>
          <a:p>
            <a:pPr algn="just"/>
            <a:endParaRPr lang="en-US" sz="1200" dirty="0">
              <a:latin typeface="Helvetica" charset="0"/>
              <a:cs typeface="Helvetica" charset="0"/>
              <a:sym typeface="Helvetica" charset="0"/>
            </a:endParaRPr>
          </a:p>
        </p:txBody>
      </p:sp>
      <p:sp>
        <p:nvSpPr>
          <p:cNvPr id="22531" name="Rectangle 2"/>
          <p:cNvSpPr>
            <a:spLocks/>
          </p:cNvSpPr>
          <p:nvPr/>
        </p:nvSpPr>
        <p:spPr bwMode="auto">
          <a:xfrm>
            <a:off x="423864" y="771526"/>
            <a:ext cx="3127375" cy="830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smtClean="0"/>
              <a:t>problems</a:t>
            </a:r>
            <a:r>
              <a:rPr lang="en-US" sz="1200" dirty="0"/>
              <a:t>), functionality (is the app doing </a:t>
            </a:r>
            <a:r>
              <a:rPr lang="en-US" sz="1200" dirty="0" smtClean="0"/>
              <a:t>what</a:t>
            </a:r>
            <a:endParaRPr lang="en-US" sz="1200" dirty="0"/>
          </a:p>
          <a:p>
            <a:endParaRPr lang="en-US" sz="1200" dirty="0">
              <a:latin typeface="Helvetica" charset="0"/>
              <a:cs typeface="Helvetica" charset="0"/>
              <a:sym typeface="Helvetica" charset="0"/>
            </a:endParaRPr>
          </a:p>
        </p:txBody>
      </p:sp>
      <p:pic>
        <p:nvPicPr>
          <p:cNvPr id="4" name="Picture 3" descr="C:\Users\v-keithp\SkyDrive\Projects\DevOps\appDashboard.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9662" y="5843914"/>
            <a:ext cx="5486400" cy="2971801"/>
          </a:xfrm>
          <a:prstGeom prst="rect">
            <a:avLst/>
          </a:prstGeom>
          <a:noFill/>
          <a:ln>
            <a:noFill/>
          </a:ln>
        </p:spPr>
      </p:pic>
      <p:sp>
        <p:nvSpPr>
          <p:cNvPr id="2" name="TextBox 1"/>
          <p:cNvSpPr txBox="1"/>
          <p:nvPr/>
        </p:nvSpPr>
        <p:spPr>
          <a:xfrm>
            <a:off x="2557463" y="8815715"/>
            <a:ext cx="2363147" cy="261610"/>
          </a:xfrm>
          <a:prstGeom prst="rect">
            <a:avLst/>
          </a:prstGeom>
          <a:noFill/>
        </p:spPr>
        <p:txBody>
          <a:bodyPr wrap="none" rtlCol="0">
            <a:spAutoFit/>
          </a:bodyPr>
          <a:lstStyle/>
          <a:p>
            <a:r>
              <a:rPr lang="en-US" sz="1100" b="1" dirty="0"/>
              <a:t>Figure 2: Application Dashboard</a:t>
            </a:r>
            <a:endParaRPr lang="en-US" sz="1100" dirty="0"/>
          </a:p>
        </p:txBody>
      </p:sp>
      <p:sp>
        <p:nvSpPr>
          <p:cNvPr id="6" name="Rectangle 2"/>
          <p:cNvSpPr>
            <a:spLocks/>
          </p:cNvSpPr>
          <p:nvPr/>
        </p:nvSpPr>
        <p:spPr bwMode="auto">
          <a:xfrm>
            <a:off x="433644" y="9197977"/>
            <a:ext cx="6619619" cy="260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r>
              <a:rPr lang="en-US" sz="1200" cap="small" baseline="30000" dirty="0"/>
              <a:t>5</a:t>
            </a:r>
            <a:r>
              <a:rPr lang="en-US" sz="1200" cap="small" baseline="30000" dirty="0" smtClean="0"/>
              <a:t>  </a:t>
            </a:r>
            <a:r>
              <a:rPr lang="en-US" sz="1200" i="1" dirty="0"/>
              <a:t>Multi-tenant</a:t>
            </a:r>
            <a:r>
              <a:rPr lang="en-US" sz="1200" dirty="0"/>
              <a:t> software runs on one server, but services multiple client organizations (tenants)</a:t>
            </a:r>
          </a:p>
        </p:txBody>
      </p:sp>
      <p:cxnSp>
        <p:nvCxnSpPr>
          <p:cNvPr id="10" name="Straight Connector 9"/>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DevOps</a:t>
            </a:r>
            <a:endParaRPr lang="en-US" dirty="0"/>
          </a:p>
        </p:txBody>
      </p:sp>
      <p:sp>
        <p:nvSpPr>
          <p:cNvPr id="3" name="Slide Number Placeholder 2"/>
          <p:cNvSpPr>
            <a:spLocks noGrp="1"/>
          </p:cNvSpPr>
          <p:nvPr>
            <p:ph type="sldNum" sz="quarter" idx="12"/>
          </p:nvPr>
        </p:nvSpPr>
        <p:spPr/>
        <p:txBody>
          <a:bodyPr/>
          <a:lstStyle/>
          <a:p>
            <a:pPr>
              <a:defRPr/>
            </a:pPr>
            <a:fld id="{EA30B413-8FC0-44D3-9979-403CCACD0588}" type="slidenum">
              <a:rPr lang="en-PH" smtClean="0"/>
              <a:pPr>
                <a:defRPr/>
              </a:pPr>
              <a:t>110</a:t>
            </a:fld>
            <a:endParaRPr lang="en-PH" dirty="0"/>
          </a:p>
        </p:txBody>
      </p:sp>
    </p:spTree>
    <p:extLst>
      <p:ext uri="{BB962C8B-B14F-4D97-AF65-F5344CB8AC3E}">
        <p14:creationId xmlns:p14="http://schemas.microsoft.com/office/powerpoint/2010/main" val="417754240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195263" y="314325"/>
            <a:ext cx="3129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600" b="1" dirty="0" smtClean="0"/>
              <a:t> </a:t>
            </a:r>
            <a:endParaRPr lang="en-US" sz="3600" b="1" dirty="0"/>
          </a:p>
        </p:txBody>
      </p:sp>
      <p:sp>
        <p:nvSpPr>
          <p:cNvPr id="10244" name="Rectangle 2"/>
          <p:cNvSpPr>
            <a:spLocks/>
          </p:cNvSpPr>
          <p:nvPr/>
        </p:nvSpPr>
        <p:spPr bwMode="auto">
          <a:xfrm>
            <a:off x="2328863" y="771525"/>
            <a:ext cx="4953001" cy="2801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r>
              <a:rPr lang="en-US" sz="1200" dirty="0"/>
              <a:t>In the Scaled Agile Framework, a Product Backlog is considered as </a:t>
            </a:r>
            <a:r>
              <a:rPr lang="en-US" sz="1200" dirty="0" smtClean="0"/>
              <a:t>an</a:t>
            </a:r>
            <a:endParaRPr lang="en-US" sz="1200" dirty="0"/>
          </a:p>
          <a:p>
            <a:pPr>
              <a:defRPr/>
            </a:pPr>
            <a:endParaRPr lang="en-US" sz="1200" dirty="0"/>
          </a:p>
        </p:txBody>
      </p:sp>
      <p:sp>
        <p:nvSpPr>
          <p:cNvPr id="5" name="Rectangle 2"/>
          <p:cNvSpPr>
            <a:spLocks/>
          </p:cNvSpPr>
          <p:nvPr/>
        </p:nvSpPr>
        <p:spPr bwMode="auto">
          <a:xfrm>
            <a:off x="271463" y="3648761"/>
            <a:ext cx="7010401"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smtClean="0"/>
              <a:t>Leffingwell has scaled iterations into multiple levels in his Scaled Agile Framework. At the Team level, </a:t>
            </a:r>
            <a:endParaRPr lang="en-US" sz="1200" dirty="0"/>
          </a:p>
        </p:txBody>
      </p:sp>
      <p:pic>
        <p:nvPicPr>
          <p:cNvPr id="2050" name="Picture 2" descr="http://edevtech.com/blog/wp-content/uploads/2012/10/Backlog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2" y="771526"/>
            <a:ext cx="1905001" cy="282742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a:spLocks/>
          </p:cNvSpPr>
          <p:nvPr/>
        </p:nvSpPr>
        <p:spPr bwMode="auto">
          <a:xfrm>
            <a:off x="271462" y="4657726"/>
            <a:ext cx="48006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lgn="just">
              <a:defRPr/>
            </a:pPr>
            <a:r>
              <a:rPr lang="en-US" sz="1200" dirty="0"/>
              <a:t>In inteGREAT, a flexible framework is provided to support </a:t>
            </a:r>
            <a:r>
              <a:rPr lang="en-US" sz="1200" dirty="0" smtClean="0"/>
              <a:t>Agile</a:t>
            </a:r>
            <a:endParaRPr lang="en-US" sz="1200" dirty="0"/>
          </a:p>
        </p:txBody>
      </p:sp>
      <p:pic>
        <p:nvPicPr>
          <p:cNvPr id="2052" name="Picture 4" descr="http://edevtech.com/blog/wp-content/uploads/2012/10/Agile-Explor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4462" y="4658410"/>
            <a:ext cx="2057399" cy="209938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a:spLocks/>
          </p:cNvSpPr>
          <p:nvPr/>
        </p:nvSpPr>
        <p:spPr bwMode="auto">
          <a:xfrm>
            <a:off x="1385327" y="7230161"/>
            <a:ext cx="4973355" cy="93276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91440" rIns="91440" bIns="91440"/>
          <a:lstStyle/>
          <a:p>
            <a:r>
              <a:rPr lang="en-US" sz="1000" i="1" u="sng" dirty="0">
                <a:hlinkClick r:id="rId5"/>
              </a:rPr>
              <a:t>Bob Savelson</a:t>
            </a:r>
            <a:r>
              <a:rPr lang="en-US" sz="1000" i="1" dirty="0"/>
              <a:t>, a seasoned veteran of the software development industry, has worked for large outsourcers and built his own requirements facilitation company; helping many clients to optimize their ALM processes and define the ‘right’ requirements. Today, as SVP at </a:t>
            </a:r>
            <a:r>
              <a:rPr lang="en-US" sz="1000" i="1" u="sng" dirty="0">
                <a:hlinkClick r:id="rId6"/>
              </a:rPr>
              <a:t>eDevTech</a:t>
            </a:r>
            <a:r>
              <a:rPr lang="en-US" sz="1000" i="1" dirty="0"/>
              <a:t>, he continues to promote </a:t>
            </a:r>
            <a:r>
              <a:rPr lang="en-US" sz="1000" i="1" u="sng" dirty="0">
                <a:hlinkClick r:id="rId7"/>
              </a:rPr>
              <a:t>inteGREAT</a:t>
            </a:r>
            <a:r>
              <a:rPr lang="en-US" sz="1000" i="1" dirty="0"/>
              <a:t> and </a:t>
            </a:r>
            <a:r>
              <a:rPr lang="en-US" sz="1000" i="1" u="sng" dirty="0">
                <a:hlinkClick r:id="rId8"/>
              </a:rPr>
              <a:t>SmartOffice</a:t>
            </a:r>
            <a:r>
              <a:rPr lang="en-US" sz="1000" i="1" dirty="0"/>
              <a:t> as industry leading requirements tools.</a:t>
            </a:r>
            <a:endParaRPr lang="en-US" sz="1000" dirty="0"/>
          </a:p>
        </p:txBody>
      </p:sp>
      <p:cxnSp>
        <p:nvCxnSpPr>
          <p:cNvPr id="13" name="Straight Connector 12"/>
          <p:cNvCxnSpPr/>
          <p:nvPr/>
        </p:nvCxnSpPr>
        <p:spPr>
          <a:xfrm>
            <a:off x="195263" y="619125"/>
            <a:ext cx="7086600" cy="0"/>
          </a:xfrm>
          <a:prstGeom prst="line">
            <a:avLst/>
          </a:prstGeom>
          <a:ln w="7620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300663" y="238125"/>
            <a:ext cx="1981200" cy="381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Agile</a:t>
            </a:r>
            <a:endParaRPr lang="en-US" dirty="0"/>
          </a:p>
        </p:txBody>
      </p:sp>
      <p:sp>
        <p:nvSpPr>
          <p:cNvPr id="2" name="Slide Number Placeholder 1"/>
          <p:cNvSpPr>
            <a:spLocks noGrp="1"/>
          </p:cNvSpPr>
          <p:nvPr>
            <p:ph type="sldNum" sz="quarter" idx="12"/>
          </p:nvPr>
        </p:nvSpPr>
        <p:spPr/>
        <p:txBody>
          <a:bodyPr/>
          <a:lstStyle/>
          <a:p>
            <a:pPr>
              <a:defRPr/>
            </a:pPr>
            <a:fld id="{EA30B413-8FC0-44D3-9979-403CCACD0588}" type="slidenum">
              <a:rPr lang="en-PH" smtClean="0"/>
              <a:pPr>
                <a:defRPr/>
              </a:pPr>
              <a:t>111</a:t>
            </a:fld>
            <a:endParaRPr lang="en-PH" dirty="0"/>
          </a:p>
        </p:txBody>
      </p:sp>
    </p:spTree>
    <p:extLst>
      <p:ext uri="{BB962C8B-B14F-4D97-AF65-F5344CB8AC3E}">
        <p14:creationId xmlns:p14="http://schemas.microsoft.com/office/powerpoint/2010/main" val="2916353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33523</TotalTime>
  <Words>23689</Words>
  <Application>Microsoft Office PowerPoint</Application>
  <PresentationFormat>Custom</PresentationFormat>
  <Paragraphs>2936</Paragraphs>
  <Slides>111</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111</vt:i4>
      </vt:variant>
    </vt:vector>
  </HeadingPairs>
  <TitlesOfParts>
    <vt:vector size="113" baseType="lpstr">
      <vt:lpstr>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Jeremy Grey</dc:creator>
  <cp:lastModifiedBy>Keith</cp:lastModifiedBy>
  <cp:revision>945</cp:revision>
  <dcterms:created xsi:type="dcterms:W3CDTF">2012-06-13T03:04:05Z</dcterms:created>
  <dcterms:modified xsi:type="dcterms:W3CDTF">2013-08-03T22:07:57Z</dcterms:modified>
</cp:coreProperties>
</file>